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4BB18F-9BD0-4D58-ABA9-6BC48CB536D7}" v="9" dt="2025-05-05T00:16:21.770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48" d="100"/>
          <a:sy n="48" d="100"/>
        </p:scale>
        <p:origin x="48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Akbar" userId="7ad23ff2803fa24b" providerId="LiveId" clId="{514BB18F-9BD0-4D58-ABA9-6BC48CB536D7}"/>
    <pc:docChg chg="undo custSel addSld modSld">
      <pc:chgData name="Ali Akbar" userId="7ad23ff2803fa24b" providerId="LiveId" clId="{514BB18F-9BD0-4D58-ABA9-6BC48CB536D7}" dt="2025-05-05T00:17:04.910" v="85" actId="14100"/>
      <pc:docMkLst>
        <pc:docMk/>
      </pc:docMkLst>
      <pc:sldChg chg="modSp mod">
        <pc:chgData name="Ali Akbar" userId="7ad23ff2803fa24b" providerId="LiveId" clId="{514BB18F-9BD0-4D58-ABA9-6BC48CB536D7}" dt="2025-05-05T00:10:42.372" v="45" actId="313"/>
        <pc:sldMkLst>
          <pc:docMk/>
          <pc:sldMk cId="2638427812" sldId="260"/>
        </pc:sldMkLst>
        <pc:spChg chg="mod">
          <ac:chgData name="Ali Akbar" userId="7ad23ff2803fa24b" providerId="LiveId" clId="{514BB18F-9BD0-4D58-ABA9-6BC48CB536D7}" dt="2025-05-05T00:10:42.372" v="45" actId="313"/>
          <ac:spMkLst>
            <pc:docMk/>
            <pc:sldMk cId="2638427812" sldId="260"/>
            <ac:spMk id="3" creationId="{1AF45C18-BC30-6099-1BE4-4D575CFB71BD}"/>
          </ac:spMkLst>
        </pc:spChg>
        <pc:graphicFrameChg chg="mod modGraphic">
          <ac:chgData name="Ali Akbar" userId="7ad23ff2803fa24b" providerId="LiveId" clId="{514BB18F-9BD0-4D58-ABA9-6BC48CB536D7}" dt="2025-05-05T00:08:02.702" v="5" actId="1076"/>
          <ac:graphicFrameMkLst>
            <pc:docMk/>
            <pc:sldMk cId="2638427812" sldId="260"/>
            <ac:graphicFrameMk id="4" creationId="{ABEBCEEA-0487-14C0-F8BB-825DB41450EA}"/>
          </ac:graphicFrameMkLst>
        </pc:graphicFrameChg>
      </pc:sldChg>
      <pc:sldChg chg="addSp delSp modSp new mod setBg">
        <pc:chgData name="Ali Akbar" userId="7ad23ff2803fa24b" providerId="LiveId" clId="{514BB18F-9BD0-4D58-ABA9-6BC48CB536D7}" dt="2025-05-05T00:13:46.019" v="55" actId="1076"/>
        <pc:sldMkLst>
          <pc:docMk/>
          <pc:sldMk cId="3294172390" sldId="261"/>
        </pc:sldMkLst>
        <pc:spChg chg="add del">
          <ac:chgData name="Ali Akbar" userId="7ad23ff2803fa24b" providerId="LiveId" clId="{514BB18F-9BD0-4D58-ABA9-6BC48CB536D7}" dt="2025-05-05T00:13:42.090" v="54" actId="478"/>
          <ac:spMkLst>
            <pc:docMk/>
            <pc:sldMk cId="3294172390" sldId="261"/>
            <ac:spMk id="2" creationId="{7EE0B491-8D4C-7832-E4DB-C88B695498DF}"/>
          </ac:spMkLst>
        </pc:spChg>
        <pc:spChg chg="del">
          <ac:chgData name="Ali Akbar" userId="7ad23ff2803fa24b" providerId="LiveId" clId="{514BB18F-9BD0-4D58-ABA9-6BC48CB536D7}" dt="2025-05-05T00:13:02.525" v="47"/>
          <ac:spMkLst>
            <pc:docMk/>
            <pc:sldMk cId="3294172390" sldId="261"/>
            <ac:spMk id="3" creationId="{0A7474CB-0D9E-C53B-EA72-C16F35D60978}"/>
          </ac:spMkLst>
        </pc:spChg>
        <pc:spChg chg="add del">
          <ac:chgData name="Ali Akbar" userId="7ad23ff2803fa24b" providerId="LiveId" clId="{514BB18F-9BD0-4D58-ABA9-6BC48CB536D7}" dt="2025-05-05T00:13:17.785" v="49" actId="26606"/>
          <ac:spMkLst>
            <pc:docMk/>
            <pc:sldMk cId="3294172390" sldId="261"/>
            <ac:spMk id="3079" creationId="{8A2FCF07-6918-45A6-B28F-1025FEBA7AEF}"/>
          </ac:spMkLst>
        </pc:spChg>
        <pc:picChg chg="add mod">
          <ac:chgData name="Ali Akbar" userId="7ad23ff2803fa24b" providerId="LiveId" clId="{514BB18F-9BD0-4D58-ABA9-6BC48CB536D7}" dt="2025-05-05T00:13:46.019" v="55" actId="1076"/>
          <ac:picMkLst>
            <pc:docMk/>
            <pc:sldMk cId="3294172390" sldId="261"/>
            <ac:picMk id="3074" creationId="{167249E4-1407-9FD4-3BD2-205448DD3CE7}"/>
          </ac:picMkLst>
        </pc:picChg>
      </pc:sldChg>
      <pc:sldChg chg="addSp delSp modSp new mod setBg">
        <pc:chgData name="Ali Akbar" userId="7ad23ff2803fa24b" providerId="LiveId" clId="{514BB18F-9BD0-4D58-ABA9-6BC48CB536D7}" dt="2025-05-05T00:15:48.302" v="76" actId="403"/>
        <pc:sldMkLst>
          <pc:docMk/>
          <pc:sldMk cId="129088375" sldId="262"/>
        </pc:sldMkLst>
        <pc:spChg chg="mod">
          <ac:chgData name="Ali Akbar" userId="7ad23ff2803fa24b" providerId="LiveId" clId="{514BB18F-9BD0-4D58-ABA9-6BC48CB536D7}" dt="2025-05-05T00:15:48.302" v="76" actId="403"/>
          <ac:spMkLst>
            <pc:docMk/>
            <pc:sldMk cId="129088375" sldId="262"/>
            <ac:spMk id="2" creationId="{1DFAFDC5-5F37-A3D0-516A-083E0875319B}"/>
          </ac:spMkLst>
        </pc:spChg>
        <pc:spChg chg="del">
          <ac:chgData name="Ali Akbar" userId="7ad23ff2803fa24b" providerId="LiveId" clId="{514BB18F-9BD0-4D58-ABA9-6BC48CB536D7}" dt="2025-05-05T00:14:39.975" v="57"/>
          <ac:spMkLst>
            <pc:docMk/>
            <pc:sldMk cId="129088375" sldId="262"/>
            <ac:spMk id="3" creationId="{2A699332-DB96-2AF6-6FB5-462C88FBE2F3}"/>
          </ac:spMkLst>
        </pc:spChg>
        <pc:spChg chg="add">
          <ac:chgData name="Ali Akbar" userId="7ad23ff2803fa24b" providerId="LiveId" clId="{514BB18F-9BD0-4D58-ABA9-6BC48CB536D7}" dt="2025-05-05T00:14:44.312" v="58" actId="26606"/>
          <ac:spMkLst>
            <pc:docMk/>
            <pc:sldMk cId="129088375" sldId="262"/>
            <ac:spMk id="9" creationId="{50666DC1-CD27-4874-9484-9D06C59FE4D0}"/>
          </ac:spMkLst>
        </pc:spChg>
        <pc:spChg chg="add">
          <ac:chgData name="Ali Akbar" userId="7ad23ff2803fa24b" providerId="LiveId" clId="{514BB18F-9BD0-4D58-ABA9-6BC48CB536D7}" dt="2025-05-05T00:14:44.312" v="58" actId="26606"/>
          <ac:spMkLst>
            <pc:docMk/>
            <pc:sldMk cId="129088375" sldId="262"/>
            <ac:spMk id="11" creationId="{0BE66D35-6371-4809-9433-1EBF879150EC}"/>
          </ac:spMkLst>
        </pc:spChg>
        <pc:spChg chg="add">
          <ac:chgData name="Ali Akbar" userId="7ad23ff2803fa24b" providerId="LiveId" clId="{514BB18F-9BD0-4D58-ABA9-6BC48CB536D7}" dt="2025-05-05T00:14:44.312" v="58" actId="26606"/>
          <ac:spMkLst>
            <pc:docMk/>
            <pc:sldMk cId="129088375" sldId="262"/>
            <ac:spMk id="13" creationId="{72EF3F9A-9717-4ACB-A30D-96694842C4F7}"/>
          </ac:spMkLst>
        </pc:spChg>
        <pc:grpChg chg="add">
          <ac:chgData name="Ali Akbar" userId="7ad23ff2803fa24b" providerId="LiveId" clId="{514BB18F-9BD0-4D58-ABA9-6BC48CB536D7}" dt="2025-05-05T00:14:44.312" v="58" actId="26606"/>
          <ac:grpSpMkLst>
            <pc:docMk/>
            <pc:sldMk cId="129088375" sldId="262"/>
            <ac:grpSpMk id="15" creationId="{0EB82B4C-9249-4CFC-A372-7B0FF5E36EA8}"/>
          </ac:grpSpMkLst>
        </pc:grpChg>
        <pc:graphicFrameChg chg="add mod modGraphic">
          <ac:chgData name="Ali Akbar" userId="7ad23ff2803fa24b" providerId="LiveId" clId="{514BB18F-9BD0-4D58-ABA9-6BC48CB536D7}" dt="2025-05-05T00:15:25.054" v="64" actId="12385"/>
          <ac:graphicFrameMkLst>
            <pc:docMk/>
            <pc:sldMk cId="129088375" sldId="262"/>
            <ac:graphicFrameMk id="4" creationId="{4C5DE7DE-EC00-1148-12ED-3C6BDDA408A0}"/>
          </ac:graphicFrameMkLst>
        </pc:graphicFrameChg>
      </pc:sldChg>
      <pc:sldChg chg="addSp delSp modSp new mod setBg">
        <pc:chgData name="Ali Akbar" userId="7ad23ff2803fa24b" providerId="LiveId" clId="{514BB18F-9BD0-4D58-ABA9-6BC48CB536D7}" dt="2025-05-05T00:17:04.910" v="85" actId="14100"/>
        <pc:sldMkLst>
          <pc:docMk/>
          <pc:sldMk cId="2554018011" sldId="263"/>
        </pc:sldMkLst>
        <pc:spChg chg="mod">
          <ac:chgData name="Ali Akbar" userId="7ad23ff2803fa24b" providerId="LiveId" clId="{514BB18F-9BD0-4D58-ABA9-6BC48CB536D7}" dt="2025-05-05T00:16:25.029" v="80" actId="26606"/>
          <ac:spMkLst>
            <pc:docMk/>
            <pc:sldMk cId="2554018011" sldId="263"/>
            <ac:spMk id="2" creationId="{4DADEAC7-7FE6-AA62-C9E7-0885B7A1F417}"/>
          </ac:spMkLst>
        </pc:spChg>
        <pc:spChg chg="del">
          <ac:chgData name="Ali Akbar" userId="7ad23ff2803fa24b" providerId="LiveId" clId="{514BB18F-9BD0-4D58-ABA9-6BC48CB536D7}" dt="2025-05-05T00:16:21.770" v="79"/>
          <ac:spMkLst>
            <pc:docMk/>
            <pc:sldMk cId="2554018011" sldId="263"/>
            <ac:spMk id="3" creationId="{C3410AF1-287A-F346-F8B9-1AA1A0B11CF8}"/>
          </ac:spMkLst>
        </pc:spChg>
        <pc:spChg chg="add">
          <ac:chgData name="Ali Akbar" userId="7ad23ff2803fa24b" providerId="LiveId" clId="{514BB18F-9BD0-4D58-ABA9-6BC48CB536D7}" dt="2025-05-05T00:16:25.029" v="80" actId="26606"/>
          <ac:spMkLst>
            <pc:docMk/>
            <pc:sldMk cId="2554018011" sldId="263"/>
            <ac:spMk id="9" creationId="{50666DC1-CD27-4874-9484-9D06C59FE4D0}"/>
          </ac:spMkLst>
        </pc:spChg>
        <pc:spChg chg="add">
          <ac:chgData name="Ali Akbar" userId="7ad23ff2803fa24b" providerId="LiveId" clId="{514BB18F-9BD0-4D58-ABA9-6BC48CB536D7}" dt="2025-05-05T00:16:25.029" v="80" actId="26606"/>
          <ac:spMkLst>
            <pc:docMk/>
            <pc:sldMk cId="2554018011" sldId="263"/>
            <ac:spMk id="11" creationId="{0BE66D35-6371-4809-9433-1EBF879150EC}"/>
          </ac:spMkLst>
        </pc:spChg>
        <pc:spChg chg="add">
          <ac:chgData name="Ali Akbar" userId="7ad23ff2803fa24b" providerId="LiveId" clId="{514BB18F-9BD0-4D58-ABA9-6BC48CB536D7}" dt="2025-05-05T00:16:25.029" v="80" actId="26606"/>
          <ac:spMkLst>
            <pc:docMk/>
            <pc:sldMk cId="2554018011" sldId="263"/>
            <ac:spMk id="13" creationId="{72EF3F9A-9717-4ACB-A30D-96694842C4F7}"/>
          </ac:spMkLst>
        </pc:spChg>
        <pc:grpChg chg="add">
          <ac:chgData name="Ali Akbar" userId="7ad23ff2803fa24b" providerId="LiveId" clId="{514BB18F-9BD0-4D58-ABA9-6BC48CB536D7}" dt="2025-05-05T00:16:25.029" v="80" actId="26606"/>
          <ac:grpSpMkLst>
            <pc:docMk/>
            <pc:sldMk cId="2554018011" sldId="263"/>
            <ac:grpSpMk id="15" creationId="{0EB82B4C-9249-4CFC-A372-7B0FF5E36EA8}"/>
          </ac:grpSpMkLst>
        </pc:grpChg>
        <pc:graphicFrameChg chg="add mod modGraphic">
          <ac:chgData name="Ali Akbar" userId="7ad23ff2803fa24b" providerId="LiveId" clId="{514BB18F-9BD0-4D58-ABA9-6BC48CB536D7}" dt="2025-05-05T00:17:04.910" v="85" actId="14100"/>
          <ac:graphicFrameMkLst>
            <pc:docMk/>
            <pc:sldMk cId="2554018011" sldId="263"/>
            <ac:graphicFrameMk id="4" creationId="{0D15D07F-6494-E1BE-9674-830F1672F86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664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376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100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6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715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987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2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34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130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843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901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913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.docs.live.net/7ad23ff2803fa24b/Desktop/IU%20Courses/BS/Parallel%20%5e0%20Distributed%20Computing/Lectures/Week%20%5eN%205/Syncronous%20%5e0%20Asyncronous.docx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D90D76C-184F-4A96-8FE8-1114F8EE1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DE355-E8A7-498B-A6A0-54D03B953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3644" cy="686133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F9A390-EDA5-0CDD-DCDA-4980302C7D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1122363"/>
            <a:ext cx="4910841" cy="2387600"/>
          </a:xfrm>
        </p:spPr>
        <p:txBody>
          <a:bodyPr>
            <a:normAutofit/>
          </a:bodyPr>
          <a:lstStyle/>
          <a:p>
            <a:r>
              <a:rPr lang="en-US" dirty="0"/>
              <a:t>Lecture # 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87094-C41F-2B68-25DE-9E2C9DE52E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8"/>
            <a:ext cx="4910841" cy="1655762"/>
          </a:xfrm>
        </p:spPr>
        <p:txBody>
          <a:bodyPr>
            <a:norm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 descr="A mosaic of colorful geometric shapes">
            <a:extLst>
              <a:ext uri="{FF2B5EF4-FFF2-40B4-BE49-F238E27FC236}">
                <a16:creationId xmlns:a16="http://schemas.microsoft.com/office/drawing/2014/main" id="{A25D92CB-0526-EA46-63B0-9EEC5DDE5A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26" r="34689"/>
          <a:stretch/>
        </p:blipFill>
        <p:spPr>
          <a:xfrm>
            <a:off x="6083645" y="10"/>
            <a:ext cx="610835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056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7ADF9C-7729-43E0-B44E-3392C2BD0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64CE6C-E4DD-47B0-947A-FE4B1135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5998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4B12E4-0AE3-9805-637F-F8ECEDA1E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5252571" cy="2766449"/>
          </a:xfrm>
        </p:spPr>
        <p:txBody>
          <a:bodyPr>
            <a:normAutofit/>
          </a:bodyPr>
          <a:lstStyle/>
          <a:p>
            <a:r>
              <a:rPr lang="en-US" dirty="0"/>
              <a:t>What is a Distributed System?</a:t>
            </a:r>
          </a:p>
        </p:txBody>
      </p:sp>
      <p:pic>
        <p:nvPicPr>
          <p:cNvPr id="5" name="Picture 4" descr="Cloud shaped hard drive with cables">
            <a:extLst>
              <a:ext uri="{FF2B5EF4-FFF2-40B4-BE49-F238E27FC236}">
                <a16:creationId xmlns:a16="http://schemas.microsoft.com/office/drawing/2014/main" id="{D8107439-CB55-2E0E-2659-AF47E14AB9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6"/>
          <a:stretch/>
        </p:blipFill>
        <p:spPr>
          <a:xfrm>
            <a:off x="20" y="3429000"/>
            <a:ext cx="6095978" cy="3429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8A38-C4CB-0172-072A-CBFBDE167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1676" y="365125"/>
            <a:ext cx="5745038" cy="6353726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10000"/>
              </a:lnSpc>
            </a:pPr>
            <a:r>
              <a:rPr lang="en-US" sz="2400" dirty="0"/>
              <a:t>A </a:t>
            </a:r>
            <a:r>
              <a:rPr lang="en-US" sz="2400" b="1" dirty="0"/>
              <a:t>Distributed System</a:t>
            </a:r>
            <a:r>
              <a:rPr lang="en-US" sz="2400" dirty="0"/>
              <a:t> is a collection of </a:t>
            </a:r>
            <a:r>
              <a:rPr lang="en-US" sz="2400" b="1" dirty="0"/>
              <a:t>independent computers</a:t>
            </a:r>
            <a:r>
              <a:rPr lang="en-US" sz="2400" dirty="0"/>
              <a:t> that appears to its users as a </a:t>
            </a:r>
            <a:r>
              <a:rPr lang="en-US" sz="2400" b="1" dirty="0"/>
              <a:t>single coherent system</a:t>
            </a:r>
            <a:r>
              <a:rPr lang="en-US" sz="2400" dirty="0"/>
              <a:t>.</a:t>
            </a:r>
          </a:p>
          <a:p>
            <a:pPr algn="just">
              <a:lnSpc>
                <a:spcPct val="110000"/>
              </a:lnSpc>
              <a:buNone/>
            </a:pPr>
            <a:r>
              <a:rPr lang="en-US" sz="2400" b="1" dirty="0"/>
              <a:t>Examples:</a:t>
            </a:r>
            <a:endParaRPr lang="en-US" sz="2400" dirty="0"/>
          </a:p>
          <a:p>
            <a:pPr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Google Search</a:t>
            </a:r>
          </a:p>
          <a:p>
            <a:pPr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Distributed Databases (e.g., Cassandra, MongoDB)</a:t>
            </a:r>
          </a:p>
          <a:p>
            <a:pPr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Online Banking Systems</a:t>
            </a:r>
          </a:p>
          <a:p>
            <a:pPr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Cloud Computing Platforms</a:t>
            </a:r>
          </a:p>
          <a:p>
            <a:pPr algn="just">
              <a:lnSpc>
                <a:spcPct val="110000"/>
              </a:lnSpc>
              <a:buNone/>
            </a:pPr>
            <a:r>
              <a:rPr lang="en-US" sz="2400" b="1" dirty="0"/>
              <a:t>Why Use Distributed Systems?</a:t>
            </a:r>
            <a:endParaRPr lang="en-US" sz="2400" dirty="0"/>
          </a:p>
          <a:p>
            <a:pPr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Scalability</a:t>
            </a:r>
          </a:p>
          <a:p>
            <a:pPr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Fault tolerance</a:t>
            </a:r>
          </a:p>
          <a:p>
            <a:pPr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Resource sharing</a:t>
            </a:r>
          </a:p>
          <a:p>
            <a:pPr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Performance improvements</a:t>
            </a:r>
          </a:p>
          <a:p>
            <a:pPr>
              <a:lnSpc>
                <a:spcPct val="110000"/>
              </a:lnSpc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272137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DDAA74B-8E81-4F15-BC0F-4050965FF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4CD4C6-F07B-411C-876A-727559731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083644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0EB1B8-EFA7-A5F9-12A1-57897BFC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5022630" cy="243003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Communication in Distributed Systems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BA7E8-165D-5575-98E6-DE3E73303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3" y="3428999"/>
            <a:ext cx="5565912" cy="34290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lang="en-US" sz="2400" b="1" dirty="0"/>
              <a:t>Two Models of Communication:</a:t>
            </a:r>
            <a:endParaRPr lang="en-US" sz="2400" dirty="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Synchronous Communication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Asynchronous Communication</a:t>
            </a:r>
          </a:p>
          <a:p>
            <a:pPr>
              <a:lnSpc>
                <a:spcPct val="110000"/>
              </a:lnSpc>
              <a:buNone/>
            </a:pPr>
            <a:r>
              <a:rPr lang="en-US" sz="2400" b="1" dirty="0"/>
              <a:t>Communication Types:</a:t>
            </a:r>
            <a:endParaRPr lang="en-US" sz="2400" dirty="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Point-to-point (1-to-1)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Broadcast or multicast (1-to-many)</a:t>
            </a:r>
          </a:p>
          <a:p>
            <a:pPr>
              <a:lnSpc>
                <a:spcPct val="110000"/>
              </a:lnSpc>
            </a:pPr>
            <a:endParaRPr lang="en-US" sz="1400" dirty="0"/>
          </a:p>
        </p:txBody>
      </p:sp>
      <p:pic>
        <p:nvPicPr>
          <p:cNvPr id="5" name="Picture 4" descr="Colorful network cables">
            <a:extLst>
              <a:ext uri="{FF2B5EF4-FFF2-40B4-BE49-F238E27FC236}">
                <a16:creationId xmlns:a16="http://schemas.microsoft.com/office/drawing/2014/main" id="{A58C0F50-E7D8-1671-7B6F-08F953BD25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99" r="27647" b="-1"/>
          <a:stretch/>
        </p:blipFill>
        <p:spPr>
          <a:xfrm>
            <a:off x="6083644" y="10"/>
            <a:ext cx="610835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306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63B8B-9CC8-7E42-6874-5D780C4AF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1" y="325368"/>
            <a:ext cx="10869249" cy="1687513"/>
          </a:xfrm>
        </p:spPr>
        <p:txBody>
          <a:bodyPr>
            <a:normAutofit fontScale="90000"/>
          </a:bodyPr>
          <a:lstStyle/>
          <a:p>
            <a:r>
              <a:rPr lang="en-US" dirty="0"/>
              <a:t>Synchronous vs Asynchronous Communication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69C5CE-D57E-96B6-55CD-5793221F84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155803"/>
              </p:ext>
            </p:extLst>
          </p:nvPr>
        </p:nvGraphicFramePr>
        <p:xfrm>
          <a:off x="484188" y="2564296"/>
          <a:ext cx="11224107" cy="396833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41369">
                  <a:extLst>
                    <a:ext uri="{9D8B030D-6E8A-4147-A177-3AD203B41FA5}">
                      <a16:colId xmlns:a16="http://schemas.microsoft.com/office/drawing/2014/main" val="3903109617"/>
                    </a:ext>
                  </a:extLst>
                </a:gridCol>
                <a:gridCol w="3741369">
                  <a:extLst>
                    <a:ext uri="{9D8B030D-6E8A-4147-A177-3AD203B41FA5}">
                      <a16:colId xmlns:a16="http://schemas.microsoft.com/office/drawing/2014/main" val="2968957152"/>
                    </a:ext>
                  </a:extLst>
                </a:gridCol>
                <a:gridCol w="3741369">
                  <a:extLst>
                    <a:ext uri="{9D8B030D-6E8A-4147-A177-3AD203B41FA5}">
                      <a16:colId xmlns:a16="http://schemas.microsoft.com/office/drawing/2014/main" val="378286892"/>
                    </a:ext>
                  </a:extLst>
                </a:gridCol>
              </a:tblGrid>
              <a:tr h="529112">
                <a:tc>
                  <a:txBody>
                    <a:bodyPr/>
                    <a:lstStyle/>
                    <a:p>
                      <a:r>
                        <a:rPr lang="en-US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Synchronous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Asynchronous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4178741"/>
                  </a:ext>
                </a:extLst>
              </a:tr>
              <a:tr h="925945">
                <a:tc>
                  <a:txBody>
                    <a:bodyPr/>
                    <a:lstStyle/>
                    <a:p>
                      <a:r>
                        <a:rPr lang="en-US" b="1" dirty="0"/>
                        <a:t>Definition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Sender waits for reply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Sender continues without waiting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2532455"/>
                  </a:ext>
                </a:extLst>
              </a:tr>
              <a:tr h="925945">
                <a:tc>
                  <a:txBody>
                    <a:bodyPr/>
                    <a:lstStyle/>
                    <a:p>
                      <a:r>
                        <a:rPr lang="en-US" b="1" dirty="0"/>
                        <a:t>Latency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Lower control, predictable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Higher variability, less predictable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7925464"/>
                  </a:ext>
                </a:extLst>
              </a:tr>
              <a:tr h="529112">
                <a:tc>
                  <a:txBody>
                    <a:bodyPr/>
                    <a:lstStyle/>
                    <a:p>
                      <a:r>
                        <a:rPr lang="en-US" b="1" dirty="0"/>
                        <a:t>Error Handling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Easier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More complex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8169958"/>
                  </a:ext>
                </a:extLst>
              </a:tr>
              <a:tr h="529112">
                <a:tc>
                  <a:txBody>
                    <a:bodyPr/>
                    <a:lstStyle/>
                    <a:p>
                      <a:r>
                        <a:rPr lang="en-US" b="1" dirty="0"/>
                        <a:t>Use Cases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RPCs, banking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Email systems, message queues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758442"/>
                  </a:ext>
                </a:extLst>
              </a:tr>
              <a:tr h="529112">
                <a:tc>
                  <a:txBody>
                    <a:bodyPr/>
                    <a:lstStyle/>
                    <a:p>
                      <a:r>
                        <a:rPr lang="en-US" b="1" dirty="0"/>
                        <a:t>Blocking?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47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0574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3114C-8DEF-D5C5-B27D-423BAA974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Synchronous vs. Asynchronous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45C18-BC30-6099-1BE4-4D575CFB7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Communication is </a:t>
            </a:r>
            <a:r>
              <a:rPr lang="en-US" b="1" dirty="0"/>
              <a:t>at the heart</a:t>
            </a:r>
            <a:r>
              <a:rPr lang="en-US" dirty="0"/>
              <a:t> of distributed systems. Nodes (or processes) must exchange messages to coordinate tasks, share resources, and ensure consistency. The nature of this communication—</a:t>
            </a:r>
            <a:r>
              <a:rPr lang="en-US" b="1" dirty="0"/>
              <a:t>synchronous</a:t>
            </a:r>
            <a:r>
              <a:rPr lang="en-US" dirty="0"/>
              <a:t> or </a:t>
            </a:r>
            <a:r>
              <a:rPr lang="en-US" b="1" dirty="0"/>
              <a:t>asynchronous</a:t>
            </a:r>
            <a:r>
              <a:rPr lang="en-US" dirty="0"/>
              <a:t>—has a profound impact on </a:t>
            </a:r>
            <a:r>
              <a:rPr lang="en-US" b="1" dirty="0"/>
              <a:t>system design, performance, and complexity</a:t>
            </a:r>
            <a:r>
              <a:rPr lang="en-US" dirty="0"/>
              <a:t>.        </a:t>
            </a:r>
            <a:r>
              <a:rPr lang="en-US" dirty="0">
                <a:hlinkClick r:id="rId2"/>
              </a:rPr>
              <a:t>(Synchronous &amp; Asynchronous)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EBCEEA-0487-14C0-F8BB-825DB4145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389353"/>
              </p:ext>
            </p:extLst>
          </p:nvPr>
        </p:nvGraphicFramePr>
        <p:xfrm>
          <a:off x="484188" y="4505077"/>
          <a:ext cx="10869612" cy="21508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434806">
                  <a:extLst>
                    <a:ext uri="{9D8B030D-6E8A-4147-A177-3AD203B41FA5}">
                      <a16:colId xmlns:a16="http://schemas.microsoft.com/office/drawing/2014/main" val="261327188"/>
                    </a:ext>
                  </a:extLst>
                </a:gridCol>
                <a:gridCol w="5434806">
                  <a:extLst>
                    <a:ext uri="{9D8B030D-6E8A-4147-A177-3AD203B41FA5}">
                      <a16:colId xmlns:a16="http://schemas.microsoft.com/office/drawing/2014/main" val="3182849000"/>
                    </a:ext>
                  </a:extLst>
                </a:gridCol>
              </a:tblGrid>
              <a:tr h="795131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Analogy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9165718"/>
                  </a:ext>
                </a:extLst>
              </a:tr>
              <a:tr h="715617">
                <a:tc>
                  <a:txBody>
                    <a:bodyPr/>
                    <a:lstStyle/>
                    <a:p>
                      <a:r>
                        <a:rPr lang="en-US" dirty="0"/>
                        <a:t>Synchronous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Phone call – both must be online and respond in real time.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2403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Asynchronous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 – send anytime; receiver reads/responds later.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5296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8427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ynchronous and Asynchronous Transmission: A comparison">
            <a:extLst>
              <a:ext uri="{FF2B5EF4-FFF2-40B4-BE49-F238E27FC236}">
                <a16:creationId xmlns:a16="http://schemas.microsoft.com/office/drawing/2014/main" id="{167249E4-1407-9FD4-3BD2-205448DD3C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441" y="82557"/>
            <a:ext cx="9693118" cy="669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4172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FAFDC5-5F37-A3D0-516A-083E08753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Comparison Table</a:t>
            </a:r>
            <a:endParaRPr lang="en-US" sz="96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C5DE7DE-EC00-1148-12ED-3C6BDDA408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1497963"/>
              </p:ext>
            </p:extLst>
          </p:nvPr>
        </p:nvGraphicFramePr>
        <p:xfrm>
          <a:off x="3194219" y="324483"/>
          <a:ext cx="8613469" cy="62750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21753">
                  <a:extLst>
                    <a:ext uri="{9D8B030D-6E8A-4147-A177-3AD203B41FA5}">
                      <a16:colId xmlns:a16="http://schemas.microsoft.com/office/drawing/2014/main" val="3928921905"/>
                    </a:ext>
                  </a:extLst>
                </a:gridCol>
                <a:gridCol w="2679633">
                  <a:extLst>
                    <a:ext uri="{9D8B030D-6E8A-4147-A177-3AD203B41FA5}">
                      <a16:colId xmlns:a16="http://schemas.microsoft.com/office/drawing/2014/main" val="2157795751"/>
                    </a:ext>
                  </a:extLst>
                </a:gridCol>
                <a:gridCol w="3112083">
                  <a:extLst>
                    <a:ext uri="{9D8B030D-6E8A-4147-A177-3AD203B41FA5}">
                      <a16:colId xmlns:a16="http://schemas.microsoft.com/office/drawing/2014/main" val="4206065679"/>
                    </a:ext>
                  </a:extLst>
                </a:gridCol>
              </a:tblGrid>
              <a:tr h="586323">
                <a:tc>
                  <a:txBody>
                    <a:bodyPr/>
                    <a:lstStyle/>
                    <a:p>
                      <a:r>
                        <a:rPr lang="en-US" sz="2000" b="1" dirty="0"/>
                        <a:t>Feature</a:t>
                      </a:r>
                    </a:p>
                  </a:txBody>
                  <a:tcPr marL="103113" marR="103113" marT="51557" marB="51557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Synchronous</a:t>
                      </a:r>
                    </a:p>
                  </a:txBody>
                  <a:tcPr marL="103113" marR="103113" marT="51557" marB="51557"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Asynchronous</a:t>
                      </a:r>
                    </a:p>
                  </a:txBody>
                  <a:tcPr marL="103113" marR="103113" marT="51557" marB="51557" anchor="ctr"/>
                </a:tc>
                <a:extLst>
                  <a:ext uri="{0D108BD9-81ED-4DB2-BD59-A6C34878D82A}">
                    <a16:rowId xmlns:a16="http://schemas.microsoft.com/office/drawing/2014/main" val="3764594955"/>
                  </a:ext>
                </a:extLst>
              </a:tr>
              <a:tr h="586323">
                <a:tc>
                  <a:txBody>
                    <a:bodyPr/>
                    <a:lstStyle/>
                    <a:p>
                      <a:r>
                        <a:rPr lang="en-US" sz="2000" b="1"/>
                        <a:t>Blocking</a:t>
                      </a:r>
                      <a:endParaRPr lang="en-US" sz="2000"/>
                    </a:p>
                  </a:txBody>
                  <a:tcPr marL="103113" marR="103113" marT="51557" marB="51557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Yes (sender waits)</a:t>
                      </a:r>
                    </a:p>
                  </a:txBody>
                  <a:tcPr marL="103113" marR="103113" marT="51557" marB="51557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No (sender continues)</a:t>
                      </a:r>
                    </a:p>
                  </a:txBody>
                  <a:tcPr marL="103113" marR="103113" marT="51557" marB="51557" anchor="ctr"/>
                </a:tc>
                <a:extLst>
                  <a:ext uri="{0D108BD9-81ED-4DB2-BD59-A6C34878D82A}">
                    <a16:rowId xmlns:a16="http://schemas.microsoft.com/office/drawing/2014/main" val="838048933"/>
                  </a:ext>
                </a:extLst>
              </a:tr>
              <a:tr h="586323">
                <a:tc>
                  <a:txBody>
                    <a:bodyPr/>
                    <a:lstStyle/>
                    <a:p>
                      <a:r>
                        <a:rPr lang="en-US" sz="2000" b="1"/>
                        <a:t>Message Handling</a:t>
                      </a:r>
                      <a:endParaRPr lang="en-US" sz="2000"/>
                    </a:p>
                  </a:txBody>
                  <a:tcPr marL="103113" marR="103113" marT="51557" marB="51557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Immediate</a:t>
                      </a:r>
                    </a:p>
                  </a:txBody>
                  <a:tcPr marL="103113" marR="103113" marT="51557" marB="51557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Delayed/Queued</a:t>
                      </a:r>
                    </a:p>
                  </a:txBody>
                  <a:tcPr marL="103113" marR="103113" marT="51557" marB="51557" anchor="ctr"/>
                </a:tc>
                <a:extLst>
                  <a:ext uri="{0D108BD9-81ED-4DB2-BD59-A6C34878D82A}">
                    <a16:rowId xmlns:a16="http://schemas.microsoft.com/office/drawing/2014/main" val="3824549867"/>
                  </a:ext>
                </a:extLst>
              </a:tr>
              <a:tr h="982451">
                <a:tc>
                  <a:txBody>
                    <a:bodyPr/>
                    <a:lstStyle/>
                    <a:p>
                      <a:r>
                        <a:rPr lang="en-US" sz="2000" b="1"/>
                        <a:t>Coupling</a:t>
                      </a:r>
                      <a:endParaRPr lang="en-US" sz="2000"/>
                    </a:p>
                  </a:txBody>
                  <a:tcPr marL="103113" marR="103113" marT="51557" marB="51557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Tight temporal coupling</a:t>
                      </a:r>
                    </a:p>
                  </a:txBody>
                  <a:tcPr marL="103113" marR="103113" marT="51557" marB="51557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Loose temporal coupling</a:t>
                      </a:r>
                    </a:p>
                  </a:txBody>
                  <a:tcPr marL="103113" marR="103113" marT="51557" marB="51557" anchor="ctr"/>
                </a:tc>
                <a:extLst>
                  <a:ext uri="{0D108BD9-81ED-4DB2-BD59-A6C34878D82A}">
                    <a16:rowId xmlns:a16="http://schemas.microsoft.com/office/drawing/2014/main" val="2673780512"/>
                  </a:ext>
                </a:extLst>
              </a:tr>
              <a:tr h="586323">
                <a:tc>
                  <a:txBody>
                    <a:bodyPr/>
                    <a:lstStyle/>
                    <a:p>
                      <a:r>
                        <a:rPr lang="en-US" sz="2000" b="1"/>
                        <a:t>Scalability</a:t>
                      </a:r>
                      <a:endParaRPr lang="en-US" sz="2000"/>
                    </a:p>
                  </a:txBody>
                  <a:tcPr marL="103113" marR="103113" marT="51557" marB="51557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Lower</a:t>
                      </a:r>
                    </a:p>
                  </a:txBody>
                  <a:tcPr marL="103113" marR="103113" marT="51557" marB="51557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Higher</a:t>
                      </a:r>
                    </a:p>
                  </a:txBody>
                  <a:tcPr marL="103113" marR="103113" marT="51557" marB="51557" anchor="ctr"/>
                </a:tc>
                <a:extLst>
                  <a:ext uri="{0D108BD9-81ED-4DB2-BD59-A6C34878D82A}">
                    <a16:rowId xmlns:a16="http://schemas.microsoft.com/office/drawing/2014/main" val="3649798271"/>
                  </a:ext>
                </a:extLst>
              </a:tr>
              <a:tr h="982451">
                <a:tc>
                  <a:txBody>
                    <a:bodyPr/>
                    <a:lstStyle/>
                    <a:p>
                      <a:r>
                        <a:rPr lang="en-US" sz="2000" b="1"/>
                        <a:t>Reliability Dependency</a:t>
                      </a:r>
                      <a:endParaRPr lang="en-US" sz="2000"/>
                    </a:p>
                  </a:txBody>
                  <a:tcPr marL="103113" marR="103113" marT="51557" marB="51557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High on receiver availability</a:t>
                      </a:r>
                    </a:p>
                  </a:txBody>
                  <a:tcPr marL="103113" marR="103113" marT="51557" marB="51557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Less dependent on receiver state</a:t>
                      </a:r>
                    </a:p>
                  </a:txBody>
                  <a:tcPr marL="103113" marR="103113" marT="51557" marB="51557" anchor="ctr"/>
                </a:tc>
                <a:extLst>
                  <a:ext uri="{0D108BD9-81ED-4DB2-BD59-A6C34878D82A}">
                    <a16:rowId xmlns:a16="http://schemas.microsoft.com/office/drawing/2014/main" val="765802057"/>
                  </a:ext>
                </a:extLst>
              </a:tr>
              <a:tr h="982451">
                <a:tc>
                  <a:txBody>
                    <a:bodyPr/>
                    <a:lstStyle/>
                    <a:p>
                      <a:r>
                        <a:rPr lang="en-US" sz="2000" b="1"/>
                        <a:t>Complexity</a:t>
                      </a:r>
                      <a:endParaRPr lang="en-US" sz="2000"/>
                    </a:p>
                  </a:txBody>
                  <a:tcPr marL="103113" marR="103113" marT="51557" marB="51557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Lower (easier to reason)</a:t>
                      </a:r>
                    </a:p>
                  </a:txBody>
                  <a:tcPr marL="103113" marR="103113" marT="51557" marB="51557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Higher (requires queues, handling)</a:t>
                      </a:r>
                    </a:p>
                  </a:txBody>
                  <a:tcPr marL="103113" marR="103113" marT="51557" marB="51557" anchor="ctr"/>
                </a:tc>
                <a:extLst>
                  <a:ext uri="{0D108BD9-81ED-4DB2-BD59-A6C34878D82A}">
                    <a16:rowId xmlns:a16="http://schemas.microsoft.com/office/drawing/2014/main" val="3027641441"/>
                  </a:ext>
                </a:extLst>
              </a:tr>
              <a:tr h="982451">
                <a:tc>
                  <a:txBody>
                    <a:bodyPr/>
                    <a:lstStyle/>
                    <a:p>
                      <a:r>
                        <a:rPr lang="en-US" sz="2000" b="1"/>
                        <a:t>Typical Use Cases</a:t>
                      </a:r>
                      <a:endParaRPr lang="en-US" sz="2000"/>
                    </a:p>
                  </a:txBody>
                  <a:tcPr marL="103113" marR="103113" marT="51557" marB="51557" anchor="ctr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RPCs, DB queries</a:t>
                      </a:r>
                    </a:p>
                  </a:txBody>
                  <a:tcPr marL="103113" marR="103113" marT="51557" marB="51557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Message Queues, Microservices, IoT</a:t>
                      </a:r>
                    </a:p>
                  </a:txBody>
                  <a:tcPr marL="103113" marR="103113" marT="51557" marB="51557" anchor="ctr"/>
                </a:tc>
                <a:extLst>
                  <a:ext uri="{0D108BD9-81ED-4DB2-BD59-A6C34878D82A}">
                    <a16:rowId xmlns:a16="http://schemas.microsoft.com/office/drawing/2014/main" val="7647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088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666DC1-CD27-4874-9484-9D06C59FE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BE66D35-6371-4809-9433-1EBF87915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3047998" cy="457394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ADEAC7-7FE6-AA62-C9E7-0885B7A1F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1" y="397275"/>
            <a:ext cx="2628785" cy="376125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Choosing Between Them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B82B4C-9249-4CFC-A372-7B0FF5E36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565226"/>
            <a:ext cx="3048003" cy="2292774"/>
            <a:chOff x="6096002" y="-9073"/>
            <a:chExt cx="6095998" cy="686707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1B9437E-0974-4AB4-8491-D8BDD841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DCB975E-33D1-4FB0-AA40-C2250AA66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15D07F-6494-E1BE-9674-830F1672F8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3628767"/>
              </p:ext>
            </p:extLst>
          </p:nvPr>
        </p:nvGraphicFramePr>
        <p:xfrm>
          <a:off x="3194219" y="205255"/>
          <a:ext cx="8613468" cy="4573948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4511038">
                  <a:extLst>
                    <a:ext uri="{9D8B030D-6E8A-4147-A177-3AD203B41FA5}">
                      <a16:colId xmlns:a16="http://schemas.microsoft.com/office/drawing/2014/main" val="4204004160"/>
                    </a:ext>
                  </a:extLst>
                </a:gridCol>
                <a:gridCol w="4102430">
                  <a:extLst>
                    <a:ext uri="{9D8B030D-6E8A-4147-A177-3AD203B41FA5}">
                      <a16:colId xmlns:a16="http://schemas.microsoft.com/office/drawing/2014/main" val="608660093"/>
                    </a:ext>
                  </a:extLst>
                </a:gridCol>
              </a:tblGrid>
              <a:tr h="1054462">
                <a:tc>
                  <a:txBody>
                    <a:bodyPr/>
                    <a:lstStyle/>
                    <a:p>
                      <a:r>
                        <a:rPr lang="en-US" sz="2700" b="1" dirty="0"/>
                        <a:t>Application Requirement</a:t>
                      </a:r>
                    </a:p>
                  </a:txBody>
                  <a:tcPr marL="135054" marR="135054" marT="67527" marB="67527" anchor="ctr"/>
                </a:tc>
                <a:tc>
                  <a:txBody>
                    <a:bodyPr/>
                    <a:lstStyle/>
                    <a:p>
                      <a:r>
                        <a:rPr lang="en-US" sz="2700" b="1" dirty="0"/>
                        <a:t>Recommended Model</a:t>
                      </a:r>
                    </a:p>
                  </a:txBody>
                  <a:tcPr marL="135054" marR="135054" marT="67527" marB="67527" anchor="ctr"/>
                </a:tc>
                <a:extLst>
                  <a:ext uri="{0D108BD9-81ED-4DB2-BD59-A6C34878D82A}">
                    <a16:rowId xmlns:a16="http://schemas.microsoft.com/office/drawing/2014/main" val="1626948797"/>
                  </a:ext>
                </a:extLst>
              </a:tr>
              <a:tr h="654064">
                <a:tc>
                  <a:txBody>
                    <a:bodyPr/>
                    <a:lstStyle/>
                    <a:p>
                      <a:r>
                        <a:rPr lang="en-US" sz="2700" dirty="0"/>
                        <a:t>Real-time interaction</a:t>
                      </a:r>
                    </a:p>
                  </a:txBody>
                  <a:tcPr marL="135054" marR="135054" marT="67527" marB="67527" anchor="ctr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Synchronous</a:t>
                      </a:r>
                    </a:p>
                  </a:txBody>
                  <a:tcPr marL="135054" marR="135054" marT="67527" marB="67527" anchor="ctr"/>
                </a:tc>
                <a:extLst>
                  <a:ext uri="{0D108BD9-81ED-4DB2-BD59-A6C34878D82A}">
                    <a16:rowId xmlns:a16="http://schemas.microsoft.com/office/drawing/2014/main" val="214649622"/>
                  </a:ext>
                </a:extLst>
              </a:tr>
              <a:tr h="1105679">
                <a:tc>
                  <a:txBody>
                    <a:bodyPr/>
                    <a:lstStyle/>
                    <a:p>
                      <a:r>
                        <a:rPr lang="en-US" sz="2700"/>
                        <a:t>High throughput and decoupling</a:t>
                      </a:r>
                    </a:p>
                  </a:txBody>
                  <a:tcPr marL="135054" marR="135054" marT="67527" marB="67527" anchor="ctr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Asynchronous</a:t>
                      </a:r>
                    </a:p>
                  </a:txBody>
                  <a:tcPr marL="135054" marR="135054" marT="67527" marB="67527" anchor="ctr"/>
                </a:tc>
                <a:extLst>
                  <a:ext uri="{0D108BD9-81ED-4DB2-BD59-A6C34878D82A}">
                    <a16:rowId xmlns:a16="http://schemas.microsoft.com/office/drawing/2014/main" val="1059602336"/>
                  </a:ext>
                </a:extLst>
              </a:tr>
              <a:tr h="654064">
                <a:tc>
                  <a:txBody>
                    <a:bodyPr/>
                    <a:lstStyle/>
                    <a:p>
                      <a:r>
                        <a:rPr lang="en-US" sz="2700"/>
                        <a:t>Strict consistency</a:t>
                      </a:r>
                    </a:p>
                  </a:txBody>
                  <a:tcPr marL="135054" marR="135054" marT="67527" marB="67527" anchor="ctr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Synchronous</a:t>
                      </a:r>
                    </a:p>
                  </a:txBody>
                  <a:tcPr marL="135054" marR="135054" marT="67527" marB="67527" anchor="ctr"/>
                </a:tc>
                <a:extLst>
                  <a:ext uri="{0D108BD9-81ED-4DB2-BD59-A6C34878D82A}">
                    <a16:rowId xmlns:a16="http://schemas.microsoft.com/office/drawing/2014/main" val="3032785797"/>
                  </a:ext>
                </a:extLst>
              </a:tr>
              <a:tr h="1105679">
                <a:tc>
                  <a:txBody>
                    <a:bodyPr/>
                    <a:lstStyle/>
                    <a:p>
                      <a:r>
                        <a:rPr lang="en-US" sz="2700"/>
                        <a:t>Fault tolerance and resilience</a:t>
                      </a:r>
                    </a:p>
                  </a:txBody>
                  <a:tcPr marL="135054" marR="135054" marT="67527" marB="67527" anchor="ctr"/>
                </a:tc>
                <a:tc>
                  <a:txBody>
                    <a:bodyPr/>
                    <a:lstStyle/>
                    <a:p>
                      <a:r>
                        <a:rPr lang="en-US" sz="2700" dirty="0"/>
                        <a:t>Asynchronous</a:t>
                      </a:r>
                    </a:p>
                  </a:txBody>
                  <a:tcPr marL="135054" marR="135054" marT="67527" marB="67527" anchor="ctr"/>
                </a:tc>
                <a:extLst>
                  <a:ext uri="{0D108BD9-81ED-4DB2-BD59-A6C34878D82A}">
                    <a16:rowId xmlns:a16="http://schemas.microsoft.com/office/drawing/2014/main" val="513970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4018011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316</Words>
  <Application>Microsoft Office PowerPoint</Application>
  <PresentationFormat>Widescreen</PresentationFormat>
  <Paragraphs>83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Avenir Next LT Pro</vt:lpstr>
      <vt:lpstr>Bahnschrift</vt:lpstr>
      <vt:lpstr>MatrixVTI</vt:lpstr>
      <vt:lpstr>Lecture # 5</vt:lpstr>
      <vt:lpstr>What is a Distributed System?</vt:lpstr>
      <vt:lpstr>Communication in Distributed Systems</vt:lpstr>
      <vt:lpstr>Synchronous vs Asynchronous Communication</vt:lpstr>
      <vt:lpstr>Synchronous vs. Asynchronous Communication</vt:lpstr>
      <vt:lpstr>PowerPoint Presentation</vt:lpstr>
      <vt:lpstr>Comparison Table</vt:lpstr>
      <vt:lpstr>Choosing Between Them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Akbar</dc:creator>
  <cp:lastModifiedBy>Ali Akbar</cp:lastModifiedBy>
  <cp:revision>1</cp:revision>
  <dcterms:created xsi:type="dcterms:W3CDTF">2025-05-04T23:45:40Z</dcterms:created>
  <dcterms:modified xsi:type="dcterms:W3CDTF">2025-05-05T00:17:10Z</dcterms:modified>
</cp:coreProperties>
</file>