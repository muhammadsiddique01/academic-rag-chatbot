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28"/>
  </p:notesMasterIdLst>
  <p:sldIdLst>
    <p:sldId id="256" r:id="rId3"/>
    <p:sldId id="262" r:id="rId4"/>
    <p:sldId id="393" r:id="rId5"/>
    <p:sldId id="394" r:id="rId6"/>
    <p:sldId id="310" r:id="rId7"/>
    <p:sldId id="377" r:id="rId8"/>
    <p:sldId id="378" r:id="rId9"/>
    <p:sldId id="379" r:id="rId10"/>
    <p:sldId id="395" r:id="rId11"/>
    <p:sldId id="380" r:id="rId12"/>
    <p:sldId id="396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271" r:id="rId26"/>
    <p:sldId id="375" r:id="rId27"/>
  </p:sldIdLst>
  <p:sldSz cx="9144000" cy="5143500" type="screen16x9"/>
  <p:notesSz cx="6858000" cy="9144000"/>
  <p:custDataLst>
    <p:tags r:id="rId29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>
      <p:cViewPr varScale="1">
        <p:scale>
          <a:sx n="88" d="100"/>
          <a:sy n="88" d="100"/>
        </p:scale>
        <p:origin x="648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2D849-E909-4C84-8539-67B30D4A74F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6905C-8B7C-407C-8604-CA03A324E4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6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>
                <a:ea typeface="맑은 고딕" pitchFamily="50" charset="-127"/>
              </a:rPr>
              <a:t>title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INSTERT THE TITLE OF YOUR PRESENTATION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4350"/>
            <a:ext cx="8229600" cy="5488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11BE2C0-B263-409E-B462-D229454C6A81}" type="datetime1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3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8351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5958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88798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lIns="720000" anchor="ctr"/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11510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8757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5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4350"/>
            <a:ext cx="8229600" cy="5488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11BE2C0-B263-409E-B462-D229454C6A81}" type="datetime1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7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10800000">
            <a:off x="-36511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1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56" r:id="rId12"/>
    <p:sldLayoutId id="2147483672" r:id="rId13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buffalo.edu/~drpierce/cse/443S2005/lectures/T-diagrams.ppt" TargetMode="External"/><Relationship Id="rId2" Type="http://schemas.openxmlformats.org/officeDocument/2006/relationships/hyperlink" Target="http://people.cs.bris.ac.uk/~dave/boot.pdf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n.wikipedia.org/wiki/Cross_compil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3600" smtClean="0">
                <a:ea typeface="맑은 고딕" pitchFamily="50" charset="-127"/>
              </a:rPr>
              <a:t>Lecture 02</a:t>
            </a:r>
            <a:endParaRPr lang="en-US" altLang="ko-KR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1885950"/>
            <a:ext cx="52613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Compiler Construction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Cross Compiler &amp; T-Diagram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371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50" dirty="0"/>
              <a:t>You will learn about;</a:t>
            </a:r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2" action="ppaction://hlinksldjump"/>
              </a:rPr>
              <a:t>Unit </a:t>
            </a:r>
            <a:r>
              <a:rPr lang="en-US" sz="1350" b="1" dirty="0">
                <a:hlinkClick r:id="rId2" action="ppaction://hlinksldjump"/>
              </a:rPr>
              <a:t>2</a:t>
            </a:r>
            <a:r>
              <a:rPr lang="en-US" sz="1350" b="1" dirty="0" smtClean="0">
                <a:hlinkClick r:id="rId2" action="ppaction://hlinksldjump"/>
              </a:rPr>
              <a:t>.1 </a:t>
            </a:r>
            <a:r>
              <a:rPr lang="en-US" sz="1350" b="1" dirty="0">
                <a:hlinkClick r:id="rId2" action="ppaction://hlinksldjump"/>
              </a:rPr>
              <a:t>:</a:t>
            </a:r>
            <a:endParaRPr lang="en-US" sz="1350" b="1" dirty="0"/>
          </a:p>
          <a:p>
            <a:pPr lvl="1">
              <a:defRPr/>
            </a:pPr>
            <a:r>
              <a:rPr lang="en-US" sz="1350" dirty="0" smtClean="0"/>
              <a:t>Cross </a:t>
            </a:r>
            <a:r>
              <a:rPr lang="en-US" sz="1350" dirty="0"/>
              <a:t>Compiler</a:t>
            </a:r>
            <a:endParaRPr lang="en-US" altLang="ko-KR" sz="1350" dirty="0" smtClean="0"/>
          </a:p>
          <a:p>
            <a:pPr>
              <a:buFont typeface="+mj-lt"/>
              <a:buAutoNum type="arabicPeriod"/>
            </a:pPr>
            <a:r>
              <a:rPr lang="en-US" sz="1350" b="1" dirty="0" smtClean="0">
                <a:hlinkClick r:id="rId3" action="ppaction://hlinksldjump"/>
              </a:rPr>
              <a:t>Unit 2.2 :</a:t>
            </a:r>
            <a:endParaRPr lang="en-US" sz="1350" b="1" dirty="0" smtClean="0"/>
          </a:p>
          <a:p>
            <a:pPr lvl="1"/>
            <a:r>
              <a:rPr lang="en-US" sz="1350" dirty="0" smtClean="0"/>
              <a:t> </a:t>
            </a:r>
            <a:r>
              <a:rPr lang="en-US" sz="1350" dirty="0"/>
              <a:t>Bootstrapping</a:t>
            </a:r>
            <a:endParaRPr lang="en-US" sz="1350" dirty="0"/>
          </a:p>
          <a:p>
            <a:pPr>
              <a:buFont typeface="+mj-lt"/>
              <a:buAutoNum type="arabicPeriod"/>
            </a:pPr>
            <a:r>
              <a:rPr lang="en-US" sz="1350" b="1" dirty="0">
                <a:hlinkClick r:id="rId4" action="ppaction://hlinksldjump"/>
              </a:rPr>
              <a:t>Unit </a:t>
            </a:r>
            <a:r>
              <a:rPr lang="en-US" sz="1350" b="1" dirty="0">
                <a:hlinkClick r:id="rId4" action="ppaction://hlinksldjump"/>
              </a:rPr>
              <a:t>2</a:t>
            </a:r>
            <a:r>
              <a:rPr lang="en-US" sz="1350" b="1" dirty="0" smtClean="0">
                <a:hlinkClick r:id="rId4" action="ppaction://hlinksldjump"/>
              </a:rPr>
              <a:t>.3 </a:t>
            </a:r>
            <a:r>
              <a:rPr lang="en-US" sz="1350" b="1" dirty="0">
                <a:hlinkClick r:id="rId4" action="ppaction://hlinksldjump"/>
              </a:rPr>
              <a:t>:</a:t>
            </a:r>
            <a:endParaRPr lang="en-US" sz="1350" b="1" dirty="0"/>
          </a:p>
          <a:p>
            <a:pPr lvl="1"/>
            <a:r>
              <a:rPr lang="en-GB" sz="1350" dirty="0" smtClean="0"/>
              <a:t>T-Diagram</a:t>
            </a:r>
            <a:endParaRPr lang="en-GB" sz="1350" dirty="0"/>
          </a:p>
          <a:p>
            <a:pPr marL="457200" lvl="1" indent="0">
              <a:buNone/>
            </a:pPr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 lvl="1"/>
            <a:endParaRPr lang="en-US" sz="1350" dirty="0"/>
          </a:p>
          <a:p>
            <a:pPr marL="342900" lvl="1" indent="0">
              <a:buNone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>
              <a:buFont typeface="Wingdings" pitchFamily="2" charset="2"/>
              <a:buChar char="Ø"/>
            </a:pPr>
            <a:endParaRPr lang="en-US" sz="1350" dirty="0"/>
          </a:p>
          <a:p>
            <a:pPr lvl="1">
              <a:buFont typeface="Courier New" pitchFamily="49" charset="0"/>
              <a:buChar char="o"/>
            </a:pPr>
            <a:endParaRPr lang="en-US" sz="1350" b="1" dirty="0"/>
          </a:p>
          <a:p>
            <a:pPr marL="300038" lvl="2" indent="0">
              <a:buNone/>
            </a:pP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 smtClean="0"/>
          </a:p>
          <a:p>
            <a:fld id="{4192AEF6-A042-4DA6-A3E1-F04AAE1E394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pPr algn="ctr"/>
            <a:r>
              <a:rPr lang="en-US" dirty="0" smtClean="0"/>
              <a:t>UNIT </a:t>
            </a:r>
            <a:r>
              <a:rPr lang="en-US" dirty="0" smtClean="0"/>
              <a:t>2.1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38290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sz="1350" dirty="0"/>
              <a:t>Cross Compiler</a:t>
            </a:r>
            <a:endParaRPr lang="en-US" altLang="ko-KR" sz="1350" dirty="0"/>
          </a:p>
          <a:p>
            <a:pPr algn="ctr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90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Cross Compiler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 </a:t>
            </a:r>
            <a:r>
              <a:rPr lang="en-US" sz="2000" b="1" dirty="0" smtClean="0"/>
              <a:t>cross compiler</a:t>
            </a:r>
            <a:r>
              <a:rPr lang="en-US" sz="2000" dirty="0" smtClean="0"/>
              <a:t> is a compiler capable of creating executable code for a platform other than the one on which the compiler is running. </a:t>
            </a:r>
          </a:p>
          <a:p>
            <a:endParaRPr lang="en-US" sz="2000" dirty="0" smtClean="0"/>
          </a:p>
          <a:p>
            <a:r>
              <a:rPr lang="en-US" sz="2000" dirty="0" smtClean="0"/>
              <a:t>For example, a compiler that runs on a Windows 7 PC but generates code that runs on Android Smartphone is a cross compiler. </a:t>
            </a:r>
          </a:p>
          <a:p>
            <a:endParaRPr lang="en-US" sz="2000" dirty="0" smtClean="0"/>
          </a:p>
          <a:p>
            <a:r>
              <a:rPr lang="en-US" sz="2000" dirty="0" smtClean="0"/>
              <a:t>A cross compiler is necessary to compile code for multiple platforms from one development host. Direct compilation on the target platform might be infeasible, for example on a microcontroller of an embedded system, because those systems contain no operating system.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Cross Compiler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en-US" sz="2400" dirty="0" smtClean="0">
                <a:latin typeface="Arial" pitchFamily="34" charset="0"/>
              </a:rPr>
              <a:t>A host language is a language in which the compiler is written.</a:t>
            </a:r>
          </a:p>
          <a:p>
            <a:pPr lvl="1"/>
            <a:r>
              <a:rPr lang="th-TH" altLang="en-US" sz="2400" dirty="0" smtClean="0">
                <a:latin typeface="Arial" pitchFamily="34" charset="0"/>
              </a:rPr>
              <a:t>T-diagram</a:t>
            </a:r>
          </a:p>
          <a:p>
            <a:pPr lvl="1"/>
            <a:endParaRPr lang="th-TH" altLang="en-US" sz="2400" dirty="0" smtClean="0">
              <a:latin typeface="Arial" pitchFamily="34" charset="0"/>
            </a:endParaRPr>
          </a:p>
          <a:p>
            <a:pPr lvl="1"/>
            <a:endParaRPr lang="th-TH" altLang="en-US" sz="2400" dirty="0" smtClean="0">
              <a:latin typeface="Arial" pitchFamily="34" charset="0"/>
            </a:endParaRPr>
          </a:p>
          <a:p>
            <a:r>
              <a:rPr lang="th-TH" altLang="en-US" sz="2400" dirty="0" smtClean="0">
                <a:latin typeface="Arial" pitchFamily="34" charset="0"/>
              </a:rPr>
              <a:t>Cross compilers are used very often in practice.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581400" y="1771650"/>
            <a:ext cx="1603375" cy="1257300"/>
            <a:chOff x="2112" y="1464"/>
            <a:chExt cx="1010" cy="79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2112" y="1488"/>
              <a:ext cx="1010" cy="768"/>
            </a:xfrm>
            <a:custGeom>
              <a:avLst/>
              <a:gdLst>
                <a:gd name="T0" fmla="*/ 0 w 1010"/>
                <a:gd name="T1" fmla="*/ 2 h 768"/>
                <a:gd name="T2" fmla="*/ 1010 w 1010"/>
                <a:gd name="T3" fmla="*/ 0 h 768"/>
                <a:gd name="T4" fmla="*/ 1010 w 1010"/>
                <a:gd name="T5" fmla="*/ 336 h 768"/>
                <a:gd name="T6" fmla="*/ 674 w 1010"/>
                <a:gd name="T7" fmla="*/ 336 h 768"/>
                <a:gd name="T8" fmla="*/ 674 w 1010"/>
                <a:gd name="T9" fmla="*/ 768 h 768"/>
                <a:gd name="T10" fmla="*/ 338 w 1010"/>
                <a:gd name="T11" fmla="*/ 768 h 768"/>
                <a:gd name="T12" fmla="*/ 338 w 1010"/>
                <a:gd name="T13" fmla="*/ 336 h 768"/>
                <a:gd name="T14" fmla="*/ 2 w 1010"/>
                <a:gd name="T15" fmla="*/ 336 h 768"/>
                <a:gd name="T16" fmla="*/ 2 w 1010"/>
                <a:gd name="T17" fmla="*/ 0 h 7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10"/>
                <a:gd name="T28" fmla="*/ 0 h 768"/>
                <a:gd name="T29" fmla="*/ 1010 w 1010"/>
                <a:gd name="T30" fmla="*/ 768 h 7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10" h="768">
                  <a:moveTo>
                    <a:pt x="0" y="2"/>
                  </a:moveTo>
                  <a:lnTo>
                    <a:pt x="1010" y="0"/>
                  </a:lnTo>
                  <a:lnTo>
                    <a:pt x="1010" y="336"/>
                  </a:lnTo>
                  <a:lnTo>
                    <a:pt x="674" y="336"/>
                  </a:lnTo>
                  <a:lnTo>
                    <a:pt x="674" y="768"/>
                  </a:lnTo>
                  <a:lnTo>
                    <a:pt x="338" y="768"/>
                  </a:lnTo>
                  <a:lnTo>
                    <a:pt x="338" y="336"/>
                  </a:lnTo>
                  <a:lnTo>
                    <a:pt x="2" y="336"/>
                  </a:lnTo>
                  <a:lnTo>
                    <a:pt x="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112" y="1464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th-TH" altLang="en-US"/>
                <a:t>S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496" y="1824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th-TH" altLang="en-US"/>
                <a:t>H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832" y="148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th-TH" altLang="en-US"/>
                <a:t>T</a:t>
              </a: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Cross Compiler</a:t>
            </a:r>
            <a:endParaRPr lang="en-US" altLang="ko-KR" b="1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 fundamental use of a cross compiler is to separate the build environment from target environment. This is useful in several situations: </a:t>
            </a:r>
          </a:p>
          <a:p>
            <a:endParaRPr lang="en-US" sz="2800" dirty="0" smtClean="0"/>
          </a:p>
          <a:p>
            <a:r>
              <a:rPr lang="en-US" sz="2400" dirty="0" smtClean="0"/>
              <a:t>Embedded computers</a:t>
            </a:r>
          </a:p>
          <a:p>
            <a:r>
              <a:rPr lang="en-US" sz="2400" dirty="0" smtClean="0"/>
              <a:t>Compiling on a server farm</a:t>
            </a:r>
          </a:p>
          <a:p>
            <a:r>
              <a:rPr lang="en-US" sz="2400" dirty="0" smtClean="0"/>
              <a:t>Compiling for multiple machines (OS)</a:t>
            </a:r>
          </a:p>
          <a:p>
            <a:r>
              <a:rPr lang="en-US" sz="2400" dirty="0" smtClean="0"/>
              <a:t>Bootstrapping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Canadian Cross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276350"/>
            <a:ext cx="5486400" cy="2989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09600" y="1934111"/>
            <a:ext cx="2971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b="1" dirty="0" smtClean="0"/>
              <a:t>Canadian Cross</a:t>
            </a:r>
            <a:r>
              <a:rPr lang="en-US" sz="2000" dirty="0" smtClean="0"/>
              <a:t> is a technique for building cross compilers for other machines.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pPr algn="ctr"/>
            <a:r>
              <a:rPr lang="en-US" dirty="0" smtClean="0"/>
              <a:t>UNIT </a:t>
            </a:r>
            <a:r>
              <a:rPr lang="en-US" dirty="0" smtClean="0"/>
              <a:t>2.2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382905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sz="1350" dirty="0"/>
              <a:t> </a:t>
            </a:r>
            <a:r>
              <a:rPr lang="en-US" sz="1350" dirty="0" smtClean="0"/>
              <a:t>     </a:t>
            </a:r>
            <a:r>
              <a:rPr lang="en-US" sz="1400" dirty="0" smtClean="0"/>
              <a:t>Bootstrapping</a:t>
            </a:r>
            <a:endParaRPr lang="en-US" altLang="ko-KR" sz="1350" dirty="0"/>
          </a:p>
          <a:p>
            <a:pPr algn="ctr"/>
            <a:endParaRPr lang="en-US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4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>
                <a:latin typeface="Arial" pitchFamily="34" charset="0"/>
              </a:rPr>
              <a:t>Bootstrapping</a:t>
            </a:r>
            <a:endParaRPr lang="en-US" altLang="ko-KR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Bootstrapping is a technique that is widely used in compiler development. It has four main uses: </a:t>
            </a:r>
          </a:p>
          <a:p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It enables new programming languages and compilers to be developed starting from existing ones. </a:t>
            </a:r>
          </a:p>
          <a:p>
            <a:pPr marL="457200" indent="-457200"/>
            <a:r>
              <a:rPr lang="en-US" sz="2000" dirty="0" smtClean="0"/>
              <a:t>2. It enables new features to be added to a programming language and its compiler. </a:t>
            </a:r>
          </a:p>
          <a:p>
            <a:pPr marL="457200" indent="-457200"/>
            <a:r>
              <a:rPr lang="en-US" sz="2000" dirty="0" smtClean="0"/>
              <a:t>3. It also allows new optimizations to be added to compilers. </a:t>
            </a:r>
          </a:p>
          <a:p>
            <a:pPr marL="457200" indent="-457200"/>
            <a:r>
              <a:rPr lang="en-US" sz="2000" dirty="0" smtClean="0"/>
              <a:t>4. It allows languages and compilers to be transferred between processors with different instruction sets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38350"/>
            <a:ext cx="6172200" cy="548879"/>
          </a:xfrm>
        </p:spPr>
        <p:txBody>
          <a:bodyPr/>
          <a:lstStyle/>
          <a:p>
            <a:pPr algn="ctr"/>
            <a:r>
              <a:rPr lang="en-US" dirty="0" smtClean="0"/>
              <a:t>UNIT </a:t>
            </a:r>
            <a:r>
              <a:rPr lang="en-US" dirty="0" smtClean="0"/>
              <a:t>2.3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7500" y="2678596"/>
            <a:ext cx="382905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sz="1350" dirty="0"/>
              <a:t> </a:t>
            </a:r>
            <a:r>
              <a:rPr lang="en-US" sz="1350" dirty="0" smtClean="0"/>
              <a:t>     </a:t>
            </a:r>
            <a:r>
              <a:rPr lang="en-US" sz="1400" dirty="0" smtClean="0"/>
              <a:t> </a:t>
            </a:r>
            <a:r>
              <a:rPr lang="en-US" altLang="ko-KR" sz="1400" dirty="0">
                <a:latin typeface="Arial" pitchFamily="34" charset="0"/>
              </a:rPr>
              <a:t>T-Diagram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>
              <a:defRPr/>
            </a:pPr>
            <a:endParaRPr lang="en-US" altLang="ko-KR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6972300" y="1"/>
            <a:ext cx="15430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  <a:hlinkClick r:id="rId2" action="ppaction://hlinksldjump"/>
              </a:rPr>
              <a:t>Home</a:t>
            </a:r>
            <a:endParaRPr lang="en-US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5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>
                <a:latin typeface="Arial" pitchFamily="34" charset="0"/>
              </a:rPr>
              <a:t>T-Diagram</a:t>
            </a:r>
            <a:endParaRPr lang="en-US" altLang="ko-KR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276350"/>
            <a:ext cx="853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000" dirty="0" smtClean="0"/>
              <a:t>Different diagrams for different kinds of programs</a:t>
            </a:r>
          </a:p>
          <a:p>
            <a:pPr>
              <a:lnSpc>
                <a:spcPct val="100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sz="2000" dirty="0" smtClean="0"/>
          </a:p>
          <a:p>
            <a:pPr>
              <a:lnSpc>
                <a:spcPct val="100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000" dirty="0" smtClean="0"/>
              <a:t>Visual explanation of interactions involving compilers and interpreters</a:t>
            </a:r>
            <a:endParaRPr lang="en-GB" sz="20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Programs</a:t>
            </a: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76350"/>
            <a:ext cx="40386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88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800" dirty="0"/>
              <a:t>Program P written in language 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8200" y="1276350"/>
            <a:ext cx="40386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88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800"/>
              <a:t>Example: Sort program written in Java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063625" y="3182938"/>
            <a:ext cx="1835149" cy="909637"/>
            <a:chOff x="670" y="2449"/>
            <a:chExt cx="1156" cy="573"/>
          </a:xfrm>
          <a:solidFill>
            <a:schemeClr val="tx2"/>
          </a:solidFill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960" y="2733"/>
              <a:ext cx="576" cy="287"/>
              <a:chOff x="960" y="2733"/>
              <a:chExt cx="576" cy="287"/>
            </a:xfrm>
            <a:grpFill/>
          </p:grpSpPr>
          <p:sp>
            <p:nvSpPr>
              <p:cNvPr id="17" name="AutoShape 6"/>
              <p:cNvSpPr>
                <a:spLocks noChangeArrowheads="1"/>
              </p:cNvSpPr>
              <p:nvPr/>
            </p:nvSpPr>
            <p:spPr bwMode="auto">
              <a:xfrm>
                <a:off x="960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 Box 7"/>
              <p:cNvSpPr txBox="1">
                <a:spLocks noChangeArrowheads="1"/>
              </p:cNvSpPr>
              <p:nvPr/>
            </p:nvSpPr>
            <p:spPr bwMode="auto">
              <a:xfrm>
                <a:off x="1138" y="2733"/>
                <a:ext cx="195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</a:t>
                </a:r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672" y="2449"/>
              <a:ext cx="1152" cy="287"/>
              <a:chOff x="672" y="2449"/>
              <a:chExt cx="1152" cy="287"/>
            </a:xfrm>
            <a:grpFill/>
          </p:grpSpPr>
          <p:sp>
            <p:nvSpPr>
              <p:cNvPr id="15" name="Freeform 9"/>
              <p:cNvSpPr>
                <a:spLocks noChangeArrowheads="1"/>
              </p:cNvSpPr>
              <p:nvPr/>
            </p:nvSpPr>
            <p:spPr bwMode="auto">
              <a:xfrm>
                <a:off x="672" y="2452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1127" y="2449"/>
                <a:ext cx="21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P</a:t>
                </a:r>
              </a:p>
            </p:txBody>
          </p:sp>
        </p:grp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672" y="2452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>
              <a:off x="1534" y="2452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1536" y="2736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H="1">
              <a:off x="958" y="3020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V="1">
              <a:off x="960" y="2734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 flipH="1" flipV="1">
              <a:off x="670" y="2450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5788024" y="3182938"/>
            <a:ext cx="1835149" cy="909637"/>
            <a:chOff x="3646" y="2449"/>
            <a:chExt cx="1156" cy="573"/>
          </a:xfrm>
          <a:solidFill>
            <a:schemeClr val="tx2"/>
          </a:solidFill>
        </p:grpSpPr>
        <p:grpSp>
          <p:nvGrpSpPr>
            <p:cNvPr id="20" name="Group 18"/>
            <p:cNvGrpSpPr>
              <a:grpSpLocks/>
            </p:cNvGrpSpPr>
            <p:nvPr/>
          </p:nvGrpSpPr>
          <p:grpSpPr bwMode="auto">
            <a:xfrm>
              <a:off x="3936" y="2733"/>
              <a:ext cx="576" cy="287"/>
              <a:chOff x="3936" y="2733"/>
              <a:chExt cx="576" cy="287"/>
            </a:xfrm>
            <a:grpFill/>
          </p:grpSpPr>
          <p:sp>
            <p:nvSpPr>
              <p:cNvPr id="30" name="AutoShape 19"/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Box 20"/>
              <p:cNvSpPr txBox="1">
                <a:spLocks noChangeArrowheads="1"/>
              </p:cNvSpPr>
              <p:nvPr/>
            </p:nvSpPr>
            <p:spPr bwMode="auto">
              <a:xfrm>
                <a:off x="3965" y="2733"/>
                <a:ext cx="42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Java</a:t>
                </a:r>
              </a:p>
            </p:txBody>
          </p:sp>
        </p:grpSp>
        <p:grpSp>
          <p:nvGrpSpPr>
            <p:cNvPr id="21" name="Group 21"/>
            <p:cNvGrpSpPr>
              <a:grpSpLocks/>
            </p:cNvGrpSpPr>
            <p:nvPr/>
          </p:nvGrpSpPr>
          <p:grpSpPr bwMode="auto">
            <a:xfrm>
              <a:off x="3648" y="2449"/>
              <a:ext cx="1152" cy="287"/>
              <a:chOff x="3648" y="2449"/>
              <a:chExt cx="1152" cy="287"/>
            </a:xfrm>
            <a:grpFill/>
          </p:grpSpPr>
          <p:sp>
            <p:nvSpPr>
              <p:cNvPr id="28" name="Freeform 22"/>
              <p:cNvSpPr>
                <a:spLocks noChangeArrowheads="1"/>
              </p:cNvSpPr>
              <p:nvPr/>
            </p:nvSpPr>
            <p:spPr bwMode="auto">
              <a:xfrm>
                <a:off x="3648" y="2452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 Box 23"/>
              <p:cNvSpPr txBox="1">
                <a:spLocks noChangeArrowheads="1"/>
              </p:cNvSpPr>
              <p:nvPr/>
            </p:nvSpPr>
            <p:spPr bwMode="auto">
              <a:xfrm>
                <a:off x="4006" y="2449"/>
                <a:ext cx="357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3648" y="2452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4510" y="2452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4512" y="2736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flipH="1">
              <a:off x="3934" y="3020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 flipV="1">
              <a:off x="3936" y="2734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 flipH="1" flipV="1">
              <a:off x="3646" y="2450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Machines</a:t>
            </a:r>
            <a:endParaRPr lang="en-US" dirty="0"/>
          </a:p>
        </p:txBody>
      </p:sp>
      <p:sp>
        <p:nvSpPr>
          <p:cNvPr id="3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52550"/>
            <a:ext cx="40386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88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800"/>
              <a:t>Machine executing language M</a:t>
            </a:r>
          </a:p>
        </p:txBody>
      </p:sp>
      <p:sp>
        <p:nvSpPr>
          <p:cNvPr id="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48200" y="1352550"/>
            <a:ext cx="42672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88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800"/>
              <a:t>Example: Sun workstation executing SPARC machine code</a:t>
            </a:r>
          </a:p>
        </p:txBody>
      </p:sp>
      <p:grpSp>
        <p:nvGrpSpPr>
          <p:cNvPr id="34" name="Group 4"/>
          <p:cNvGrpSpPr>
            <a:grpSpLocks/>
          </p:cNvGrpSpPr>
          <p:nvPr/>
        </p:nvGrpSpPr>
        <p:grpSpPr bwMode="auto">
          <a:xfrm>
            <a:off x="1520825" y="3260725"/>
            <a:ext cx="920749" cy="914400"/>
            <a:chOff x="958" y="2450"/>
            <a:chExt cx="580" cy="576"/>
          </a:xfrm>
          <a:solidFill>
            <a:schemeClr val="tx2"/>
          </a:solidFill>
        </p:grpSpPr>
        <p:grpSp>
          <p:nvGrpSpPr>
            <p:cNvPr id="35" name="Group 5"/>
            <p:cNvGrpSpPr>
              <a:grpSpLocks/>
            </p:cNvGrpSpPr>
            <p:nvPr/>
          </p:nvGrpSpPr>
          <p:grpSpPr bwMode="auto">
            <a:xfrm>
              <a:off x="960" y="2450"/>
              <a:ext cx="576" cy="288"/>
              <a:chOff x="960" y="2450"/>
              <a:chExt cx="576" cy="288"/>
            </a:xfrm>
            <a:grpFill/>
          </p:grpSpPr>
          <p:sp>
            <p:nvSpPr>
              <p:cNvPr id="42" name="AutoShape 6"/>
              <p:cNvSpPr>
                <a:spLocks noChangeArrowheads="1"/>
              </p:cNvSpPr>
              <p:nvPr/>
            </p:nvSpPr>
            <p:spPr bwMode="auto">
              <a:xfrm>
                <a:off x="960" y="2452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 Box 7"/>
              <p:cNvSpPr txBox="1">
                <a:spLocks noChangeArrowheads="1"/>
              </p:cNvSpPr>
              <p:nvPr/>
            </p:nvSpPr>
            <p:spPr bwMode="auto">
              <a:xfrm>
                <a:off x="1111" y="2450"/>
                <a:ext cx="236" cy="234"/>
              </a:xfrm>
              <a:prstGeom prst="rect">
                <a:avLst/>
              </a:prstGeom>
              <a:grp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36" name="Freeform 8"/>
            <p:cNvSpPr>
              <a:spLocks noChangeArrowheads="1"/>
            </p:cNvSpPr>
            <p:nvPr/>
          </p:nvSpPr>
          <p:spPr bwMode="auto">
            <a:xfrm>
              <a:off x="960" y="2738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Line 9"/>
            <p:cNvSpPr>
              <a:spLocks noChangeShapeType="1"/>
            </p:cNvSpPr>
            <p:nvPr/>
          </p:nvSpPr>
          <p:spPr bwMode="auto">
            <a:xfrm>
              <a:off x="960" y="2452"/>
              <a:ext cx="576" cy="1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1536" y="2452"/>
              <a:ext cx="1" cy="286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H="1">
              <a:off x="1246" y="2738"/>
              <a:ext cx="292" cy="286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Line 12"/>
            <p:cNvSpPr>
              <a:spLocks noChangeShapeType="1"/>
            </p:cNvSpPr>
            <p:nvPr/>
          </p:nvSpPr>
          <p:spPr bwMode="auto">
            <a:xfrm flipH="1" flipV="1">
              <a:off x="958" y="2736"/>
              <a:ext cx="292" cy="290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Line 13"/>
            <p:cNvSpPr>
              <a:spLocks noChangeShapeType="1"/>
            </p:cNvSpPr>
            <p:nvPr/>
          </p:nvSpPr>
          <p:spPr bwMode="auto">
            <a:xfrm flipV="1">
              <a:off x="960" y="2450"/>
              <a:ext cx="1" cy="290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14"/>
          <p:cNvGrpSpPr>
            <a:grpSpLocks/>
          </p:cNvGrpSpPr>
          <p:nvPr/>
        </p:nvGrpSpPr>
        <p:grpSpPr bwMode="auto">
          <a:xfrm>
            <a:off x="5937250" y="3260725"/>
            <a:ext cx="923925" cy="914400"/>
            <a:chOff x="3740" y="2450"/>
            <a:chExt cx="582" cy="576"/>
          </a:xfrm>
          <a:solidFill>
            <a:schemeClr val="tx2"/>
          </a:solidFill>
        </p:grpSpPr>
        <p:grpSp>
          <p:nvGrpSpPr>
            <p:cNvPr id="45" name="Group 15"/>
            <p:cNvGrpSpPr>
              <a:grpSpLocks/>
            </p:cNvGrpSpPr>
            <p:nvPr/>
          </p:nvGrpSpPr>
          <p:grpSpPr bwMode="auto">
            <a:xfrm>
              <a:off x="3740" y="2450"/>
              <a:ext cx="580" cy="288"/>
              <a:chOff x="3740" y="2450"/>
              <a:chExt cx="580" cy="288"/>
            </a:xfrm>
            <a:grpFill/>
          </p:grpSpPr>
          <p:sp>
            <p:nvSpPr>
              <p:cNvPr id="52" name="AutoShape 16"/>
              <p:cNvSpPr>
                <a:spLocks noChangeArrowheads="1"/>
              </p:cNvSpPr>
              <p:nvPr/>
            </p:nvSpPr>
            <p:spPr bwMode="auto">
              <a:xfrm>
                <a:off x="3744" y="2452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Text Box 17"/>
              <p:cNvSpPr txBox="1">
                <a:spLocks noChangeArrowheads="1"/>
              </p:cNvSpPr>
              <p:nvPr/>
            </p:nvSpPr>
            <p:spPr bwMode="auto">
              <a:xfrm>
                <a:off x="3740" y="2450"/>
                <a:ext cx="470" cy="234"/>
              </a:xfrm>
              <a:prstGeom prst="rect">
                <a:avLst/>
              </a:prstGeom>
              <a:grp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sp>
          <p:nvSpPr>
            <p:cNvPr id="46" name="Freeform 18"/>
            <p:cNvSpPr>
              <a:spLocks noChangeArrowheads="1"/>
            </p:cNvSpPr>
            <p:nvPr/>
          </p:nvSpPr>
          <p:spPr bwMode="auto">
            <a:xfrm>
              <a:off x="3744" y="2738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Line 19"/>
            <p:cNvSpPr>
              <a:spLocks noChangeShapeType="1"/>
            </p:cNvSpPr>
            <p:nvPr/>
          </p:nvSpPr>
          <p:spPr bwMode="auto">
            <a:xfrm>
              <a:off x="3744" y="2452"/>
              <a:ext cx="576" cy="1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Line 20"/>
            <p:cNvSpPr>
              <a:spLocks noChangeShapeType="1"/>
            </p:cNvSpPr>
            <p:nvPr/>
          </p:nvSpPr>
          <p:spPr bwMode="auto">
            <a:xfrm>
              <a:off x="4320" y="2452"/>
              <a:ext cx="1" cy="286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 flipH="1">
              <a:off x="4030" y="2738"/>
              <a:ext cx="292" cy="286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 flipH="1" flipV="1">
              <a:off x="3742" y="2736"/>
              <a:ext cx="292" cy="290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Line 23"/>
            <p:cNvSpPr>
              <a:spLocks noChangeShapeType="1"/>
            </p:cNvSpPr>
            <p:nvPr/>
          </p:nvSpPr>
          <p:spPr bwMode="auto">
            <a:xfrm flipV="1">
              <a:off x="3744" y="2450"/>
              <a:ext cx="1" cy="290"/>
            </a:xfrm>
            <a:prstGeom prst="line">
              <a:avLst/>
            </a:prstGeom>
            <a:grpFill/>
            <a:ln w="936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Executing Programs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352550"/>
            <a:ext cx="8229600" cy="461665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 implementation language must match machine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654425" y="2419350"/>
            <a:ext cx="1835149" cy="909637"/>
            <a:chOff x="2302" y="2449"/>
            <a:chExt cx="1156" cy="573"/>
          </a:xfrm>
          <a:solidFill>
            <a:schemeClr val="tx2"/>
          </a:solidFill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2588" y="2733"/>
              <a:ext cx="580" cy="287"/>
              <a:chOff x="2588" y="2733"/>
              <a:chExt cx="580" cy="287"/>
            </a:xfrm>
            <a:grpFill/>
          </p:grpSpPr>
          <p:sp>
            <p:nvSpPr>
              <p:cNvPr id="16" name="AutoShape 5"/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 Box 6"/>
              <p:cNvSpPr txBox="1">
                <a:spLocks noChangeArrowheads="1"/>
              </p:cNvSpPr>
              <p:nvPr/>
            </p:nvSpPr>
            <p:spPr bwMode="auto">
              <a:xfrm>
                <a:off x="2588" y="2733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 err="1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  <a:endParaRPr lang="en-GB" dirty="0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endParaRPr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2304" y="2449"/>
              <a:ext cx="1152" cy="287"/>
              <a:chOff x="2304" y="2449"/>
              <a:chExt cx="1152" cy="287"/>
            </a:xfrm>
            <a:grpFill/>
          </p:grpSpPr>
          <p:sp>
            <p:nvSpPr>
              <p:cNvPr id="14" name="Freeform 8"/>
              <p:cNvSpPr>
                <a:spLocks noChangeArrowheads="1"/>
              </p:cNvSpPr>
              <p:nvPr/>
            </p:nvSpPr>
            <p:spPr bwMode="auto">
              <a:xfrm>
                <a:off x="2304" y="2452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2662" y="2449"/>
                <a:ext cx="357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2304" y="2452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3166" y="2452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168" y="2736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 flipH="1">
              <a:off x="2590" y="3020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V="1">
              <a:off x="2592" y="2734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H="1" flipV="1">
              <a:off x="2302" y="2450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4108450" y="3335337"/>
            <a:ext cx="923925" cy="914400"/>
            <a:chOff x="2588" y="3026"/>
            <a:chExt cx="582" cy="576"/>
          </a:xfrm>
          <a:solidFill>
            <a:schemeClr val="tx2"/>
          </a:solidFill>
        </p:grpSpPr>
        <p:grpSp>
          <p:nvGrpSpPr>
            <p:cNvPr id="19" name="Group 17"/>
            <p:cNvGrpSpPr>
              <a:grpSpLocks/>
            </p:cNvGrpSpPr>
            <p:nvPr/>
          </p:nvGrpSpPr>
          <p:grpSpPr bwMode="auto">
            <a:xfrm>
              <a:off x="2588" y="3026"/>
              <a:ext cx="580" cy="288"/>
              <a:chOff x="2588" y="3026"/>
              <a:chExt cx="580" cy="288"/>
            </a:xfrm>
            <a:grpFill/>
          </p:grpSpPr>
          <p:sp>
            <p:nvSpPr>
              <p:cNvPr id="26" name="AutoShape 18"/>
              <p:cNvSpPr>
                <a:spLocks noChangeArrowheads="1"/>
              </p:cNvSpPr>
              <p:nvPr/>
            </p:nvSpPr>
            <p:spPr bwMode="auto">
              <a:xfrm>
                <a:off x="2592" y="3028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 Box 19"/>
              <p:cNvSpPr txBox="1">
                <a:spLocks noChangeArrowheads="1"/>
              </p:cNvSpPr>
              <p:nvPr/>
            </p:nvSpPr>
            <p:spPr bwMode="auto">
              <a:xfrm>
                <a:off x="2588" y="3026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sp>
          <p:nvSpPr>
            <p:cNvPr id="20" name="Freeform 20"/>
            <p:cNvSpPr>
              <a:spLocks noChangeArrowheads="1"/>
            </p:cNvSpPr>
            <p:nvPr/>
          </p:nvSpPr>
          <p:spPr bwMode="auto">
            <a:xfrm>
              <a:off x="2592" y="3314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592" y="3028"/>
              <a:ext cx="576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3168" y="3028"/>
              <a:ext cx="1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2878" y="3314"/>
              <a:ext cx="292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 flipV="1">
              <a:off x="2590" y="3312"/>
              <a:ext cx="292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2592" y="3026"/>
              <a:ext cx="1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Interpreters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352550"/>
            <a:ext cx="40386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88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Interpreter executing language L written in language M</a:t>
            </a: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648200" y="1352550"/>
            <a:ext cx="4038600" cy="388620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88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Lisp interpreter running on sparc</a:t>
            </a:r>
            <a:endParaRPr kumimoji="0" lang="en-GB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828801" y="3259138"/>
            <a:ext cx="914401" cy="906462"/>
            <a:chOff x="1152" y="2449"/>
            <a:chExt cx="576" cy="571"/>
          </a:xfrm>
          <a:solidFill>
            <a:schemeClr val="tx2"/>
          </a:solidFill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1152" y="2449"/>
              <a:ext cx="576" cy="287"/>
              <a:chOff x="1152" y="2449"/>
              <a:chExt cx="576" cy="287"/>
            </a:xfrm>
            <a:grpFill/>
          </p:grpSpPr>
          <p:sp>
            <p:nvSpPr>
              <p:cNvPr id="12" name="AutoShape 6"/>
              <p:cNvSpPr>
                <a:spLocks noChangeArrowheads="1"/>
              </p:cNvSpPr>
              <p:nvPr/>
            </p:nvSpPr>
            <p:spPr bwMode="auto">
              <a:xfrm>
                <a:off x="1152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1330" y="2449"/>
                <a:ext cx="195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</a:t>
                </a:r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152" y="2733"/>
              <a:ext cx="576" cy="287"/>
              <a:chOff x="1152" y="2733"/>
              <a:chExt cx="576" cy="287"/>
            </a:xfrm>
            <a:grpFill/>
          </p:grpSpPr>
          <p:sp>
            <p:nvSpPr>
              <p:cNvPr id="10" name="AutoShape 9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 Box 10"/>
              <p:cNvSpPr txBox="1">
                <a:spLocks noChangeArrowheads="1"/>
              </p:cNvSpPr>
              <p:nvPr/>
            </p:nvSpPr>
            <p:spPr bwMode="auto">
              <a:xfrm>
                <a:off x="1303" y="2733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1152" y="2452"/>
              <a:ext cx="576" cy="568"/>
            </a:xfrm>
            <a:prstGeom prst="roundRect">
              <a:avLst>
                <a:gd name="adj" fmla="val 176"/>
              </a:avLst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6013450" y="3259138"/>
            <a:ext cx="920750" cy="906462"/>
            <a:chOff x="3788" y="2449"/>
            <a:chExt cx="580" cy="571"/>
          </a:xfrm>
          <a:solidFill>
            <a:schemeClr val="tx2"/>
          </a:solidFill>
        </p:grpSpPr>
        <p:grpSp>
          <p:nvGrpSpPr>
            <p:cNvPr id="15" name="Group 13"/>
            <p:cNvGrpSpPr>
              <a:grpSpLocks/>
            </p:cNvGrpSpPr>
            <p:nvPr/>
          </p:nvGrpSpPr>
          <p:grpSpPr bwMode="auto">
            <a:xfrm>
              <a:off x="3792" y="2449"/>
              <a:ext cx="576" cy="287"/>
              <a:chOff x="3792" y="2449"/>
              <a:chExt cx="576" cy="287"/>
            </a:xfrm>
            <a:grpFill/>
          </p:grpSpPr>
          <p:sp>
            <p:nvSpPr>
              <p:cNvPr id="20" name="AutoShape 14"/>
              <p:cNvSpPr>
                <a:spLocks noChangeArrowheads="1"/>
              </p:cNvSpPr>
              <p:nvPr/>
            </p:nvSpPr>
            <p:spPr bwMode="auto">
              <a:xfrm>
                <a:off x="3792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auto">
              <a:xfrm>
                <a:off x="3847" y="2449"/>
                <a:ext cx="38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16" name="Group 16"/>
            <p:cNvGrpSpPr>
              <a:grpSpLocks/>
            </p:cNvGrpSpPr>
            <p:nvPr/>
          </p:nvGrpSpPr>
          <p:grpSpPr bwMode="auto">
            <a:xfrm>
              <a:off x="3788" y="2733"/>
              <a:ext cx="580" cy="287"/>
              <a:chOff x="3788" y="2733"/>
              <a:chExt cx="580" cy="287"/>
            </a:xfrm>
            <a:grpFill/>
          </p:grpSpPr>
          <p:sp>
            <p:nvSpPr>
              <p:cNvPr id="18" name="AutoShape 17"/>
              <p:cNvSpPr>
                <a:spLocks noChangeArrowheads="1"/>
              </p:cNvSpPr>
              <p:nvPr/>
            </p:nvSpPr>
            <p:spPr bwMode="auto">
              <a:xfrm>
                <a:off x="3792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3788" y="2733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sp>
          <p:nvSpPr>
            <p:cNvPr id="17" name="AutoShape 19"/>
            <p:cNvSpPr>
              <a:spLocks noChangeArrowheads="1"/>
            </p:cNvSpPr>
            <p:nvPr/>
          </p:nvSpPr>
          <p:spPr bwMode="auto">
            <a:xfrm>
              <a:off x="3792" y="2452"/>
              <a:ext cx="576" cy="568"/>
            </a:xfrm>
            <a:prstGeom prst="roundRect">
              <a:avLst>
                <a:gd name="adj" fmla="val 176"/>
              </a:avLst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6188185" y="3352724"/>
            <a:ext cx="604951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Lisp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6111985" y="3724237"/>
            <a:ext cx="746015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sparc</a:t>
            </a:r>
            <a:endParaRPr lang="en-GB" dirty="0">
              <a:solidFill>
                <a:schemeClr val="bg1"/>
              </a:solidFill>
              <a:latin typeface="Arial" pitchFamily="34" charset="0"/>
              <a:ea typeface="msmincho" charset="0"/>
              <a:cs typeface="msmincho" charset="0"/>
            </a:endParaRP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2133600" y="3352724"/>
            <a:ext cx="309998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L</a:t>
            </a:r>
            <a:endParaRPr lang="en-GB" dirty="0">
              <a:solidFill>
                <a:schemeClr val="bg1"/>
              </a:solidFill>
              <a:latin typeface="Arial" pitchFamily="34" charset="0"/>
              <a:ea typeface="msmincho" charset="0"/>
              <a:cs typeface="msmincho" charset="0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2133600" y="3724237"/>
            <a:ext cx="374118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M</a:t>
            </a:r>
            <a:endParaRPr lang="en-GB" dirty="0">
              <a:solidFill>
                <a:schemeClr val="bg1"/>
              </a:solidFill>
              <a:latin typeface="Arial" pitchFamily="34" charset="0"/>
              <a:ea typeface="msmincho" charset="0"/>
              <a:cs typeface="msminch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Interpreting Programs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276350"/>
            <a:ext cx="7162800" cy="83099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Interpreter mediates between programming language and machine language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654631" y="2266950"/>
            <a:ext cx="1597260" cy="707340"/>
            <a:chOff x="2302" y="2161"/>
            <a:chExt cx="1156" cy="598"/>
          </a:xfrm>
          <a:solidFill>
            <a:schemeClr val="tx2"/>
          </a:solidFill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2592" y="2445"/>
              <a:ext cx="576" cy="314"/>
              <a:chOff x="2592" y="2445"/>
              <a:chExt cx="576" cy="314"/>
            </a:xfrm>
            <a:grpFill/>
          </p:grpSpPr>
          <p:sp>
            <p:nvSpPr>
              <p:cNvPr id="16" name="AutoShape 5"/>
              <p:cNvSpPr>
                <a:spLocks noChangeArrowheads="1"/>
              </p:cNvSpPr>
              <p:nvPr/>
            </p:nvSpPr>
            <p:spPr bwMode="auto">
              <a:xfrm>
                <a:off x="2592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 Box 6"/>
              <p:cNvSpPr txBox="1">
                <a:spLocks noChangeArrowheads="1"/>
              </p:cNvSpPr>
              <p:nvPr/>
            </p:nvSpPr>
            <p:spPr bwMode="auto">
              <a:xfrm>
                <a:off x="2647" y="2445"/>
                <a:ext cx="438" cy="31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2304" y="2161"/>
              <a:ext cx="1152" cy="314"/>
              <a:chOff x="2304" y="2161"/>
              <a:chExt cx="1152" cy="314"/>
            </a:xfrm>
            <a:grpFill/>
          </p:grpSpPr>
          <p:sp>
            <p:nvSpPr>
              <p:cNvPr id="14" name="Freeform 8"/>
              <p:cNvSpPr>
                <a:spLocks noChangeArrowheads="1"/>
              </p:cNvSpPr>
              <p:nvPr/>
            </p:nvSpPr>
            <p:spPr bwMode="auto">
              <a:xfrm>
                <a:off x="2304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2662" y="2161"/>
                <a:ext cx="410" cy="31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2304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3166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168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 flipH="1">
              <a:off x="2590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V="1">
              <a:off x="2592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H="1" flipV="1">
              <a:off x="2302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4038600" y="3790952"/>
            <a:ext cx="804157" cy="681318"/>
            <a:chOff x="2588" y="3314"/>
            <a:chExt cx="582" cy="576"/>
          </a:xfrm>
          <a:solidFill>
            <a:schemeClr val="tx2"/>
          </a:solidFill>
        </p:grpSpPr>
        <p:grpSp>
          <p:nvGrpSpPr>
            <p:cNvPr id="19" name="Group 17"/>
            <p:cNvGrpSpPr>
              <a:grpSpLocks/>
            </p:cNvGrpSpPr>
            <p:nvPr/>
          </p:nvGrpSpPr>
          <p:grpSpPr bwMode="auto">
            <a:xfrm>
              <a:off x="2588" y="3314"/>
              <a:ext cx="580" cy="314"/>
              <a:chOff x="2588" y="3314"/>
              <a:chExt cx="580" cy="314"/>
            </a:xfrm>
            <a:grpFill/>
          </p:grpSpPr>
          <p:sp>
            <p:nvSpPr>
              <p:cNvPr id="26" name="AutoShape 18"/>
              <p:cNvSpPr>
                <a:spLocks noChangeArrowheads="1"/>
              </p:cNvSpPr>
              <p:nvPr/>
            </p:nvSpPr>
            <p:spPr bwMode="auto">
              <a:xfrm>
                <a:off x="2592" y="3316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 Box 19"/>
              <p:cNvSpPr txBox="1">
                <a:spLocks noChangeArrowheads="1"/>
              </p:cNvSpPr>
              <p:nvPr/>
            </p:nvSpPr>
            <p:spPr bwMode="auto">
              <a:xfrm>
                <a:off x="2588" y="3314"/>
                <a:ext cx="540" cy="31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 err="1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  <a:endParaRPr lang="en-GB" dirty="0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endParaRPr>
              </a:p>
            </p:txBody>
          </p:sp>
        </p:grpSp>
        <p:sp>
          <p:nvSpPr>
            <p:cNvPr id="20" name="Freeform 20"/>
            <p:cNvSpPr>
              <a:spLocks noChangeArrowheads="1"/>
            </p:cNvSpPr>
            <p:nvPr/>
          </p:nvSpPr>
          <p:spPr bwMode="auto">
            <a:xfrm>
              <a:off x="2592" y="3602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592" y="3316"/>
              <a:ext cx="576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3168" y="3316"/>
              <a:ext cx="1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2878" y="3602"/>
              <a:ext cx="292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 flipV="1">
              <a:off x="2590" y="3600"/>
              <a:ext cx="292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2592" y="3314"/>
              <a:ext cx="1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6"/>
          <p:cNvGrpSpPr>
            <a:grpSpLocks/>
          </p:cNvGrpSpPr>
          <p:nvPr/>
        </p:nvGrpSpPr>
        <p:grpSpPr bwMode="auto">
          <a:xfrm>
            <a:off x="4038602" y="3036981"/>
            <a:ext cx="801394" cy="707340"/>
            <a:chOff x="2588" y="2737"/>
            <a:chExt cx="580" cy="598"/>
          </a:xfrm>
          <a:solidFill>
            <a:schemeClr val="tx2"/>
          </a:solidFill>
        </p:grpSpPr>
        <p:grpSp>
          <p:nvGrpSpPr>
            <p:cNvPr id="29" name="Group 27"/>
            <p:cNvGrpSpPr>
              <a:grpSpLocks/>
            </p:cNvGrpSpPr>
            <p:nvPr/>
          </p:nvGrpSpPr>
          <p:grpSpPr bwMode="auto">
            <a:xfrm>
              <a:off x="2592" y="2737"/>
              <a:ext cx="576" cy="314"/>
              <a:chOff x="2592" y="2737"/>
              <a:chExt cx="576" cy="314"/>
            </a:xfrm>
            <a:grpFill/>
          </p:grpSpPr>
          <p:sp>
            <p:nvSpPr>
              <p:cNvPr id="34" name="AutoShape 28"/>
              <p:cNvSpPr>
                <a:spLocks noChangeArrowheads="1"/>
              </p:cNvSpPr>
              <p:nvPr/>
            </p:nvSpPr>
            <p:spPr bwMode="auto">
              <a:xfrm>
                <a:off x="2592" y="2740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 Box 29"/>
              <p:cNvSpPr txBox="1">
                <a:spLocks noChangeArrowheads="1"/>
              </p:cNvSpPr>
              <p:nvPr/>
            </p:nvSpPr>
            <p:spPr bwMode="auto">
              <a:xfrm>
                <a:off x="2647" y="2737"/>
                <a:ext cx="438" cy="31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30" name="Group 30"/>
            <p:cNvGrpSpPr>
              <a:grpSpLocks/>
            </p:cNvGrpSpPr>
            <p:nvPr/>
          </p:nvGrpSpPr>
          <p:grpSpPr bwMode="auto">
            <a:xfrm>
              <a:off x="2588" y="3021"/>
              <a:ext cx="580" cy="314"/>
              <a:chOff x="2588" y="3021"/>
              <a:chExt cx="580" cy="314"/>
            </a:xfrm>
            <a:grpFill/>
          </p:grpSpPr>
          <p:sp>
            <p:nvSpPr>
              <p:cNvPr id="32" name="AutoShape 31"/>
              <p:cNvSpPr>
                <a:spLocks noChangeArrowheads="1"/>
              </p:cNvSpPr>
              <p:nvPr/>
            </p:nvSpPr>
            <p:spPr bwMode="auto">
              <a:xfrm>
                <a:off x="2592" y="3024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 Box 32"/>
              <p:cNvSpPr txBox="1">
                <a:spLocks noChangeArrowheads="1"/>
              </p:cNvSpPr>
              <p:nvPr/>
            </p:nvSpPr>
            <p:spPr bwMode="auto">
              <a:xfrm>
                <a:off x="2588" y="3021"/>
                <a:ext cx="540" cy="31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 err="1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  <a:endParaRPr lang="en-GB" dirty="0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endParaRPr>
              </a:p>
            </p:txBody>
          </p:sp>
        </p:grpSp>
        <p:sp>
          <p:nvSpPr>
            <p:cNvPr id="31" name="AutoShape 33"/>
            <p:cNvSpPr>
              <a:spLocks noChangeArrowheads="1"/>
            </p:cNvSpPr>
            <p:nvPr/>
          </p:nvSpPr>
          <p:spPr bwMode="auto">
            <a:xfrm>
              <a:off x="2592" y="2740"/>
              <a:ext cx="576" cy="568"/>
            </a:xfrm>
            <a:prstGeom prst="roundRect">
              <a:avLst>
                <a:gd name="adj" fmla="val 176"/>
              </a:avLst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4130785" y="3028950"/>
            <a:ext cx="604951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Lisp</a:t>
            </a:r>
          </a:p>
        </p:txBody>
      </p: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4054585" y="3400463"/>
            <a:ext cx="746015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sparc</a:t>
            </a:r>
            <a:endParaRPr lang="en-GB" dirty="0">
              <a:solidFill>
                <a:schemeClr val="bg1"/>
              </a:solidFill>
              <a:latin typeface="Arial" pitchFamily="34" charset="0"/>
              <a:ea typeface="msmincho" charset="0"/>
              <a:cs typeface="msminch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Virtual Machines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276350"/>
            <a:ext cx="8229600" cy="400110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Interpreter creates a “virtual machine”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49425" y="1885952"/>
            <a:ext cx="1835149" cy="909637"/>
            <a:chOff x="1102" y="2161"/>
            <a:chExt cx="1156" cy="573"/>
          </a:xfrm>
          <a:solidFill>
            <a:schemeClr val="tx2"/>
          </a:solidFill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392" y="2445"/>
              <a:ext cx="576" cy="287"/>
              <a:chOff x="1392" y="2445"/>
              <a:chExt cx="576" cy="287"/>
            </a:xfrm>
            <a:grpFill/>
          </p:grpSpPr>
          <p:sp>
            <p:nvSpPr>
              <p:cNvPr id="16" name="AutoShape 5"/>
              <p:cNvSpPr>
                <a:spLocks noChangeArrowheads="1"/>
              </p:cNvSpPr>
              <p:nvPr/>
            </p:nvSpPr>
            <p:spPr bwMode="auto">
              <a:xfrm>
                <a:off x="1392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 Box 6"/>
              <p:cNvSpPr txBox="1">
                <a:spLocks noChangeArrowheads="1"/>
              </p:cNvSpPr>
              <p:nvPr/>
            </p:nvSpPr>
            <p:spPr bwMode="auto">
              <a:xfrm>
                <a:off x="1447" y="2445"/>
                <a:ext cx="38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1104" y="2161"/>
              <a:ext cx="1152" cy="287"/>
              <a:chOff x="1104" y="2161"/>
              <a:chExt cx="1152" cy="287"/>
            </a:xfrm>
            <a:grpFill/>
          </p:grpSpPr>
          <p:sp>
            <p:nvSpPr>
              <p:cNvPr id="14" name="Freeform 8"/>
              <p:cNvSpPr>
                <a:spLocks noChangeArrowheads="1"/>
              </p:cNvSpPr>
              <p:nvPr/>
            </p:nvSpPr>
            <p:spPr bwMode="auto">
              <a:xfrm>
                <a:off x="1104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1462" y="2161"/>
                <a:ext cx="357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1104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1966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1968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 flipH="1">
              <a:off x="1390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V="1">
              <a:off x="1392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H="1" flipV="1">
              <a:off x="1102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2203450" y="3714750"/>
            <a:ext cx="923925" cy="914400"/>
            <a:chOff x="1388" y="3314"/>
            <a:chExt cx="582" cy="576"/>
          </a:xfrm>
          <a:solidFill>
            <a:schemeClr val="tx2"/>
          </a:solidFill>
        </p:grpSpPr>
        <p:grpSp>
          <p:nvGrpSpPr>
            <p:cNvPr id="19" name="Group 17"/>
            <p:cNvGrpSpPr>
              <a:grpSpLocks/>
            </p:cNvGrpSpPr>
            <p:nvPr/>
          </p:nvGrpSpPr>
          <p:grpSpPr bwMode="auto">
            <a:xfrm>
              <a:off x="1388" y="3314"/>
              <a:ext cx="580" cy="288"/>
              <a:chOff x="1388" y="3314"/>
              <a:chExt cx="580" cy="288"/>
            </a:xfrm>
            <a:grpFill/>
          </p:grpSpPr>
          <p:sp>
            <p:nvSpPr>
              <p:cNvPr id="26" name="AutoShape 18"/>
              <p:cNvSpPr>
                <a:spLocks noChangeArrowheads="1"/>
              </p:cNvSpPr>
              <p:nvPr/>
            </p:nvSpPr>
            <p:spPr bwMode="auto">
              <a:xfrm>
                <a:off x="1392" y="3316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 Box 19"/>
              <p:cNvSpPr txBox="1">
                <a:spLocks noChangeArrowheads="1"/>
              </p:cNvSpPr>
              <p:nvPr/>
            </p:nvSpPr>
            <p:spPr bwMode="auto">
              <a:xfrm>
                <a:off x="1388" y="3314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 err="1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  <a:endParaRPr lang="en-GB" dirty="0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endParaRPr>
              </a:p>
            </p:txBody>
          </p:sp>
        </p:grpSp>
        <p:sp>
          <p:nvSpPr>
            <p:cNvPr id="20" name="Freeform 20"/>
            <p:cNvSpPr>
              <a:spLocks noChangeArrowheads="1"/>
            </p:cNvSpPr>
            <p:nvPr/>
          </p:nvSpPr>
          <p:spPr bwMode="auto">
            <a:xfrm>
              <a:off x="1392" y="3602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392" y="3316"/>
              <a:ext cx="576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1968" y="3316"/>
              <a:ext cx="1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1678" y="3602"/>
              <a:ext cx="292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 flipV="1">
              <a:off x="1390" y="3600"/>
              <a:ext cx="292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1392" y="3314"/>
              <a:ext cx="1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6"/>
          <p:cNvGrpSpPr>
            <a:grpSpLocks/>
          </p:cNvGrpSpPr>
          <p:nvPr/>
        </p:nvGrpSpPr>
        <p:grpSpPr bwMode="auto">
          <a:xfrm>
            <a:off x="2203450" y="2800352"/>
            <a:ext cx="920750" cy="906462"/>
            <a:chOff x="1388" y="2737"/>
            <a:chExt cx="580" cy="571"/>
          </a:xfrm>
          <a:solidFill>
            <a:schemeClr val="tx2"/>
          </a:solidFill>
        </p:grpSpPr>
        <p:grpSp>
          <p:nvGrpSpPr>
            <p:cNvPr id="29" name="Group 27"/>
            <p:cNvGrpSpPr>
              <a:grpSpLocks/>
            </p:cNvGrpSpPr>
            <p:nvPr/>
          </p:nvGrpSpPr>
          <p:grpSpPr bwMode="auto">
            <a:xfrm>
              <a:off x="1392" y="2737"/>
              <a:ext cx="576" cy="287"/>
              <a:chOff x="1392" y="2737"/>
              <a:chExt cx="576" cy="287"/>
            </a:xfrm>
            <a:grpFill/>
          </p:grpSpPr>
          <p:sp>
            <p:nvSpPr>
              <p:cNvPr id="34" name="AutoShape 28"/>
              <p:cNvSpPr>
                <a:spLocks noChangeArrowheads="1"/>
              </p:cNvSpPr>
              <p:nvPr/>
            </p:nvSpPr>
            <p:spPr bwMode="auto">
              <a:xfrm>
                <a:off x="1392" y="2740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 Box 29"/>
              <p:cNvSpPr txBox="1">
                <a:spLocks noChangeArrowheads="1"/>
              </p:cNvSpPr>
              <p:nvPr/>
            </p:nvSpPr>
            <p:spPr bwMode="auto">
              <a:xfrm>
                <a:off x="1447" y="2737"/>
                <a:ext cx="38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30" name="Group 30"/>
            <p:cNvGrpSpPr>
              <a:grpSpLocks/>
            </p:cNvGrpSpPr>
            <p:nvPr/>
          </p:nvGrpSpPr>
          <p:grpSpPr bwMode="auto">
            <a:xfrm>
              <a:off x="1388" y="3021"/>
              <a:ext cx="580" cy="287"/>
              <a:chOff x="1388" y="3021"/>
              <a:chExt cx="580" cy="287"/>
            </a:xfrm>
            <a:grpFill/>
          </p:grpSpPr>
          <p:sp>
            <p:nvSpPr>
              <p:cNvPr id="32" name="AutoShape 31"/>
              <p:cNvSpPr>
                <a:spLocks noChangeArrowheads="1"/>
              </p:cNvSpPr>
              <p:nvPr/>
            </p:nvSpPr>
            <p:spPr bwMode="auto">
              <a:xfrm>
                <a:off x="1392" y="3024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 Box 32"/>
              <p:cNvSpPr txBox="1">
                <a:spLocks noChangeArrowheads="1"/>
              </p:cNvSpPr>
              <p:nvPr/>
            </p:nvSpPr>
            <p:spPr bwMode="auto">
              <a:xfrm>
                <a:off x="1388" y="3021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sp>
          <p:nvSpPr>
            <p:cNvPr id="31" name="AutoShape 33"/>
            <p:cNvSpPr>
              <a:spLocks noChangeArrowheads="1"/>
            </p:cNvSpPr>
            <p:nvPr/>
          </p:nvSpPr>
          <p:spPr bwMode="auto">
            <a:xfrm>
              <a:off x="1392" y="2740"/>
              <a:ext cx="576" cy="568"/>
            </a:xfrm>
            <a:prstGeom prst="roundRect">
              <a:avLst>
                <a:gd name="adj" fmla="val 176"/>
              </a:avLst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4"/>
          <p:cNvGrpSpPr>
            <a:grpSpLocks/>
          </p:cNvGrpSpPr>
          <p:nvPr/>
        </p:nvGrpSpPr>
        <p:grpSpPr bwMode="auto">
          <a:xfrm>
            <a:off x="5635624" y="1885952"/>
            <a:ext cx="1835149" cy="909637"/>
            <a:chOff x="3550" y="2161"/>
            <a:chExt cx="1156" cy="573"/>
          </a:xfrm>
          <a:solidFill>
            <a:schemeClr val="tx2"/>
          </a:solidFill>
        </p:grpSpPr>
        <p:grpSp>
          <p:nvGrpSpPr>
            <p:cNvPr id="37" name="Group 35"/>
            <p:cNvGrpSpPr>
              <a:grpSpLocks/>
            </p:cNvGrpSpPr>
            <p:nvPr/>
          </p:nvGrpSpPr>
          <p:grpSpPr bwMode="auto">
            <a:xfrm>
              <a:off x="3840" y="2445"/>
              <a:ext cx="576" cy="287"/>
              <a:chOff x="3840" y="2445"/>
              <a:chExt cx="576" cy="287"/>
            </a:xfrm>
            <a:grpFill/>
          </p:grpSpPr>
          <p:sp>
            <p:nvSpPr>
              <p:cNvPr id="47" name="AutoShape 36"/>
              <p:cNvSpPr>
                <a:spLocks noChangeArrowheads="1"/>
              </p:cNvSpPr>
              <p:nvPr/>
            </p:nvSpPr>
            <p:spPr bwMode="auto">
              <a:xfrm>
                <a:off x="3840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Text Box 37"/>
              <p:cNvSpPr txBox="1">
                <a:spLocks noChangeArrowheads="1"/>
              </p:cNvSpPr>
              <p:nvPr/>
            </p:nvSpPr>
            <p:spPr bwMode="auto">
              <a:xfrm>
                <a:off x="3895" y="2445"/>
                <a:ext cx="38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Lisp</a:t>
                </a:r>
              </a:p>
            </p:txBody>
          </p:sp>
        </p:grpSp>
        <p:grpSp>
          <p:nvGrpSpPr>
            <p:cNvPr id="38" name="Group 38"/>
            <p:cNvGrpSpPr>
              <a:grpSpLocks/>
            </p:cNvGrpSpPr>
            <p:nvPr/>
          </p:nvGrpSpPr>
          <p:grpSpPr bwMode="auto">
            <a:xfrm>
              <a:off x="3552" y="2161"/>
              <a:ext cx="1152" cy="287"/>
              <a:chOff x="3552" y="2161"/>
              <a:chExt cx="1152" cy="287"/>
            </a:xfrm>
            <a:grpFill/>
          </p:grpSpPr>
          <p:sp>
            <p:nvSpPr>
              <p:cNvPr id="45" name="Freeform 39"/>
              <p:cNvSpPr>
                <a:spLocks noChangeArrowheads="1"/>
              </p:cNvSpPr>
              <p:nvPr/>
            </p:nvSpPr>
            <p:spPr bwMode="auto">
              <a:xfrm>
                <a:off x="3552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Text Box 40"/>
              <p:cNvSpPr txBox="1">
                <a:spLocks noChangeArrowheads="1"/>
              </p:cNvSpPr>
              <p:nvPr/>
            </p:nvSpPr>
            <p:spPr bwMode="auto">
              <a:xfrm>
                <a:off x="3910" y="2161"/>
                <a:ext cx="357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>
              <a:off x="3552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H="1">
              <a:off x="4414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>
              <a:off x="4416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/>
          </p:nvSpPr>
          <p:spPr bwMode="auto">
            <a:xfrm flipH="1">
              <a:off x="3838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 flipV="1">
              <a:off x="3840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/>
          </p:nvSpPr>
          <p:spPr bwMode="auto">
            <a:xfrm flipH="1" flipV="1">
              <a:off x="3550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9" name="AutoShape 47"/>
          <p:cNvSpPr>
            <a:spLocks noChangeArrowheads="1"/>
          </p:cNvSpPr>
          <p:nvPr/>
        </p:nvSpPr>
        <p:spPr bwMode="auto">
          <a:xfrm>
            <a:off x="6096000" y="4168775"/>
            <a:ext cx="914400" cy="457200"/>
          </a:xfrm>
          <a:prstGeom prst="flowChartMerg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8"/>
          <p:cNvGrpSpPr>
            <a:grpSpLocks/>
          </p:cNvGrpSpPr>
          <p:nvPr/>
        </p:nvGrpSpPr>
        <p:grpSpPr bwMode="auto">
          <a:xfrm>
            <a:off x="6096003" y="2798766"/>
            <a:ext cx="914401" cy="1371601"/>
            <a:chOff x="3840" y="2736"/>
            <a:chExt cx="576" cy="864"/>
          </a:xfrm>
          <a:solidFill>
            <a:schemeClr val="tx2"/>
          </a:solidFill>
        </p:grpSpPr>
        <p:sp>
          <p:nvSpPr>
            <p:cNvPr id="51" name="AutoShape 49"/>
            <p:cNvSpPr>
              <a:spLocks noChangeArrowheads="1"/>
            </p:cNvSpPr>
            <p:nvPr/>
          </p:nvSpPr>
          <p:spPr bwMode="auto">
            <a:xfrm>
              <a:off x="3840" y="2736"/>
              <a:ext cx="576" cy="864"/>
            </a:xfrm>
            <a:prstGeom prst="roundRect">
              <a:avLst>
                <a:gd name="adj" fmla="val 171"/>
              </a:avLst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3895" y="3023"/>
              <a:ext cx="381" cy="23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Arial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rPr>
                <a:t>Lisp</a:t>
              </a:r>
            </a:p>
          </p:txBody>
        </p:sp>
      </p:grpSp>
      <p:sp>
        <p:nvSpPr>
          <p:cNvPr id="53" name="Line 51"/>
          <p:cNvSpPr>
            <a:spLocks noChangeShapeType="1"/>
          </p:cNvSpPr>
          <p:nvPr/>
        </p:nvSpPr>
        <p:spPr bwMode="auto">
          <a:xfrm>
            <a:off x="6096000" y="2798764"/>
            <a:ext cx="9144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7010400" y="2798764"/>
            <a:ext cx="1588" cy="1371600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 flipH="1">
            <a:off x="6550025" y="4168775"/>
            <a:ext cx="463550" cy="457200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Line 54"/>
          <p:cNvSpPr>
            <a:spLocks noChangeShapeType="1"/>
          </p:cNvSpPr>
          <p:nvPr/>
        </p:nvSpPr>
        <p:spPr bwMode="auto">
          <a:xfrm flipH="1" flipV="1">
            <a:off x="6092825" y="4165600"/>
            <a:ext cx="463550" cy="463550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7" name="Line 55"/>
          <p:cNvSpPr>
            <a:spLocks noChangeShapeType="1"/>
          </p:cNvSpPr>
          <p:nvPr/>
        </p:nvSpPr>
        <p:spPr bwMode="auto">
          <a:xfrm flipV="1">
            <a:off x="6096000" y="2795589"/>
            <a:ext cx="1588" cy="1377950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AutoShape 56"/>
          <p:cNvSpPr>
            <a:spLocks noChangeArrowheads="1"/>
          </p:cNvSpPr>
          <p:nvPr/>
        </p:nvSpPr>
        <p:spPr bwMode="auto">
          <a:xfrm>
            <a:off x="3967163" y="3227389"/>
            <a:ext cx="1214437" cy="485775"/>
          </a:xfrm>
          <a:prstGeom prst="leftRightArrow">
            <a:avLst>
              <a:gd name="adj1" fmla="val 50000"/>
              <a:gd name="adj2" fmla="val 49768"/>
            </a:avLst>
          </a:prstGeom>
          <a:solidFill>
            <a:schemeClr val="tx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2362200" y="2886037"/>
            <a:ext cx="604951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Lisp</a:t>
            </a:r>
          </a:p>
        </p:txBody>
      </p:sp>
      <p:sp>
        <p:nvSpPr>
          <p:cNvPr id="60" name="Text Box 19"/>
          <p:cNvSpPr txBox="1">
            <a:spLocks noChangeArrowheads="1"/>
          </p:cNvSpPr>
          <p:nvPr/>
        </p:nvSpPr>
        <p:spPr bwMode="auto">
          <a:xfrm>
            <a:off x="2286000" y="3257550"/>
            <a:ext cx="746015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sparc</a:t>
            </a:r>
            <a:endParaRPr lang="en-GB" dirty="0">
              <a:solidFill>
                <a:schemeClr val="bg1"/>
              </a:solidFill>
              <a:latin typeface="Arial" pitchFamily="34" charset="0"/>
              <a:ea typeface="msmincho" charset="0"/>
              <a:cs typeface="msminch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Compilers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352550"/>
            <a:ext cx="4038600" cy="1015663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88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Compiler translating from source language S to target language T implemented in M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648200" y="1352550"/>
            <a:ext cx="4038600" cy="707886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88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C compiler for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sparc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platform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138238" y="3257550"/>
            <a:ext cx="2749551" cy="909638"/>
            <a:chOff x="717" y="2448"/>
            <a:chExt cx="1732" cy="573"/>
          </a:xfrm>
          <a:solidFill>
            <a:schemeClr val="tx2"/>
          </a:solidFill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719" y="2448"/>
              <a:ext cx="576" cy="287"/>
              <a:chOff x="719" y="2448"/>
              <a:chExt cx="576" cy="287"/>
            </a:xfrm>
            <a:grpFill/>
          </p:grpSpPr>
          <p:sp>
            <p:nvSpPr>
              <p:cNvPr id="25" name="AutoShape 6"/>
              <p:cNvSpPr>
                <a:spLocks noChangeArrowheads="1"/>
              </p:cNvSpPr>
              <p:nvPr/>
            </p:nvSpPr>
            <p:spPr bwMode="auto">
              <a:xfrm>
                <a:off x="719" y="2451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 Box 7"/>
              <p:cNvSpPr txBox="1">
                <a:spLocks noChangeArrowheads="1"/>
              </p:cNvSpPr>
              <p:nvPr/>
            </p:nvSpPr>
            <p:spPr bwMode="auto">
              <a:xfrm>
                <a:off x="886" y="2448"/>
                <a:ext cx="21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</a:t>
                </a:r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295" y="2448"/>
              <a:ext cx="576" cy="290"/>
              <a:chOff x="1295" y="2448"/>
              <a:chExt cx="576" cy="290"/>
            </a:xfrm>
            <a:grpFill/>
          </p:grpSpPr>
          <p:sp>
            <p:nvSpPr>
              <p:cNvPr id="23" name="AutoShape 9"/>
              <p:cNvSpPr>
                <a:spLocks noChangeArrowheads="1"/>
              </p:cNvSpPr>
              <p:nvPr/>
            </p:nvSpPr>
            <p:spPr bwMode="auto">
              <a:xfrm>
                <a:off x="1295" y="2451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1478" y="2448"/>
                <a:ext cx="210" cy="290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11"/>
            <p:cNvGrpSpPr>
              <a:grpSpLocks/>
            </p:cNvGrpSpPr>
            <p:nvPr/>
          </p:nvGrpSpPr>
          <p:grpSpPr bwMode="auto">
            <a:xfrm>
              <a:off x="1871" y="2448"/>
              <a:ext cx="576" cy="287"/>
              <a:chOff x="1871" y="2448"/>
              <a:chExt cx="576" cy="287"/>
            </a:xfrm>
            <a:grpFill/>
          </p:grpSpPr>
          <p:sp>
            <p:nvSpPr>
              <p:cNvPr id="21" name="AutoShape 12"/>
              <p:cNvSpPr>
                <a:spLocks noChangeArrowheads="1"/>
              </p:cNvSpPr>
              <p:nvPr/>
            </p:nvSpPr>
            <p:spPr bwMode="auto">
              <a:xfrm>
                <a:off x="1871" y="2451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2044" y="2448"/>
                <a:ext cx="203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T</a:t>
                </a:r>
              </a:p>
            </p:txBody>
          </p: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1295" y="2732"/>
              <a:ext cx="576" cy="287"/>
              <a:chOff x="1295" y="2732"/>
              <a:chExt cx="576" cy="287"/>
            </a:xfrm>
            <a:grpFill/>
          </p:grpSpPr>
          <p:sp>
            <p:nvSpPr>
              <p:cNvPr id="19" name="AutoShape 15"/>
              <p:cNvSpPr>
                <a:spLocks noChangeArrowheads="1"/>
              </p:cNvSpPr>
              <p:nvPr/>
            </p:nvSpPr>
            <p:spPr bwMode="auto">
              <a:xfrm>
                <a:off x="1295" y="2735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 Box 16"/>
              <p:cNvSpPr txBox="1">
                <a:spLocks noChangeArrowheads="1"/>
              </p:cNvSpPr>
              <p:nvPr/>
            </p:nvSpPr>
            <p:spPr bwMode="auto">
              <a:xfrm>
                <a:off x="1446" y="2732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719" y="2451"/>
              <a:ext cx="1728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2447" y="2451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 flipH="1">
              <a:off x="1869" y="2735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1871" y="2735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 flipH="1">
              <a:off x="1293" y="3019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V="1">
              <a:off x="1295" y="2733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 flipH="1">
              <a:off x="717" y="2735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 flipV="1">
              <a:off x="719" y="2449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5"/>
          <p:cNvGrpSpPr>
            <a:grpSpLocks/>
          </p:cNvGrpSpPr>
          <p:nvPr/>
        </p:nvGrpSpPr>
        <p:grpSpPr bwMode="auto">
          <a:xfrm>
            <a:off x="5254625" y="3259138"/>
            <a:ext cx="2749550" cy="909637"/>
            <a:chOff x="3310" y="2449"/>
            <a:chExt cx="1732" cy="573"/>
          </a:xfrm>
          <a:solidFill>
            <a:schemeClr val="tx2"/>
          </a:solidFill>
        </p:grpSpPr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3312" y="2449"/>
              <a:ext cx="576" cy="287"/>
              <a:chOff x="3312" y="2449"/>
              <a:chExt cx="576" cy="287"/>
            </a:xfrm>
            <a:grpFill/>
          </p:grpSpPr>
          <p:sp>
            <p:nvSpPr>
              <p:cNvPr id="46" name="AutoShape 27"/>
              <p:cNvSpPr>
                <a:spLocks noChangeArrowheads="1"/>
              </p:cNvSpPr>
              <p:nvPr/>
            </p:nvSpPr>
            <p:spPr bwMode="auto">
              <a:xfrm>
                <a:off x="3312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 Box 28"/>
              <p:cNvSpPr txBox="1">
                <a:spLocks noChangeArrowheads="1"/>
              </p:cNvSpPr>
              <p:nvPr/>
            </p:nvSpPr>
            <p:spPr bwMode="auto">
              <a:xfrm>
                <a:off x="3474" y="2449"/>
                <a:ext cx="22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C</a:t>
                </a:r>
              </a:p>
            </p:txBody>
          </p:sp>
        </p:grpSp>
        <p:grpSp>
          <p:nvGrpSpPr>
            <p:cNvPr id="29" name="Group 29"/>
            <p:cNvGrpSpPr>
              <a:grpSpLocks/>
            </p:cNvGrpSpPr>
            <p:nvPr/>
          </p:nvGrpSpPr>
          <p:grpSpPr bwMode="auto">
            <a:xfrm>
              <a:off x="3888" y="2449"/>
              <a:ext cx="672" cy="287"/>
              <a:chOff x="3888" y="2449"/>
              <a:chExt cx="672" cy="287"/>
            </a:xfrm>
            <a:grpFill/>
          </p:grpSpPr>
          <p:sp>
            <p:nvSpPr>
              <p:cNvPr id="44" name="AutoShape 30"/>
              <p:cNvSpPr>
                <a:spLocks noChangeArrowheads="1"/>
              </p:cNvSpPr>
              <p:nvPr/>
            </p:nvSpPr>
            <p:spPr bwMode="auto">
              <a:xfrm>
                <a:off x="3888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 Box 31"/>
              <p:cNvSpPr txBox="1">
                <a:spLocks noChangeArrowheads="1"/>
              </p:cNvSpPr>
              <p:nvPr/>
            </p:nvSpPr>
            <p:spPr bwMode="auto">
              <a:xfrm>
                <a:off x="3975" y="2449"/>
                <a:ext cx="585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Wingdings" pitchFamily="2" charset="2"/>
                    <a:ea typeface="msmincho" charset="0"/>
                    <a:cs typeface="msmincho" charset="0"/>
                  </a:rPr>
                  <a:t></a:t>
                </a:r>
              </a:p>
            </p:txBody>
          </p:sp>
        </p:grpSp>
        <p:grpSp>
          <p:nvGrpSpPr>
            <p:cNvPr id="30" name="Group 32"/>
            <p:cNvGrpSpPr>
              <a:grpSpLocks/>
            </p:cNvGrpSpPr>
            <p:nvPr/>
          </p:nvGrpSpPr>
          <p:grpSpPr bwMode="auto">
            <a:xfrm>
              <a:off x="4460" y="2449"/>
              <a:ext cx="580" cy="287"/>
              <a:chOff x="4460" y="2449"/>
              <a:chExt cx="580" cy="287"/>
            </a:xfrm>
            <a:grpFill/>
          </p:grpSpPr>
          <p:sp>
            <p:nvSpPr>
              <p:cNvPr id="42" name="AutoShape 33"/>
              <p:cNvSpPr>
                <a:spLocks noChangeArrowheads="1"/>
              </p:cNvSpPr>
              <p:nvPr/>
            </p:nvSpPr>
            <p:spPr bwMode="auto">
              <a:xfrm>
                <a:off x="4464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 Box 34"/>
              <p:cNvSpPr txBox="1">
                <a:spLocks noChangeArrowheads="1"/>
              </p:cNvSpPr>
              <p:nvPr/>
            </p:nvSpPr>
            <p:spPr bwMode="auto">
              <a:xfrm>
                <a:off x="4460" y="2449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grpSp>
          <p:nvGrpSpPr>
            <p:cNvPr id="31" name="Group 35"/>
            <p:cNvGrpSpPr>
              <a:grpSpLocks/>
            </p:cNvGrpSpPr>
            <p:nvPr/>
          </p:nvGrpSpPr>
          <p:grpSpPr bwMode="auto">
            <a:xfrm>
              <a:off x="3884" y="2733"/>
              <a:ext cx="580" cy="287"/>
              <a:chOff x="3884" y="2733"/>
              <a:chExt cx="580" cy="287"/>
            </a:xfrm>
            <a:grpFill/>
          </p:grpSpPr>
          <p:sp>
            <p:nvSpPr>
              <p:cNvPr id="40" name="AutoShape 36"/>
              <p:cNvSpPr>
                <a:spLocks noChangeArrowheads="1"/>
              </p:cNvSpPr>
              <p:nvPr/>
            </p:nvSpPr>
            <p:spPr bwMode="auto">
              <a:xfrm>
                <a:off x="3888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 Box 37"/>
              <p:cNvSpPr txBox="1">
                <a:spLocks noChangeArrowheads="1"/>
              </p:cNvSpPr>
              <p:nvPr/>
            </p:nvSpPr>
            <p:spPr bwMode="auto">
              <a:xfrm>
                <a:off x="3884" y="2733"/>
                <a:ext cx="47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sparc</a:t>
                </a:r>
              </a:p>
            </p:txBody>
          </p:sp>
        </p:grpSp>
        <p:sp>
          <p:nvSpPr>
            <p:cNvPr id="32" name="Line 38"/>
            <p:cNvSpPr>
              <a:spLocks noChangeShapeType="1"/>
            </p:cNvSpPr>
            <p:nvPr/>
          </p:nvSpPr>
          <p:spPr bwMode="auto">
            <a:xfrm>
              <a:off x="3312" y="2452"/>
              <a:ext cx="1728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>
              <a:off x="5040" y="2452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 flipH="1">
              <a:off x="4462" y="2736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>
              <a:off x="4464" y="2736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 flipH="1">
              <a:off x="3886" y="3020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 flipV="1">
              <a:off x="3888" y="2734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Line 44"/>
            <p:cNvSpPr>
              <a:spLocks noChangeShapeType="1"/>
            </p:cNvSpPr>
            <p:nvPr/>
          </p:nvSpPr>
          <p:spPr bwMode="auto">
            <a:xfrm flipH="1">
              <a:off x="3310" y="2736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Line 45"/>
            <p:cNvSpPr>
              <a:spLocks noChangeShapeType="1"/>
            </p:cNvSpPr>
            <p:nvPr/>
          </p:nvSpPr>
          <p:spPr bwMode="auto">
            <a:xfrm flipV="1">
              <a:off x="3312" y="2450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2270125" y="3257550"/>
            <a:ext cx="488474" cy="386054"/>
          </a:xfrm>
          <a:prstGeom prst="rect">
            <a:avLst/>
          </a:prstGeom>
          <a:solidFill>
            <a:schemeClr val="tx2"/>
          </a:solidFill>
          <a:ln w="18360">
            <a:noFill/>
            <a:round/>
            <a:headEnd/>
            <a:tailEnd type="triangle" w="med" len="med"/>
          </a:ln>
          <a:effectLst/>
        </p:spPr>
        <p:txBody>
          <a:bodyPr wrap="none" lIns="99000" tIns="54000" rIns="99000" bIns="540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bg1"/>
                </a:solidFill>
                <a:ea typeface="DejaVu Sans" charset="0"/>
                <a:cs typeface="DejaVu Sans" charset="0"/>
              </a:rPr>
              <a:t>--&gt;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Compiling Programs</a:t>
            </a:r>
            <a:endParaRPr lang="en-US" dirty="0"/>
          </a:p>
        </p:txBody>
      </p:sp>
      <p:sp>
        <p:nvSpPr>
          <p:cNvPr id="4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23950"/>
            <a:ext cx="8229600" cy="830997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400" dirty="0"/>
              <a:t>Compiler inputs program in source language, outputs in target language</a:t>
            </a:r>
          </a:p>
        </p:txBody>
      </p:sp>
      <p:grpSp>
        <p:nvGrpSpPr>
          <p:cNvPr id="50" name="Group 3"/>
          <p:cNvGrpSpPr>
            <a:grpSpLocks/>
          </p:cNvGrpSpPr>
          <p:nvPr/>
        </p:nvGrpSpPr>
        <p:grpSpPr bwMode="auto">
          <a:xfrm>
            <a:off x="454025" y="2573338"/>
            <a:ext cx="1835149" cy="909637"/>
            <a:chOff x="286" y="2161"/>
            <a:chExt cx="1156" cy="573"/>
          </a:xfrm>
          <a:solidFill>
            <a:schemeClr val="tx2"/>
          </a:solidFill>
        </p:grpSpPr>
        <p:grpSp>
          <p:nvGrpSpPr>
            <p:cNvPr id="51" name="Group 4"/>
            <p:cNvGrpSpPr>
              <a:grpSpLocks/>
            </p:cNvGrpSpPr>
            <p:nvPr/>
          </p:nvGrpSpPr>
          <p:grpSpPr bwMode="auto">
            <a:xfrm>
              <a:off x="576" y="2445"/>
              <a:ext cx="576" cy="287"/>
              <a:chOff x="576" y="2445"/>
              <a:chExt cx="576" cy="287"/>
            </a:xfrm>
            <a:grpFill/>
          </p:grpSpPr>
          <p:sp>
            <p:nvSpPr>
              <p:cNvPr id="61" name="AutoShape 5"/>
              <p:cNvSpPr>
                <a:spLocks noChangeArrowheads="1"/>
              </p:cNvSpPr>
              <p:nvPr/>
            </p:nvSpPr>
            <p:spPr bwMode="auto">
              <a:xfrm>
                <a:off x="576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Text Box 6"/>
              <p:cNvSpPr txBox="1">
                <a:spLocks noChangeArrowheads="1"/>
              </p:cNvSpPr>
              <p:nvPr/>
            </p:nvSpPr>
            <p:spPr bwMode="auto">
              <a:xfrm>
                <a:off x="738" y="2445"/>
                <a:ext cx="220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C</a:t>
                </a:r>
              </a:p>
            </p:txBody>
          </p:sp>
        </p:grpSp>
        <p:grpSp>
          <p:nvGrpSpPr>
            <p:cNvPr id="52" name="Group 7"/>
            <p:cNvGrpSpPr>
              <a:grpSpLocks/>
            </p:cNvGrpSpPr>
            <p:nvPr/>
          </p:nvGrpSpPr>
          <p:grpSpPr bwMode="auto">
            <a:xfrm>
              <a:off x="288" y="2161"/>
              <a:ext cx="1152" cy="287"/>
              <a:chOff x="288" y="2161"/>
              <a:chExt cx="1152" cy="287"/>
            </a:xfrm>
            <a:grpFill/>
          </p:grpSpPr>
          <p:sp>
            <p:nvSpPr>
              <p:cNvPr id="59" name="Freeform 8"/>
              <p:cNvSpPr>
                <a:spLocks noChangeArrowheads="1"/>
              </p:cNvSpPr>
              <p:nvPr/>
            </p:nvSpPr>
            <p:spPr bwMode="auto">
              <a:xfrm>
                <a:off x="288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 Box 9"/>
              <p:cNvSpPr txBox="1">
                <a:spLocks noChangeArrowheads="1"/>
              </p:cNvSpPr>
              <p:nvPr/>
            </p:nvSpPr>
            <p:spPr bwMode="auto">
              <a:xfrm>
                <a:off x="646" y="2161"/>
                <a:ext cx="357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sort</a:t>
                </a:r>
              </a:p>
            </p:txBody>
          </p:sp>
        </p:grpSp>
        <p:sp>
          <p:nvSpPr>
            <p:cNvPr id="53" name="Line 10"/>
            <p:cNvSpPr>
              <a:spLocks noChangeShapeType="1"/>
            </p:cNvSpPr>
            <p:nvPr/>
          </p:nvSpPr>
          <p:spPr bwMode="auto">
            <a:xfrm>
              <a:off x="288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 flipH="1">
              <a:off x="1150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Line 12"/>
            <p:cNvSpPr>
              <a:spLocks noChangeShapeType="1"/>
            </p:cNvSpPr>
            <p:nvPr/>
          </p:nvSpPr>
          <p:spPr bwMode="auto">
            <a:xfrm>
              <a:off x="1152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Line 13"/>
            <p:cNvSpPr>
              <a:spLocks noChangeShapeType="1"/>
            </p:cNvSpPr>
            <p:nvPr/>
          </p:nvSpPr>
          <p:spPr bwMode="auto">
            <a:xfrm flipH="1">
              <a:off x="574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" name="Line 14"/>
            <p:cNvSpPr>
              <a:spLocks noChangeShapeType="1"/>
            </p:cNvSpPr>
            <p:nvPr/>
          </p:nvSpPr>
          <p:spPr bwMode="auto">
            <a:xfrm flipV="1">
              <a:off x="576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" name="Line 15"/>
            <p:cNvSpPr>
              <a:spLocks noChangeShapeType="1"/>
            </p:cNvSpPr>
            <p:nvPr/>
          </p:nvSpPr>
          <p:spPr bwMode="auto">
            <a:xfrm flipH="1" flipV="1">
              <a:off x="286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16"/>
          <p:cNvGrpSpPr>
            <a:grpSpLocks/>
          </p:cNvGrpSpPr>
          <p:nvPr/>
        </p:nvGrpSpPr>
        <p:grpSpPr bwMode="auto">
          <a:xfrm>
            <a:off x="1825625" y="2576513"/>
            <a:ext cx="4121149" cy="2284412"/>
            <a:chOff x="1150" y="2163"/>
            <a:chExt cx="2596" cy="1439"/>
          </a:xfrm>
          <a:solidFill>
            <a:schemeClr val="tx2"/>
          </a:solidFill>
        </p:grpSpPr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1150" y="2450"/>
              <a:ext cx="1732" cy="573"/>
              <a:chOff x="1150" y="2450"/>
              <a:chExt cx="1732" cy="573"/>
            </a:xfrm>
            <a:grpFill/>
          </p:grpSpPr>
          <p:grpSp>
            <p:nvGrpSpPr>
              <p:cNvPr id="88" name="Group 18"/>
              <p:cNvGrpSpPr>
                <a:grpSpLocks/>
              </p:cNvGrpSpPr>
              <p:nvPr/>
            </p:nvGrpSpPr>
            <p:grpSpPr bwMode="auto">
              <a:xfrm>
                <a:off x="1152" y="2450"/>
                <a:ext cx="576" cy="287"/>
                <a:chOff x="1152" y="2450"/>
                <a:chExt cx="576" cy="287"/>
              </a:xfrm>
              <a:grpFill/>
            </p:grpSpPr>
            <p:sp>
              <p:nvSpPr>
                <p:cNvPr id="106" name="AutoShape 19"/>
                <p:cNvSpPr>
                  <a:spLocks noChangeArrowheads="1"/>
                </p:cNvSpPr>
                <p:nvPr/>
              </p:nvSpPr>
              <p:spPr bwMode="auto">
                <a:xfrm>
                  <a:off x="1152" y="2453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314" y="2450"/>
                  <a:ext cx="22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C</a:t>
                  </a:r>
                </a:p>
              </p:txBody>
            </p:sp>
          </p:grpSp>
          <p:grpSp>
            <p:nvGrpSpPr>
              <p:cNvPr id="89" name="Group 21"/>
              <p:cNvGrpSpPr>
                <a:grpSpLocks/>
              </p:cNvGrpSpPr>
              <p:nvPr/>
            </p:nvGrpSpPr>
            <p:grpSpPr bwMode="auto">
              <a:xfrm>
                <a:off x="1728" y="2451"/>
                <a:ext cx="672" cy="286"/>
                <a:chOff x="1728" y="2451"/>
                <a:chExt cx="672" cy="286"/>
              </a:xfrm>
              <a:grpFill/>
            </p:grpSpPr>
            <p:sp>
              <p:nvSpPr>
                <p:cNvPr id="104" name="AutoShape 22"/>
                <p:cNvSpPr>
                  <a:spLocks noChangeArrowheads="1"/>
                </p:cNvSpPr>
                <p:nvPr/>
              </p:nvSpPr>
              <p:spPr bwMode="auto">
                <a:xfrm>
                  <a:off x="1728" y="2453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815" y="2451"/>
                  <a:ext cx="585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Wingdings" pitchFamily="2" charset="2"/>
                      <a:ea typeface="msmincho" charset="0"/>
                      <a:cs typeface="msmincho" charset="0"/>
                    </a:rPr>
                    <a:t></a:t>
                  </a:r>
                </a:p>
              </p:txBody>
            </p:sp>
          </p:grpSp>
          <p:grpSp>
            <p:nvGrpSpPr>
              <p:cNvPr id="90" name="Group 24"/>
              <p:cNvGrpSpPr>
                <a:grpSpLocks/>
              </p:cNvGrpSpPr>
              <p:nvPr/>
            </p:nvGrpSpPr>
            <p:grpSpPr bwMode="auto">
              <a:xfrm>
                <a:off x="2300" y="2450"/>
                <a:ext cx="580" cy="287"/>
                <a:chOff x="2300" y="2450"/>
                <a:chExt cx="580" cy="287"/>
              </a:xfrm>
              <a:grpFill/>
            </p:grpSpPr>
            <p:sp>
              <p:nvSpPr>
                <p:cNvPr id="102" name="AutoShape 25"/>
                <p:cNvSpPr>
                  <a:spLocks noChangeArrowheads="1"/>
                </p:cNvSpPr>
                <p:nvPr/>
              </p:nvSpPr>
              <p:spPr bwMode="auto">
                <a:xfrm>
                  <a:off x="2304" y="2453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300" y="2450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grpSp>
            <p:nvGrpSpPr>
              <p:cNvPr id="91" name="Group 27"/>
              <p:cNvGrpSpPr>
                <a:grpSpLocks/>
              </p:cNvGrpSpPr>
              <p:nvPr/>
            </p:nvGrpSpPr>
            <p:grpSpPr bwMode="auto">
              <a:xfrm>
                <a:off x="1724" y="2734"/>
                <a:ext cx="580" cy="287"/>
                <a:chOff x="1724" y="2734"/>
                <a:chExt cx="580" cy="287"/>
              </a:xfrm>
              <a:grpFill/>
            </p:grpSpPr>
            <p:sp>
              <p:nvSpPr>
                <p:cNvPr id="100" name="AutoShape 28"/>
                <p:cNvSpPr>
                  <a:spLocks noChangeArrowheads="1"/>
                </p:cNvSpPr>
                <p:nvPr/>
              </p:nvSpPr>
              <p:spPr bwMode="auto">
                <a:xfrm>
                  <a:off x="1728" y="2737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724" y="2734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sp>
            <p:nvSpPr>
              <p:cNvPr id="92" name="Line 30"/>
              <p:cNvSpPr>
                <a:spLocks noChangeShapeType="1"/>
              </p:cNvSpPr>
              <p:nvPr/>
            </p:nvSpPr>
            <p:spPr bwMode="auto">
              <a:xfrm>
                <a:off x="1152" y="2453"/>
                <a:ext cx="1728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Line 31"/>
              <p:cNvSpPr>
                <a:spLocks noChangeShapeType="1"/>
              </p:cNvSpPr>
              <p:nvPr/>
            </p:nvSpPr>
            <p:spPr bwMode="auto">
              <a:xfrm>
                <a:off x="2880" y="2453"/>
                <a:ext cx="1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Line 32"/>
              <p:cNvSpPr>
                <a:spLocks noChangeShapeType="1"/>
              </p:cNvSpPr>
              <p:nvPr/>
            </p:nvSpPr>
            <p:spPr bwMode="auto">
              <a:xfrm flipH="1">
                <a:off x="2302" y="2737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Line 33"/>
              <p:cNvSpPr>
                <a:spLocks noChangeShapeType="1"/>
              </p:cNvSpPr>
              <p:nvPr/>
            </p:nvSpPr>
            <p:spPr bwMode="auto">
              <a:xfrm>
                <a:off x="2304" y="2737"/>
                <a:ext cx="1" cy="284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Line 34"/>
              <p:cNvSpPr>
                <a:spLocks noChangeShapeType="1"/>
              </p:cNvSpPr>
              <p:nvPr/>
            </p:nvSpPr>
            <p:spPr bwMode="auto">
              <a:xfrm flipH="1">
                <a:off x="1726" y="3021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V="1">
                <a:off x="1728" y="2735"/>
                <a:ext cx="1" cy="288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Line 36"/>
              <p:cNvSpPr>
                <a:spLocks noChangeShapeType="1"/>
              </p:cNvSpPr>
              <p:nvPr/>
            </p:nvSpPr>
            <p:spPr bwMode="auto">
              <a:xfrm flipH="1">
                <a:off x="1150" y="2737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Line 37"/>
              <p:cNvSpPr>
                <a:spLocks noChangeShapeType="1"/>
              </p:cNvSpPr>
              <p:nvPr/>
            </p:nvSpPr>
            <p:spPr bwMode="auto">
              <a:xfrm flipV="1">
                <a:off x="1152" y="2452"/>
                <a:ext cx="1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5" name="Group 38"/>
            <p:cNvGrpSpPr>
              <a:grpSpLocks/>
            </p:cNvGrpSpPr>
            <p:nvPr/>
          </p:nvGrpSpPr>
          <p:grpSpPr bwMode="auto">
            <a:xfrm>
              <a:off x="2590" y="2163"/>
              <a:ext cx="1156" cy="572"/>
              <a:chOff x="2590" y="2163"/>
              <a:chExt cx="1156" cy="572"/>
            </a:xfrm>
            <a:grpFill/>
          </p:grpSpPr>
          <p:grpSp>
            <p:nvGrpSpPr>
              <p:cNvPr id="76" name="Group 39"/>
              <p:cNvGrpSpPr>
                <a:grpSpLocks/>
              </p:cNvGrpSpPr>
              <p:nvPr/>
            </p:nvGrpSpPr>
            <p:grpSpPr bwMode="auto">
              <a:xfrm>
                <a:off x="2876" y="2446"/>
                <a:ext cx="580" cy="287"/>
                <a:chOff x="2876" y="2446"/>
                <a:chExt cx="580" cy="287"/>
              </a:xfrm>
              <a:grpFill/>
            </p:grpSpPr>
            <p:sp>
              <p:nvSpPr>
                <p:cNvPr id="86" name="AutoShape 40"/>
                <p:cNvSpPr>
                  <a:spLocks noChangeArrowheads="1"/>
                </p:cNvSpPr>
                <p:nvPr/>
              </p:nvSpPr>
              <p:spPr bwMode="auto">
                <a:xfrm>
                  <a:off x="2880" y="2449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876" y="2446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grpSp>
            <p:nvGrpSpPr>
              <p:cNvPr id="77" name="Group 42"/>
              <p:cNvGrpSpPr>
                <a:grpSpLocks/>
              </p:cNvGrpSpPr>
              <p:nvPr/>
            </p:nvGrpSpPr>
            <p:grpSpPr bwMode="auto">
              <a:xfrm>
                <a:off x="2592" y="2163"/>
                <a:ext cx="1152" cy="287"/>
                <a:chOff x="2592" y="2163"/>
                <a:chExt cx="1152" cy="287"/>
              </a:xfrm>
              <a:grpFill/>
            </p:grpSpPr>
            <p:sp>
              <p:nvSpPr>
                <p:cNvPr id="84" name="Freeform 43"/>
                <p:cNvSpPr>
                  <a:spLocks noChangeArrowheads="1"/>
                </p:cNvSpPr>
                <p:nvPr/>
              </p:nvSpPr>
              <p:spPr bwMode="auto">
                <a:xfrm>
                  <a:off x="2592" y="2166"/>
                  <a:ext cx="1152" cy="2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080" y="0"/>
                    </a:cxn>
                    <a:cxn ang="0">
                      <a:pos x="3809" y="1250"/>
                    </a:cxn>
                    <a:cxn ang="0">
                      <a:pos x="1270" y="125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081" h="1251">
                      <a:moveTo>
                        <a:pt x="0" y="0"/>
                      </a:moveTo>
                      <a:lnTo>
                        <a:pt x="5080" y="0"/>
                      </a:lnTo>
                      <a:lnTo>
                        <a:pt x="3809" y="1250"/>
                      </a:lnTo>
                      <a:lnTo>
                        <a:pt x="1270" y="125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950" y="2163"/>
                  <a:ext cx="357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sort</a:t>
                  </a:r>
                </a:p>
              </p:txBody>
            </p:sp>
          </p:grpSp>
          <p:sp>
            <p:nvSpPr>
              <p:cNvPr id="78" name="Line 45"/>
              <p:cNvSpPr>
                <a:spLocks noChangeShapeType="1"/>
              </p:cNvSpPr>
              <p:nvPr/>
            </p:nvSpPr>
            <p:spPr bwMode="auto">
              <a:xfrm>
                <a:off x="2592" y="2166"/>
                <a:ext cx="1152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Line 46"/>
              <p:cNvSpPr>
                <a:spLocks noChangeShapeType="1"/>
              </p:cNvSpPr>
              <p:nvPr/>
            </p:nvSpPr>
            <p:spPr bwMode="auto">
              <a:xfrm flipH="1">
                <a:off x="3454" y="2166"/>
                <a:ext cx="292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Line 47"/>
              <p:cNvSpPr>
                <a:spLocks noChangeShapeType="1"/>
              </p:cNvSpPr>
              <p:nvPr/>
            </p:nvSpPr>
            <p:spPr bwMode="auto">
              <a:xfrm>
                <a:off x="3456" y="2449"/>
                <a:ext cx="1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Line 48"/>
              <p:cNvSpPr>
                <a:spLocks noChangeShapeType="1"/>
              </p:cNvSpPr>
              <p:nvPr/>
            </p:nvSpPr>
            <p:spPr bwMode="auto">
              <a:xfrm flipH="1">
                <a:off x="2878" y="2733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Line 49"/>
              <p:cNvSpPr>
                <a:spLocks noChangeShapeType="1"/>
              </p:cNvSpPr>
              <p:nvPr/>
            </p:nvSpPr>
            <p:spPr bwMode="auto">
              <a:xfrm flipV="1">
                <a:off x="2880" y="2448"/>
                <a:ext cx="1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Line 50"/>
              <p:cNvSpPr>
                <a:spLocks noChangeShapeType="1"/>
              </p:cNvSpPr>
              <p:nvPr/>
            </p:nvSpPr>
            <p:spPr bwMode="auto">
              <a:xfrm flipH="1" flipV="1">
                <a:off x="2590" y="2164"/>
                <a:ext cx="292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6" name="Group 51"/>
            <p:cNvGrpSpPr>
              <a:grpSpLocks/>
            </p:cNvGrpSpPr>
            <p:nvPr/>
          </p:nvGrpSpPr>
          <p:grpSpPr bwMode="auto">
            <a:xfrm>
              <a:off x="1724" y="3026"/>
              <a:ext cx="582" cy="576"/>
              <a:chOff x="1724" y="3026"/>
              <a:chExt cx="582" cy="576"/>
            </a:xfrm>
            <a:grpFill/>
          </p:grpSpPr>
          <p:grpSp>
            <p:nvGrpSpPr>
              <p:cNvPr id="67" name="Group 52"/>
              <p:cNvGrpSpPr>
                <a:grpSpLocks/>
              </p:cNvGrpSpPr>
              <p:nvPr/>
            </p:nvGrpSpPr>
            <p:grpSpPr bwMode="auto">
              <a:xfrm>
                <a:off x="1724" y="3027"/>
                <a:ext cx="580" cy="288"/>
                <a:chOff x="1724" y="3027"/>
                <a:chExt cx="580" cy="288"/>
              </a:xfrm>
              <a:grpFill/>
            </p:grpSpPr>
            <p:sp>
              <p:nvSpPr>
                <p:cNvPr id="74" name="AutoShape 53"/>
                <p:cNvSpPr>
                  <a:spLocks noChangeArrowheads="1"/>
                </p:cNvSpPr>
                <p:nvPr/>
              </p:nvSpPr>
              <p:spPr bwMode="auto">
                <a:xfrm>
                  <a:off x="1728" y="3029"/>
                  <a:ext cx="576" cy="286"/>
                </a:xfrm>
                <a:prstGeom prst="roundRect">
                  <a:avLst>
                    <a:gd name="adj" fmla="val 347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5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724" y="3027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sp>
            <p:nvSpPr>
              <p:cNvPr id="68" name="Freeform 55"/>
              <p:cNvSpPr>
                <a:spLocks noChangeArrowheads="1"/>
              </p:cNvSpPr>
              <p:nvPr/>
            </p:nvSpPr>
            <p:spPr bwMode="auto">
              <a:xfrm>
                <a:off x="1728" y="3314"/>
                <a:ext cx="576" cy="2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540" y="0"/>
                  </a:cxn>
                  <a:cxn ang="0">
                    <a:pos x="1270" y="1260"/>
                  </a:cxn>
                  <a:cxn ang="0">
                    <a:pos x="0" y="0"/>
                  </a:cxn>
                </a:cxnLst>
                <a:rect l="0" t="0" r="r" b="b"/>
                <a:pathLst>
                  <a:path w="2541" h="1261">
                    <a:moveTo>
                      <a:pt x="0" y="0"/>
                    </a:moveTo>
                    <a:lnTo>
                      <a:pt x="2540" y="0"/>
                    </a:lnTo>
                    <a:lnTo>
                      <a:pt x="1270" y="126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Line 56"/>
              <p:cNvSpPr>
                <a:spLocks noChangeShapeType="1"/>
              </p:cNvSpPr>
              <p:nvPr/>
            </p:nvSpPr>
            <p:spPr bwMode="auto">
              <a:xfrm>
                <a:off x="1728" y="3029"/>
                <a:ext cx="576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Line 57"/>
              <p:cNvSpPr>
                <a:spLocks noChangeShapeType="1"/>
              </p:cNvSpPr>
              <p:nvPr/>
            </p:nvSpPr>
            <p:spPr bwMode="auto">
              <a:xfrm>
                <a:off x="2304" y="3029"/>
                <a:ext cx="1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Line 58"/>
              <p:cNvSpPr>
                <a:spLocks noChangeShapeType="1"/>
              </p:cNvSpPr>
              <p:nvPr/>
            </p:nvSpPr>
            <p:spPr bwMode="auto">
              <a:xfrm flipH="1">
                <a:off x="2014" y="3314"/>
                <a:ext cx="292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Line 59"/>
              <p:cNvSpPr>
                <a:spLocks noChangeShapeType="1"/>
              </p:cNvSpPr>
              <p:nvPr/>
            </p:nvSpPr>
            <p:spPr bwMode="auto">
              <a:xfrm flipH="1" flipV="1">
                <a:off x="1726" y="3312"/>
                <a:ext cx="292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Line 60"/>
              <p:cNvSpPr>
                <a:spLocks noChangeShapeType="1"/>
              </p:cNvSpPr>
              <p:nvPr/>
            </p:nvSpPr>
            <p:spPr bwMode="auto">
              <a:xfrm flipV="1">
                <a:off x="1728" y="3026"/>
                <a:ext cx="1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08" name="Group 61"/>
          <p:cNvGrpSpPr>
            <a:grpSpLocks/>
          </p:cNvGrpSpPr>
          <p:nvPr/>
        </p:nvGrpSpPr>
        <p:grpSpPr bwMode="auto">
          <a:xfrm>
            <a:off x="5943600" y="2576513"/>
            <a:ext cx="2746375" cy="1827212"/>
            <a:chOff x="3744" y="2163"/>
            <a:chExt cx="1730" cy="1151"/>
          </a:xfrm>
          <a:solidFill>
            <a:schemeClr val="tx2"/>
          </a:solidFill>
        </p:grpSpPr>
        <p:grpSp>
          <p:nvGrpSpPr>
            <p:cNvPr id="109" name="Group 62"/>
            <p:cNvGrpSpPr>
              <a:grpSpLocks/>
            </p:cNvGrpSpPr>
            <p:nvPr/>
          </p:nvGrpSpPr>
          <p:grpSpPr bwMode="auto">
            <a:xfrm>
              <a:off x="4318" y="2163"/>
              <a:ext cx="1156" cy="572"/>
              <a:chOff x="4318" y="2163"/>
              <a:chExt cx="1156" cy="572"/>
            </a:xfrm>
            <a:grpFill/>
          </p:grpSpPr>
          <p:grpSp>
            <p:nvGrpSpPr>
              <p:cNvPr id="121" name="Group 63"/>
              <p:cNvGrpSpPr>
                <a:grpSpLocks/>
              </p:cNvGrpSpPr>
              <p:nvPr/>
            </p:nvGrpSpPr>
            <p:grpSpPr bwMode="auto">
              <a:xfrm>
                <a:off x="4604" y="2446"/>
                <a:ext cx="580" cy="287"/>
                <a:chOff x="4604" y="2446"/>
                <a:chExt cx="580" cy="287"/>
              </a:xfrm>
              <a:grpFill/>
            </p:grpSpPr>
            <p:sp>
              <p:nvSpPr>
                <p:cNvPr id="131" name="AutoShape 64"/>
                <p:cNvSpPr>
                  <a:spLocks noChangeArrowheads="1"/>
                </p:cNvSpPr>
                <p:nvPr/>
              </p:nvSpPr>
              <p:spPr bwMode="auto">
                <a:xfrm>
                  <a:off x="4608" y="2449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604" y="2446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grpSp>
            <p:nvGrpSpPr>
              <p:cNvPr id="122" name="Group 66"/>
              <p:cNvGrpSpPr>
                <a:grpSpLocks/>
              </p:cNvGrpSpPr>
              <p:nvPr/>
            </p:nvGrpSpPr>
            <p:grpSpPr bwMode="auto">
              <a:xfrm>
                <a:off x="4320" y="2163"/>
                <a:ext cx="1152" cy="287"/>
                <a:chOff x="4320" y="2163"/>
                <a:chExt cx="1152" cy="287"/>
              </a:xfrm>
              <a:grpFill/>
            </p:grpSpPr>
            <p:sp>
              <p:nvSpPr>
                <p:cNvPr id="129" name="Freeform 67"/>
                <p:cNvSpPr>
                  <a:spLocks noChangeArrowheads="1"/>
                </p:cNvSpPr>
                <p:nvPr/>
              </p:nvSpPr>
              <p:spPr bwMode="auto">
                <a:xfrm>
                  <a:off x="4320" y="2166"/>
                  <a:ext cx="1152" cy="2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080" y="0"/>
                    </a:cxn>
                    <a:cxn ang="0">
                      <a:pos x="3809" y="1250"/>
                    </a:cxn>
                    <a:cxn ang="0">
                      <a:pos x="1270" y="125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081" h="1251">
                      <a:moveTo>
                        <a:pt x="0" y="0"/>
                      </a:moveTo>
                      <a:lnTo>
                        <a:pt x="5080" y="0"/>
                      </a:lnTo>
                      <a:lnTo>
                        <a:pt x="3809" y="1250"/>
                      </a:lnTo>
                      <a:lnTo>
                        <a:pt x="1270" y="125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0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678" y="2163"/>
                  <a:ext cx="357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sort</a:t>
                  </a:r>
                </a:p>
              </p:txBody>
            </p:sp>
          </p:grpSp>
          <p:sp>
            <p:nvSpPr>
              <p:cNvPr id="123" name="Line 69"/>
              <p:cNvSpPr>
                <a:spLocks noChangeShapeType="1"/>
              </p:cNvSpPr>
              <p:nvPr/>
            </p:nvSpPr>
            <p:spPr bwMode="auto">
              <a:xfrm>
                <a:off x="4320" y="2166"/>
                <a:ext cx="1152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Line 70"/>
              <p:cNvSpPr>
                <a:spLocks noChangeShapeType="1"/>
              </p:cNvSpPr>
              <p:nvPr/>
            </p:nvSpPr>
            <p:spPr bwMode="auto">
              <a:xfrm flipH="1">
                <a:off x="5182" y="2166"/>
                <a:ext cx="292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Line 71"/>
              <p:cNvSpPr>
                <a:spLocks noChangeShapeType="1"/>
              </p:cNvSpPr>
              <p:nvPr/>
            </p:nvSpPr>
            <p:spPr bwMode="auto">
              <a:xfrm>
                <a:off x="5184" y="2449"/>
                <a:ext cx="1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Line 72"/>
              <p:cNvSpPr>
                <a:spLocks noChangeShapeType="1"/>
              </p:cNvSpPr>
              <p:nvPr/>
            </p:nvSpPr>
            <p:spPr bwMode="auto">
              <a:xfrm flipH="1">
                <a:off x="4606" y="2733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Line 73"/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1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Line 74"/>
              <p:cNvSpPr>
                <a:spLocks noChangeShapeType="1"/>
              </p:cNvSpPr>
              <p:nvPr/>
            </p:nvSpPr>
            <p:spPr bwMode="auto">
              <a:xfrm flipH="1" flipV="1">
                <a:off x="4318" y="2164"/>
                <a:ext cx="292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0" name="Freeform 75"/>
            <p:cNvSpPr>
              <a:spLocks noChangeArrowheads="1"/>
            </p:cNvSpPr>
            <p:nvPr/>
          </p:nvSpPr>
          <p:spPr bwMode="auto">
            <a:xfrm>
              <a:off x="3744" y="2450"/>
              <a:ext cx="615" cy="306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2034" y="336"/>
                </a:cxn>
                <a:cxn ang="0">
                  <a:pos x="2034" y="0"/>
                </a:cxn>
                <a:cxn ang="0">
                  <a:pos x="2713" y="674"/>
                </a:cxn>
                <a:cxn ang="0">
                  <a:pos x="2034" y="1347"/>
                </a:cxn>
                <a:cxn ang="0">
                  <a:pos x="2034" y="1010"/>
                </a:cxn>
                <a:cxn ang="0">
                  <a:pos x="0" y="1010"/>
                </a:cxn>
                <a:cxn ang="0">
                  <a:pos x="339" y="674"/>
                </a:cxn>
                <a:cxn ang="0">
                  <a:pos x="0" y="336"/>
                </a:cxn>
              </a:cxnLst>
              <a:rect l="0" t="0" r="r" b="b"/>
              <a:pathLst>
                <a:path w="2714" h="1348">
                  <a:moveTo>
                    <a:pt x="0" y="336"/>
                  </a:moveTo>
                  <a:lnTo>
                    <a:pt x="2034" y="336"/>
                  </a:lnTo>
                  <a:lnTo>
                    <a:pt x="2034" y="0"/>
                  </a:lnTo>
                  <a:lnTo>
                    <a:pt x="2713" y="674"/>
                  </a:lnTo>
                  <a:lnTo>
                    <a:pt x="2034" y="1347"/>
                  </a:lnTo>
                  <a:lnTo>
                    <a:pt x="2034" y="1010"/>
                  </a:lnTo>
                  <a:lnTo>
                    <a:pt x="0" y="1010"/>
                  </a:lnTo>
                  <a:lnTo>
                    <a:pt x="339" y="674"/>
                  </a:lnTo>
                  <a:lnTo>
                    <a:pt x="0" y="336"/>
                  </a:lnTo>
                </a:path>
              </a:pathLst>
            </a:custGeom>
            <a:grpFill/>
            <a:ln w="936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111" name="Group 76"/>
            <p:cNvGrpSpPr>
              <a:grpSpLocks/>
            </p:cNvGrpSpPr>
            <p:nvPr/>
          </p:nvGrpSpPr>
          <p:grpSpPr bwMode="auto">
            <a:xfrm>
              <a:off x="4604" y="2738"/>
              <a:ext cx="582" cy="576"/>
              <a:chOff x="4604" y="2738"/>
              <a:chExt cx="582" cy="576"/>
            </a:xfrm>
            <a:grpFill/>
          </p:grpSpPr>
          <p:grpSp>
            <p:nvGrpSpPr>
              <p:cNvPr id="112" name="Group 77"/>
              <p:cNvGrpSpPr>
                <a:grpSpLocks/>
              </p:cNvGrpSpPr>
              <p:nvPr/>
            </p:nvGrpSpPr>
            <p:grpSpPr bwMode="auto">
              <a:xfrm>
                <a:off x="4604" y="2739"/>
                <a:ext cx="580" cy="288"/>
                <a:chOff x="4604" y="2739"/>
                <a:chExt cx="580" cy="288"/>
              </a:xfrm>
              <a:grpFill/>
            </p:grpSpPr>
            <p:sp>
              <p:nvSpPr>
                <p:cNvPr id="119" name="AutoShape 78"/>
                <p:cNvSpPr>
                  <a:spLocks noChangeArrowheads="1"/>
                </p:cNvSpPr>
                <p:nvPr/>
              </p:nvSpPr>
              <p:spPr bwMode="auto">
                <a:xfrm>
                  <a:off x="4608" y="2741"/>
                  <a:ext cx="576" cy="286"/>
                </a:xfrm>
                <a:prstGeom prst="roundRect">
                  <a:avLst>
                    <a:gd name="adj" fmla="val 347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0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604" y="2739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sp>
            <p:nvSpPr>
              <p:cNvPr id="113" name="Freeform 80"/>
              <p:cNvSpPr>
                <a:spLocks noChangeArrowheads="1"/>
              </p:cNvSpPr>
              <p:nvPr/>
            </p:nvSpPr>
            <p:spPr bwMode="auto">
              <a:xfrm>
                <a:off x="4608" y="3026"/>
                <a:ext cx="576" cy="2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540" y="0"/>
                  </a:cxn>
                  <a:cxn ang="0">
                    <a:pos x="1270" y="1260"/>
                  </a:cxn>
                  <a:cxn ang="0">
                    <a:pos x="0" y="0"/>
                  </a:cxn>
                </a:cxnLst>
                <a:rect l="0" t="0" r="r" b="b"/>
                <a:pathLst>
                  <a:path w="2541" h="1261">
                    <a:moveTo>
                      <a:pt x="0" y="0"/>
                    </a:moveTo>
                    <a:lnTo>
                      <a:pt x="2540" y="0"/>
                    </a:lnTo>
                    <a:lnTo>
                      <a:pt x="1270" y="126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Line 81"/>
              <p:cNvSpPr>
                <a:spLocks noChangeShapeType="1"/>
              </p:cNvSpPr>
              <p:nvPr/>
            </p:nvSpPr>
            <p:spPr bwMode="auto">
              <a:xfrm>
                <a:off x="4608" y="2741"/>
                <a:ext cx="576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Line 82"/>
              <p:cNvSpPr>
                <a:spLocks noChangeShapeType="1"/>
              </p:cNvSpPr>
              <p:nvPr/>
            </p:nvSpPr>
            <p:spPr bwMode="auto">
              <a:xfrm>
                <a:off x="5184" y="2741"/>
                <a:ext cx="1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Line 83"/>
              <p:cNvSpPr>
                <a:spLocks noChangeShapeType="1"/>
              </p:cNvSpPr>
              <p:nvPr/>
            </p:nvSpPr>
            <p:spPr bwMode="auto">
              <a:xfrm flipH="1">
                <a:off x="4894" y="3026"/>
                <a:ext cx="292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Line 84"/>
              <p:cNvSpPr>
                <a:spLocks noChangeShapeType="1"/>
              </p:cNvSpPr>
              <p:nvPr/>
            </p:nvSpPr>
            <p:spPr bwMode="auto">
              <a:xfrm flipH="1" flipV="1">
                <a:off x="4606" y="3024"/>
                <a:ext cx="292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Line 85"/>
              <p:cNvSpPr>
                <a:spLocks noChangeShapeType="1"/>
              </p:cNvSpPr>
              <p:nvPr/>
            </p:nvSpPr>
            <p:spPr bwMode="auto">
              <a:xfrm flipV="1">
                <a:off x="4608" y="2738"/>
                <a:ext cx="1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Compiler Correctness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352550"/>
            <a:ext cx="8229600" cy="830997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Compiled target program has the same meaning as the source program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5943600" y="2805113"/>
            <a:ext cx="2746375" cy="1827212"/>
            <a:chOff x="3744" y="2163"/>
            <a:chExt cx="1730" cy="1151"/>
          </a:xfrm>
          <a:solidFill>
            <a:schemeClr val="tx2"/>
          </a:solidFill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4318" y="2163"/>
              <a:ext cx="1156" cy="572"/>
              <a:chOff x="4318" y="2163"/>
              <a:chExt cx="1156" cy="572"/>
            </a:xfrm>
            <a:grpFill/>
          </p:grpSpPr>
          <p:grpSp>
            <p:nvGrpSpPr>
              <p:cNvPr id="18" name="Group 5"/>
              <p:cNvGrpSpPr>
                <a:grpSpLocks/>
              </p:cNvGrpSpPr>
              <p:nvPr/>
            </p:nvGrpSpPr>
            <p:grpSpPr bwMode="auto">
              <a:xfrm>
                <a:off x="4604" y="2446"/>
                <a:ext cx="580" cy="287"/>
                <a:chOff x="4604" y="2446"/>
                <a:chExt cx="580" cy="287"/>
              </a:xfrm>
              <a:grpFill/>
            </p:grpSpPr>
            <p:sp>
              <p:nvSpPr>
                <p:cNvPr id="28" name="AutoShape 6"/>
                <p:cNvSpPr>
                  <a:spLocks noChangeArrowheads="1"/>
                </p:cNvSpPr>
                <p:nvPr/>
              </p:nvSpPr>
              <p:spPr bwMode="auto">
                <a:xfrm>
                  <a:off x="4608" y="2449"/>
                  <a:ext cx="576" cy="284"/>
                </a:xfrm>
                <a:prstGeom prst="roundRect">
                  <a:avLst>
                    <a:gd name="adj" fmla="val 352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604" y="2446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grpSp>
            <p:nvGrpSpPr>
              <p:cNvPr id="19" name="Group 8"/>
              <p:cNvGrpSpPr>
                <a:grpSpLocks/>
              </p:cNvGrpSpPr>
              <p:nvPr/>
            </p:nvGrpSpPr>
            <p:grpSpPr bwMode="auto">
              <a:xfrm>
                <a:off x="4320" y="2163"/>
                <a:ext cx="1152" cy="287"/>
                <a:chOff x="4320" y="2163"/>
                <a:chExt cx="1152" cy="287"/>
              </a:xfrm>
              <a:grpFill/>
            </p:grpSpPr>
            <p:sp>
              <p:nvSpPr>
                <p:cNvPr id="26" name="Freeform 9"/>
                <p:cNvSpPr>
                  <a:spLocks noChangeArrowheads="1"/>
                </p:cNvSpPr>
                <p:nvPr/>
              </p:nvSpPr>
              <p:spPr bwMode="auto">
                <a:xfrm>
                  <a:off x="4320" y="2166"/>
                  <a:ext cx="1152" cy="2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080" y="0"/>
                    </a:cxn>
                    <a:cxn ang="0">
                      <a:pos x="3809" y="1250"/>
                    </a:cxn>
                    <a:cxn ang="0">
                      <a:pos x="1270" y="125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081" h="1251">
                      <a:moveTo>
                        <a:pt x="0" y="0"/>
                      </a:moveTo>
                      <a:lnTo>
                        <a:pt x="5080" y="0"/>
                      </a:lnTo>
                      <a:lnTo>
                        <a:pt x="3809" y="1250"/>
                      </a:lnTo>
                      <a:lnTo>
                        <a:pt x="1270" y="1250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678" y="2163"/>
                  <a:ext cx="357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sort</a:t>
                  </a:r>
                </a:p>
              </p:txBody>
            </p:sp>
          </p:grpSp>
          <p:sp>
            <p:nvSpPr>
              <p:cNvPr id="20" name="Line 11"/>
              <p:cNvSpPr>
                <a:spLocks noChangeShapeType="1"/>
              </p:cNvSpPr>
              <p:nvPr/>
            </p:nvSpPr>
            <p:spPr bwMode="auto">
              <a:xfrm>
                <a:off x="4320" y="2166"/>
                <a:ext cx="1152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Line 12"/>
              <p:cNvSpPr>
                <a:spLocks noChangeShapeType="1"/>
              </p:cNvSpPr>
              <p:nvPr/>
            </p:nvSpPr>
            <p:spPr bwMode="auto">
              <a:xfrm flipH="1">
                <a:off x="5182" y="2166"/>
                <a:ext cx="292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Line 13"/>
              <p:cNvSpPr>
                <a:spLocks noChangeShapeType="1"/>
              </p:cNvSpPr>
              <p:nvPr/>
            </p:nvSpPr>
            <p:spPr bwMode="auto">
              <a:xfrm>
                <a:off x="5184" y="2449"/>
                <a:ext cx="1" cy="283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Line 14"/>
              <p:cNvSpPr>
                <a:spLocks noChangeShapeType="1"/>
              </p:cNvSpPr>
              <p:nvPr/>
            </p:nvSpPr>
            <p:spPr bwMode="auto">
              <a:xfrm flipH="1">
                <a:off x="4606" y="2733"/>
                <a:ext cx="580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Line 15"/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1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 flipH="1" flipV="1">
                <a:off x="4318" y="2164"/>
                <a:ext cx="292" cy="287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Freeform 17"/>
            <p:cNvSpPr>
              <a:spLocks noChangeArrowheads="1"/>
            </p:cNvSpPr>
            <p:nvPr/>
          </p:nvSpPr>
          <p:spPr bwMode="auto">
            <a:xfrm>
              <a:off x="3744" y="2450"/>
              <a:ext cx="615" cy="306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2034" y="336"/>
                </a:cxn>
                <a:cxn ang="0">
                  <a:pos x="2034" y="0"/>
                </a:cxn>
                <a:cxn ang="0">
                  <a:pos x="2713" y="674"/>
                </a:cxn>
                <a:cxn ang="0">
                  <a:pos x="2034" y="1347"/>
                </a:cxn>
                <a:cxn ang="0">
                  <a:pos x="2034" y="1010"/>
                </a:cxn>
                <a:cxn ang="0">
                  <a:pos x="0" y="1010"/>
                </a:cxn>
                <a:cxn ang="0">
                  <a:pos x="339" y="674"/>
                </a:cxn>
                <a:cxn ang="0">
                  <a:pos x="0" y="336"/>
                </a:cxn>
              </a:cxnLst>
              <a:rect l="0" t="0" r="r" b="b"/>
              <a:pathLst>
                <a:path w="2714" h="1348">
                  <a:moveTo>
                    <a:pt x="0" y="336"/>
                  </a:moveTo>
                  <a:lnTo>
                    <a:pt x="2034" y="336"/>
                  </a:lnTo>
                  <a:lnTo>
                    <a:pt x="2034" y="0"/>
                  </a:lnTo>
                  <a:lnTo>
                    <a:pt x="2713" y="674"/>
                  </a:lnTo>
                  <a:lnTo>
                    <a:pt x="2034" y="1347"/>
                  </a:lnTo>
                  <a:lnTo>
                    <a:pt x="2034" y="1010"/>
                  </a:lnTo>
                  <a:lnTo>
                    <a:pt x="0" y="1010"/>
                  </a:lnTo>
                  <a:lnTo>
                    <a:pt x="339" y="674"/>
                  </a:lnTo>
                  <a:lnTo>
                    <a:pt x="0" y="336"/>
                  </a:lnTo>
                </a:path>
              </a:pathLst>
            </a:custGeom>
            <a:grpFill/>
            <a:ln w="936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Group 18"/>
            <p:cNvGrpSpPr>
              <a:grpSpLocks/>
            </p:cNvGrpSpPr>
            <p:nvPr/>
          </p:nvGrpSpPr>
          <p:grpSpPr bwMode="auto">
            <a:xfrm>
              <a:off x="4604" y="2738"/>
              <a:ext cx="582" cy="576"/>
              <a:chOff x="4604" y="2738"/>
              <a:chExt cx="582" cy="576"/>
            </a:xfrm>
            <a:grpFill/>
          </p:grpSpPr>
          <p:grpSp>
            <p:nvGrpSpPr>
              <p:cNvPr id="9" name="Group 19"/>
              <p:cNvGrpSpPr>
                <a:grpSpLocks/>
              </p:cNvGrpSpPr>
              <p:nvPr/>
            </p:nvGrpSpPr>
            <p:grpSpPr bwMode="auto">
              <a:xfrm>
                <a:off x="4604" y="2739"/>
                <a:ext cx="580" cy="288"/>
                <a:chOff x="4604" y="2739"/>
                <a:chExt cx="580" cy="288"/>
              </a:xfrm>
              <a:grpFill/>
            </p:grpSpPr>
            <p:sp>
              <p:nvSpPr>
                <p:cNvPr id="16" name="AutoShape 20"/>
                <p:cNvSpPr>
                  <a:spLocks noChangeArrowheads="1"/>
                </p:cNvSpPr>
                <p:nvPr/>
              </p:nvSpPr>
              <p:spPr bwMode="auto">
                <a:xfrm>
                  <a:off x="4608" y="2741"/>
                  <a:ext cx="576" cy="286"/>
                </a:xfrm>
                <a:prstGeom prst="roundRect">
                  <a:avLst>
                    <a:gd name="adj" fmla="val 347"/>
                  </a:avLst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604" y="2739"/>
                  <a:ext cx="470" cy="234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buFont typeface="Arial" pitchFamily="34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>
                      <a:solidFill>
                        <a:schemeClr val="bg1"/>
                      </a:solidFill>
                      <a:latin typeface="Arial" pitchFamily="34" charset="0"/>
                      <a:ea typeface="msmincho" charset="0"/>
                      <a:cs typeface="msmincho" charset="0"/>
                    </a:rPr>
                    <a:t>sparc</a:t>
                  </a:r>
                </a:p>
              </p:txBody>
            </p:sp>
          </p:grpSp>
          <p:sp>
            <p:nvSpPr>
              <p:cNvPr id="10" name="Freeform 22"/>
              <p:cNvSpPr>
                <a:spLocks noChangeArrowheads="1"/>
              </p:cNvSpPr>
              <p:nvPr/>
            </p:nvSpPr>
            <p:spPr bwMode="auto">
              <a:xfrm>
                <a:off x="4608" y="3026"/>
                <a:ext cx="576" cy="2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540" y="0"/>
                  </a:cxn>
                  <a:cxn ang="0">
                    <a:pos x="1270" y="1260"/>
                  </a:cxn>
                  <a:cxn ang="0">
                    <a:pos x="0" y="0"/>
                  </a:cxn>
                </a:cxnLst>
                <a:rect l="0" t="0" r="r" b="b"/>
                <a:pathLst>
                  <a:path w="2541" h="1261">
                    <a:moveTo>
                      <a:pt x="0" y="0"/>
                    </a:moveTo>
                    <a:lnTo>
                      <a:pt x="2540" y="0"/>
                    </a:lnTo>
                    <a:lnTo>
                      <a:pt x="1270" y="126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Line 23"/>
              <p:cNvSpPr>
                <a:spLocks noChangeShapeType="1"/>
              </p:cNvSpPr>
              <p:nvPr/>
            </p:nvSpPr>
            <p:spPr bwMode="auto">
              <a:xfrm>
                <a:off x="4608" y="2741"/>
                <a:ext cx="576" cy="1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Line 24"/>
              <p:cNvSpPr>
                <a:spLocks noChangeShapeType="1"/>
              </p:cNvSpPr>
              <p:nvPr/>
            </p:nvSpPr>
            <p:spPr bwMode="auto">
              <a:xfrm>
                <a:off x="5184" y="2741"/>
                <a:ext cx="1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Line 25"/>
              <p:cNvSpPr>
                <a:spLocks noChangeShapeType="1"/>
              </p:cNvSpPr>
              <p:nvPr/>
            </p:nvSpPr>
            <p:spPr bwMode="auto">
              <a:xfrm flipH="1">
                <a:off x="4894" y="3026"/>
                <a:ext cx="292" cy="286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Line 26"/>
              <p:cNvSpPr>
                <a:spLocks noChangeShapeType="1"/>
              </p:cNvSpPr>
              <p:nvPr/>
            </p:nvSpPr>
            <p:spPr bwMode="auto">
              <a:xfrm flipH="1" flipV="1">
                <a:off x="4606" y="3024"/>
                <a:ext cx="292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Line 27"/>
              <p:cNvSpPr>
                <a:spLocks noChangeShapeType="1"/>
              </p:cNvSpPr>
              <p:nvPr/>
            </p:nvSpPr>
            <p:spPr bwMode="auto">
              <a:xfrm flipV="1">
                <a:off x="4608" y="2738"/>
                <a:ext cx="1" cy="290"/>
              </a:xfrm>
              <a:prstGeom prst="line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2238375" y="3249617"/>
            <a:ext cx="962025" cy="457200"/>
            <a:chOff x="1410" y="2443"/>
            <a:chExt cx="606" cy="288"/>
          </a:xfrm>
          <a:solidFill>
            <a:schemeClr val="tx2"/>
          </a:solidFill>
        </p:grpSpPr>
        <p:sp>
          <p:nvSpPr>
            <p:cNvPr id="31" name="AutoShape 29"/>
            <p:cNvSpPr>
              <a:spLocks noChangeArrowheads="1"/>
            </p:cNvSpPr>
            <p:nvPr/>
          </p:nvSpPr>
          <p:spPr bwMode="auto">
            <a:xfrm>
              <a:off x="1440" y="2446"/>
              <a:ext cx="576" cy="285"/>
            </a:xfrm>
            <a:prstGeom prst="roundRect">
              <a:avLst>
                <a:gd name="adj" fmla="val 352"/>
              </a:avLst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410" y="2443"/>
              <a:ext cx="220" cy="23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Arial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rPr>
                <a:t>C</a:t>
              </a:r>
            </a:p>
          </p:txBody>
        </p:sp>
      </p:grpSp>
      <p:grpSp>
        <p:nvGrpSpPr>
          <p:cNvPr id="33" name="Group 31"/>
          <p:cNvGrpSpPr>
            <a:grpSpLocks/>
          </p:cNvGrpSpPr>
          <p:nvPr/>
        </p:nvGrpSpPr>
        <p:grpSpPr bwMode="auto">
          <a:xfrm>
            <a:off x="1828800" y="2800346"/>
            <a:ext cx="1828801" cy="457200"/>
            <a:chOff x="1152" y="2160"/>
            <a:chExt cx="1152" cy="288"/>
          </a:xfrm>
          <a:solidFill>
            <a:schemeClr val="tx2"/>
          </a:solidFill>
        </p:grpSpPr>
        <p:sp>
          <p:nvSpPr>
            <p:cNvPr id="34" name="Freeform 32"/>
            <p:cNvSpPr>
              <a:spLocks noChangeArrowheads="1"/>
            </p:cNvSpPr>
            <p:nvPr/>
          </p:nvSpPr>
          <p:spPr bwMode="auto">
            <a:xfrm>
              <a:off x="1152" y="2163"/>
              <a:ext cx="1152" cy="2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080" y="0"/>
                </a:cxn>
                <a:cxn ang="0">
                  <a:pos x="3809" y="1250"/>
                </a:cxn>
                <a:cxn ang="0">
                  <a:pos x="1270" y="1250"/>
                </a:cxn>
                <a:cxn ang="0">
                  <a:pos x="0" y="0"/>
                </a:cxn>
              </a:cxnLst>
              <a:rect l="0" t="0" r="r" b="b"/>
              <a:pathLst>
                <a:path w="5081" h="1251">
                  <a:moveTo>
                    <a:pt x="0" y="0"/>
                  </a:moveTo>
                  <a:lnTo>
                    <a:pt x="5080" y="0"/>
                  </a:lnTo>
                  <a:lnTo>
                    <a:pt x="3809" y="1250"/>
                  </a:lnTo>
                  <a:lnTo>
                    <a:pt x="1270" y="1250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1491" y="2160"/>
              <a:ext cx="357" cy="23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Arial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rPr>
                <a:t>sort</a:t>
              </a:r>
            </a:p>
          </p:txBody>
        </p:sp>
      </p:grp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1828800" y="2805113"/>
            <a:ext cx="182880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flipH="1">
            <a:off x="3197225" y="2805113"/>
            <a:ext cx="463550" cy="44926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3200400" y="3254375"/>
            <a:ext cx="1588" cy="45085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 flipH="1">
            <a:off x="2282825" y="3706813"/>
            <a:ext cx="92075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V="1">
            <a:off x="2286000" y="3252788"/>
            <a:ext cx="1588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H="1" flipV="1">
            <a:off x="1825625" y="2800350"/>
            <a:ext cx="46355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Freeform 40"/>
          <p:cNvSpPr>
            <a:spLocks noChangeArrowheads="1"/>
          </p:cNvSpPr>
          <p:nvPr/>
        </p:nvSpPr>
        <p:spPr bwMode="auto">
          <a:xfrm>
            <a:off x="914400" y="3255963"/>
            <a:ext cx="976313" cy="487362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034" y="336"/>
              </a:cxn>
              <a:cxn ang="0">
                <a:pos x="2034" y="0"/>
              </a:cxn>
              <a:cxn ang="0">
                <a:pos x="2713" y="674"/>
              </a:cxn>
              <a:cxn ang="0">
                <a:pos x="2034" y="1347"/>
              </a:cxn>
              <a:cxn ang="0">
                <a:pos x="2034" y="1010"/>
              </a:cxn>
              <a:cxn ang="0">
                <a:pos x="0" y="1010"/>
              </a:cxn>
              <a:cxn ang="0">
                <a:pos x="339" y="674"/>
              </a:cxn>
              <a:cxn ang="0">
                <a:pos x="0" y="336"/>
              </a:cxn>
            </a:cxnLst>
            <a:rect l="0" t="0" r="r" b="b"/>
            <a:pathLst>
              <a:path w="2714" h="1348">
                <a:moveTo>
                  <a:pt x="0" y="336"/>
                </a:moveTo>
                <a:lnTo>
                  <a:pt x="2034" y="336"/>
                </a:lnTo>
                <a:lnTo>
                  <a:pt x="2034" y="0"/>
                </a:lnTo>
                <a:lnTo>
                  <a:pt x="2713" y="674"/>
                </a:lnTo>
                <a:lnTo>
                  <a:pt x="2034" y="1347"/>
                </a:lnTo>
                <a:lnTo>
                  <a:pt x="2034" y="1010"/>
                </a:lnTo>
                <a:lnTo>
                  <a:pt x="0" y="1010"/>
                </a:lnTo>
                <a:lnTo>
                  <a:pt x="339" y="674"/>
                </a:lnTo>
                <a:lnTo>
                  <a:pt x="0" y="336"/>
                </a:lnTo>
              </a:path>
            </a:pathLst>
          </a:custGeom>
          <a:solidFill>
            <a:schemeClr val="tx2"/>
          </a:solidFill>
          <a:ln w="936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2238375" y="3716338"/>
            <a:ext cx="962025" cy="458787"/>
            <a:chOff x="1410" y="2737"/>
            <a:chExt cx="606" cy="289"/>
          </a:xfrm>
          <a:solidFill>
            <a:schemeClr val="tx2"/>
          </a:solidFill>
        </p:grpSpPr>
        <p:sp>
          <p:nvSpPr>
            <p:cNvPr id="44" name="AutoShape 42"/>
            <p:cNvSpPr>
              <a:spLocks noChangeArrowheads="1"/>
            </p:cNvSpPr>
            <p:nvPr/>
          </p:nvSpPr>
          <p:spPr bwMode="auto">
            <a:xfrm>
              <a:off x="1440" y="2739"/>
              <a:ext cx="576" cy="287"/>
            </a:xfrm>
            <a:prstGeom prst="roundRect">
              <a:avLst>
                <a:gd name="adj" fmla="val 347"/>
              </a:avLst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Text Box 43"/>
            <p:cNvSpPr txBox="1">
              <a:spLocks noChangeArrowheads="1"/>
            </p:cNvSpPr>
            <p:nvPr/>
          </p:nvSpPr>
          <p:spPr bwMode="auto">
            <a:xfrm>
              <a:off x="1410" y="2737"/>
              <a:ext cx="220" cy="23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100000"/>
                </a:lnSpc>
                <a:buFont typeface="Arial" pitchFamily="34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>
                  <a:solidFill>
                    <a:schemeClr val="bg1"/>
                  </a:solidFill>
                  <a:latin typeface="Arial" pitchFamily="34" charset="0"/>
                  <a:ea typeface="msmincho" charset="0"/>
                  <a:cs typeface="msmincho" charset="0"/>
                </a:rPr>
                <a:t>C</a:t>
              </a:r>
            </a:p>
          </p:txBody>
        </p:sp>
      </p:grpSp>
      <p:sp>
        <p:nvSpPr>
          <p:cNvPr id="46" name="Freeform 44"/>
          <p:cNvSpPr>
            <a:spLocks noChangeArrowheads="1"/>
          </p:cNvSpPr>
          <p:nvPr/>
        </p:nvSpPr>
        <p:spPr bwMode="auto">
          <a:xfrm>
            <a:off x="2286000" y="4173538"/>
            <a:ext cx="914400" cy="4556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40" y="0"/>
              </a:cxn>
              <a:cxn ang="0">
                <a:pos x="1270" y="1260"/>
              </a:cxn>
              <a:cxn ang="0">
                <a:pos x="0" y="0"/>
              </a:cxn>
            </a:cxnLst>
            <a:rect l="0" t="0" r="r" b="b"/>
            <a:pathLst>
              <a:path w="2541" h="1261">
                <a:moveTo>
                  <a:pt x="0" y="0"/>
                </a:moveTo>
                <a:lnTo>
                  <a:pt x="2540" y="0"/>
                </a:lnTo>
                <a:lnTo>
                  <a:pt x="1270" y="1260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2286000" y="3719513"/>
            <a:ext cx="91440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3200400" y="3719513"/>
            <a:ext cx="1588" cy="4556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 flipH="1">
            <a:off x="2740025" y="4173538"/>
            <a:ext cx="463550" cy="4540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 flipH="1" flipV="1">
            <a:off x="2282825" y="4168775"/>
            <a:ext cx="463550" cy="46196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 flipV="1">
            <a:off x="2286000" y="3714750"/>
            <a:ext cx="1588" cy="46196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4572000" y="3257550"/>
            <a:ext cx="469238" cy="386054"/>
          </a:xfrm>
          <a:prstGeom prst="rect">
            <a:avLst/>
          </a:prstGeom>
          <a:solidFill>
            <a:schemeClr val="tx2"/>
          </a:solidFill>
          <a:ln w="18360">
            <a:noFill/>
            <a:round/>
            <a:headEnd/>
            <a:tailEnd type="triangle" w="med" len="med"/>
          </a:ln>
          <a:effectLst/>
        </p:spPr>
        <p:txBody>
          <a:bodyPr wrap="none" lIns="99000" tIns="54000" rIns="99000" bIns="540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bg1"/>
                </a:solidFill>
                <a:ea typeface="DejaVu Sans" charset="0"/>
                <a:cs typeface="DejaVu Sans" charset="0"/>
              </a:rPr>
              <a:t>==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Java Programming Environment</a:t>
            </a: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30731"/>
            <a:ext cx="8229600" cy="731419"/>
          </a:xfrm>
          <a:prstGeom prst="rect">
            <a:avLst/>
          </a:prstGeom>
          <a:ln/>
        </p:spPr>
        <p:txBody>
          <a:bodyPr>
            <a:spAutoFit/>
          </a:bodyPr>
          <a:lstStyle/>
          <a:p>
            <a:pPr>
              <a:lnSpc>
                <a:spcPct val="94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000" dirty="0" err="1">
                <a:latin typeface="Courier New" pitchFamily="49" charset="0"/>
              </a:rPr>
              <a:t>Javac</a:t>
            </a:r>
            <a:r>
              <a:rPr lang="en-GB" sz="2000" dirty="0"/>
              <a:t>: Java to Java byte code (JBC) compiler</a:t>
            </a:r>
          </a:p>
          <a:p>
            <a:pPr>
              <a:lnSpc>
                <a:spcPct val="92000"/>
              </a:lnSpc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000" dirty="0">
                <a:latin typeface="Courier New" pitchFamily="49" charset="0"/>
              </a:rPr>
              <a:t>Java</a:t>
            </a:r>
            <a:r>
              <a:rPr lang="en-GB" sz="2000" dirty="0"/>
              <a:t>: Java Virtual Machine byte code interpreter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825625" y="2571750"/>
            <a:ext cx="2749549" cy="909637"/>
            <a:chOff x="1150" y="2449"/>
            <a:chExt cx="1732" cy="573"/>
          </a:xfrm>
          <a:solidFill>
            <a:schemeClr val="tx2"/>
          </a:solidFill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152" y="2449"/>
              <a:ext cx="576" cy="287"/>
              <a:chOff x="1152" y="2449"/>
              <a:chExt cx="576" cy="287"/>
            </a:xfrm>
            <a:grpFill/>
          </p:grpSpPr>
          <p:sp>
            <p:nvSpPr>
              <p:cNvPr id="24" name="AutoShape 5"/>
              <p:cNvSpPr>
                <a:spLocks noChangeArrowheads="1"/>
              </p:cNvSpPr>
              <p:nvPr/>
            </p:nvSpPr>
            <p:spPr bwMode="auto">
              <a:xfrm>
                <a:off x="1152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 Box 6"/>
              <p:cNvSpPr txBox="1">
                <a:spLocks noChangeArrowheads="1"/>
              </p:cNvSpPr>
              <p:nvPr/>
            </p:nvSpPr>
            <p:spPr bwMode="auto">
              <a:xfrm>
                <a:off x="1181" y="2449"/>
                <a:ext cx="42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Java</a:t>
                </a:r>
              </a:p>
            </p:txBody>
          </p:sp>
        </p:grp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1728" y="2449"/>
              <a:ext cx="672" cy="287"/>
              <a:chOff x="1728" y="2449"/>
              <a:chExt cx="672" cy="287"/>
            </a:xfrm>
            <a:grpFill/>
          </p:grpSpPr>
          <p:sp>
            <p:nvSpPr>
              <p:cNvPr id="22" name="AutoShape 8"/>
              <p:cNvSpPr>
                <a:spLocks noChangeArrowheads="1"/>
              </p:cNvSpPr>
              <p:nvPr/>
            </p:nvSpPr>
            <p:spPr bwMode="auto">
              <a:xfrm>
                <a:off x="1728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1815" y="2449"/>
                <a:ext cx="585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Wingdings" pitchFamily="2" charset="2"/>
                    <a:ea typeface="msmincho" charset="0"/>
                    <a:cs typeface="msmincho" charset="0"/>
                  </a:rPr>
                  <a:t></a:t>
                </a:r>
              </a:p>
            </p:txBody>
          </p:sp>
        </p:grpSp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2304" y="2449"/>
              <a:ext cx="576" cy="287"/>
              <a:chOff x="2304" y="2449"/>
              <a:chExt cx="576" cy="287"/>
            </a:xfrm>
            <a:grpFill/>
          </p:grpSpPr>
          <p:sp>
            <p:nvSpPr>
              <p:cNvPr id="20" name="AutoShape 11"/>
              <p:cNvSpPr>
                <a:spLocks noChangeArrowheads="1"/>
              </p:cNvSpPr>
              <p:nvPr/>
            </p:nvSpPr>
            <p:spPr bwMode="auto">
              <a:xfrm>
                <a:off x="2304" y="2452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Text Box 12"/>
              <p:cNvSpPr txBox="1">
                <a:spLocks noChangeArrowheads="1"/>
              </p:cNvSpPr>
              <p:nvPr/>
            </p:nvSpPr>
            <p:spPr bwMode="auto">
              <a:xfrm>
                <a:off x="2354" y="2449"/>
                <a:ext cx="389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JBC</a:t>
                </a:r>
              </a:p>
            </p:txBody>
          </p:sp>
        </p:grpSp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1728" y="2733"/>
              <a:ext cx="576" cy="287"/>
              <a:chOff x="1728" y="2733"/>
              <a:chExt cx="576" cy="287"/>
            </a:xfrm>
            <a:grpFill/>
          </p:grpSpPr>
          <p:sp>
            <p:nvSpPr>
              <p:cNvPr id="18" name="AutoShape 14"/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 Box 15"/>
              <p:cNvSpPr txBox="1">
                <a:spLocks noChangeArrowheads="1"/>
              </p:cNvSpPr>
              <p:nvPr/>
            </p:nvSpPr>
            <p:spPr bwMode="auto">
              <a:xfrm>
                <a:off x="1879" y="2733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>
              <a:off x="1152" y="2452"/>
              <a:ext cx="1728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2880" y="2452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 flipH="1">
              <a:off x="2302" y="2736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2304" y="2736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 flipH="1">
              <a:off x="1726" y="3020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 flipV="1">
              <a:off x="1728" y="2734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H="1">
              <a:off x="1150" y="2736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 flipV="1">
              <a:off x="1152" y="2450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454025" y="2114550"/>
            <a:ext cx="1835149" cy="909637"/>
            <a:chOff x="286" y="2161"/>
            <a:chExt cx="1156" cy="573"/>
          </a:xfrm>
          <a:solidFill>
            <a:schemeClr val="tx2"/>
          </a:solidFill>
        </p:grpSpPr>
        <p:grpSp>
          <p:nvGrpSpPr>
            <p:cNvPr id="27" name="Group 25"/>
            <p:cNvGrpSpPr>
              <a:grpSpLocks/>
            </p:cNvGrpSpPr>
            <p:nvPr/>
          </p:nvGrpSpPr>
          <p:grpSpPr bwMode="auto">
            <a:xfrm>
              <a:off x="576" y="2445"/>
              <a:ext cx="576" cy="287"/>
              <a:chOff x="576" y="2445"/>
              <a:chExt cx="576" cy="287"/>
            </a:xfrm>
            <a:grpFill/>
          </p:grpSpPr>
          <p:sp>
            <p:nvSpPr>
              <p:cNvPr id="37" name="AutoShape 26"/>
              <p:cNvSpPr>
                <a:spLocks noChangeArrowheads="1"/>
              </p:cNvSpPr>
              <p:nvPr/>
            </p:nvSpPr>
            <p:spPr bwMode="auto">
              <a:xfrm>
                <a:off x="576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Text Box 27"/>
              <p:cNvSpPr txBox="1">
                <a:spLocks noChangeArrowheads="1"/>
              </p:cNvSpPr>
              <p:nvPr/>
            </p:nvSpPr>
            <p:spPr bwMode="auto">
              <a:xfrm>
                <a:off x="605" y="2445"/>
                <a:ext cx="42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Java</a:t>
                </a:r>
              </a:p>
            </p:txBody>
          </p:sp>
        </p:grpSp>
        <p:grpSp>
          <p:nvGrpSpPr>
            <p:cNvPr id="28" name="Group 28"/>
            <p:cNvGrpSpPr>
              <a:grpSpLocks/>
            </p:cNvGrpSpPr>
            <p:nvPr/>
          </p:nvGrpSpPr>
          <p:grpSpPr bwMode="auto">
            <a:xfrm>
              <a:off x="288" y="2161"/>
              <a:ext cx="1152" cy="287"/>
              <a:chOff x="288" y="2161"/>
              <a:chExt cx="1152" cy="287"/>
            </a:xfrm>
            <a:grpFill/>
          </p:grpSpPr>
          <p:sp>
            <p:nvSpPr>
              <p:cNvPr id="35" name="Freeform 29"/>
              <p:cNvSpPr>
                <a:spLocks noChangeArrowheads="1"/>
              </p:cNvSpPr>
              <p:nvPr/>
            </p:nvSpPr>
            <p:spPr bwMode="auto">
              <a:xfrm>
                <a:off x="288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Text Box 30"/>
              <p:cNvSpPr txBox="1">
                <a:spLocks noChangeArrowheads="1"/>
              </p:cNvSpPr>
              <p:nvPr/>
            </p:nvSpPr>
            <p:spPr bwMode="auto">
              <a:xfrm>
                <a:off x="743" y="2161"/>
                <a:ext cx="21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P</a:t>
                </a:r>
              </a:p>
            </p:txBody>
          </p:sp>
        </p:grp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>
              <a:off x="288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 flipH="1">
              <a:off x="1150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1152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flipH="1">
              <a:off x="574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 flipV="1">
              <a:off x="576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 flipH="1" flipV="1">
              <a:off x="286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4111624" y="2114550"/>
            <a:ext cx="1835149" cy="909637"/>
            <a:chOff x="2590" y="2161"/>
            <a:chExt cx="1156" cy="573"/>
          </a:xfrm>
          <a:solidFill>
            <a:schemeClr val="tx2"/>
          </a:solidFill>
        </p:grpSpPr>
        <p:grpSp>
          <p:nvGrpSpPr>
            <p:cNvPr id="40" name="Group 38"/>
            <p:cNvGrpSpPr>
              <a:grpSpLocks/>
            </p:cNvGrpSpPr>
            <p:nvPr/>
          </p:nvGrpSpPr>
          <p:grpSpPr bwMode="auto">
            <a:xfrm>
              <a:off x="2880" y="2445"/>
              <a:ext cx="576" cy="287"/>
              <a:chOff x="2880" y="2445"/>
              <a:chExt cx="576" cy="287"/>
            </a:xfrm>
            <a:grpFill/>
          </p:grpSpPr>
          <p:sp>
            <p:nvSpPr>
              <p:cNvPr id="50" name="AutoShape 39"/>
              <p:cNvSpPr>
                <a:spLocks noChangeArrowheads="1"/>
              </p:cNvSpPr>
              <p:nvPr/>
            </p:nvSpPr>
            <p:spPr bwMode="auto">
              <a:xfrm>
                <a:off x="2880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Text Box 40"/>
              <p:cNvSpPr txBox="1">
                <a:spLocks noChangeArrowheads="1"/>
              </p:cNvSpPr>
              <p:nvPr/>
            </p:nvSpPr>
            <p:spPr bwMode="auto">
              <a:xfrm>
                <a:off x="2930" y="2445"/>
                <a:ext cx="389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JBC</a:t>
                </a:r>
              </a:p>
            </p:txBody>
          </p:sp>
        </p:grpSp>
        <p:grpSp>
          <p:nvGrpSpPr>
            <p:cNvPr id="41" name="Group 41"/>
            <p:cNvGrpSpPr>
              <a:grpSpLocks/>
            </p:cNvGrpSpPr>
            <p:nvPr/>
          </p:nvGrpSpPr>
          <p:grpSpPr bwMode="auto">
            <a:xfrm>
              <a:off x="2592" y="2161"/>
              <a:ext cx="1152" cy="287"/>
              <a:chOff x="2592" y="2161"/>
              <a:chExt cx="1152" cy="287"/>
            </a:xfrm>
            <a:grpFill/>
          </p:grpSpPr>
          <p:sp>
            <p:nvSpPr>
              <p:cNvPr id="48" name="Freeform 42"/>
              <p:cNvSpPr>
                <a:spLocks noChangeArrowheads="1"/>
              </p:cNvSpPr>
              <p:nvPr/>
            </p:nvSpPr>
            <p:spPr bwMode="auto">
              <a:xfrm>
                <a:off x="2592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Text Box 43"/>
              <p:cNvSpPr txBox="1">
                <a:spLocks noChangeArrowheads="1"/>
              </p:cNvSpPr>
              <p:nvPr/>
            </p:nvSpPr>
            <p:spPr bwMode="auto">
              <a:xfrm>
                <a:off x="3047" y="2161"/>
                <a:ext cx="21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P</a:t>
                </a:r>
              </a:p>
            </p:txBody>
          </p:sp>
        </p:grpSp>
        <p:sp>
          <p:nvSpPr>
            <p:cNvPr id="42" name="Line 44"/>
            <p:cNvSpPr>
              <a:spLocks noChangeShapeType="1"/>
            </p:cNvSpPr>
            <p:nvPr/>
          </p:nvSpPr>
          <p:spPr bwMode="auto">
            <a:xfrm>
              <a:off x="2592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 flipH="1">
              <a:off x="3454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3456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/>
          </p:nvSpPr>
          <p:spPr bwMode="auto">
            <a:xfrm flipH="1">
              <a:off x="2878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 flipV="1">
              <a:off x="2880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 flipH="1" flipV="1">
              <a:off x="2590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Group 50"/>
          <p:cNvGrpSpPr>
            <a:grpSpLocks/>
          </p:cNvGrpSpPr>
          <p:nvPr/>
        </p:nvGrpSpPr>
        <p:grpSpPr bwMode="auto">
          <a:xfrm>
            <a:off x="6854824" y="2114550"/>
            <a:ext cx="1835149" cy="909637"/>
            <a:chOff x="4318" y="2161"/>
            <a:chExt cx="1156" cy="573"/>
          </a:xfrm>
          <a:solidFill>
            <a:schemeClr val="tx2"/>
          </a:solidFill>
        </p:grpSpPr>
        <p:grpSp>
          <p:nvGrpSpPr>
            <p:cNvPr id="53" name="Group 51"/>
            <p:cNvGrpSpPr>
              <a:grpSpLocks/>
            </p:cNvGrpSpPr>
            <p:nvPr/>
          </p:nvGrpSpPr>
          <p:grpSpPr bwMode="auto">
            <a:xfrm>
              <a:off x="4608" y="2445"/>
              <a:ext cx="576" cy="287"/>
              <a:chOff x="4608" y="2445"/>
              <a:chExt cx="576" cy="287"/>
            </a:xfrm>
            <a:grpFill/>
          </p:grpSpPr>
          <p:sp>
            <p:nvSpPr>
              <p:cNvPr id="63" name="AutoShape 52"/>
              <p:cNvSpPr>
                <a:spLocks noChangeArrowheads="1"/>
              </p:cNvSpPr>
              <p:nvPr/>
            </p:nvSpPr>
            <p:spPr bwMode="auto">
              <a:xfrm>
                <a:off x="4608" y="2448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 Box 53"/>
              <p:cNvSpPr txBox="1">
                <a:spLocks noChangeArrowheads="1"/>
              </p:cNvSpPr>
              <p:nvPr/>
            </p:nvSpPr>
            <p:spPr bwMode="auto">
              <a:xfrm>
                <a:off x="4658" y="2445"/>
                <a:ext cx="389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JBC</a:t>
                </a:r>
              </a:p>
            </p:txBody>
          </p:sp>
        </p:grpSp>
        <p:grpSp>
          <p:nvGrpSpPr>
            <p:cNvPr id="54" name="Group 54"/>
            <p:cNvGrpSpPr>
              <a:grpSpLocks/>
            </p:cNvGrpSpPr>
            <p:nvPr/>
          </p:nvGrpSpPr>
          <p:grpSpPr bwMode="auto">
            <a:xfrm>
              <a:off x="4320" y="2161"/>
              <a:ext cx="1152" cy="287"/>
              <a:chOff x="4320" y="2161"/>
              <a:chExt cx="1152" cy="287"/>
            </a:xfrm>
            <a:grpFill/>
          </p:grpSpPr>
          <p:sp>
            <p:nvSpPr>
              <p:cNvPr id="61" name="Freeform 55"/>
              <p:cNvSpPr>
                <a:spLocks noChangeArrowheads="1"/>
              </p:cNvSpPr>
              <p:nvPr/>
            </p:nvSpPr>
            <p:spPr bwMode="auto">
              <a:xfrm>
                <a:off x="4320" y="2164"/>
                <a:ext cx="1152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080" y="0"/>
                  </a:cxn>
                  <a:cxn ang="0">
                    <a:pos x="3809" y="1252"/>
                  </a:cxn>
                  <a:cxn ang="0">
                    <a:pos x="1270" y="1252"/>
                  </a:cxn>
                  <a:cxn ang="0">
                    <a:pos x="0" y="0"/>
                  </a:cxn>
                </a:cxnLst>
                <a:rect l="0" t="0" r="r" b="b"/>
                <a:pathLst>
                  <a:path w="5081" h="1253">
                    <a:moveTo>
                      <a:pt x="0" y="0"/>
                    </a:moveTo>
                    <a:lnTo>
                      <a:pt x="5080" y="0"/>
                    </a:lnTo>
                    <a:lnTo>
                      <a:pt x="3809" y="1252"/>
                    </a:lnTo>
                    <a:lnTo>
                      <a:pt x="1270" y="1252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Text Box 56"/>
              <p:cNvSpPr txBox="1">
                <a:spLocks noChangeArrowheads="1"/>
              </p:cNvSpPr>
              <p:nvPr/>
            </p:nvSpPr>
            <p:spPr bwMode="auto">
              <a:xfrm>
                <a:off x="4775" y="2161"/>
                <a:ext cx="211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P</a:t>
                </a:r>
              </a:p>
            </p:txBody>
          </p:sp>
        </p:grpSp>
        <p:sp>
          <p:nvSpPr>
            <p:cNvPr id="55" name="Line 57"/>
            <p:cNvSpPr>
              <a:spLocks noChangeShapeType="1"/>
            </p:cNvSpPr>
            <p:nvPr/>
          </p:nvSpPr>
          <p:spPr bwMode="auto">
            <a:xfrm>
              <a:off x="4320" y="2164"/>
              <a:ext cx="1152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Line 58"/>
            <p:cNvSpPr>
              <a:spLocks noChangeShapeType="1"/>
            </p:cNvSpPr>
            <p:nvPr/>
          </p:nvSpPr>
          <p:spPr bwMode="auto">
            <a:xfrm flipH="1">
              <a:off x="5182" y="2164"/>
              <a:ext cx="292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5184" y="2448"/>
              <a:ext cx="1" cy="284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 flipH="1">
              <a:off x="4606" y="2732"/>
              <a:ext cx="580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Line 61"/>
            <p:cNvSpPr>
              <a:spLocks noChangeShapeType="1"/>
            </p:cNvSpPr>
            <p:nvPr/>
          </p:nvSpPr>
          <p:spPr bwMode="auto">
            <a:xfrm flipV="1">
              <a:off x="4608" y="2446"/>
              <a:ext cx="1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 flipH="1" flipV="1">
              <a:off x="4318" y="2162"/>
              <a:ext cx="292" cy="288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3"/>
          <p:cNvGrpSpPr>
            <a:grpSpLocks/>
          </p:cNvGrpSpPr>
          <p:nvPr/>
        </p:nvGrpSpPr>
        <p:grpSpPr bwMode="auto">
          <a:xfrm>
            <a:off x="2740024" y="3487737"/>
            <a:ext cx="920749" cy="914400"/>
            <a:chOff x="1726" y="3026"/>
            <a:chExt cx="580" cy="576"/>
          </a:xfrm>
          <a:solidFill>
            <a:schemeClr val="tx2"/>
          </a:solidFill>
        </p:grpSpPr>
        <p:grpSp>
          <p:nvGrpSpPr>
            <p:cNvPr id="66" name="Group 64"/>
            <p:cNvGrpSpPr>
              <a:grpSpLocks/>
            </p:cNvGrpSpPr>
            <p:nvPr/>
          </p:nvGrpSpPr>
          <p:grpSpPr bwMode="auto">
            <a:xfrm>
              <a:off x="1728" y="3026"/>
              <a:ext cx="576" cy="288"/>
              <a:chOff x="1728" y="3026"/>
              <a:chExt cx="576" cy="288"/>
            </a:xfrm>
            <a:grpFill/>
          </p:grpSpPr>
          <p:sp>
            <p:nvSpPr>
              <p:cNvPr id="73" name="AutoShape 65"/>
              <p:cNvSpPr>
                <a:spLocks noChangeArrowheads="1"/>
              </p:cNvSpPr>
              <p:nvPr/>
            </p:nvSpPr>
            <p:spPr bwMode="auto">
              <a:xfrm>
                <a:off x="1728" y="3028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Text Box 66"/>
              <p:cNvSpPr txBox="1">
                <a:spLocks noChangeArrowheads="1"/>
              </p:cNvSpPr>
              <p:nvPr/>
            </p:nvSpPr>
            <p:spPr bwMode="auto">
              <a:xfrm>
                <a:off x="1879" y="3026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67" name="Freeform 67"/>
            <p:cNvSpPr>
              <a:spLocks noChangeArrowheads="1"/>
            </p:cNvSpPr>
            <p:nvPr/>
          </p:nvSpPr>
          <p:spPr bwMode="auto">
            <a:xfrm>
              <a:off x="1728" y="3314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8" name="Line 68"/>
            <p:cNvSpPr>
              <a:spLocks noChangeShapeType="1"/>
            </p:cNvSpPr>
            <p:nvPr/>
          </p:nvSpPr>
          <p:spPr bwMode="auto">
            <a:xfrm>
              <a:off x="1728" y="3028"/>
              <a:ext cx="576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Line 69"/>
            <p:cNvSpPr>
              <a:spLocks noChangeShapeType="1"/>
            </p:cNvSpPr>
            <p:nvPr/>
          </p:nvSpPr>
          <p:spPr bwMode="auto">
            <a:xfrm>
              <a:off x="2304" y="3028"/>
              <a:ext cx="1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0" name="Line 70"/>
            <p:cNvSpPr>
              <a:spLocks noChangeShapeType="1"/>
            </p:cNvSpPr>
            <p:nvPr/>
          </p:nvSpPr>
          <p:spPr bwMode="auto">
            <a:xfrm flipH="1">
              <a:off x="2014" y="3314"/>
              <a:ext cx="292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1" name="Line 71"/>
            <p:cNvSpPr>
              <a:spLocks noChangeShapeType="1"/>
            </p:cNvSpPr>
            <p:nvPr/>
          </p:nvSpPr>
          <p:spPr bwMode="auto">
            <a:xfrm flipH="1" flipV="1">
              <a:off x="1726" y="3312"/>
              <a:ext cx="292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2" name="Line 72"/>
            <p:cNvSpPr>
              <a:spLocks noChangeShapeType="1"/>
            </p:cNvSpPr>
            <p:nvPr/>
          </p:nvSpPr>
          <p:spPr bwMode="auto">
            <a:xfrm flipV="1">
              <a:off x="1728" y="3026"/>
              <a:ext cx="1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75" name="AutoShape 73"/>
          <p:cNvSpPr>
            <a:spLocks noChangeArrowheads="1"/>
          </p:cNvSpPr>
          <p:nvPr/>
        </p:nvSpPr>
        <p:spPr bwMode="auto">
          <a:xfrm>
            <a:off x="5943600" y="2570162"/>
            <a:ext cx="976313" cy="485775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chemeClr val="tx2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76" name="Group 74"/>
          <p:cNvGrpSpPr>
            <a:grpSpLocks/>
          </p:cNvGrpSpPr>
          <p:nvPr/>
        </p:nvGrpSpPr>
        <p:grpSpPr bwMode="auto">
          <a:xfrm>
            <a:off x="7312022" y="3944937"/>
            <a:ext cx="920749" cy="914400"/>
            <a:chOff x="4606" y="3314"/>
            <a:chExt cx="580" cy="576"/>
          </a:xfrm>
          <a:solidFill>
            <a:schemeClr val="tx2"/>
          </a:solidFill>
        </p:grpSpPr>
        <p:grpSp>
          <p:nvGrpSpPr>
            <p:cNvPr id="77" name="Group 75"/>
            <p:cNvGrpSpPr>
              <a:grpSpLocks/>
            </p:cNvGrpSpPr>
            <p:nvPr/>
          </p:nvGrpSpPr>
          <p:grpSpPr bwMode="auto">
            <a:xfrm>
              <a:off x="4608" y="3314"/>
              <a:ext cx="576" cy="288"/>
              <a:chOff x="4608" y="3314"/>
              <a:chExt cx="576" cy="288"/>
            </a:xfrm>
            <a:grpFill/>
          </p:grpSpPr>
          <p:sp>
            <p:nvSpPr>
              <p:cNvPr id="84" name="AutoShape 76"/>
              <p:cNvSpPr>
                <a:spLocks noChangeArrowheads="1"/>
              </p:cNvSpPr>
              <p:nvPr/>
            </p:nvSpPr>
            <p:spPr bwMode="auto">
              <a:xfrm>
                <a:off x="4608" y="3316"/>
                <a:ext cx="576" cy="286"/>
              </a:xfrm>
              <a:prstGeom prst="roundRect">
                <a:avLst>
                  <a:gd name="adj" fmla="val 347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Text Box 77"/>
              <p:cNvSpPr txBox="1">
                <a:spLocks noChangeArrowheads="1"/>
              </p:cNvSpPr>
              <p:nvPr/>
            </p:nvSpPr>
            <p:spPr bwMode="auto">
              <a:xfrm>
                <a:off x="4759" y="3314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dirty="0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78" name="Freeform 78"/>
            <p:cNvSpPr>
              <a:spLocks noChangeArrowheads="1"/>
            </p:cNvSpPr>
            <p:nvPr/>
          </p:nvSpPr>
          <p:spPr bwMode="auto">
            <a:xfrm>
              <a:off x="4608" y="3602"/>
              <a:ext cx="576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0" y="0"/>
                </a:cxn>
                <a:cxn ang="0">
                  <a:pos x="1270" y="1262"/>
                </a:cxn>
                <a:cxn ang="0">
                  <a:pos x="0" y="0"/>
                </a:cxn>
              </a:cxnLst>
              <a:rect l="0" t="0" r="r" b="b"/>
              <a:pathLst>
                <a:path w="2541" h="1263">
                  <a:moveTo>
                    <a:pt x="0" y="0"/>
                  </a:moveTo>
                  <a:lnTo>
                    <a:pt x="2540" y="0"/>
                  </a:lnTo>
                  <a:lnTo>
                    <a:pt x="1270" y="1262"/>
                  </a:lnTo>
                  <a:lnTo>
                    <a:pt x="0" y="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Line 79"/>
            <p:cNvSpPr>
              <a:spLocks noChangeShapeType="1"/>
            </p:cNvSpPr>
            <p:nvPr/>
          </p:nvSpPr>
          <p:spPr bwMode="auto">
            <a:xfrm>
              <a:off x="4608" y="3316"/>
              <a:ext cx="576" cy="1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Line 80"/>
            <p:cNvSpPr>
              <a:spLocks noChangeShapeType="1"/>
            </p:cNvSpPr>
            <p:nvPr/>
          </p:nvSpPr>
          <p:spPr bwMode="auto">
            <a:xfrm>
              <a:off x="5184" y="3316"/>
              <a:ext cx="1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 flipH="1">
              <a:off x="4894" y="3602"/>
              <a:ext cx="292" cy="286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Line 82"/>
            <p:cNvSpPr>
              <a:spLocks noChangeShapeType="1"/>
            </p:cNvSpPr>
            <p:nvPr/>
          </p:nvSpPr>
          <p:spPr bwMode="auto">
            <a:xfrm flipH="1" flipV="1">
              <a:off x="4606" y="3600"/>
              <a:ext cx="292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 flipV="1">
              <a:off x="4608" y="3314"/>
              <a:ext cx="1" cy="290"/>
            </a:xfrm>
            <a:prstGeom prst="line">
              <a:avLst/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Group 84"/>
          <p:cNvGrpSpPr>
            <a:grpSpLocks/>
          </p:cNvGrpSpPr>
          <p:nvPr/>
        </p:nvGrpSpPr>
        <p:grpSpPr bwMode="auto">
          <a:xfrm>
            <a:off x="7315204" y="3028950"/>
            <a:ext cx="914401" cy="906462"/>
            <a:chOff x="4608" y="2737"/>
            <a:chExt cx="576" cy="571"/>
          </a:xfrm>
          <a:solidFill>
            <a:schemeClr val="tx2"/>
          </a:solidFill>
        </p:grpSpPr>
        <p:grpSp>
          <p:nvGrpSpPr>
            <p:cNvPr id="87" name="Group 85"/>
            <p:cNvGrpSpPr>
              <a:grpSpLocks/>
            </p:cNvGrpSpPr>
            <p:nvPr/>
          </p:nvGrpSpPr>
          <p:grpSpPr bwMode="auto">
            <a:xfrm>
              <a:off x="4608" y="2737"/>
              <a:ext cx="576" cy="287"/>
              <a:chOff x="4608" y="2737"/>
              <a:chExt cx="576" cy="287"/>
            </a:xfrm>
            <a:grpFill/>
          </p:grpSpPr>
          <p:sp>
            <p:nvSpPr>
              <p:cNvPr id="92" name="AutoShape 86"/>
              <p:cNvSpPr>
                <a:spLocks noChangeArrowheads="1"/>
              </p:cNvSpPr>
              <p:nvPr/>
            </p:nvSpPr>
            <p:spPr bwMode="auto">
              <a:xfrm>
                <a:off x="4608" y="2740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Text Box 87"/>
              <p:cNvSpPr txBox="1">
                <a:spLocks noChangeArrowheads="1"/>
              </p:cNvSpPr>
              <p:nvPr/>
            </p:nvSpPr>
            <p:spPr bwMode="auto">
              <a:xfrm>
                <a:off x="4658" y="2737"/>
                <a:ext cx="389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JBC</a:t>
                </a:r>
              </a:p>
            </p:txBody>
          </p:sp>
        </p:grpSp>
        <p:grpSp>
          <p:nvGrpSpPr>
            <p:cNvPr id="88" name="Group 88"/>
            <p:cNvGrpSpPr>
              <a:grpSpLocks/>
            </p:cNvGrpSpPr>
            <p:nvPr/>
          </p:nvGrpSpPr>
          <p:grpSpPr bwMode="auto">
            <a:xfrm>
              <a:off x="4608" y="3021"/>
              <a:ext cx="576" cy="287"/>
              <a:chOff x="4608" y="3021"/>
              <a:chExt cx="576" cy="287"/>
            </a:xfrm>
            <a:grpFill/>
          </p:grpSpPr>
          <p:sp>
            <p:nvSpPr>
              <p:cNvPr id="90" name="AutoShape 89"/>
              <p:cNvSpPr>
                <a:spLocks noChangeArrowheads="1"/>
              </p:cNvSpPr>
              <p:nvPr/>
            </p:nvSpPr>
            <p:spPr bwMode="auto">
              <a:xfrm>
                <a:off x="4608" y="3024"/>
                <a:ext cx="576" cy="284"/>
              </a:xfrm>
              <a:prstGeom prst="roundRect">
                <a:avLst>
                  <a:gd name="adj" fmla="val 352"/>
                </a:avLst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Text Box 90"/>
              <p:cNvSpPr txBox="1">
                <a:spLocks noChangeArrowheads="1"/>
              </p:cNvSpPr>
              <p:nvPr/>
            </p:nvSpPr>
            <p:spPr bwMode="auto">
              <a:xfrm>
                <a:off x="4759" y="3021"/>
                <a:ext cx="236" cy="2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lnSpc>
                    <a:spcPct val="100000"/>
                  </a:lnSpc>
                  <a:buFont typeface="Arial" pitchFamily="34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>
                    <a:solidFill>
                      <a:schemeClr val="bg1"/>
                    </a:solidFill>
                    <a:latin typeface="Arial" pitchFamily="34" charset="0"/>
                    <a:ea typeface="msmincho" charset="0"/>
                    <a:cs typeface="msmincho" charset="0"/>
                  </a:rPr>
                  <a:t>M</a:t>
                </a:r>
              </a:p>
            </p:txBody>
          </p:sp>
        </p:grpSp>
        <p:sp>
          <p:nvSpPr>
            <p:cNvPr id="89" name="AutoShape 91"/>
            <p:cNvSpPr>
              <a:spLocks noChangeArrowheads="1"/>
            </p:cNvSpPr>
            <p:nvPr/>
          </p:nvSpPr>
          <p:spPr bwMode="auto">
            <a:xfrm>
              <a:off x="4608" y="2740"/>
              <a:ext cx="576" cy="568"/>
            </a:xfrm>
            <a:prstGeom prst="roundRect">
              <a:avLst>
                <a:gd name="adj" fmla="val 176"/>
              </a:avLst>
            </a:prstGeom>
            <a:grp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94" name="Text Box 92"/>
          <p:cNvSpPr txBox="1">
            <a:spLocks noChangeArrowheads="1"/>
          </p:cNvSpPr>
          <p:nvPr/>
        </p:nvSpPr>
        <p:spPr bwMode="auto">
          <a:xfrm>
            <a:off x="1204913" y="3560762"/>
            <a:ext cx="1146766" cy="338299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88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bg1"/>
                </a:solidFill>
                <a:latin typeface="Courier New" pitchFamily="49" charset="0"/>
                <a:ea typeface="msmincho" charset="0"/>
                <a:cs typeface="msmincho" charset="0"/>
              </a:rPr>
              <a:t>“javac”</a:t>
            </a:r>
          </a:p>
        </p:txBody>
      </p:sp>
      <p:sp>
        <p:nvSpPr>
          <p:cNvPr id="95" name="Text Box 93"/>
          <p:cNvSpPr txBox="1">
            <a:spLocks noChangeArrowheads="1"/>
          </p:cNvSpPr>
          <p:nvPr/>
        </p:nvSpPr>
        <p:spPr bwMode="auto">
          <a:xfrm>
            <a:off x="5959475" y="3560762"/>
            <a:ext cx="1008907" cy="338299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88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bg1"/>
                </a:solidFill>
                <a:latin typeface="Courier New" pitchFamily="49" charset="0"/>
                <a:ea typeface="msmincho" charset="0"/>
                <a:cs typeface="msmincho" charset="0"/>
              </a:rPr>
              <a:t>“java”</a:t>
            </a:r>
          </a:p>
        </p:txBody>
      </p:sp>
      <p:sp>
        <p:nvSpPr>
          <p:cNvPr id="96" name="Text Box 53"/>
          <p:cNvSpPr txBox="1">
            <a:spLocks noChangeArrowheads="1"/>
          </p:cNvSpPr>
          <p:nvPr/>
        </p:nvSpPr>
        <p:spPr bwMode="auto">
          <a:xfrm>
            <a:off x="7467600" y="3105150"/>
            <a:ext cx="617775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JBC</a:t>
            </a:r>
          </a:p>
        </p:txBody>
      </p:sp>
      <p:sp>
        <p:nvSpPr>
          <p:cNvPr id="97" name="Text Box 77"/>
          <p:cNvSpPr txBox="1">
            <a:spLocks noChangeArrowheads="1"/>
          </p:cNvSpPr>
          <p:nvPr/>
        </p:nvSpPr>
        <p:spPr bwMode="auto">
          <a:xfrm>
            <a:off x="7626882" y="3486150"/>
            <a:ext cx="374118" cy="371513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00000"/>
              </a:lnSpc>
              <a:buFont typeface="Arial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chemeClr val="bg1"/>
                </a:solidFill>
                <a:latin typeface="Arial" pitchFamily="34" charset="0"/>
                <a:ea typeface="msmincho" charset="0"/>
                <a:cs typeface="msmincho" charset="0"/>
              </a:rPr>
              <a:t>M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504950"/>
            <a:ext cx="30572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Explain the terms: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Cross Compiler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Bootstrapping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Explain the working of given</a:t>
            </a:r>
          </a:p>
          <a:p>
            <a:r>
              <a:rPr lang="en-US" dirty="0" smtClean="0"/>
              <a:t>Cross compiler</a:t>
            </a:r>
          </a:p>
          <a:p>
            <a:endParaRPr lang="en-US" dirty="0"/>
          </a:p>
        </p:txBody>
      </p:sp>
      <p:pic>
        <p:nvPicPr>
          <p:cNvPr id="5" name="Picture 4" descr="Bootstrap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2419350"/>
            <a:ext cx="4451350" cy="211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Thank you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Content Taken From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315819"/>
            <a:ext cx="9144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Times" pitchFamily="18" charset="0"/>
                <a:cs typeface="Times" pitchFamily="18" charset="0"/>
              </a:rPr>
              <a:t>Web URL:</a:t>
            </a:r>
          </a:p>
          <a:p>
            <a:r>
              <a:rPr lang="en-US" sz="1600" dirty="0" smtClean="0">
                <a:hlinkClick r:id="rId2"/>
              </a:rPr>
              <a:t>http://people.cs.bris.ac.uk/~dave/boot.pdf</a:t>
            </a:r>
            <a:endParaRPr lang="en-US" altLang="en-US" sz="1600" i="1" dirty="0" smtClean="0">
              <a:solidFill>
                <a:schemeClr val="tx1">
                  <a:lumMod val="75000"/>
                  <a:lumOff val="25000"/>
                </a:schemeClr>
              </a:solidFill>
              <a:ea typeface="Times" pitchFamily="18" charset="0"/>
              <a:cs typeface="Times" pitchFamily="18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solidFill>
                  <a:srgbClr val="000000"/>
                </a:solidFill>
                <a:ea typeface="DejaVu Sans" charset="0"/>
                <a:cs typeface="DejaVu Sans" charset="0"/>
                <a:hlinkClick r:id="rId3"/>
              </a:rPr>
              <a:t>http://www.cse.buffalo.edu/~drpierce/cse/443S2005/lectures/T-diagrams.ppt</a:t>
            </a:r>
            <a:endParaRPr lang="en-GB" sz="1600" dirty="0" smtClean="0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solidFill>
                  <a:srgbClr val="000000"/>
                </a:solidFill>
                <a:ea typeface="DejaVu Sans" charset="0"/>
                <a:cs typeface="DejaVu Sans" charset="0"/>
                <a:hlinkClick r:id="rId4"/>
              </a:rPr>
              <a:t>https://en.wikipedia.org/wiki/Cross_compiler</a:t>
            </a:r>
            <a:endParaRPr lang="en-GB" sz="1600" dirty="0" smtClean="0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 smtClean="0"/>
              <a:t>https://en.wikipedia.org/wiki/Cross_compiler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 smtClean="0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sz="1600" i="1" dirty="0" smtClean="0">
              <a:solidFill>
                <a:schemeClr val="tx1">
                  <a:lumMod val="75000"/>
                  <a:lumOff val="25000"/>
                </a:schemeClr>
              </a:solidFill>
              <a:ea typeface="Times" pitchFamily="18" charset="0"/>
              <a:cs typeface="Times" pitchFamily="18" charset="0"/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13"/>
  <p:tag name="AS_TITLE" val="Aspose.Slides for .NET 4.0"/>
  <p:tag name="AS_VERSION" val="16.12.1.0"/>
</p:tagLst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585</Words>
  <Application>Microsoft Office PowerPoint</Application>
  <PresentationFormat>On-screen Show (16:9)</PresentationFormat>
  <Paragraphs>187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 Unicode MS</vt:lpstr>
      <vt:lpstr>맑은 고딕</vt:lpstr>
      <vt:lpstr>Arial</vt:lpstr>
      <vt:lpstr>Calibri</vt:lpstr>
      <vt:lpstr>Courier New</vt:lpstr>
      <vt:lpstr>DejaVu Sans</vt:lpstr>
      <vt:lpstr>msmincho</vt:lpstr>
      <vt:lpstr>Times</vt:lpstr>
      <vt:lpstr>Wingdings</vt:lpstr>
      <vt:lpstr>Cover and End Slide Master</vt:lpstr>
      <vt:lpstr>Contents Slide Master</vt:lpstr>
      <vt:lpstr>PowerPoint Presentation</vt:lpstr>
      <vt:lpstr>PowerPoint Presentation</vt:lpstr>
      <vt:lpstr>Objectives</vt:lpstr>
      <vt:lpstr>UNIT 2.1</vt:lpstr>
      <vt:lpstr>PowerPoint Presentation</vt:lpstr>
      <vt:lpstr>PowerPoint Presentation</vt:lpstr>
      <vt:lpstr>PowerPoint Presentation</vt:lpstr>
      <vt:lpstr>PowerPoint Presentation</vt:lpstr>
      <vt:lpstr>UNIT 2.2</vt:lpstr>
      <vt:lpstr>PowerPoint Presentation</vt:lpstr>
      <vt:lpstr>UNIT 2.3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Anees</cp:lastModifiedBy>
  <cp:revision>244</cp:revision>
  <dcterms:created xsi:type="dcterms:W3CDTF">2016-12-05T23:26:54Z</dcterms:created>
  <dcterms:modified xsi:type="dcterms:W3CDTF">2020-07-01T06:54:37Z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3556737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S8.2.1</vt:lpwstr>
  </property>
</Properties>
</file>