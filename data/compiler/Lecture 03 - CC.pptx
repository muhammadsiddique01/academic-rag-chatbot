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Lst>
  <p:notesMasterIdLst>
    <p:notesMasterId r:id="rId24"/>
  </p:notesMasterIdLst>
  <p:sldIdLst>
    <p:sldId id="256" r:id="rId3"/>
    <p:sldId id="262" r:id="rId4"/>
    <p:sldId id="377" r:id="rId5"/>
    <p:sldId id="378" r:id="rId6"/>
    <p:sldId id="261" r:id="rId7"/>
    <p:sldId id="310" r:id="rId8"/>
    <p:sldId id="365" r:id="rId9"/>
    <p:sldId id="379" r:id="rId10"/>
    <p:sldId id="366" r:id="rId11"/>
    <p:sldId id="367" r:id="rId12"/>
    <p:sldId id="368" r:id="rId13"/>
    <p:sldId id="369" r:id="rId14"/>
    <p:sldId id="380" r:id="rId15"/>
    <p:sldId id="370" r:id="rId16"/>
    <p:sldId id="371" r:id="rId17"/>
    <p:sldId id="372" r:id="rId18"/>
    <p:sldId id="373" r:id="rId19"/>
    <p:sldId id="374" r:id="rId20"/>
    <p:sldId id="376" r:id="rId21"/>
    <p:sldId id="271" r:id="rId22"/>
    <p:sldId id="375" r:id="rId23"/>
  </p:sldIdLst>
  <p:sldSz cx="9144000" cy="5143500" type="screen16x9"/>
  <p:notesSz cx="6858000" cy="9144000"/>
  <p:custDataLst>
    <p:tags r:id="rId25"/>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47" autoAdjust="0"/>
    <p:restoredTop sz="94660"/>
  </p:normalViewPr>
  <p:slideViewPr>
    <p:cSldViewPr>
      <p:cViewPr varScale="1">
        <p:scale>
          <a:sx n="88" d="100"/>
          <a:sy n="88" d="100"/>
        </p:scale>
        <p:origin x="648" y="40"/>
      </p:cViewPr>
      <p:guideLst>
        <p:guide orient="horz" pos="162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C2D849-E909-4C84-8539-67B30D4A74F3}" type="datetimeFigureOut">
              <a:rPr lang="en-US" smtClean="0"/>
              <a:pPr/>
              <a:t>7/1/2020</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C6905C-8B7C-407C-8604-CA03A324E4A7}" type="slidenum">
              <a:rPr lang="en-US" smtClean="0"/>
              <a:pPr/>
              <a:t>‹#›</a:t>
            </a:fld>
            <a:endParaRPr lang="en-US"/>
          </a:p>
        </p:txBody>
      </p:sp>
    </p:spTree>
    <p:extLst>
      <p:ext uri="{BB962C8B-B14F-4D97-AF65-F5344CB8AC3E}">
        <p14:creationId xmlns:p14="http://schemas.microsoft.com/office/powerpoint/2010/main" val="222024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705210"/>
            <a:ext cx="9144000" cy="522725"/>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smtClean="0">
                <a:ea typeface="맑은 고딕" pitchFamily="50" charset="-127"/>
              </a:rPr>
              <a:t>title</a:t>
            </a:r>
            <a:endParaRPr lang="en-US" altLang="ko-KR"/>
          </a:p>
        </p:txBody>
      </p:sp>
      <p:sp>
        <p:nvSpPr>
          <p:cNvPr id="11" name="Text Placeholder 9"/>
          <p:cNvSpPr>
            <a:spLocks noGrp="1"/>
          </p:cNvSpPr>
          <p:nvPr>
            <p:ph type="body" sz="quarter" idx="11" hasCustomPrompt="1"/>
          </p:nvPr>
        </p:nvSpPr>
        <p:spPr>
          <a:xfrm>
            <a:off x="-148" y="4227934"/>
            <a:ext cx="9144000" cy="288032"/>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a:t>INSTERT THE TITLE OF YOUR PRESENTATION HERE</a:t>
            </a:r>
            <a:endParaRPr lang="ko-KR" altLang="en-US"/>
          </a:p>
        </p:txBody>
      </p:sp>
    </p:spTree>
    <p:extLst>
      <p:ext uri="{BB962C8B-B14F-4D97-AF65-F5344CB8AC3E}">
        <p14:creationId xmlns:p14="http://schemas.microsoft.com/office/powerpoint/2010/main" val="416273650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tretch>
            <a:fillRect t="-18000" b="-18000"/>
          </a:stretch>
        </a:blipFill>
        <a:effectLst/>
      </p:bgPr>
    </p:bg>
    <p:spTree>
      <p:nvGrpSpPr>
        <p:cNvPr id="1" name=""/>
        <p:cNvGrpSpPr/>
        <p:nvPr/>
      </p:nvGrpSpPr>
      <p:grpSpPr>
        <a:xfrm>
          <a:off x="0" y="0"/>
          <a:ext cx="0" cy="0"/>
          <a:chOff x="0" y="0"/>
          <a:chExt cx="0" cy="0"/>
        </a:xfrm>
      </p:grpSpPr>
      <p:sp>
        <p:nvSpPr>
          <p:cNvPr id="2" name="Oval 1"/>
          <p:cNvSpPr/>
          <p:nvPr userDrawn="1"/>
        </p:nvSpPr>
        <p:spPr>
          <a:xfrm>
            <a:off x="2699644" y="699542"/>
            <a:ext cx="3744416" cy="3744416"/>
          </a:xfrm>
          <a:prstGeom prst="ellipse">
            <a:avLst/>
          </a:prstGeom>
          <a:solidFill>
            <a:schemeClr val="tx2">
              <a:lumMod val="75000"/>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bg1"/>
                </a:solidFill>
                <a:latin typeface="+mj-lt"/>
                <a:cs typeface="Arial" pitchFamily="34" charset="0"/>
              </a:defRPr>
            </a:lvl1pPr>
          </a:lstStyle>
          <a:p>
            <a:pPr lvl="0"/>
            <a:r>
              <a:rPr lang="en-US" altLang="ko-KR"/>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a:t>Insert the title of your subtitle Here</a:t>
            </a:r>
          </a:p>
        </p:txBody>
      </p:sp>
    </p:spTree>
    <p:extLst>
      <p:ext uri="{BB962C8B-B14F-4D97-AF65-F5344CB8AC3E}">
        <p14:creationId xmlns:p14="http://schemas.microsoft.com/office/powerpoint/2010/main" val="92247715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14350"/>
            <a:ext cx="8229600" cy="548879"/>
          </a:xfrm>
          <a:prstGeom prst="rect">
            <a:avLst/>
          </a:prstGeom>
        </p:spPr>
        <p:txBody>
          <a:bodyPr>
            <a:normAutofit/>
          </a:bodyPr>
          <a:lstStyle>
            <a:lvl1pPr algn="l">
              <a:defRPr sz="2700">
                <a:solidFill>
                  <a:srgbClr val="003366"/>
                </a:solidFill>
              </a:defRPr>
            </a:lvl1pPr>
          </a:lstStyle>
          <a:p>
            <a:r>
              <a:rPr lang="en-US" dirty="0"/>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normAutofit/>
          </a:bodyPr>
          <a:lstStyle>
            <a:lvl1pPr>
              <a:defRPr sz="1500"/>
            </a:lvl1pPr>
            <a:lvl2pPr>
              <a:defRPr sz="1500"/>
            </a:lvl2pPr>
            <a:lvl3pPr>
              <a:defRPr sz="1500"/>
            </a:lvl3pPr>
            <a:lvl4pPr>
              <a:defRPr sz="1500"/>
            </a:lvl4pPr>
            <a:lvl5pPr>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911BE2C0-B263-409E-B462-D229454C6A81}" type="datetime1">
              <a:rPr lang="en-US" smtClean="0"/>
              <a:pPr/>
              <a:t>7/1/2020</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r>
              <a:rPr lang="en-US"/>
              <a:t>Obejct Oriented Programming</a:t>
            </a:r>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4192AEF6-A042-4DA6-A3E1-F04AAE1E3944}" type="slidenum">
              <a:rPr lang="en-US" smtClean="0"/>
              <a:pPr/>
              <a:t>‹#›</a:t>
            </a:fld>
            <a:endParaRPr lang="en-US"/>
          </a:p>
        </p:txBody>
      </p:sp>
    </p:spTree>
    <p:extLst>
      <p:ext uri="{BB962C8B-B14F-4D97-AF65-F5344CB8AC3E}">
        <p14:creationId xmlns:p14="http://schemas.microsoft.com/office/powerpoint/2010/main" val="1475034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8351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0" y="105958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Tree>
    <p:extLst>
      <p:ext uri="{BB962C8B-B14F-4D97-AF65-F5344CB8AC3E}">
        <p14:creationId xmlns:p14="http://schemas.microsoft.com/office/powerpoint/2010/main" val="31290448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55552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179512" y="1203598"/>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Tree>
    <p:extLst>
      <p:ext uri="{BB962C8B-B14F-4D97-AF65-F5344CB8AC3E}">
        <p14:creationId xmlns:p14="http://schemas.microsoft.com/office/powerpoint/2010/main" val="145771391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483518"/>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179512" y="1131590"/>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Tree>
    <p:extLst>
      <p:ext uri="{BB962C8B-B14F-4D97-AF65-F5344CB8AC3E}">
        <p14:creationId xmlns:p14="http://schemas.microsoft.com/office/powerpoint/2010/main" val="392773588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asic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42902" y="45594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0" y="887988"/>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5" name="Picture Placeholder 2"/>
          <p:cNvSpPr>
            <a:spLocks noGrp="1"/>
          </p:cNvSpPr>
          <p:nvPr>
            <p:ph type="pic" idx="1" hasCustomPrompt="1"/>
          </p:nvPr>
        </p:nvSpPr>
        <p:spPr>
          <a:xfrm>
            <a:off x="649246"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6" name="Picture Placeholder 2"/>
          <p:cNvSpPr>
            <a:spLocks noGrp="1"/>
          </p:cNvSpPr>
          <p:nvPr>
            <p:ph type="pic" idx="12" hasCustomPrompt="1"/>
          </p:nvPr>
        </p:nvSpPr>
        <p:spPr>
          <a:xfrm>
            <a:off x="2720790"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7" name="Picture Placeholder 2"/>
          <p:cNvSpPr>
            <a:spLocks noGrp="1"/>
          </p:cNvSpPr>
          <p:nvPr>
            <p:ph type="pic" idx="13" hasCustomPrompt="1"/>
          </p:nvPr>
        </p:nvSpPr>
        <p:spPr>
          <a:xfrm>
            <a:off x="4792334"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8" name="Picture Placeholder 2"/>
          <p:cNvSpPr>
            <a:spLocks noGrp="1"/>
          </p:cNvSpPr>
          <p:nvPr>
            <p:ph type="pic" idx="14" hasCustomPrompt="1"/>
          </p:nvPr>
        </p:nvSpPr>
        <p:spPr>
          <a:xfrm>
            <a:off x="6863879"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265024113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500"/>
          </a:xfrm>
          <a:prstGeom prst="rect">
            <a:avLst/>
          </a:prstGeom>
          <a:noFill/>
        </p:spPr>
        <p:txBody>
          <a:bodyPr lIns="720000" anchor="ctr"/>
          <a:lstStyle>
            <a:lvl1pPr marL="0" indent="0" algn="l">
              <a:buNone/>
              <a:defRPr sz="18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161596703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31393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tx2">
            <a:lumMod val="75000"/>
          </a:schemeClr>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3347864" y="627534"/>
            <a:ext cx="5796136" cy="105200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8" name="Picture Placeholder 2"/>
          <p:cNvSpPr>
            <a:spLocks noGrp="1"/>
          </p:cNvSpPr>
          <p:nvPr>
            <p:ph type="pic" idx="12" hasCustomPrompt="1"/>
          </p:nvPr>
        </p:nvSpPr>
        <p:spPr>
          <a:xfrm>
            <a:off x="4104000" y="1798321"/>
            <a:ext cx="504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9" name="Picture Placeholder 2"/>
          <p:cNvSpPr>
            <a:spLocks noGrp="1"/>
          </p:cNvSpPr>
          <p:nvPr>
            <p:ph type="pic" idx="13" hasCustomPrompt="1"/>
          </p:nvPr>
        </p:nvSpPr>
        <p:spPr>
          <a:xfrm>
            <a:off x="4824000" y="3465106"/>
            <a:ext cx="4320000" cy="105086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294581215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a:lum/>
          </a:blip>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3937417"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Insert Your Image</a:t>
            </a:r>
            <a:endParaRPr lang="ko-KR" altLang="en-US"/>
          </a:p>
        </p:txBody>
      </p:sp>
      <p:sp>
        <p:nvSpPr>
          <p:cNvPr id="5" name="Picture Placeholder 2"/>
          <p:cNvSpPr>
            <a:spLocks noGrp="1"/>
          </p:cNvSpPr>
          <p:nvPr>
            <p:ph type="pic" idx="10" hasCustomPrompt="1"/>
          </p:nvPr>
        </p:nvSpPr>
        <p:spPr>
          <a:xfrm>
            <a:off x="1968708"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Insert Your Image</a:t>
            </a:r>
            <a:endParaRPr lang="ko-KR" altLang="en-US"/>
          </a:p>
        </p:txBody>
      </p:sp>
      <p:sp>
        <p:nvSpPr>
          <p:cNvPr id="6" name="Picture Placeholder 2"/>
          <p:cNvSpPr>
            <a:spLocks noGrp="1"/>
          </p:cNvSpPr>
          <p:nvPr>
            <p:ph type="pic" idx="11" hasCustomPrompt="1"/>
          </p:nvPr>
        </p:nvSpPr>
        <p:spPr>
          <a:xfrm>
            <a:off x="0"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Insert Your Image</a:t>
            </a:r>
            <a:endParaRPr lang="ko-KR" altLang="en-US"/>
          </a:p>
        </p:txBody>
      </p:sp>
    </p:spTree>
    <p:extLst>
      <p:ext uri="{BB962C8B-B14F-4D97-AF65-F5344CB8AC3E}">
        <p14:creationId xmlns:p14="http://schemas.microsoft.com/office/powerpoint/2010/main" val="341653372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3795621" y="627533"/>
            <a:ext cx="3294112" cy="111555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6" name="Picture Placeholder 2"/>
          <p:cNvSpPr>
            <a:spLocks noGrp="1"/>
          </p:cNvSpPr>
          <p:nvPr>
            <p:ph type="pic" idx="15" hasCustomPrompt="1"/>
          </p:nvPr>
        </p:nvSpPr>
        <p:spPr>
          <a:xfrm>
            <a:off x="5613166" y="3399271"/>
            <a:ext cx="3293944" cy="111669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7" name="Picture Placeholder 2"/>
          <p:cNvSpPr>
            <a:spLocks noGrp="1"/>
          </p:cNvSpPr>
          <p:nvPr>
            <p:ph type="pic" idx="16" hasCustomPrompt="1"/>
          </p:nvPr>
        </p:nvSpPr>
        <p:spPr>
          <a:xfrm>
            <a:off x="3795621" y="1815095"/>
            <a:ext cx="1728192" cy="270087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8" name="Picture Placeholder 2"/>
          <p:cNvSpPr>
            <a:spLocks noGrp="1"/>
          </p:cNvSpPr>
          <p:nvPr>
            <p:ph type="pic" idx="17" hasCustomPrompt="1"/>
          </p:nvPr>
        </p:nvSpPr>
        <p:spPr>
          <a:xfrm>
            <a:off x="5621504" y="1814524"/>
            <a:ext cx="1468228"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12" name="Picture Placeholder 2"/>
          <p:cNvSpPr>
            <a:spLocks noGrp="1"/>
          </p:cNvSpPr>
          <p:nvPr>
            <p:ph type="pic" idx="18" hasCustomPrompt="1"/>
          </p:nvPr>
        </p:nvSpPr>
        <p:spPr>
          <a:xfrm>
            <a:off x="7178918" y="627533"/>
            <a:ext cx="1728192" cy="269973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213758914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1151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987574"/>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pic>
        <p:nvPicPr>
          <p:cNvPr id="4"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757041" y="1313860"/>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981898" y="1731279"/>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19560775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75603"/>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a:t>ICON SETS LAYOUT</a:t>
            </a:r>
          </a:p>
        </p:txBody>
      </p:sp>
      <p:grpSp>
        <p:nvGrpSpPr>
          <p:cNvPr id="5" name="Group 4"/>
          <p:cNvGrpSpPr/>
          <p:nvPr userDrawn="1"/>
        </p:nvGrpSpPr>
        <p:grpSpPr>
          <a:xfrm>
            <a:off x="354008" y="1131589"/>
            <a:ext cx="2849840" cy="3384377"/>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14350"/>
            <a:ext cx="8229600" cy="548879"/>
          </a:xfrm>
          <a:prstGeom prst="rect">
            <a:avLst/>
          </a:prstGeom>
        </p:spPr>
        <p:txBody>
          <a:bodyPr>
            <a:normAutofit/>
          </a:bodyPr>
          <a:lstStyle>
            <a:lvl1pPr algn="l">
              <a:defRPr sz="2700">
                <a:solidFill>
                  <a:srgbClr val="003366"/>
                </a:solidFill>
              </a:defRPr>
            </a:lvl1pPr>
          </a:lstStyle>
          <a:p>
            <a:r>
              <a:rPr lang="en-US" dirty="0"/>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normAutofit/>
          </a:bodyPr>
          <a:lstStyle>
            <a:lvl1pPr>
              <a:defRPr sz="1500"/>
            </a:lvl1pPr>
            <a:lvl2pPr>
              <a:defRPr sz="1500"/>
            </a:lvl2pPr>
            <a:lvl3pPr>
              <a:defRPr sz="1500"/>
            </a:lvl3pPr>
            <a:lvl4pPr>
              <a:defRPr sz="1500"/>
            </a:lvl4pPr>
            <a:lvl5pPr>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911BE2C0-B263-409E-B462-D229454C6A81}" type="datetime1">
              <a:rPr lang="en-US" smtClean="0"/>
              <a:pPr/>
              <a:t>7/1/2020</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r>
              <a:rPr lang="en-US"/>
              <a:t>Obejct Oriented Programming</a:t>
            </a:r>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4192AEF6-A042-4DA6-A3E1-F04AAE1E3944}" type="slidenum">
              <a:rPr lang="en-US" smtClean="0"/>
              <a:pPr/>
              <a:t>‹#›</a:t>
            </a:fld>
            <a:endParaRPr lang="en-US"/>
          </a:p>
        </p:txBody>
      </p:sp>
    </p:spTree>
    <p:extLst>
      <p:ext uri="{BB962C8B-B14F-4D97-AF65-F5344CB8AC3E}">
        <p14:creationId xmlns:p14="http://schemas.microsoft.com/office/powerpoint/2010/main" val="6785774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6" Type="http://schemas.openxmlformats.org/officeDocument/2006/relationships/image" Target="../media/image2.jpeg"/><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image" Target="../media/image1.jpeg"/><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5"/>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5"/>
          <a:stretch>
            <a:fillRect/>
          </a:stretch>
        </p:blipFill>
        <p:spPr>
          <a:xfrm rot="10800000">
            <a:off x="-23339"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6"/>
            <a:stretch>
              <a:fillRect/>
            </a:stretch>
          </a:blipFill>
        </p:spPr>
        <p:txBody>
          <a:bodyPr wrap="square" rtlCol="0">
            <a:spAutoFit/>
          </a:bodyPr>
          <a:lstStyle/>
          <a:p>
            <a:pPr algn="ctr"/>
            <a:endParaRPr lang="ko-KR" altLang="en-US" sz="160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Lst>
  <p:transition/>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5"/>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15"/>
          <a:stretch>
            <a:fillRect/>
          </a:stretch>
        </p:blipFill>
        <p:spPr>
          <a:xfrm rot="10800000">
            <a:off x="-36511"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16"/>
            <a:stretch>
              <a:fillRect/>
            </a:stretch>
          </a:blipFill>
        </p:spPr>
        <p:txBody>
          <a:bodyPr wrap="square" rtlCol="0">
            <a:spAutoFit/>
          </a:bodyPr>
          <a:lstStyle/>
          <a:p>
            <a:pPr algn="ctr"/>
            <a:endParaRPr lang="ko-KR" altLang="en-US" sz="160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1" r:id="rId3"/>
    <p:sldLayoutId id="2147483660" r:id="rId4"/>
    <p:sldLayoutId id="2147483662" r:id="rId5"/>
    <p:sldLayoutId id="2147483655" r:id="rId6"/>
    <p:sldLayoutId id="2147483663" r:id="rId7"/>
    <p:sldLayoutId id="2147483664" r:id="rId8"/>
    <p:sldLayoutId id="2147483668" r:id="rId9"/>
    <p:sldLayoutId id="2147483665" r:id="rId10"/>
    <p:sldLayoutId id="2147483670" r:id="rId11"/>
    <p:sldLayoutId id="2147483656" r:id="rId12"/>
    <p:sldLayoutId id="2147483672" r:id="rId13"/>
  </p:sldLayoutIdLst>
  <p:transition/>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6.xml"/><Relationship Id="rId1" Type="http://schemas.openxmlformats.org/officeDocument/2006/relationships/slideLayout" Target="../slideLayouts/slideLayout3.xml"/><Relationship Id="rId4" Type="http://schemas.openxmlformats.org/officeDocument/2006/relationships/slide" Target="slide13.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3000"/>
            <a:lum/>
          </a:blip>
          <a:stretch>
            <a:fillRect t="-18000" b="-18000"/>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014" y="3291830"/>
            <a:ext cx="9144000" cy="522725"/>
          </a:xfrm>
        </p:spPr>
        <p:txBody>
          <a:bodyPr/>
          <a:lstStyle/>
          <a:p>
            <a:pPr lvl="0"/>
            <a:r>
              <a:rPr lang="en-US" altLang="ko-KR" sz="3600" smtClean="0">
                <a:ea typeface="맑은 고딕" pitchFamily="50" charset="-127"/>
              </a:rPr>
              <a:t>Lecture 03</a:t>
            </a:r>
            <a:endParaRPr lang="en-US" altLang="ko-KR" sz="3600" dirty="0"/>
          </a:p>
        </p:txBody>
      </p:sp>
      <p:sp>
        <p:nvSpPr>
          <p:cNvPr id="5" name="TextBox 4"/>
          <p:cNvSpPr txBox="1"/>
          <p:nvPr/>
        </p:nvSpPr>
        <p:spPr>
          <a:xfrm>
            <a:off x="179512" y="123478"/>
            <a:ext cx="1440160" cy="338554"/>
          </a:xfrm>
          <a:prstGeom prst="rect">
            <a:avLst/>
          </a:prstGeom>
          <a:blipFill>
            <a:blip r:embed="rId3"/>
            <a:stretch>
              <a:fillRect/>
            </a:stretch>
          </a:blipFill>
        </p:spPr>
        <p:txBody>
          <a:bodyPr wrap="square" rtlCol="0">
            <a:spAutoFit/>
          </a:bodyPr>
          <a:lstStyle/>
          <a:p>
            <a:pPr algn="ctr"/>
            <a:endParaRPr lang="ko-KR" altLang="en-US" sz="1600">
              <a:solidFill>
                <a:schemeClr val="tx1">
                  <a:lumMod val="75000"/>
                  <a:lumOff val="25000"/>
                </a:schemeClr>
              </a:solidFill>
              <a:cs typeface="Arial" pitchFamily="34" charset="0"/>
            </a:endParaRPr>
          </a:p>
        </p:txBody>
      </p:sp>
      <p:sp>
        <p:nvSpPr>
          <p:cNvPr id="6" name="TextBox 5"/>
          <p:cNvSpPr txBox="1"/>
          <p:nvPr/>
        </p:nvSpPr>
        <p:spPr>
          <a:xfrm>
            <a:off x="1905000" y="1885950"/>
            <a:ext cx="5261377" cy="707886"/>
          </a:xfrm>
          <a:prstGeom prst="rect">
            <a:avLst/>
          </a:prstGeom>
          <a:noFill/>
        </p:spPr>
        <p:txBody>
          <a:bodyPr wrap="none" rtlCol="0">
            <a:spAutoFit/>
          </a:bodyPr>
          <a:lstStyle/>
          <a:p>
            <a:r>
              <a:rPr lang="en-US" sz="4000" dirty="0" smtClean="0">
                <a:solidFill>
                  <a:schemeClr val="tx1">
                    <a:lumMod val="75000"/>
                    <a:lumOff val="25000"/>
                  </a:schemeClr>
                </a:solidFill>
              </a:rPr>
              <a:t>Compiler Construction</a:t>
            </a:r>
            <a:endParaRPr lang="en-US" sz="4000" dirty="0">
              <a:solidFill>
                <a:schemeClr val="tx1">
                  <a:lumMod val="75000"/>
                  <a:lumOff val="25000"/>
                </a:schemeClr>
              </a:solidFill>
            </a:endParaRPr>
          </a:p>
        </p:txBody>
      </p:sp>
    </p:spTree>
    <p:extLst>
      <p:ext uri="{BB962C8B-B14F-4D97-AF65-F5344CB8AC3E}">
        <p14:creationId xmlns:p14="http://schemas.microsoft.com/office/powerpoint/2010/main" val="297184137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dirty="0" smtClean="0"/>
              <a:t>Symbol Table</a:t>
            </a:r>
            <a:endParaRPr lang="ko-KR" altLang="en-US" dirty="0"/>
          </a:p>
        </p:txBody>
      </p:sp>
    </p:spTree>
    <p:extLst>
      <p:ext uri="{BB962C8B-B14F-4D97-AF65-F5344CB8AC3E}">
        <p14:creationId xmlns:p14="http://schemas.microsoft.com/office/powerpoint/2010/main" val="614559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1485900" y="1200151"/>
            <a:ext cx="6172200" cy="3371849"/>
          </a:xfrm>
        </p:spPr>
        <p:txBody>
          <a:bodyPr>
            <a:normAutofit/>
          </a:bodyPr>
          <a:lstStyle/>
          <a:p>
            <a:pPr marL="0" indent="0">
              <a:buNone/>
            </a:pPr>
            <a:r>
              <a:rPr lang="en-US" sz="1350" dirty="0"/>
              <a:t>You will learn about;</a:t>
            </a:r>
          </a:p>
          <a:p>
            <a:pPr>
              <a:buFont typeface="+mj-lt"/>
              <a:buAutoNum type="arabicPeriod"/>
            </a:pPr>
            <a:r>
              <a:rPr lang="en-US" sz="1350" b="1" dirty="0">
                <a:hlinkClick r:id="rId2" action="ppaction://hlinksldjump"/>
              </a:rPr>
              <a:t>Unit </a:t>
            </a:r>
            <a:r>
              <a:rPr lang="en-US" sz="1350" b="1" dirty="0" smtClean="0">
                <a:hlinkClick r:id="rId2" action="ppaction://hlinksldjump"/>
              </a:rPr>
              <a:t>3.1 </a:t>
            </a:r>
            <a:r>
              <a:rPr lang="en-US" sz="1350" b="1" dirty="0">
                <a:hlinkClick r:id="rId2" action="ppaction://hlinksldjump"/>
              </a:rPr>
              <a:t>:</a:t>
            </a:r>
            <a:endParaRPr lang="en-US" sz="1350" b="1" dirty="0"/>
          </a:p>
          <a:p>
            <a:pPr lvl="1">
              <a:defRPr/>
            </a:pPr>
            <a:r>
              <a:rPr lang="en-US" sz="1350" dirty="0" smtClean="0"/>
              <a:t>Symbol </a:t>
            </a:r>
            <a:r>
              <a:rPr lang="en-US" sz="1350" dirty="0"/>
              <a:t>Table</a:t>
            </a:r>
            <a:endParaRPr lang="en-US" altLang="ko-KR" sz="1350" dirty="0" smtClean="0"/>
          </a:p>
          <a:p>
            <a:pPr>
              <a:buFont typeface="+mj-lt"/>
              <a:buAutoNum type="arabicPeriod"/>
            </a:pPr>
            <a:r>
              <a:rPr lang="en-US" sz="1350" b="1" dirty="0" smtClean="0">
                <a:hlinkClick r:id="rId3" action="ppaction://hlinksldjump"/>
              </a:rPr>
              <a:t>Unit </a:t>
            </a:r>
            <a:r>
              <a:rPr lang="en-US" sz="1350" b="1" dirty="0" smtClean="0">
                <a:hlinkClick r:id="rId3" action="ppaction://hlinksldjump"/>
              </a:rPr>
              <a:t>3.2 </a:t>
            </a:r>
            <a:r>
              <a:rPr lang="en-US" sz="1350" b="1" dirty="0" smtClean="0">
                <a:hlinkClick r:id="rId3" action="ppaction://hlinksldjump"/>
              </a:rPr>
              <a:t>:</a:t>
            </a:r>
            <a:endParaRPr lang="en-US" sz="1350" b="1" dirty="0" smtClean="0"/>
          </a:p>
          <a:p>
            <a:pPr lvl="1"/>
            <a:r>
              <a:rPr lang="en-GB" sz="1350" dirty="0" smtClean="0"/>
              <a:t>Who </a:t>
            </a:r>
            <a:r>
              <a:rPr lang="en-GB" sz="1350" dirty="0"/>
              <a:t>Creates a Symbol </a:t>
            </a:r>
            <a:r>
              <a:rPr lang="en-GB" sz="1350" dirty="0" smtClean="0"/>
              <a:t>Table</a:t>
            </a:r>
          </a:p>
          <a:p>
            <a:pPr lvl="1"/>
            <a:r>
              <a:rPr lang="en-US" sz="1350" dirty="0"/>
              <a:t>Scope of Symbol Table</a:t>
            </a:r>
            <a:endParaRPr lang="en-US" sz="1350" dirty="0"/>
          </a:p>
          <a:p>
            <a:pPr>
              <a:buFont typeface="+mj-lt"/>
              <a:buAutoNum type="arabicPeriod"/>
            </a:pPr>
            <a:r>
              <a:rPr lang="en-US" sz="1350" b="1" dirty="0">
                <a:hlinkClick r:id="rId4" action="ppaction://hlinksldjump"/>
              </a:rPr>
              <a:t>Unit </a:t>
            </a:r>
            <a:r>
              <a:rPr lang="en-US" sz="1350" b="1" dirty="0" smtClean="0">
                <a:hlinkClick r:id="rId4" action="ppaction://hlinksldjump"/>
              </a:rPr>
              <a:t>3.3 </a:t>
            </a:r>
            <a:r>
              <a:rPr lang="en-US" sz="1350" b="1" dirty="0">
                <a:hlinkClick r:id="rId4" action="ppaction://hlinksldjump"/>
              </a:rPr>
              <a:t>:</a:t>
            </a:r>
            <a:endParaRPr lang="en-US" sz="1350" b="1" dirty="0"/>
          </a:p>
          <a:p>
            <a:pPr lvl="1"/>
            <a:r>
              <a:rPr lang="en-GB" sz="1350" dirty="0" smtClean="0"/>
              <a:t>Organizing </a:t>
            </a:r>
            <a:r>
              <a:rPr lang="en-GB" sz="1350" dirty="0"/>
              <a:t>the Symbol Table</a:t>
            </a:r>
            <a:endParaRPr lang="en-GB" sz="1350" dirty="0"/>
          </a:p>
          <a:p>
            <a:pPr marL="457200" lvl="1" indent="0">
              <a:buNone/>
            </a:pPr>
            <a:endParaRPr lang="en-US" sz="1350" dirty="0"/>
          </a:p>
          <a:p>
            <a:pPr marL="342900" lvl="1" indent="0">
              <a:buNone/>
            </a:pPr>
            <a:endParaRPr lang="en-US" sz="1350" dirty="0"/>
          </a:p>
          <a:p>
            <a:pPr lvl="1"/>
            <a:endParaRPr lang="en-US" sz="1350" dirty="0"/>
          </a:p>
          <a:p>
            <a:pPr marL="342900" lvl="1" indent="0">
              <a:buNone/>
            </a:pPr>
            <a:endParaRPr lang="en-US" sz="1350" dirty="0"/>
          </a:p>
          <a:p>
            <a:pPr>
              <a:buFont typeface="Wingdings" pitchFamily="2" charset="2"/>
              <a:buChar char="Ø"/>
            </a:pPr>
            <a:endParaRPr lang="en-US" sz="1350" dirty="0"/>
          </a:p>
          <a:p>
            <a:pPr>
              <a:buFont typeface="Wingdings" pitchFamily="2" charset="2"/>
              <a:buChar char="Ø"/>
            </a:pPr>
            <a:endParaRPr lang="en-US" sz="1350" dirty="0"/>
          </a:p>
          <a:p>
            <a:pPr lvl="1">
              <a:buFont typeface="Courier New" pitchFamily="49" charset="0"/>
              <a:buChar char="o"/>
            </a:pPr>
            <a:endParaRPr lang="en-US" sz="1350" b="1" dirty="0"/>
          </a:p>
          <a:p>
            <a:pPr marL="300038" lvl="2" indent="0">
              <a:buNone/>
            </a:pPr>
            <a:endParaRPr lang="en-US" sz="1350" dirty="0"/>
          </a:p>
        </p:txBody>
      </p:sp>
      <p:sp>
        <p:nvSpPr>
          <p:cNvPr id="4" name="Slide Number Placeholder 3"/>
          <p:cNvSpPr>
            <a:spLocks noGrp="1"/>
          </p:cNvSpPr>
          <p:nvPr>
            <p:ph type="sldNum" sz="quarter" idx="12"/>
          </p:nvPr>
        </p:nvSpPr>
        <p:spPr/>
        <p:txBody>
          <a:bodyPr/>
          <a:lstStyle/>
          <a:p>
            <a:endParaRPr lang="en-US" dirty="0" smtClean="0"/>
          </a:p>
          <a:p>
            <a:fld id="{4192AEF6-A042-4DA6-A3E1-F04AAE1E3944}" type="slidenum">
              <a:rPr lang="en-US" smtClean="0"/>
              <a:pPr/>
              <a:t>3</a:t>
            </a:fld>
            <a:endParaRPr lang="en-US" dirty="0"/>
          </a:p>
        </p:txBody>
      </p:sp>
    </p:spTree>
    <p:extLst>
      <p:ext uri="{BB962C8B-B14F-4D97-AF65-F5344CB8AC3E}">
        <p14:creationId xmlns:p14="http://schemas.microsoft.com/office/powerpoint/2010/main" val="21439504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038350"/>
            <a:ext cx="6172200" cy="548879"/>
          </a:xfrm>
        </p:spPr>
        <p:txBody>
          <a:bodyPr/>
          <a:lstStyle/>
          <a:p>
            <a:pPr algn="ctr"/>
            <a:r>
              <a:rPr lang="en-US" dirty="0" smtClean="0"/>
              <a:t>UNIT </a:t>
            </a:r>
            <a:r>
              <a:rPr lang="en-US" dirty="0" smtClean="0"/>
              <a:t>3.1</a:t>
            </a:r>
            <a:endParaRPr lang="en-US" dirty="0"/>
          </a:p>
        </p:txBody>
      </p:sp>
      <p:sp>
        <p:nvSpPr>
          <p:cNvPr id="4" name="Slide Number Placeholder 3"/>
          <p:cNvSpPr>
            <a:spLocks noGrp="1"/>
          </p:cNvSpPr>
          <p:nvPr>
            <p:ph type="sldNum" sz="quarter" idx="12"/>
          </p:nvPr>
        </p:nvSpPr>
        <p:spPr/>
        <p:txBody>
          <a:bodyPr/>
          <a:lstStyle/>
          <a:p>
            <a:fld id="{4192AEF6-A042-4DA6-A3E1-F04AAE1E3944}" type="slidenum">
              <a:rPr lang="en-US" smtClean="0"/>
              <a:pPr/>
              <a:t>4</a:t>
            </a:fld>
            <a:endParaRPr lang="en-US"/>
          </a:p>
        </p:txBody>
      </p:sp>
      <p:sp>
        <p:nvSpPr>
          <p:cNvPr id="5" name="TextBox 4"/>
          <p:cNvSpPr txBox="1"/>
          <p:nvPr/>
        </p:nvSpPr>
        <p:spPr>
          <a:xfrm>
            <a:off x="2857500" y="2678596"/>
            <a:ext cx="3829050" cy="715581"/>
          </a:xfrm>
          <a:prstGeom prst="rect">
            <a:avLst/>
          </a:prstGeom>
          <a:noFill/>
        </p:spPr>
        <p:txBody>
          <a:bodyPr wrap="square" rtlCol="0">
            <a:spAutoFit/>
          </a:bodyPr>
          <a:lstStyle/>
          <a:p>
            <a:pPr lvl="1">
              <a:defRPr/>
            </a:pPr>
            <a:r>
              <a:rPr lang="en-US" sz="1350" dirty="0"/>
              <a:t> </a:t>
            </a:r>
            <a:r>
              <a:rPr lang="en-US" sz="1350" dirty="0" smtClean="0"/>
              <a:t>      Symbol </a:t>
            </a:r>
            <a:r>
              <a:rPr lang="en-US" sz="1350" dirty="0"/>
              <a:t>Table</a:t>
            </a:r>
            <a:endParaRPr lang="en-US" altLang="ko-KR" sz="1350" dirty="0"/>
          </a:p>
          <a:p>
            <a:pPr lvl="1">
              <a:defRPr/>
            </a:pPr>
            <a:endParaRPr lang="en-US" altLang="ko-KR" sz="1350" dirty="0"/>
          </a:p>
          <a:p>
            <a:pPr algn="ctr"/>
            <a:endParaRPr lang="en-US" sz="1350" dirty="0"/>
          </a:p>
        </p:txBody>
      </p:sp>
      <p:sp>
        <p:nvSpPr>
          <p:cNvPr id="6" name="TextBox 5"/>
          <p:cNvSpPr txBox="1"/>
          <p:nvPr/>
        </p:nvSpPr>
        <p:spPr>
          <a:xfrm>
            <a:off x="6972300" y="1"/>
            <a:ext cx="1543050" cy="219291"/>
          </a:xfrm>
          <a:prstGeom prst="rect">
            <a:avLst/>
          </a:prstGeom>
          <a:noFill/>
        </p:spPr>
        <p:txBody>
          <a:bodyPr wrap="square" rtlCol="0">
            <a:spAutoFit/>
          </a:bodyPr>
          <a:lstStyle/>
          <a:p>
            <a:r>
              <a:rPr lang="en-US" sz="825" b="1" dirty="0">
                <a:solidFill>
                  <a:schemeClr val="bg1"/>
                </a:solidFill>
                <a:hlinkClick r:id="rId2" action="ppaction://hlinksldjump"/>
              </a:rPr>
              <a:t>Home</a:t>
            </a:r>
            <a:endParaRPr lang="en-US" sz="825" b="1" dirty="0">
              <a:solidFill>
                <a:schemeClr val="bg1"/>
              </a:solidFill>
            </a:endParaRPr>
          </a:p>
        </p:txBody>
      </p:sp>
    </p:spTree>
    <p:extLst>
      <p:ext uri="{BB962C8B-B14F-4D97-AF65-F5344CB8AC3E}">
        <p14:creationId xmlns:p14="http://schemas.microsoft.com/office/powerpoint/2010/main" val="13034454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p:nvPr/>
        </p:nvSpPr>
        <p:spPr>
          <a:xfrm>
            <a:off x="2987824" y="463425"/>
            <a:ext cx="6732240"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2800" smtClean="0">
                <a:solidFill>
                  <a:schemeClr val="tx1">
                    <a:lumMod val="75000"/>
                    <a:lumOff val="25000"/>
                  </a:schemeClr>
                </a:solidFill>
                <a:cs typeface="Arial" pitchFamily="34" charset="0"/>
              </a:rPr>
              <a:t>Agenda</a:t>
            </a:r>
            <a:endParaRPr lang="en-US" sz="2800">
              <a:solidFill>
                <a:schemeClr val="tx1">
                  <a:lumMod val="75000"/>
                  <a:lumOff val="25000"/>
                </a:schemeClr>
              </a:solidFill>
              <a:cs typeface="Arial" pitchFamily="34" charset="0"/>
            </a:endParaRPr>
          </a:p>
        </p:txBody>
      </p:sp>
      <p:grpSp>
        <p:nvGrpSpPr>
          <p:cNvPr id="30" name="Group 29"/>
          <p:cNvGrpSpPr/>
          <p:nvPr/>
        </p:nvGrpSpPr>
        <p:grpSpPr>
          <a:xfrm>
            <a:off x="1187624" y="1084579"/>
            <a:ext cx="5611091" cy="576000"/>
            <a:chOff x="2984973" y="1131591"/>
            <a:chExt cx="5611091" cy="576000"/>
          </a:xfrm>
          <a:solidFill>
            <a:schemeClr val="tx2">
              <a:lumMod val="60000"/>
              <a:lumOff val="40000"/>
            </a:schemeClr>
          </a:solidFill>
        </p:grpSpPr>
        <p:sp>
          <p:nvSpPr>
            <p:cNvPr id="4" name="Round Same Side Corner Rectangle 3"/>
            <p:cNvSpPr/>
            <p:nvPr/>
          </p:nvSpPr>
          <p:spPr>
            <a:xfrm rot="5400000">
              <a:off x="5719936" y="-1240513"/>
              <a:ext cx="432048" cy="5320208"/>
            </a:xfrm>
            <a:prstGeom prst="round2SameRect">
              <a:avLst>
                <a:gd name="adj1" fmla="val 5000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just"/>
              <a:endParaRPr lang="ko-KR" altLang="en-US"/>
            </a:p>
          </p:txBody>
        </p:sp>
        <p:sp>
          <p:nvSpPr>
            <p:cNvPr id="5" name="AutoShape 92"/>
            <p:cNvSpPr>
              <a:spLocks noChangeAspect="1" noChangeArrowheads="1"/>
            </p:cNvSpPr>
            <p:nvPr/>
          </p:nvSpPr>
          <p:spPr bwMode="auto">
            <a:xfrm rot="16200000" flipH="1">
              <a:off x="2984973" y="1131591"/>
              <a:ext cx="576000" cy="576000"/>
            </a:xfrm>
            <a:prstGeom prst="ellipse">
              <a:avLst/>
            </a:prstGeom>
            <a:solidFill>
              <a:schemeClr val="bg1"/>
            </a:solidFill>
            <a:ln w="50800">
              <a:solidFill>
                <a:schemeClr val="tx2">
                  <a:lumMod val="75000"/>
                </a:schemeClr>
              </a:solidFill>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b"/>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just" fontAlgn="auto">
                <a:spcBef>
                  <a:spcPct val="0"/>
                </a:spcBef>
                <a:spcAft>
                  <a:spcPct val="0"/>
                </a:spcAft>
                <a:defRPr/>
              </a:pPr>
              <a:endParaRPr kumimoji="0" lang="ko-KR" altLang="en-US" sz="2800">
                <a:solidFill>
                  <a:schemeClr val="bg1"/>
                </a:solidFill>
              </a:endParaRPr>
            </a:p>
          </p:txBody>
        </p:sp>
        <p:sp>
          <p:nvSpPr>
            <p:cNvPr id="6" name="TextBox 5"/>
            <p:cNvSpPr txBox="1"/>
            <p:nvPr/>
          </p:nvSpPr>
          <p:spPr>
            <a:xfrm>
              <a:off x="2988072" y="1243225"/>
              <a:ext cx="569802" cy="369332"/>
            </a:xfrm>
            <a:prstGeom prst="rect">
              <a:avLst/>
            </a:prstGeom>
            <a:noFill/>
            <a:ln>
              <a:noFill/>
            </a:ln>
          </p:spPr>
          <p:txBody>
            <a:bodyPr wrap="square" tIns="0" bIns="0" rtlCol="0" anchor="b">
              <a:spAutoFit/>
            </a:bodyPr>
            <a:lstStyle/>
            <a:p>
              <a:pPr algn="just"/>
              <a:r>
                <a:rPr lang="en-US" altLang="ko-KR" sz="2400" b="1">
                  <a:solidFill>
                    <a:schemeClr val="tx1">
                      <a:lumMod val="65000"/>
                      <a:lumOff val="35000"/>
                    </a:schemeClr>
                  </a:solidFill>
                  <a:cs typeface="Arial" pitchFamily="34" charset="0"/>
                </a:rPr>
                <a:t>01</a:t>
              </a:r>
            </a:p>
          </p:txBody>
        </p:sp>
        <p:sp>
          <p:nvSpPr>
            <p:cNvPr id="7" name="TextBox 6"/>
            <p:cNvSpPr txBox="1"/>
            <p:nvPr/>
          </p:nvSpPr>
          <p:spPr bwMode="auto">
            <a:xfrm>
              <a:off x="3667248" y="1258262"/>
              <a:ext cx="4752528" cy="307777"/>
            </a:xfrm>
            <a:prstGeom prst="rect">
              <a:avLst/>
            </a:prstGeom>
            <a:grpFill/>
            <a:effectLst/>
          </p:spPr>
          <p:txBody>
            <a:bodyPr wrap="square" anchor="b">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just">
                <a:defRPr/>
              </a:pPr>
              <a:r>
                <a:rPr lang="en-US" sz="1400" dirty="0" smtClean="0">
                  <a:solidFill>
                    <a:schemeClr val="bg1"/>
                  </a:solidFill>
                </a:rPr>
                <a:t>Symbol Table</a:t>
              </a:r>
              <a:endParaRPr lang="en-US" altLang="ko-KR" sz="1400" b="1" dirty="0">
                <a:solidFill>
                  <a:schemeClr val="bg1"/>
                </a:solidFill>
                <a:cs typeface="Arial" pitchFamily="34" charset="0"/>
              </a:endParaRPr>
            </a:p>
          </p:txBody>
        </p:sp>
      </p:grpSp>
      <p:grpSp>
        <p:nvGrpSpPr>
          <p:cNvPr id="31" name="Group 30"/>
          <p:cNvGrpSpPr/>
          <p:nvPr/>
        </p:nvGrpSpPr>
        <p:grpSpPr>
          <a:xfrm>
            <a:off x="1187624" y="1995686"/>
            <a:ext cx="5611091" cy="576000"/>
            <a:chOff x="2984973" y="2023433"/>
            <a:chExt cx="5611091" cy="576000"/>
          </a:xfrm>
          <a:noFill/>
        </p:grpSpPr>
        <p:sp>
          <p:nvSpPr>
            <p:cNvPr id="15" name="Round Same Side Corner Rectangle 14"/>
            <p:cNvSpPr/>
            <p:nvPr/>
          </p:nvSpPr>
          <p:spPr>
            <a:xfrm rot="5400000">
              <a:off x="5719936" y="-348671"/>
              <a:ext cx="432048" cy="5320208"/>
            </a:xfrm>
            <a:prstGeom prst="round2SameRect">
              <a:avLst>
                <a:gd name="adj1" fmla="val 50000"/>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just"/>
              <a:endParaRPr lang="ko-KR" altLang="en-US"/>
            </a:p>
          </p:txBody>
        </p:sp>
        <p:sp>
          <p:nvSpPr>
            <p:cNvPr id="16" name="AutoShape 92"/>
            <p:cNvSpPr>
              <a:spLocks noChangeAspect="1" noChangeArrowheads="1"/>
            </p:cNvSpPr>
            <p:nvPr/>
          </p:nvSpPr>
          <p:spPr bwMode="auto">
            <a:xfrm rot="16200000" flipH="1">
              <a:off x="2984973" y="2023433"/>
              <a:ext cx="576000" cy="576000"/>
            </a:xfrm>
            <a:prstGeom prst="ellipse">
              <a:avLst/>
            </a:prstGeom>
            <a:solidFill>
              <a:schemeClr val="bg1"/>
            </a:solidFill>
            <a:ln w="50800">
              <a:solidFill>
                <a:schemeClr val="tx2">
                  <a:lumMod val="75000"/>
                </a:schemeClr>
              </a:solidFill>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b"/>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just" fontAlgn="auto">
                <a:spcBef>
                  <a:spcPct val="0"/>
                </a:spcBef>
                <a:spcAft>
                  <a:spcPct val="0"/>
                </a:spcAft>
                <a:defRPr/>
              </a:pPr>
              <a:endParaRPr kumimoji="0" lang="ko-KR" altLang="en-US" sz="2800">
                <a:solidFill>
                  <a:schemeClr val="bg1"/>
                </a:solidFill>
              </a:endParaRPr>
            </a:p>
          </p:txBody>
        </p:sp>
        <p:sp>
          <p:nvSpPr>
            <p:cNvPr id="17" name="TextBox 16"/>
            <p:cNvSpPr txBox="1"/>
            <p:nvPr/>
          </p:nvSpPr>
          <p:spPr>
            <a:xfrm>
              <a:off x="2988072" y="2126767"/>
              <a:ext cx="569802" cy="369332"/>
            </a:xfrm>
            <a:prstGeom prst="rect">
              <a:avLst/>
            </a:prstGeom>
            <a:grpFill/>
          </p:spPr>
          <p:txBody>
            <a:bodyPr wrap="square" tIns="0" bIns="0" rtlCol="0" anchor="b">
              <a:spAutoFit/>
            </a:bodyPr>
            <a:lstStyle/>
            <a:p>
              <a:pPr algn="just"/>
              <a:r>
                <a:rPr lang="en-US" altLang="ko-KR" sz="2400" b="1">
                  <a:solidFill>
                    <a:schemeClr val="tx1">
                      <a:lumMod val="50000"/>
                      <a:lumOff val="50000"/>
                    </a:schemeClr>
                  </a:solidFill>
                  <a:cs typeface="Arial" pitchFamily="34" charset="0"/>
                </a:rPr>
                <a:t>02</a:t>
              </a:r>
            </a:p>
          </p:txBody>
        </p:sp>
        <p:sp>
          <p:nvSpPr>
            <p:cNvPr id="18" name="TextBox 17"/>
            <p:cNvSpPr txBox="1"/>
            <p:nvPr/>
          </p:nvSpPr>
          <p:spPr bwMode="auto">
            <a:xfrm>
              <a:off x="3667248" y="2150104"/>
              <a:ext cx="4752528" cy="307777"/>
            </a:xfrm>
            <a:prstGeom prst="rect">
              <a:avLst/>
            </a:prstGeom>
            <a:grpFill/>
            <a:effectLst/>
          </p:spPr>
          <p:txBody>
            <a:bodyPr wrap="square" anchor="b">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just">
                <a:defRPr/>
              </a:pPr>
              <a:r>
                <a:rPr lang="en-US" sz="1400" dirty="0" smtClean="0">
                  <a:solidFill>
                    <a:schemeClr val="bg1"/>
                  </a:solidFill>
                </a:rPr>
                <a:t>Who Creates a Symbol Table</a:t>
              </a:r>
              <a:endParaRPr lang="en-US" altLang="ko-KR" sz="1400" b="1" dirty="0">
                <a:solidFill>
                  <a:schemeClr val="bg1"/>
                </a:solidFill>
                <a:cs typeface="Arial" pitchFamily="34" charset="0"/>
              </a:endParaRPr>
            </a:p>
          </p:txBody>
        </p:sp>
      </p:grpSp>
      <p:grpSp>
        <p:nvGrpSpPr>
          <p:cNvPr id="32" name="Group 31"/>
          <p:cNvGrpSpPr/>
          <p:nvPr/>
        </p:nvGrpSpPr>
        <p:grpSpPr>
          <a:xfrm>
            <a:off x="1187624" y="2915275"/>
            <a:ext cx="5611091" cy="576000"/>
            <a:chOff x="2984973" y="2915275"/>
            <a:chExt cx="5611091" cy="576000"/>
          </a:xfrm>
        </p:grpSpPr>
        <p:sp>
          <p:nvSpPr>
            <p:cNvPr id="20" name="Round Same Side Corner Rectangle 19"/>
            <p:cNvSpPr/>
            <p:nvPr/>
          </p:nvSpPr>
          <p:spPr>
            <a:xfrm rot="5400000">
              <a:off x="5719936" y="543171"/>
              <a:ext cx="432048" cy="5320208"/>
            </a:xfrm>
            <a:prstGeom prst="round2SameRect">
              <a:avLst>
                <a:gd name="adj1" fmla="val 50000"/>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just"/>
              <a:endParaRPr lang="ko-KR" altLang="en-US"/>
            </a:p>
          </p:txBody>
        </p:sp>
        <p:sp>
          <p:nvSpPr>
            <p:cNvPr id="21" name="AutoShape 92"/>
            <p:cNvSpPr>
              <a:spLocks noChangeAspect="1" noChangeArrowheads="1"/>
            </p:cNvSpPr>
            <p:nvPr/>
          </p:nvSpPr>
          <p:spPr bwMode="auto">
            <a:xfrm rot="16200000" flipH="1">
              <a:off x="2984973" y="2915275"/>
              <a:ext cx="576000" cy="576000"/>
            </a:xfrm>
            <a:prstGeom prst="ellipse">
              <a:avLst/>
            </a:prstGeom>
            <a:solidFill>
              <a:schemeClr val="bg1"/>
            </a:solidFill>
            <a:ln w="50800">
              <a:solidFill>
                <a:schemeClr val="tx2">
                  <a:lumMod val="75000"/>
                </a:schemeClr>
              </a:solidFill>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b"/>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just" fontAlgn="auto">
                <a:spcBef>
                  <a:spcPct val="0"/>
                </a:spcBef>
                <a:spcAft>
                  <a:spcPct val="0"/>
                </a:spcAft>
                <a:defRPr/>
              </a:pPr>
              <a:endParaRPr kumimoji="0" lang="ko-KR" altLang="en-US" sz="2800">
                <a:solidFill>
                  <a:schemeClr val="bg1"/>
                </a:solidFill>
              </a:endParaRPr>
            </a:p>
          </p:txBody>
        </p:sp>
        <p:sp>
          <p:nvSpPr>
            <p:cNvPr id="22" name="TextBox 21"/>
            <p:cNvSpPr txBox="1"/>
            <p:nvPr/>
          </p:nvSpPr>
          <p:spPr>
            <a:xfrm>
              <a:off x="2988072" y="3018609"/>
              <a:ext cx="569802" cy="369332"/>
            </a:xfrm>
            <a:prstGeom prst="rect">
              <a:avLst/>
            </a:prstGeom>
            <a:noFill/>
          </p:spPr>
          <p:txBody>
            <a:bodyPr wrap="square" tIns="0" bIns="0" rtlCol="0" anchor="b">
              <a:spAutoFit/>
            </a:bodyPr>
            <a:lstStyle/>
            <a:p>
              <a:pPr algn="just"/>
              <a:r>
                <a:rPr lang="en-US" altLang="ko-KR" sz="2400" b="1">
                  <a:solidFill>
                    <a:schemeClr val="tx1">
                      <a:lumMod val="50000"/>
                      <a:lumOff val="50000"/>
                    </a:schemeClr>
                  </a:solidFill>
                  <a:cs typeface="Arial" pitchFamily="34" charset="0"/>
                </a:rPr>
                <a:t>03</a:t>
              </a:r>
            </a:p>
          </p:txBody>
        </p:sp>
        <p:sp>
          <p:nvSpPr>
            <p:cNvPr id="23" name="TextBox 22"/>
            <p:cNvSpPr txBox="1"/>
            <p:nvPr/>
          </p:nvSpPr>
          <p:spPr bwMode="auto">
            <a:xfrm>
              <a:off x="3667248" y="3041946"/>
              <a:ext cx="4752528" cy="307777"/>
            </a:xfrm>
            <a:prstGeom prst="rect">
              <a:avLst/>
            </a:prstGeom>
            <a:noFill/>
            <a:effectLst/>
          </p:spPr>
          <p:txBody>
            <a:bodyPr wrap="square" anchor="b">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just">
                <a:defRPr/>
              </a:pPr>
              <a:r>
                <a:rPr lang="en-US" sz="1400" dirty="0" smtClean="0">
                  <a:solidFill>
                    <a:schemeClr val="bg1"/>
                  </a:solidFill>
                </a:rPr>
                <a:t>Scope of Symbol Table</a:t>
              </a:r>
              <a:endParaRPr lang="en-US" altLang="ko-KR" sz="1400" b="1" dirty="0">
                <a:solidFill>
                  <a:schemeClr val="bg1"/>
                </a:solidFill>
                <a:cs typeface="Arial" pitchFamily="34" charset="0"/>
              </a:endParaRPr>
            </a:p>
          </p:txBody>
        </p:sp>
      </p:grpSp>
      <p:grpSp>
        <p:nvGrpSpPr>
          <p:cNvPr id="33" name="Group 32"/>
          <p:cNvGrpSpPr/>
          <p:nvPr/>
        </p:nvGrpSpPr>
        <p:grpSpPr>
          <a:xfrm>
            <a:off x="1187624" y="3807117"/>
            <a:ext cx="5611091" cy="576000"/>
            <a:chOff x="2984973" y="3807117"/>
            <a:chExt cx="5611091" cy="576000"/>
          </a:xfrm>
        </p:grpSpPr>
        <p:sp>
          <p:nvSpPr>
            <p:cNvPr id="25" name="Round Same Side Corner Rectangle 24"/>
            <p:cNvSpPr/>
            <p:nvPr/>
          </p:nvSpPr>
          <p:spPr>
            <a:xfrm rot="5400000">
              <a:off x="5719936" y="1435013"/>
              <a:ext cx="432048" cy="5320208"/>
            </a:xfrm>
            <a:prstGeom prst="round2SameRect">
              <a:avLst>
                <a:gd name="adj1" fmla="val 50000"/>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AutoShape 92"/>
            <p:cNvSpPr>
              <a:spLocks noChangeAspect="1" noChangeArrowheads="1"/>
            </p:cNvSpPr>
            <p:nvPr/>
          </p:nvSpPr>
          <p:spPr bwMode="auto">
            <a:xfrm rot="16200000" flipH="1">
              <a:off x="2984973" y="3807117"/>
              <a:ext cx="576000" cy="576000"/>
            </a:xfrm>
            <a:prstGeom prst="ellipse">
              <a:avLst/>
            </a:prstGeom>
            <a:solidFill>
              <a:schemeClr val="bg1"/>
            </a:solidFill>
            <a:ln w="50800">
              <a:solidFill>
                <a:schemeClr val="tx2">
                  <a:lumMod val="75000"/>
                </a:schemeClr>
              </a:solidFill>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ct val="0"/>
                </a:spcBef>
                <a:spcAft>
                  <a:spcPct val="0"/>
                </a:spcAft>
                <a:defRPr/>
              </a:pPr>
              <a:endParaRPr kumimoji="0" lang="ko-KR" altLang="en-US" sz="2800">
                <a:solidFill>
                  <a:schemeClr val="bg1"/>
                </a:solidFill>
              </a:endParaRPr>
            </a:p>
          </p:txBody>
        </p:sp>
        <p:sp>
          <p:nvSpPr>
            <p:cNvPr id="27" name="TextBox 26"/>
            <p:cNvSpPr txBox="1"/>
            <p:nvPr/>
          </p:nvSpPr>
          <p:spPr>
            <a:xfrm>
              <a:off x="2988072" y="3910451"/>
              <a:ext cx="569802" cy="369332"/>
            </a:xfrm>
            <a:prstGeom prst="rect">
              <a:avLst/>
            </a:prstGeom>
            <a:noFill/>
          </p:spPr>
          <p:txBody>
            <a:bodyPr wrap="square" tIns="0" bIns="0" rtlCol="0" anchor="ctr">
              <a:spAutoFit/>
            </a:bodyPr>
            <a:lstStyle/>
            <a:p>
              <a:pPr algn="ctr"/>
              <a:r>
                <a:rPr lang="en-US" altLang="ko-KR" sz="2400" b="1">
                  <a:solidFill>
                    <a:schemeClr val="tx1">
                      <a:lumMod val="50000"/>
                      <a:lumOff val="50000"/>
                    </a:schemeClr>
                  </a:solidFill>
                  <a:cs typeface="Arial" pitchFamily="34" charset="0"/>
                </a:rPr>
                <a:t>04</a:t>
              </a:r>
            </a:p>
          </p:txBody>
        </p:sp>
        <p:sp>
          <p:nvSpPr>
            <p:cNvPr id="28" name="TextBox 27"/>
            <p:cNvSpPr txBox="1"/>
            <p:nvPr/>
          </p:nvSpPr>
          <p:spPr bwMode="auto">
            <a:xfrm>
              <a:off x="3667248" y="3933788"/>
              <a:ext cx="475252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just">
                <a:defRPr/>
              </a:pPr>
              <a:r>
                <a:rPr lang="en-US" sz="1400" dirty="0" smtClean="0">
                  <a:solidFill>
                    <a:schemeClr val="bg1"/>
                  </a:solidFill>
                </a:rPr>
                <a:t>Organizing the Symbol Table</a:t>
              </a:r>
              <a:endParaRPr lang="en-US" altLang="ko-KR" sz="1400" b="1" dirty="0">
                <a:solidFill>
                  <a:schemeClr val="bg1"/>
                </a:solidFill>
                <a:cs typeface="Arial" pitchFamily="34" charset="0"/>
              </a:endParaRPr>
            </a:p>
          </p:txBody>
        </p:sp>
      </p:grpSp>
    </p:spTree>
    <p:extLst>
      <p:ext uri="{BB962C8B-B14F-4D97-AF65-F5344CB8AC3E}">
        <p14:creationId xmlns:p14="http://schemas.microsoft.com/office/powerpoint/2010/main" val="109505599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Symbol Table</a:t>
            </a:r>
            <a:endParaRPr lang="en-US" altLang="ko-KR" b="1" dirty="0" smtClean="0">
              <a:solidFill>
                <a:schemeClr val="bg1"/>
              </a:solidFill>
            </a:endParaRPr>
          </a:p>
        </p:txBody>
      </p:sp>
      <p:sp>
        <p:nvSpPr>
          <p:cNvPr id="5" name="TextBox 4"/>
          <p:cNvSpPr txBox="1"/>
          <p:nvPr/>
        </p:nvSpPr>
        <p:spPr>
          <a:xfrm>
            <a:off x="457200" y="1276350"/>
            <a:ext cx="8534400" cy="3170099"/>
          </a:xfrm>
          <a:prstGeom prst="rect">
            <a:avLst/>
          </a:prstGeom>
          <a:noFill/>
        </p:spPr>
        <p:txBody>
          <a:bodyPr wrap="square" rtlCol="0">
            <a:spAutoFit/>
          </a:bodyPr>
          <a:lstStyle/>
          <a:p>
            <a:r>
              <a:rPr lang="en-US" sz="2000" dirty="0" smtClean="0"/>
              <a:t>Symbol tables are data structures that are used by compilers to hold information</a:t>
            </a:r>
          </a:p>
          <a:p>
            <a:r>
              <a:rPr lang="en-US" sz="2000" dirty="0" smtClean="0"/>
              <a:t>about source-program constructs.</a:t>
            </a:r>
          </a:p>
          <a:p>
            <a:endParaRPr lang="en-US" sz="2000" dirty="0" smtClean="0"/>
          </a:p>
          <a:p>
            <a:r>
              <a:rPr lang="en-US" sz="2000" dirty="0" smtClean="0"/>
              <a:t>The information is collected incrementally by the analysis phases of a compiler and used by the synthesis phases to generate the target code.</a:t>
            </a:r>
          </a:p>
          <a:p>
            <a:endParaRPr lang="en-US" sz="2000" dirty="0" smtClean="0"/>
          </a:p>
          <a:p>
            <a:r>
              <a:rPr lang="en-US" sz="2000" dirty="0" smtClean="0"/>
              <a:t>Entries in the symbol table contain information about an identifier such as its character string (or lexeme) , its type, its position in storage, and any other relevant information.</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Symbol Table</a:t>
            </a:r>
            <a:endParaRPr lang="en-US" altLang="ko-KR" b="1" dirty="0" smtClean="0">
              <a:solidFill>
                <a:schemeClr val="bg1"/>
              </a:solidFill>
            </a:endParaRPr>
          </a:p>
        </p:txBody>
      </p:sp>
      <p:sp>
        <p:nvSpPr>
          <p:cNvPr id="5" name="TextBox 4"/>
          <p:cNvSpPr txBox="1"/>
          <p:nvPr/>
        </p:nvSpPr>
        <p:spPr>
          <a:xfrm>
            <a:off x="457200" y="1276350"/>
            <a:ext cx="8534400" cy="3262432"/>
          </a:xfrm>
          <a:prstGeom prst="rect">
            <a:avLst/>
          </a:prstGeom>
          <a:noFill/>
        </p:spPr>
        <p:txBody>
          <a:bodyPr wrap="square" rtlCol="0">
            <a:spAutoFit/>
          </a:bodyPr>
          <a:lstStyle/>
          <a:p>
            <a:r>
              <a:rPr lang="en-US" sz="1400" dirty="0" smtClean="0"/>
              <a:t>A symbol table is a table that binds names to information. We need a number of operations on symbol tables to accomplish this:</a:t>
            </a:r>
          </a:p>
          <a:p>
            <a:endParaRPr lang="en-US" sz="1000" dirty="0" smtClean="0"/>
          </a:p>
          <a:p>
            <a:pPr>
              <a:buFont typeface="Arial" pitchFamily="34" charset="0"/>
              <a:buChar char="•"/>
            </a:pPr>
            <a:r>
              <a:rPr lang="en-US" sz="1400" dirty="0" smtClean="0"/>
              <a:t> We need an empty symbol table, in which no name is defined.</a:t>
            </a:r>
          </a:p>
          <a:p>
            <a:endParaRPr lang="en-US" sz="1400" dirty="0" smtClean="0"/>
          </a:p>
          <a:p>
            <a:pPr>
              <a:buFont typeface="Arial" pitchFamily="34" charset="0"/>
              <a:buChar char="•"/>
            </a:pPr>
            <a:r>
              <a:rPr lang="en-US" sz="1400" dirty="0" smtClean="0"/>
              <a:t> We need to be able to bind a name to a piece of information. In case the name is already defined in the symbol table, the new binding takes precedence over the old.</a:t>
            </a:r>
          </a:p>
          <a:p>
            <a:endParaRPr lang="en-US" sz="1400" dirty="0" smtClean="0"/>
          </a:p>
          <a:p>
            <a:pPr>
              <a:buFont typeface="Arial" pitchFamily="34" charset="0"/>
              <a:buChar char="•"/>
            </a:pPr>
            <a:r>
              <a:rPr lang="en-US" sz="1400" dirty="0" smtClean="0"/>
              <a:t> We need to be able to look up a name in a symbol table to find the information the name is bound to. If the name is not defined in the symbol table, we need to be told that.</a:t>
            </a:r>
          </a:p>
          <a:p>
            <a:pPr>
              <a:buFont typeface="Arial" pitchFamily="34" charset="0"/>
              <a:buChar char="•"/>
            </a:pPr>
            <a:endParaRPr lang="en-US" sz="1400" dirty="0" smtClean="0"/>
          </a:p>
          <a:p>
            <a:pPr>
              <a:buFont typeface="Arial" pitchFamily="34" charset="0"/>
              <a:buChar char="•"/>
            </a:pPr>
            <a:r>
              <a:rPr lang="en-US" sz="1400" dirty="0" smtClean="0"/>
              <a:t> We need to be able to enter a new scope.</a:t>
            </a:r>
          </a:p>
          <a:p>
            <a:pPr>
              <a:buFont typeface="Arial" pitchFamily="34" charset="0"/>
              <a:buChar char="•"/>
            </a:pPr>
            <a:endParaRPr lang="en-US" sz="1400" dirty="0" smtClean="0"/>
          </a:p>
          <a:p>
            <a:pPr>
              <a:buFont typeface="Arial" pitchFamily="34" charset="0"/>
              <a:buChar char="•"/>
            </a:pPr>
            <a:r>
              <a:rPr lang="en-US" sz="1400" dirty="0" smtClean="0"/>
              <a:t> We need to be able to exit a scope, reestablishing the symbol table to what it was before the scope was entered.</a:t>
            </a:r>
            <a:endParaRPr lang="en-US" sz="1400" dirty="0">
              <a:solidFill>
                <a:schemeClr val="tx1">
                  <a:lumMod val="75000"/>
                  <a:lumOff val="25000"/>
                </a:schemeClr>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038350"/>
            <a:ext cx="6172200" cy="548879"/>
          </a:xfrm>
        </p:spPr>
        <p:txBody>
          <a:bodyPr/>
          <a:lstStyle/>
          <a:p>
            <a:pPr algn="ctr"/>
            <a:r>
              <a:rPr lang="en-US" dirty="0" smtClean="0"/>
              <a:t>UNIT </a:t>
            </a:r>
            <a:r>
              <a:rPr lang="en-US" dirty="0" smtClean="0"/>
              <a:t>3.2</a:t>
            </a:r>
            <a:endParaRPr lang="en-US" dirty="0"/>
          </a:p>
        </p:txBody>
      </p:sp>
      <p:sp>
        <p:nvSpPr>
          <p:cNvPr id="4" name="Slide Number Placeholder 3"/>
          <p:cNvSpPr>
            <a:spLocks noGrp="1"/>
          </p:cNvSpPr>
          <p:nvPr>
            <p:ph type="sldNum" sz="quarter" idx="12"/>
          </p:nvPr>
        </p:nvSpPr>
        <p:spPr/>
        <p:txBody>
          <a:bodyPr/>
          <a:lstStyle/>
          <a:p>
            <a:fld id="{4192AEF6-A042-4DA6-A3E1-F04AAE1E3944}" type="slidenum">
              <a:rPr lang="en-US" smtClean="0"/>
              <a:pPr/>
              <a:t>8</a:t>
            </a:fld>
            <a:endParaRPr lang="en-US"/>
          </a:p>
        </p:txBody>
      </p:sp>
      <p:sp>
        <p:nvSpPr>
          <p:cNvPr id="5" name="TextBox 4"/>
          <p:cNvSpPr txBox="1"/>
          <p:nvPr/>
        </p:nvSpPr>
        <p:spPr>
          <a:xfrm>
            <a:off x="2857500" y="2678596"/>
            <a:ext cx="3829050" cy="931024"/>
          </a:xfrm>
          <a:prstGeom prst="rect">
            <a:avLst/>
          </a:prstGeom>
          <a:noFill/>
        </p:spPr>
        <p:txBody>
          <a:bodyPr wrap="square" rtlCol="0">
            <a:spAutoFit/>
          </a:bodyPr>
          <a:lstStyle/>
          <a:p>
            <a:pPr lvl="1">
              <a:defRPr/>
            </a:pPr>
            <a:r>
              <a:rPr lang="en-US" sz="1350" dirty="0"/>
              <a:t> </a:t>
            </a:r>
            <a:r>
              <a:rPr lang="en-US" sz="1400" dirty="0"/>
              <a:t>Who creates Symbol </a:t>
            </a:r>
            <a:r>
              <a:rPr lang="en-US" sz="1400" dirty="0" smtClean="0"/>
              <a:t>Table ?</a:t>
            </a:r>
          </a:p>
          <a:p>
            <a:pPr lvl="1">
              <a:defRPr/>
            </a:pPr>
            <a:r>
              <a:rPr lang="en-US" sz="1350" dirty="0" smtClean="0"/>
              <a:t>      Scope </a:t>
            </a:r>
            <a:r>
              <a:rPr lang="en-US" sz="1350" dirty="0"/>
              <a:t>of Symbol Table</a:t>
            </a:r>
          </a:p>
          <a:p>
            <a:pPr lvl="1">
              <a:defRPr/>
            </a:pPr>
            <a:endParaRPr lang="en-US" altLang="ko-KR" sz="1350" dirty="0"/>
          </a:p>
          <a:p>
            <a:pPr algn="ctr"/>
            <a:endParaRPr lang="en-US" sz="1350" dirty="0"/>
          </a:p>
        </p:txBody>
      </p:sp>
      <p:sp>
        <p:nvSpPr>
          <p:cNvPr id="6" name="TextBox 5"/>
          <p:cNvSpPr txBox="1"/>
          <p:nvPr/>
        </p:nvSpPr>
        <p:spPr>
          <a:xfrm>
            <a:off x="6972300" y="1"/>
            <a:ext cx="1543050" cy="219291"/>
          </a:xfrm>
          <a:prstGeom prst="rect">
            <a:avLst/>
          </a:prstGeom>
          <a:noFill/>
        </p:spPr>
        <p:txBody>
          <a:bodyPr wrap="square" rtlCol="0">
            <a:spAutoFit/>
          </a:bodyPr>
          <a:lstStyle/>
          <a:p>
            <a:r>
              <a:rPr lang="en-US" sz="825" b="1" dirty="0">
                <a:solidFill>
                  <a:schemeClr val="bg1"/>
                </a:solidFill>
                <a:hlinkClick r:id="rId2" action="ppaction://hlinksldjump"/>
              </a:rPr>
              <a:t>Home</a:t>
            </a:r>
            <a:endParaRPr lang="en-US" sz="825" b="1" dirty="0">
              <a:solidFill>
                <a:schemeClr val="bg1"/>
              </a:solidFill>
            </a:endParaRPr>
          </a:p>
        </p:txBody>
      </p:sp>
    </p:spTree>
    <p:extLst>
      <p:ext uri="{BB962C8B-B14F-4D97-AF65-F5344CB8AC3E}">
        <p14:creationId xmlns:p14="http://schemas.microsoft.com/office/powerpoint/2010/main" val="7100208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Who creates Symbol Table Entities?</a:t>
            </a:r>
            <a:endParaRPr lang="en-US" altLang="ko-KR" b="1" dirty="0" smtClean="0">
              <a:solidFill>
                <a:schemeClr val="bg1"/>
              </a:solidFill>
            </a:endParaRPr>
          </a:p>
        </p:txBody>
      </p:sp>
      <p:sp>
        <p:nvSpPr>
          <p:cNvPr id="5" name="TextBox 4"/>
          <p:cNvSpPr txBox="1"/>
          <p:nvPr/>
        </p:nvSpPr>
        <p:spPr>
          <a:xfrm>
            <a:off x="457200" y="1276350"/>
            <a:ext cx="8534400" cy="2585323"/>
          </a:xfrm>
          <a:prstGeom prst="rect">
            <a:avLst/>
          </a:prstGeom>
          <a:noFill/>
        </p:spPr>
        <p:txBody>
          <a:bodyPr wrap="square" rtlCol="0">
            <a:spAutoFit/>
          </a:bodyPr>
          <a:lstStyle/>
          <a:p>
            <a:r>
              <a:rPr lang="en-US" dirty="0" smtClean="0"/>
              <a:t>Symbol-table entries are created and used during the analysis phase by the lexical analyzer, the parser, and the semantic analyzer.</a:t>
            </a:r>
          </a:p>
          <a:p>
            <a:endParaRPr lang="en-US" dirty="0" smtClean="0">
              <a:solidFill>
                <a:schemeClr val="tx1">
                  <a:lumMod val="75000"/>
                  <a:lumOff val="25000"/>
                </a:schemeClr>
              </a:solidFill>
            </a:endParaRPr>
          </a:p>
          <a:p>
            <a:r>
              <a:rPr lang="en-US" dirty="0" smtClean="0"/>
              <a:t>In some cases, a lexical analyzer can create a symbol-table entry as soon as it sees the characters that make up a lexeme. </a:t>
            </a:r>
          </a:p>
          <a:p>
            <a:r>
              <a:rPr lang="en-US" dirty="0" smtClean="0"/>
              <a:t>More often, the lexical analyzer can only return to the parser a token, say </a:t>
            </a:r>
            <a:r>
              <a:rPr lang="en-US" b="1" dirty="0" smtClean="0"/>
              <a:t>id, along with </a:t>
            </a:r>
            <a:r>
              <a:rPr lang="en-US" dirty="0" smtClean="0"/>
              <a:t>a pointer to the lexeme. </a:t>
            </a:r>
          </a:p>
          <a:p>
            <a:r>
              <a:rPr lang="en-US" dirty="0" smtClean="0"/>
              <a:t>Only the parser, however, can decide whether to use a previously created symbol-table entry or create a new one for the identifier.</a:t>
            </a:r>
            <a:endParaRPr lang="en-US" dirty="0">
              <a:solidFill>
                <a:schemeClr val="tx1">
                  <a:lumMod val="75000"/>
                  <a:lumOff val="25000"/>
                </a:schemeClr>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Symbol Table Per Scope</a:t>
            </a:r>
            <a:endParaRPr lang="en-US" altLang="ko-KR" dirty="0" smtClean="0">
              <a:solidFill>
                <a:schemeClr val="bg1"/>
              </a:solidFill>
            </a:endParaRPr>
          </a:p>
        </p:txBody>
      </p:sp>
      <p:sp>
        <p:nvSpPr>
          <p:cNvPr id="5" name="TextBox 4"/>
          <p:cNvSpPr txBox="1"/>
          <p:nvPr/>
        </p:nvSpPr>
        <p:spPr>
          <a:xfrm>
            <a:off x="457200" y="1276350"/>
            <a:ext cx="8534400" cy="3139321"/>
          </a:xfrm>
          <a:prstGeom prst="rect">
            <a:avLst/>
          </a:prstGeom>
          <a:noFill/>
        </p:spPr>
        <p:txBody>
          <a:bodyPr wrap="square" rtlCol="0">
            <a:spAutoFit/>
          </a:bodyPr>
          <a:lstStyle/>
          <a:p>
            <a:r>
              <a:rPr lang="en-US" dirty="0" smtClean="0"/>
              <a:t>The term "scope of identifier </a:t>
            </a:r>
            <a:r>
              <a:rPr lang="en-US" i="1" dirty="0" smtClean="0"/>
              <a:t>x really refers to the scope of a particular declaration</a:t>
            </a:r>
          </a:p>
          <a:p>
            <a:r>
              <a:rPr lang="en-US" dirty="0" smtClean="0"/>
              <a:t>of x. </a:t>
            </a:r>
          </a:p>
          <a:p>
            <a:r>
              <a:rPr lang="en-US" dirty="0" smtClean="0"/>
              <a:t>The term </a:t>
            </a:r>
            <a:r>
              <a:rPr lang="en-US" i="1" dirty="0" smtClean="0"/>
              <a:t>scope by itself refers to a portion of a program that is </a:t>
            </a:r>
            <a:r>
              <a:rPr lang="en-US" dirty="0" smtClean="0"/>
              <a:t>the scope of one or more declarations.</a:t>
            </a:r>
          </a:p>
          <a:p>
            <a:r>
              <a:rPr lang="en-US" dirty="0" smtClean="0"/>
              <a:t>Scopes are important, because the same identifier can be declared for different</a:t>
            </a:r>
          </a:p>
          <a:p>
            <a:r>
              <a:rPr lang="en-US" dirty="0" smtClean="0"/>
              <a:t>purposes in different parts of a program.</a:t>
            </a:r>
          </a:p>
          <a:p>
            <a:r>
              <a:rPr lang="en-US" dirty="0" smtClean="0"/>
              <a:t>If blocks can be nested, several declarations of the same identifier can appear</a:t>
            </a:r>
          </a:p>
          <a:p>
            <a:r>
              <a:rPr lang="en-US" dirty="0" smtClean="0"/>
              <a:t>within a single block. The following syntax results in nested blocks when </a:t>
            </a:r>
            <a:r>
              <a:rPr lang="en-US" i="1" dirty="0" err="1" smtClean="0"/>
              <a:t>stmts</a:t>
            </a:r>
            <a:endParaRPr lang="en-US" i="1" dirty="0" smtClean="0"/>
          </a:p>
          <a:p>
            <a:r>
              <a:rPr lang="en-US" dirty="0" smtClean="0"/>
              <a:t>can generate a block:</a:t>
            </a:r>
          </a:p>
          <a:p>
            <a:endParaRPr lang="en-US" dirty="0" smtClean="0"/>
          </a:p>
          <a:p>
            <a:pPr algn="ctr"/>
            <a:r>
              <a:rPr lang="sv-SE" b="1" i="1" dirty="0" smtClean="0"/>
              <a:t>block -+ '(I decls stmts '3'</a:t>
            </a:r>
            <a:endParaRPr lang="en-US" b="1" dirty="0">
              <a:solidFill>
                <a:schemeClr val="tx1">
                  <a:lumMod val="75000"/>
                  <a:lumOff val="25000"/>
                </a:schemeClr>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Scope Example</a:t>
            </a:r>
            <a:endParaRPr lang="en-US" altLang="ko-KR" dirty="0" smtClean="0">
              <a:solidFill>
                <a:schemeClr val="bg1"/>
              </a:solidFill>
            </a:endParaRPr>
          </a:p>
        </p:txBody>
      </p:sp>
      <p:pic>
        <p:nvPicPr>
          <p:cNvPr id="4" name="Picture 3"/>
          <p:cNvPicPr>
            <a:picLocks noChangeAspect="1"/>
          </p:cNvPicPr>
          <p:nvPr/>
        </p:nvPicPr>
        <p:blipFill>
          <a:blip r:embed="rId2"/>
          <a:srcRect l="32430" t="33333" r="19289" b="11458"/>
          <a:stretch>
            <a:fillRect/>
          </a:stretch>
        </p:blipFill>
        <p:spPr bwMode="auto">
          <a:xfrm>
            <a:off x="2133600" y="1417639"/>
            <a:ext cx="4876800" cy="3021214"/>
          </a:xfrm>
          <a:prstGeom prst="rect">
            <a:avLst/>
          </a:prstGeom>
          <a:noFill/>
          <a:ln w="9525">
            <a:noFill/>
            <a:miter lim="800000"/>
            <a:headEnd/>
            <a:tailEnd/>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sz="3200" dirty="0" smtClean="0"/>
              <a:t>What information is stored in the symbol table?</a:t>
            </a:r>
            <a:endParaRPr lang="en-US" altLang="ko-KR" sz="3200" dirty="0" smtClean="0">
              <a:solidFill>
                <a:schemeClr val="bg1"/>
              </a:solidFill>
            </a:endParaRPr>
          </a:p>
        </p:txBody>
      </p:sp>
      <p:sp>
        <p:nvSpPr>
          <p:cNvPr id="5" name="TextBox 4"/>
          <p:cNvSpPr txBox="1"/>
          <p:nvPr/>
        </p:nvSpPr>
        <p:spPr>
          <a:xfrm>
            <a:off x="457200" y="1276350"/>
            <a:ext cx="8534400" cy="3308598"/>
          </a:xfrm>
          <a:prstGeom prst="rect">
            <a:avLst/>
          </a:prstGeom>
          <a:noFill/>
        </p:spPr>
        <p:txBody>
          <a:bodyPr wrap="square" rtlCol="0">
            <a:spAutoFit/>
          </a:bodyPr>
          <a:lstStyle/>
          <a:p>
            <a:pPr>
              <a:buFontTx/>
              <a:buNone/>
            </a:pPr>
            <a:r>
              <a:rPr lang="en-GB" sz="2000" dirty="0" smtClean="0"/>
              <a:t>What items to enter in the symbol table?</a:t>
            </a:r>
          </a:p>
          <a:p>
            <a:r>
              <a:rPr lang="en-GB" dirty="0" smtClean="0"/>
              <a:t>Variable names; defined constants; procedure and function names; literal constants and strings; source text labels; compiler-generated temporaries.</a:t>
            </a:r>
          </a:p>
          <a:p>
            <a:pPr>
              <a:lnSpc>
                <a:spcPct val="80000"/>
              </a:lnSpc>
              <a:spcBef>
                <a:spcPct val="0"/>
              </a:spcBef>
              <a:buFontTx/>
              <a:buNone/>
            </a:pPr>
            <a:endParaRPr lang="en-GB" sz="2000" dirty="0" smtClean="0"/>
          </a:p>
          <a:p>
            <a:pPr>
              <a:buFontTx/>
              <a:buNone/>
            </a:pPr>
            <a:r>
              <a:rPr lang="en-GB" sz="2000" dirty="0" smtClean="0"/>
              <a:t>What kind of information might the compiler need about each item:</a:t>
            </a:r>
          </a:p>
          <a:p>
            <a:r>
              <a:rPr lang="en-GB" dirty="0" smtClean="0"/>
              <a:t>textual name, data type, declaring procedure, storage information. Depending on the type of the object, the compiler may want to know list of fields (for structures), number of parameters and types (for functions), etc…</a:t>
            </a:r>
          </a:p>
          <a:p>
            <a:pPr>
              <a:lnSpc>
                <a:spcPct val="50000"/>
              </a:lnSpc>
              <a:spcBef>
                <a:spcPct val="0"/>
              </a:spcBef>
            </a:pPr>
            <a:endParaRPr lang="en-GB" dirty="0" smtClean="0"/>
          </a:p>
          <a:p>
            <a:pPr>
              <a:buFontTx/>
              <a:buNone/>
            </a:pPr>
            <a:r>
              <a:rPr lang="en-GB" dirty="0" smtClean="0"/>
              <a:t>In practice, many different tables may exist.</a:t>
            </a:r>
          </a:p>
          <a:p>
            <a:pPr algn="ctr">
              <a:buFontTx/>
              <a:buNone/>
            </a:pPr>
            <a:r>
              <a:rPr lang="en-GB" i="1" dirty="0" smtClean="0"/>
              <a:t>Symbol table information is accessed frequently: </a:t>
            </a:r>
          </a:p>
          <a:p>
            <a:pPr algn="ctr">
              <a:spcBef>
                <a:spcPct val="0"/>
              </a:spcBef>
              <a:buFontTx/>
              <a:buNone/>
            </a:pPr>
            <a:r>
              <a:rPr lang="en-GB" i="1" dirty="0" smtClean="0"/>
              <a:t>hence, efficiency of access is critical!</a:t>
            </a:r>
            <a:endParaRPr lang="en-GB"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038350"/>
            <a:ext cx="6172200" cy="548879"/>
          </a:xfrm>
        </p:spPr>
        <p:txBody>
          <a:bodyPr/>
          <a:lstStyle/>
          <a:p>
            <a:pPr algn="ctr"/>
            <a:r>
              <a:rPr lang="en-US" dirty="0" smtClean="0"/>
              <a:t>UNIT </a:t>
            </a:r>
            <a:r>
              <a:rPr lang="en-US" dirty="0" smtClean="0"/>
              <a:t>3.3</a:t>
            </a:r>
            <a:endParaRPr lang="en-US" dirty="0"/>
          </a:p>
        </p:txBody>
      </p:sp>
      <p:sp>
        <p:nvSpPr>
          <p:cNvPr id="4" name="Slide Number Placeholder 3"/>
          <p:cNvSpPr>
            <a:spLocks noGrp="1"/>
          </p:cNvSpPr>
          <p:nvPr>
            <p:ph type="sldNum" sz="quarter" idx="12"/>
          </p:nvPr>
        </p:nvSpPr>
        <p:spPr/>
        <p:txBody>
          <a:bodyPr/>
          <a:lstStyle/>
          <a:p>
            <a:fld id="{4192AEF6-A042-4DA6-A3E1-F04AAE1E3944}" type="slidenum">
              <a:rPr lang="en-US" smtClean="0"/>
              <a:pPr/>
              <a:t>13</a:t>
            </a:fld>
            <a:endParaRPr lang="en-US"/>
          </a:p>
        </p:txBody>
      </p:sp>
      <p:sp>
        <p:nvSpPr>
          <p:cNvPr id="5" name="TextBox 4"/>
          <p:cNvSpPr txBox="1"/>
          <p:nvPr/>
        </p:nvSpPr>
        <p:spPr>
          <a:xfrm>
            <a:off x="2857500" y="2678596"/>
            <a:ext cx="3829050" cy="723275"/>
          </a:xfrm>
          <a:prstGeom prst="rect">
            <a:avLst/>
          </a:prstGeom>
          <a:noFill/>
        </p:spPr>
        <p:txBody>
          <a:bodyPr wrap="square" rtlCol="0">
            <a:spAutoFit/>
          </a:bodyPr>
          <a:lstStyle/>
          <a:p>
            <a:pPr lvl="1">
              <a:defRPr/>
            </a:pPr>
            <a:r>
              <a:rPr lang="en-US" sz="1350" dirty="0"/>
              <a:t> </a:t>
            </a:r>
            <a:r>
              <a:rPr lang="en-GB" sz="1400" dirty="0"/>
              <a:t>Organising the symbol </a:t>
            </a:r>
            <a:r>
              <a:rPr lang="en-GB" sz="1400" dirty="0" smtClean="0"/>
              <a:t>table</a:t>
            </a:r>
            <a:endParaRPr lang="en-US" sz="1350" dirty="0"/>
          </a:p>
          <a:p>
            <a:pPr lvl="1">
              <a:defRPr/>
            </a:pPr>
            <a:endParaRPr lang="en-US" altLang="ko-KR" sz="1350" dirty="0"/>
          </a:p>
          <a:p>
            <a:pPr algn="ctr"/>
            <a:endParaRPr lang="en-US" sz="1350" dirty="0"/>
          </a:p>
        </p:txBody>
      </p:sp>
      <p:sp>
        <p:nvSpPr>
          <p:cNvPr id="6" name="TextBox 5"/>
          <p:cNvSpPr txBox="1"/>
          <p:nvPr/>
        </p:nvSpPr>
        <p:spPr>
          <a:xfrm>
            <a:off x="6972300" y="1"/>
            <a:ext cx="1543050" cy="219291"/>
          </a:xfrm>
          <a:prstGeom prst="rect">
            <a:avLst/>
          </a:prstGeom>
          <a:noFill/>
        </p:spPr>
        <p:txBody>
          <a:bodyPr wrap="square" rtlCol="0">
            <a:spAutoFit/>
          </a:bodyPr>
          <a:lstStyle/>
          <a:p>
            <a:r>
              <a:rPr lang="en-US" sz="825" b="1" dirty="0">
                <a:solidFill>
                  <a:schemeClr val="bg1"/>
                </a:solidFill>
                <a:hlinkClick r:id="rId2" action="ppaction://hlinksldjump"/>
              </a:rPr>
              <a:t>Home</a:t>
            </a:r>
            <a:endParaRPr lang="en-US" sz="825" b="1" dirty="0">
              <a:solidFill>
                <a:schemeClr val="bg1"/>
              </a:solidFill>
            </a:endParaRPr>
          </a:p>
        </p:txBody>
      </p:sp>
    </p:spTree>
    <p:extLst>
      <p:ext uri="{BB962C8B-B14F-4D97-AF65-F5344CB8AC3E}">
        <p14:creationId xmlns:p14="http://schemas.microsoft.com/office/powerpoint/2010/main" val="32180513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sz="3200" dirty="0" smtClean="0"/>
              <a:t>Organising the symbol table</a:t>
            </a:r>
            <a:endParaRPr lang="en-US" altLang="ko-KR" sz="3200" dirty="0" smtClean="0">
              <a:solidFill>
                <a:schemeClr val="bg1"/>
              </a:solidFill>
            </a:endParaRPr>
          </a:p>
        </p:txBody>
      </p:sp>
      <p:sp>
        <p:nvSpPr>
          <p:cNvPr id="5" name="TextBox 4"/>
          <p:cNvSpPr txBox="1"/>
          <p:nvPr/>
        </p:nvSpPr>
        <p:spPr>
          <a:xfrm>
            <a:off x="457200" y="1276350"/>
            <a:ext cx="8534400" cy="3234732"/>
          </a:xfrm>
          <a:prstGeom prst="rect">
            <a:avLst/>
          </a:prstGeom>
          <a:noFill/>
        </p:spPr>
        <p:txBody>
          <a:bodyPr wrap="square" rtlCol="0">
            <a:spAutoFit/>
          </a:bodyPr>
          <a:lstStyle/>
          <a:p>
            <a:r>
              <a:rPr lang="en-GB" dirty="0" smtClean="0"/>
              <a:t>Linear List:</a:t>
            </a:r>
          </a:p>
          <a:p>
            <a:pPr lvl="1">
              <a:lnSpc>
                <a:spcPct val="95000"/>
              </a:lnSpc>
              <a:spcBef>
                <a:spcPct val="0"/>
              </a:spcBef>
            </a:pPr>
            <a:r>
              <a:rPr lang="en-GB" sz="1600" dirty="0" smtClean="0"/>
              <a:t>Simple approach, has no fixed size; but inefficient: a lookup may need to traverse the entire list: this takes </a:t>
            </a:r>
            <a:r>
              <a:rPr lang="en-GB" sz="1600" i="1" dirty="0" smtClean="0"/>
              <a:t>O(n).</a:t>
            </a:r>
            <a:endParaRPr lang="en-GB" sz="1600" dirty="0" smtClean="0"/>
          </a:p>
          <a:p>
            <a:pPr>
              <a:lnSpc>
                <a:spcPct val="95000"/>
              </a:lnSpc>
              <a:spcBef>
                <a:spcPct val="0"/>
              </a:spcBef>
            </a:pPr>
            <a:r>
              <a:rPr lang="en-GB" dirty="0" smtClean="0"/>
              <a:t>Binary tree:</a:t>
            </a:r>
            <a:endParaRPr lang="en-GB" sz="1200" dirty="0" smtClean="0"/>
          </a:p>
          <a:p>
            <a:pPr lvl="1">
              <a:lnSpc>
                <a:spcPct val="95000"/>
              </a:lnSpc>
              <a:spcBef>
                <a:spcPct val="0"/>
              </a:spcBef>
            </a:pPr>
            <a:r>
              <a:rPr lang="en-GB" sz="1600" dirty="0" smtClean="0"/>
              <a:t>An unbalanced tree would have similar behaviour as a linear list (this could arise if symbols are entered in sorted order).</a:t>
            </a:r>
          </a:p>
          <a:p>
            <a:pPr lvl="1">
              <a:lnSpc>
                <a:spcPct val="95000"/>
              </a:lnSpc>
              <a:spcBef>
                <a:spcPct val="0"/>
              </a:spcBef>
            </a:pPr>
            <a:r>
              <a:rPr lang="en-GB" sz="1600" dirty="0" smtClean="0"/>
              <a:t>A balanced tree (path length is roughly equal to all its leaves) would take </a:t>
            </a:r>
            <a:r>
              <a:rPr lang="en-GB" sz="1600" i="1" dirty="0" smtClean="0"/>
              <a:t>O(log</a:t>
            </a:r>
            <a:r>
              <a:rPr lang="en-GB" sz="1600" i="1" baseline="-25000" dirty="0" smtClean="0"/>
              <a:t>2</a:t>
            </a:r>
            <a:r>
              <a:rPr lang="en-GB" sz="1600" i="1" dirty="0" smtClean="0"/>
              <a:t>n)</a:t>
            </a:r>
            <a:r>
              <a:rPr lang="en-GB" sz="1600" dirty="0" smtClean="0"/>
              <a:t> probes per lookup (worst-case). Techniques exist for dynamically rebalancing trees.</a:t>
            </a:r>
          </a:p>
          <a:p>
            <a:pPr>
              <a:lnSpc>
                <a:spcPct val="95000"/>
              </a:lnSpc>
              <a:spcBef>
                <a:spcPct val="0"/>
              </a:spcBef>
            </a:pPr>
            <a:r>
              <a:rPr lang="en-GB" dirty="0" smtClean="0"/>
              <a:t>Hash table:</a:t>
            </a:r>
          </a:p>
          <a:p>
            <a:pPr lvl="1">
              <a:lnSpc>
                <a:spcPct val="95000"/>
              </a:lnSpc>
              <a:spcBef>
                <a:spcPct val="0"/>
              </a:spcBef>
            </a:pPr>
            <a:r>
              <a:rPr lang="en-GB" sz="1600" dirty="0" smtClean="0"/>
              <a:t>Uses a hash function, </a:t>
            </a:r>
            <a:r>
              <a:rPr lang="en-GB" sz="1600" i="1" dirty="0" smtClean="0"/>
              <a:t>h</a:t>
            </a:r>
            <a:r>
              <a:rPr lang="en-GB" sz="1600" dirty="0" smtClean="0"/>
              <a:t>, to map names into integers; this is taken as a table index to store information. Potentially </a:t>
            </a:r>
            <a:r>
              <a:rPr lang="en-GB" sz="1600" i="1" dirty="0" smtClean="0"/>
              <a:t>O(1),</a:t>
            </a:r>
            <a:r>
              <a:rPr lang="en-GB" sz="1600" dirty="0" smtClean="0"/>
              <a:t> but needs inexpensive function, with good mapping properties, and a policy to handle cases when several names map to the same single index.</a:t>
            </a:r>
            <a:endParaRPr lang="en-GB" sz="16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sz="3200" dirty="0" smtClean="0"/>
              <a:t>Bucket hashing (open hashing)</a:t>
            </a:r>
            <a:endParaRPr lang="en-US" altLang="ko-KR" sz="3200" dirty="0" smtClean="0">
              <a:solidFill>
                <a:schemeClr val="bg1"/>
              </a:solidFill>
            </a:endParaRPr>
          </a:p>
        </p:txBody>
      </p:sp>
      <p:sp>
        <p:nvSpPr>
          <p:cNvPr id="5" name="TextBox 4"/>
          <p:cNvSpPr txBox="1"/>
          <p:nvPr/>
        </p:nvSpPr>
        <p:spPr>
          <a:xfrm>
            <a:off x="457200" y="1276350"/>
            <a:ext cx="4800600" cy="2862322"/>
          </a:xfrm>
          <a:prstGeom prst="rect">
            <a:avLst/>
          </a:prstGeom>
          <a:noFill/>
        </p:spPr>
        <p:txBody>
          <a:bodyPr wrap="square" rtlCol="0">
            <a:spAutoFit/>
          </a:bodyPr>
          <a:lstStyle/>
          <a:p>
            <a:r>
              <a:rPr lang="en-GB" dirty="0" smtClean="0"/>
              <a:t>A hash table consisting of a fixed array of </a:t>
            </a:r>
            <a:r>
              <a:rPr lang="en-GB" i="1" dirty="0" smtClean="0"/>
              <a:t>m</a:t>
            </a:r>
            <a:r>
              <a:rPr lang="en-GB" dirty="0" smtClean="0"/>
              <a:t> pointers to table entries.</a:t>
            </a:r>
          </a:p>
          <a:p>
            <a:r>
              <a:rPr lang="en-GB" dirty="0" smtClean="0"/>
              <a:t>Table entries are organised as separate linked lists called buckets.</a:t>
            </a:r>
          </a:p>
          <a:p>
            <a:r>
              <a:rPr lang="en-GB" dirty="0" smtClean="0"/>
              <a:t>Use the hash function to obtain an integer from </a:t>
            </a:r>
            <a:r>
              <a:rPr lang="en-GB" i="1" dirty="0" smtClean="0"/>
              <a:t>0</a:t>
            </a:r>
            <a:r>
              <a:rPr lang="en-GB" dirty="0" smtClean="0"/>
              <a:t> to </a:t>
            </a:r>
            <a:r>
              <a:rPr lang="en-GB" i="1" dirty="0" smtClean="0"/>
              <a:t>m-1</a:t>
            </a:r>
            <a:r>
              <a:rPr lang="en-GB" dirty="0" smtClean="0"/>
              <a:t>.</a:t>
            </a:r>
          </a:p>
          <a:p>
            <a:r>
              <a:rPr lang="en-GB" dirty="0" smtClean="0"/>
              <a:t>As long as </a:t>
            </a:r>
            <a:r>
              <a:rPr lang="en-GB" i="1" dirty="0" smtClean="0"/>
              <a:t>h</a:t>
            </a:r>
            <a:r>
              <a:rPr lang="en-GB" dirty="0" smtClean="0"/>
              <a:t> distributes names fairly uniformly (and the number of names is within a small constant factor of the number of buckets), bucket hashing behaves reasonably well.</a:t>
            </a:r>
            <a:endParaRPr lang="en-GB" dirty="0"/>
          </a:p>
        </p:txBody>
      </p:sp>
      <p:grpSp>
        <p:nvGrpSpPr>
          <p:cNvPr id="4" name="Group 4"/>
          <p:cNvGrpSpPr>
            <a:grpSpLocks/>
          </p:cNvGrpSpPr>
          <p:nvPr/>
        </p:nvGrpSpPr>
        <p:grpSpPr bwMode="auto">
          <a:xfrm>
            <a:off x="6172200" y="1352550"/>
            <a:ext cx="1905000" cy="2647950"/>
            <a:chOff x="4080" y="1056"/>
            <a:chExt cx="1536" cy="1920"/>
          </a:xfrm>
          <a:solidFill>
            <a:schemeClr val="tx2"/>
          </a:solidFill>
        </p:grpSpPr>
        <p:sp>
          <p:nvSpPr>
            <p:cNvPr id="6" name="Rectangle 5"/>
            <p:cNvSpPr>
              <a:spLocks noChangeArrowheads="1"/>
            </p:cNvSpPr>
            <p:nvPr/>
          </p:nvSpPr>
          <p:spPr bwMode="auto">
            <a:xfrm>
              <a:off x="4080" y="1056"/>
              <a:ext cx="288" cy="1920"/>
            </a:xfrm>
            <a:prstGeom prst="rect">
              <a:avLst/>
            </a:prstGeom>
            <a:grpFill/>
            <a:ln w="9525">
              <a:solidFill>
                <a:schemeClr val="tx2">
                  <a:lumMod val="20000"/>
                  <a:lumOff val="80000"/>
                </a:schemeClr>
              </a:solidFill>
              <a:miter lim="800000"/>
              <a:headEnd/>
              <a:tailEnd/>
            </a:ln>
            <a:effectLst/>
          </p:spPr>
          <p:txBody>
            <a:bodyPr wrap="none" anchor="ctr"/>
            <a:lstStyle/>
            <a:p>
              <a:endParaRPr lang="en-US">
                <a:solidFill>
                  <a:schemeClr val="bg1"/>
                </a:solidFill>
              </a:endParaRPr>
            </a:p>
          </p:txBody>
        </p:sp>
        <p:sp>
          <p:nvSpPr>
            <p:cNvPr id="7" name="Line 6"/>
            <p:cNvSpPr>
              <a:spLocks noChangeShapeType="1"/>
            </p:cNvSpPr>
            <p:nvPr/>
          </p:nvSpPr>
          <p:spPr bwMode="auto">
            <a:xfrm>
              <a:off x="4080" y="1296"/>
              <a:ext cx="288"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8" name="Line 7"/>
            <p:cNvSpPr>
              <a:spLocks noChangeShapeType="1"/>
            </p:cNvSpPr>
            <p:nvPr/>
          </p:nvSpPr>
          <p:spPr bwMode="auto">
            <a:xfrm>
              <a:off x="4080" y="2016"/>
              <a:ext cx="288"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9" name="Line 8"/>
            <p:cNvSpPr>
              <a:spLocks noChangeShapeType="1"/>
            </p:cNvSpPr>
            <p:nvPr/>
          </p:nvSpPr>
          <p:spPr bwMode="auto">
            <a:xfrm>
              <a:off x="4080" y="1776"/>
              <a:ext cx="288"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10" name="Line 9"/>
            <p:cNvSpPr>
              <a:spLocks noChangeShapeType="1"/>
            </p:cNvSpPr>
            <p:nvPr/>
          </p:nvSpPr>
          <p:spPr bwMode="auto">
            <a:xfrm>
              <a:off x="4080" y="1536"/>
              <a:ext cx="288"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11" name="Line 10"/>
            <p:cNvSpPr>
              <a:spLocks noChangeShapeType="1"/>
            </p:cNvSpPr>
            <p:nvPr/>
          </p:nvSpPr>
          <p:spPr bwMode="auto">
            <a:xfrm>
              <a:off x="4080" y="2736"/>
              <a:ext cx="288"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12" name="Line 11"/>
            <p:cNvSpPr>
              <a:spLocks noChangeShapeType="1"/>
            </p:cNvSpPr>
            <p:nvPr/>
          </p:nvSpPr>
          <p:spPr bwMode="auto">
            <a:xfrm>
              <a:off x="4080" y="2496"/>
              <a:ext cx="288"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13" name="Line 12"/>
            <p:cNvSpPr>
              <a:spLocks noChangeShapeType="1"/>
            </p:cNvSpPr>
            <p:nvPr/>
          </p:nvSpPr>
          <p:spPr bwMode="auto">
            <a:xfrm>
              <a:off x="4080" y="2256"/>
              <a:ext cx="288"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14" name="Rectangle 13"/>
            <p:cNvSpPr>
              <a:spLocks noChangeArrowheads="1"/>
            </p:cNvSpPr>
            <p:nvPr/>
          </p:nvSpPr>
          <p:spPr bwMode="auto">
            <a:xfrm>
              <a:off x="4512" y="1296"/>
              <a:ext cx="480" cy="240"/>
            </a:xfrm>
            <a:prstGeom prst="rect">
              <a:avLst/>
            </a:prstGeom>
            <a:grpFill/>
            <a:ln w="9525">
              <a:solidFill>
                <a:schemeClr val="tx2">
                  <a:lumMod val="20000"/>
                  <a:lumOff val="80000"/>
                </a:schemeClr>
              </a:solidFill>
              <a:miter lim="800000"/>
              <a:headEnd/>
              <a:tailEnd/>
            </a:ln>
            <a:effectLst/>
          </p:spPr>
          <p:txBody>
            <a:bodyPr wrap="none" anchor="ctr"/>
            <a:lstStyle/>
            <a:p>
              <a:pPr algn="ctr"/>
              <a:r>
                <a:rPr lang="en-GB">
                  <a:solidFill>
                    <a:schemeClr val="bg1"/>
                  </a:solidFill>
                </a:rPr>
                <a:t>foo...</a:t>
              </a:r>
            </a:p>
          </p:txBody>
        </p:sp>
        <p:sp>
          <p:nvSpPr>
            <p:cNvPr id="15" name="Rectangle 14"/>
            <p:cNvSpPr>
              <a:spLocks noChangeArrowheads="1"/>
            </p:cNvSpPr>
            <p:nvPr/>
          </p:nvSpPr>
          <p:spPr bwMode="auto">
            <a:xfrm>
              <a:off x="5136" y="1296"/>
              <a:ext cx="480" cy="240"/>
            </a:xfrm>
            <a:prstGeom prst="rect">
              <a:avLst/>
            </a:prstGeom>
            <a:grpFill/>
            <a:ln w="9525">
              <a:solidFill>
                <a:schemeClr val="tx2">
                  <a:lumMod val="20000"/>
                  <a:lumOff val="80000"/>
                </a:schemeClr>
              </a:solidFill>
              <a:miter lim="800000"/>
              <a:headEnd/>
              <a:tailEnd/>
            </a:ln>
            <a:effectLst/>
          </p:spPr>
          <p:txBody>
            <a:bodyPr wrap="none" anchor="ctr"/>
            <a:lstStyle/>
            <a:p>
              <a:pPr algn="ctr"/>
              <a:r>
                <a:rPr lang="en-GB">
                  <a:solidFill>
                    <a:schemeClr val="bg1"/>
                  </a:solidFill>
                </a:rPr>
                <a:t>qq...</a:t>
              </a:r>
            </a:p>
          </p:txBody>
        </p:sp>
        <p:sp>
          <p:nvSpPr>
            <p:cNvPr id="16" name="Rectangle 15"/>
            <p:cNvSpPr>
              <a:spLocks noChangeArrowheads="1"/>
            </p:cNvSpPr>
            <p:nvPr/>
          </p:nvSpPr>
          <p:spPr bwMode="auto">
            <a:xfrm>
              <a:off x="4512" y="2256"/>
              <a:ext cx="480" cy="240"/>
            </a:xfrm>
            <a:prstGeom prst="rect">
              <a:avLst/>
            </a:prstGeom>
            <a:grpFill/>
            <a:ln w="9525">
              <a:solidFill>
                <a:schemeClr val="tx2">
                  <a:lumMod val="20000"/>
                  <a:lumOff val="80000"/>
                </a:schemeClr>
              </a:solidFill>
              <a:miter lim="800000"/>
              <a:headEnd/>
              <a:tailEnd/>
            </a:ln>
            <a:effectLst/>
          </p:spPr>
          <p:txBody>
            <a:bodyPr wrap="none" anchor="ctr"/>
            <a:lstStyle/>
            <a:p>
              <a:pPr algn="ctr"/>
              <a:r>
                <a:rPr lang="en-GB">
                  <a:solidFill>
                    <a:schemeClr val="bg1"/>
                  </a:solidFill>
                </a:rPr>
                <a:t>i...</a:t>
              </a:r>
            </a:p>
          </p:txBody>
        </p:sp>
        <p:sp>
          <p:nvSpPr>
            <p:cNvPr id="17" name="Line 16"/>
            <p:cNvSpPr>
              <a:spLocks noChangeShapeType="1"/>
            </p:cNvSpPr>
            <p:nvPr/>
          </p:nvSpPr>
          <p:spPr bwMode="auto">
            <a:xfrm>
              <a:off x="4368" y="1440"/>
              <a:ext cx="144" cy="0"/>
            </a:xfrm>
            <a:prstGeom prst="line">
              <a:avLst/>
            </a:prstGeom>
            <a:grpFill/>
            <a:ln w="9525">
              <a:solidFill>
                <a:schemeClr val="tx2">
                  <a:lumMod val="20000"/>
                  <a:lumOff val="80000"/>
                </a:schemeClr>
              </a:solidFill>
              <a:round/>
              <a:headEnd/>
              <a:tailEnd type="triangle" w="med" len="med"/>
            </a:ln>
            <a:effectLst/>
          </p:spPr>
          <p:txBody>
            <a:bodyPr wrap="none" anchor="ctr"/>
            <a:lstStyle/>
            <a:p>
              <a:endParaRPr lang="en-US">
                <a:solidFill>
                  <a:schemeClr val="bg1"/>
                </a:solidFill>
              </a:endParaRPr>
            </a:p>
          </p:txBody>
        </p:sp>
        <p:sp>
          <p:nvSpPr>
            <p:cNvPr id="18" name="Line 17"/>
            <p:cNvSpPr>
              <a:spLocks noChangeShapeType="1"/>
            </p:cNvSpPr>
            <p:nvPr/>
          </p:nvSpPr>
          <p:spPr bwMode="auto">
            <a:xfrm>
              <a:off x="4992" y="1440"/>
              <a:ext cx="144" cy="0"/>
            </a:xfrm>
            <a:prstGeom prst="line">
              <a:avLst/>
            </a:prstGeom>
            <a:grpFill/>
            <a:ln w="9525">
              <a:solidFill>
                <a:schemeClr val="tx2">
                  <a:lumMod val="20000"/>
                  <a:lumOff val="80000"/>
                </a:schemeClr>
              </a:solidFill>
              <a:round/>
              <a:headEnd/>
              <a:tailEnd type="triangle" w="med" len="med"/>
            </a:ln>
            <a:effectLst/>
          </p:spPr>
          <p:txBody>
            <a:bodyPr wrap="none" anchor="ctr"/>
            <a:lstStyle/>
            <a:p>
              <a:endParaRPr lang="en-US">
                <a:solidFill>
                  <a:schemeClr val="bg1"/>
                </a:solidFill>
              </a:endParaRPr>
            </a:p>
          </p:txBody>
        </p:sp>
        <p:sp>
          <p:nvSpPr>
            <p:cNvPr id="19" name="Line 18"/>
            <p:cNvSpPr>
              <a:spLocks noChangeShapeType="1"/>
            </p:cNvSpPr>
            <p:nvPr/>
          </p:nvSpPr>
          <p:spPr bwMode="auto">
            <a:xfrm>
              <a:off x="4368" y="2400"/>
              <a:ext cx="144" cy="0"/>
            </a:xfrm>
            <a:prstGeom prst="line">
              <a:avLst/>
            </a:prstGeom>
            <a:grpFill/>
            <a:ln w="9525">
              <a:solidFill>
                <a:schemeClr val="tx2">
                  <a:lumMod val="20000"/>
                  <a:lumOff val="80000"/>
                </a:schemeClr>
              </a:solidFill>
              <a:round/>
              <a:headEnd/>
              <a:tailEnd type="triangle" w="med" len="med"/>
            </a:ln>
            <a:effectLst/>
          </p:spPr>
          <p:txBody>
            <a:bodyPr wrap="none" anchor="ctr"/>
            <a:lstStyle/>
            <a:p>
              <a:endParaRPr lang="en-US">
                <a:solidFill>
                  <a:schemeClr val="bg1"/>
                </a:solidFill>
              </a:endParaRPr>
            </a:p>
          </p:txBody>
        </p:sp>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sz="3200" dirty="0" smtClean="0"/>
              <a:t>Linear Rehashing (open addressing)</a:t>
            </a:r>
            <a:endParaRPr lang="en-US" altLang="ko-KR" sz="3200" dirty="0" smtClean="0">
              <a:solidFill>
                <a:schemeClr val="bg1"/>
              </a:solidFill>
            </a:endParaRPr>
          </a:p>
        </p:txBody>
      </p:sp>
      <p:sp>
        <p:nvSpPr>
          <p:cNvPr id="5" name="TextBox 4"/>
          <p:cNvSpPr txBox="1"/>
          <p:nvPr/>
        </p:nvSpPr>
        <p:spPr>
          <a:xfrm>
            <a:off x="457200" y="1276350"/>
            <a:ext cx="4800600" cy="3139321"/>
          </a:xfrm>
          <a:prstGeom prst="rect">
            <a:avLst/>
          </a:prstGeom>
          <a:noFill/>
        </p:spPr>
        <p:txBody>
          <a:bodyPr wrap="square" rtlCol="0">
            <a:spAutoFit/>
          </a:bodyPr>
          <a:lstStyle/>
          <a:p>
            <a:r>
              <a:rPr lang="en-GB" dirty="0" smtClean="0"/>
              <a:t>Use a single large table to hold records. When a collision is encountered, use a simple technique (i.e., add a constant) to compute subsequent indices into the table until an empty slot is found or the table is full. If the constant is relatively prime to the table size, this, eventually, will check every slot in the table.</a:t>
            </a:r>
          </a:p>
          <a:p>
            <a:endParaRPr lang="en-GB" dirty="0" smtClean="0"/>
          </a:p>
          <a:p>
            <a:r>
              <a:rPr lang="en-GB" dirty="0" smtClean="0"/>
              <a:t>Disadvantages: too many collisions may degrade performance. Expanding the table may not be straightforward.</a:t>
            </a:r>
            <a:endParaRPr lang="en-GB" dirty="0"/>
          </a:p>
        </p:txBody>
      </p:sp>
      <p:grpSp>
        <p:nvGrpSpPr>
          <p:cNvPr id="35" name="Group 34"/>
          <p:cNvGrpSpPr/>
          <p:nvPr/>
        </p:nvGrpSpPr>
        <p:grpSpPr>
          <a:xfrm>
            <a:off x="6416675" y="1022350"/>
            <a:ext cx="2400460" cy="3048000"/>
            <a:chOff x="6416675" y="1022350"/>
            <a:chExt cx="2400460" cy="3048000"/>
          </a:xfrm>
          <a:solidFill>
            <a:schemeClr val="tx2"/>
          </a:solidFill>
        </p:grpSpPr>
        <p:sp>
          <p:nvSpPr>
            <p:cNvPr id="20" name="Rectangle 4"/>
            <p:cNvSpPr>
              <a:spLocks noChangeArrowheads="1"/>
            </p:cNvSpPr>
            <p:nvPr/>
          </p:nvSpPr>
          <p:spPr bwMode="auto">
            <a:xfrm>
              <a:off x="6416675" y="1022350"/>
              <a:ext cx="990600" cy="3048000"/>
            </a:xfrm>
            <a:prstGeom prst="rect">
              <a:avLst/>
            </a:prstGeom>
            <a:grpFill/>
            <a:ln w="9525">
              <a:solidFill>
                <a:schemeClr val="tx2">
                  <a:lumMod val="20000"/>
                  <a:lumOff val="80000"/>
                </a:schemeClr>
              </a:solidFill>
              <a:miter lim="800000"/>
              <a:headEnd/>
              <a:tailEnd/>
            </a:ln>
            <a:effectLst/>
          </p:spPr>
          <p:txBody>
            <a:bodyPr wrap="none" anchor="ctr"/>
            <a:lstStyle/>
            <a:p>
              <a:pPr algn="ctr"/>
              <a:endParaRPr lang="en-US">
                <a:solidFill>
                  <a:schemeClr val="bg1"/>
                </a:solidFill>
              </a:endParaRPr>
            </a:p>
          </p:txBody>
        </p:sp>
        <p:sp>
          <p:nvSpPr>
            <p:cNvPr id="21" name="Line 5"/>
            <p:cNvSpPr>
              <a:spLocks noChangeShapeType="1"/>
            </p:cNvSpPr>
            <p:nvPr/>
          </p:nvSpPr>
          <p:spPr bwMode="auto">
            <a:xfrm>
              <a:off x="6416675" y="1403350"/>
              <a:ext cx="990600"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22" name="Line 6"/>
            <p:cNvSpPr>
              <a:spLocks noChangeShapeType="1"/>
            </p:cNvSpPr>
            <p:nvPr/>
          </p:nvSpPr>
          <p:spPr bwMode="auto">
            <a:xfrm>
              <a:off x="6416675" y="2546350"/>
              <a:ext cx="990600"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23" name="Line 7"/>
            <p:cNvSpPr>
              <a:spLocks noChangeShapeType="1"/>
            </p:cNvSpPr>
            <p:nvPr/>
          </p:nvSpPr>
          <p:spPr bwMode="auto">
            <a:xfrm>
              <a:off x="6416675" y="2165350"/>
              <a:ext cx="990600"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24" name="Line 8"/>
            <p:cNvSpPr>
              <a:spLocks noChangeShapeType="1"/>
            </p:cNvSpPr>
            <p:nvPr/>
          </p:nvSpPr>
          <p:spPr bwMode="auto">
            <a:xfrm>
              <a:off x="6416675" y="1784350"/>
              <a:ext cx="990600"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25" name="Line 9"/>
            <p:cNvSpPr>
              <a:spLocks noChangeShapeType="1"/>
            </p:cNvSpPr>
            <p:nvPr/>
          </p:nvSpPr>
          <p:spPr bwMode="auto">
            <a:xfrm>
              <a:off x="6416675" y="3689350"/>
              <a:ext cx="990600"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26" name="Line 10"/>
            <p:cNvSpPr>
              <a:spLocks noChangeShapeType="1"/>
            </p:cNvSpPr>
            <p:nvPr/>
          </p:nvSpPr>
          <p:spPr bwMode="auto">
            <a:xfrm>
              <a:off x="6416675" y="3308350"/>
              <a:ext cx="990600"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27" name="Line 11"/>
            <p:cNvSpPr>
              <a:spLocks noChangeShapeType="1"/>
            </p:cNvSpPr>
            <p:nvPr/>
          </p:nvSpPr>
          <p:spPr bwMode="auto">
            <a:xfrm>
              <a:off x="6416675" y="2927350"/>
              <a:ext cx="990600"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28" name="Text Box 12"/>
            <p:cNvSpPr txBox="1">
              <a:spLocks noChangeArrowheads="1"/>
            </p:cNvSpPr>
            <p:nvPr/>
          </p:nvSpPr>
          <p:spPr bwMode="auto">
            <a:xfrm>
              <a:off x="6721475" y="1327150"/>
              <a:ext cx="685800" cy="369332"/>
            </a:xfrm>
            <a:prstGeom prst="rect">
              <a:avLst/>
            </a:prstGeom>
            <a:grpFill/>
            <a:ln w="9525">
              <a:solidFill>
                <a:schemeClr val="tx2">
                  <a:lumMod val="20000"/>
                  <a:lumOff val="80000"/>
                </a:schemeClr>
              </a:solidFill>
              <a:miter lim="800000"/>
              <a:headEnd/>
              <a:tailEnd/>
            </a:ln>
            <a:effectLst/>
          </p:spPr>
          <p:txBody>
            <a:bodyPr>
              <a:spAutoFit/>
            </a:bodyPr>
            <a:lstStyle/>
            <a:p>
              <a:pPr>
                <a:spcBef>
                  <a:spcPct val="50000"/>
                </a:spcBef>
              </a:pPr>
              <a:r>
                <a:rPr lang="en-GB">
                  <a:solidFill>
                    <a:schemeClr val="bg1"/>
                  </a:solidFill>
                </a:rPr>
                <a:t>a</a:t>
              </a:r>
            </a:p>
          </p:txBody>
        </p:sp>
        <p:sp>
          <p:nvSpPr>
            <p:cNvPr id="29" name="Text Box 13"/>
            <p:cNvSpPr txBox="1">
              <a:spLocks noChangeArrowheads="1"/>
            </p:cNvSpPr>
            <p:nvPr/>
          </p:nvSpPr>
          <p:spPr bwMode="auto">
            <a:xfrm>
              <a:off x="6721475" y="2470150"/>
              <a:ext cx="312906" cy="369332"/>
            </a:xfrm>
            <a:prstGeom prst="rect">
              <a:avLst/>
            </a:prstGeom>
            <a:grpFill/>
            <a:ln w="9525">
              <a:solidFill>
                <a:schemeClr val="tx2">
                  <a:lumMod val="20000"/>
                  <a:lumOff val="80000"/>
                </a:schemeClr>
              </a:solidFill>
              <a:miter lim="800000"/>
              <a:headEnd/>
              <a:tailEnd/>
            </a:ln>
            <a:effectLst/>
          </p:spPr>
          <p:txBody>
            <a:bodyPr wrap="none">
              <a:spAutoFit/>
            </a:bodyPr>
            <a:lstStyle/>
            <a:p>
              <a:r>
                <a:rPr lang="en-GB">
                  <a:solidFill>
                    <a:schemeClr val="bg1"/>
                  </a:solidFill>
                </a:rPr>
                <a:t>b</a:t>
              </a:r>
            </a:p>
          </p:txBody>
        </p:sp>
        <p:sp>
          <p:nvSpPr>
            <p:cNvPr id="30" name="Line 14"/>
            <p:cNvSpPr>
              <a:spLocks noChangeShapeType="1"/>
            </p:cNvSpPr>
            <p:nvPr/>
          </p:nvSpPr>
          <p:spPr bwMode="auto">
            <a:xfrm>
              <a:off x="7483475" y="1631950"/>
              <a:ext cx="381000" cy="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31" name="Line 15"/>
            <p:cNvSpPr>
              <a:spLocks noChangeShapeType="1"/>
            </p:cNvSpPr>
            <p:nvPr/>
          </p:nvSpPr>
          <p:spPr bwMode="auto">
            <a:xfrm>
              <a:off x="7864475" y="1631950"/>
              <a:ext cx="0" cy="1143000"/>
            </a:xfrm>
            <a:prstGeom prst="line">
              <a:avLst/>
            </a:prstGeom>
            <a:grpFill/>
            <a:ln w="9525">
              <a:solidFill>
                <a:schemeClr val="tx2">
                  <a:lumMod val="20000"/>
                  <a:lumOff val="80000"/>
                </a:schemeClr>
              </a:solidFill>
              <a:round/>
              <a:headEnd/>
              <a:tailEnd/>
            </a:ln>
            <a:effectLst/>
          </p:spPr>
          <p:txBody>
            <a:bodyPr wrap="none" anchor="ctr"/>
            <a:lstStyle/>
            <a:p>
              <a:endParaRPr lang="en-US">
                <a:solidFill>
                  <a:schemeClr val="bg1"/>
                </a:solidFill>
              </a:endParaRPr>
            </a:p>
          </p:txBody>
        </p:sp>
        <p:sp>
          <p:nvSpPr>
            <p:cNvPr id="32" name="Line 16"/>
            <p:cNvSpPr>
              <a:spLocks noChangeShapeType="1"/>
            </p:cNvSpPr>
            <p:nvPr/>
          </p:nvSpPr>
          <p:spPr bwMode="auto">
            <a:xfrm flipH="1">
              <a:off x="7483475" y="2774950"/>
              <a:ext cx="381000" cy="0"/>
            </a:xfrm>
            <a:prstGeom prst="line">
              <a:avLst/>
            </a:prstGeom>
            <a:grpFill/>
            <a:ln w="9525">
              <a:solidFill>
                <a:schemeClr val="tx2">
                  <a:lumMod val="20000"/>
                  <a:lumOff val="80000"/>
                </a:schemeClr>
              </a:solidFill>
              <a:round/>
              <a:headEnd/>
              <a:tailEnd type="triangle" w="med" len="med"/>
            </a:ln>
            <a:effectLst/>
          </p:spPr>
          <p:txBody>
            <a:bodyPr wrap="none" anchor="ctr"/>
            <a:lstStyle/>
            <a:p>
              <a:endParaRPr lang="en-US">
                <a:solidFill>
                  <a:schemeClr val="bg1"/>
                </a:solidFill>
              </a:endParaRPr>
            </a:p>
          </p:txBody>
        </p:sp>
        <p:sp>
          <p:nvSpPr>
            <p:cNvPr id="33" name="Text Box 17"/>
            <p:cNvSpPr txBox="1">
              <a:spLocks noChangeArrowheads="1"/>
            </p:cNvSpPr>
            <p:nvPr/>
          </p:nvSpPr>
          <p:spPr bwMode="auto">
            <a:xfrm>
              <a:off x="7848600" y="2027238"/>
              <a:ext cx="968535" cy="400110"/>
            </a:xfrm>
            <a:prstGeom prst="rect">
              <a:avLst/>
            </a:prstGeom>
            <a:grpFill/>
            <a:ln w="9525">
              <a:solidFill>
                <a:schemeClr val="tx2">
                  <a:lumMod val="20000"/>
                  <a:lumOff val="80000"/>
                </a:schemeClr>
              </a:solidFill>
              <a:miter lim="800000"/>
              <a:headEnd/>
              <a:tailEnd/>
            </a:ln>
            <a:effectLst/>
          </p:spPr>
          <p:txBody>
            <a:bodyPr wrap="none">
              <a:spAutoFit/>
            </a:bodyPr>
            <a:lstStyle/>
            <a:p>
              <a:r>
                <a:rPr lang="en-GB" sz="2000">
                  <a:solidFill>
                    <a:schemeClr val="bg1"/>
                  </a:solidFill>
                </a:rPr>
                <a:t>rehash</a:t>
              </a:r>
              <a:endParaRPr lang="en-GB">
                <a:solidFill>
                  <a:schemeClr val="bg1"/>
                </a:solidFill>
              </a:endParaRPr>
            </a:p>
          </p:txBody>
        </p:sp>
      </p:grpSp>
      <p:sp>
        <p:nvSpPr>
          <p:cNvPr id="34" name="Text Box 18"/>
          <p:cNvSpPr txBox="1">
            <a:spLocks noChangeArrowheads="1"/>
          </p:cNvSpPr>
          <p:nvPr/>
        </p:nvSpPr>
        <p:spPr bwMode="auto">
          <a:xfrm>
            <a:off x="6172200" y="4187825"/>
            <a:ext cx="2557463" cy="822325"/>
          </a:xfrm>
          <a:prstGeom prst="rect">
            <a:avLst/>
          </a:prstGeom>
          <a:noFill/>
          <a:ln w="9525">
            <a:noFill/>
            <a:miter lim="800000"/>
            <a:headEnd/>
            <a:tailEnd/>
          </a:ln>
          <a:effectLst/>
        </p:spPr>
        <p:txBody>
          <a:bodyPr wrap="none">
            <a:spAutoFit/>
          </a:bodyPr>
          <a:lstStyle/>
          <a:p>
            <a:r>
              <a:rPr lang="en-GB"/>
              <a:t>If </a:t>
            </a:r>
            <a:r>
              <a:rPr lang="en-GB" i="1"/>
              <a:t>h(a)=h(b)</a:t>
            </a:r>
            <a:r>
              <a:rPr lang="en-GB"/>
              <a:t> rehash</a:t>
            </a:r>
          </a:p>
          <a:p>
            <a:r>
              <a:rPr lang="en-GB"/>
              <a:t>(say, add 3).</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sz="3200" dirty="0" smtClean="0"/>
              <a:t>Linear Rehashing (open addressing)</a:t>
            </a:r>
            <a:endParaRPr lang="en-US" altLang="ko-KR" sz="3200" dirty="0" smtClean="0">
              <a:solidFill>
                <a:schemeClr val="bg1"/>
              </a:solidFill>
            </a:endParaRPr>
          </a:p>
        </p:txBody>
      </p:sp>
      <p:sp>
        <p:nvSpPr>
          <p:cNvPr id="5" name="TextBox 4"/>
          <p:cNvSpPr txBox="1"/>
          <p:nvPr/>
        </p:nvSpPr>
        <p:spPr>
          <a:xfrm>
            <a:off x="457200" y="1200150"/>
            <a:ext cx="8458200" cy="2135969"/>
          </a:xfrm>
          <a:prstGeom prst="rect">
            <a:avLst/>
          </a:prstGeom>
          <a:noFill/>
        </p:spPr>
        <p:txBody>
          <a:bodyPr wrap="square" rtlCol="0">
            <a:spAutoFit/>
          </a:bodyPr>
          <a:lstStyle/>
          <a:p>
            <a:pPr>
              <a:lnSpc>
                <a:spcPct val="80000"/>
              </a:lnSpc>
              <a:spcBef>
                <a:spcPct val="0"/>
              </a:spcBef>
            </a:pPr>
            <a:r>
              <a:rPr lang="en-GB" sz="2000" dirty="0" smtClean="0"/>
              <a:t>Choosing a good hash function is of paramount importance:</a:t>
            </a:r>
          </a:p>
          <a:p>
            <a:pPr>
              <a:lnSpc>
                <a:spcPct val="80000"/>
              </a:lnSpc>
              <a:spcBef>
                <a:spcPct val="0"/>
              </a:spcBef>
            </a:pPr>
            <a:endParaRPr lang="en-GB" sz="2000" dirty="0" smtClean="0"/>
          </a:p>
          <a:p>
            <a:pPr lvl="1" algn="just">
              <a:lnSpc>
                <a:spcPct val="80000"/>
              </a:lnSpc>
            </a:pPr>
            <a:r>
              <a:rPr lang="en-GB" dirty="0" smtClean="0"/>
              <a:t>take the hash key in four-byte chunks, XOR the chunks together and take this number modulo 2048 (this is the symbol table size). What is the problem with this?</a:t>
            </a:r>
          </a:p>
          <a:p>
            <a:pPr lvl="1" algn="just">
              <a:lnSpc>
                <a:spcPct val="80000"/>
              </a:lnSpc>
            </a:pPr>
            <a:endParaRPr lang="en-GB" dirty="0" smtClean="0"/>
          </a:p>
          <a:p>
            <a:pPr lvl="1" algn="just">
              <a:lnSpc>
                <a:spcPct val="80000"/>
              </a:lnSpc>
            </a:pPr>
            <a:r>
              <a:rPr lang="en-GB" dirty="0" smtClean="0"/>
              <a:t>See the universal hashing function (</a:t>
            </a:r>
            <a:r>
              <a:rPr lang="en-GB" dirty="0" err="1" smtClean="0"/>
              <a:t>Cormen</a:t>
            </a:r>
            <a:r>
              <a:rPr lang="en-GB" dirty="0" smtClean="0"/>
              <a:t>, </a:t>
            </a:r>
            <a:r>
              <a:rPr lang="en-GB" dirty="0" err="1" smtClean="0"/>
              <a:t>Leiserson</a:t>
            </a:r>
            <a:r>
              <a:rPr lang="en-GB" dirty="0" smtClean="0"/>
              <a:t>, </a:t>
            </a:r>
            <a:r>
              <a:rPr lang="en-GB" dirty="0" err="1" smtClean="0"/>
              <a:t>Rivest</a:t>
            </a:r>
            <a:r>
              <a:rPr lang="en-GB" dirty="0" smtClean="0"/>
              <a:t>), Knuth’s multiplicative function… This is one of those cases we should pay attention to theory!</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sz="3200" dirty="0" smtClean="0"/>
              <a:t>Linear Rehashing (open addressing)</a:t>
            </a:r>
            <a:endParaRPr lang="en-US" altLang="ko-KR" sz="3200" dirty="0" smtClean="0">
              <a:solidFill>
                <a:schemeClr val="bg1"/>
              </a:solidFill>
            </a:endParaRPr>
          </a:p>
        </p:txBody>
      </p:sp>
      <p:sp>
        <p:nvSpPr>
          <p:cNvPr id="5" name="TextBox 4"/>
          <p:cNvSpPr txBox="1"/>
          <p:nvPr/>
        </p:nvSpPr>
        <p:spPr>
          <a:xfrm>
            <a:off x="457200" y="1103721"/>
            <a:ext cx="8458200" cy="4154984"/>
          </a:xfrm>
          <a:prstGeom prst="rect">
            <a:avLst/>
          </a:prstGeom>
          <a:noFill/>
        </p:spPr>
        <p:txBody>
          <a:bodyPr wrap="square" rtlCol="0">
            <a:spAutoFit/>
          </a:bodyPr>
          <a:lstStyle/>
          <a:p>
            <a:pPr algn="just">
              <a:lnSpc>
                <a:spcPct val="80000"/>
              </a:lnSpc>
            </a:pPr>
            <a:r>
              <a:rPr lang="en-GB" sz="2400" dirty="0" smtClean="0"/>
              <a:t>Lexical scoping:</a:t>
            </a:r>
            <a:r>
              <a:rPr lang="en-GB" sz="2000" dirty="0" smtClean="0"/>
              <a:t> </a:t>
            </a:r>
          </a:p>
          <a:p>
            <a:pPr algn="just">
              <a:lnSpc>
                <a:spcPct val="80000"/>
              </a:lnSpc>
            </a:pPr>
            <a:endParaRPr lang="en-GB" sz="1050" dirty="0" smtClean="0"/>
          </a:p>
          <a:p>
            <a:pPr lvl="1" algn="just">
              <a:lnSpc>
                <a:spcPct val="80000"/>
              </a:lnSpc>
            </a:pPr>
            <a:r>
              <a:rPr lang="en-GB" sz="2000" dirty="0" smtClean="0"/>
              <a:t>Many languages introduce independent name scopes:</a:t>
            </a:r>
          </a:p>
          <a:p>
            <a:pPr lvl="2">
              <a:lnSpc>
                <a:spcPct val="80000"/>
              </a:lnSpc>
            </a:pPr>
            <a:r>
              <a:rPr lang="en-GB" dirty="0" smtClean="0"/>
              <a:t>C, for example, may have global, static (file), local and block scopes.</a:t>
            </a:r>
          </a:p>
          <a:p>
            <a:pPr lvl="2">
              <a:lnSpc>
                <a:spcPct val="80000"/>
              </a:lnSpc>
            </a:pPr>
            <a:r>
              <a:rPr lang="en-GB" dirty="0" smtClean="0"/>
              <a:t>Pascal: nested procedure declarations</a:t>
            </a:r>
          </a:p>
          <a:p>
            <a:pPr lvl="2">
              <a:lnSpc>
                <a:spcPct val="80000"/>
              </a:lnSpc>
            </a:pPr>
            <a:r>
              <a:rPr lang="en-GB" dirty="0" smtClean="0"/>
              <a:t>C++, Java: class inheritance, nested classes</a:t>
            </a:r>
          </a:p>
          <a:p>
            <a:pPr lvl="2">
              <a:lnSpc>
                <a:spcPct val="80000"/>
              </a:lnSpc>
            </a:pPr>
            <a:r>
              <a:rPr lang="en-GB" dirty="0" smtClean="0"/>
              <a:t>C++, Java, Modula: packages, namespaces, modules, etc…</a:t>
            </a:r>
          </a:p>
          <a:p>
            <a:pPr lvl="2">
              <a:lnSpc>
                <a:spcPct val="80000"/>
              </a:lnSpc>
            </a:pPr>
            <a:r>
              <a:rPr lang="en-GB" dirty="0" smtClean="0"/>
              <a:t>Namespaces allow two different entities to have the same name within the same scope: E.g.: In Java, a class and a method can have the same name (Java has six namespaces: packages, types, fields, methods, local variables, labels)</a:t>
            </a:r>
          </a:p>
          <a:p>
            <a:pPr lvl="1">
              <a:lnSpc>
                <a:spcPct val="80000"/>
              </a:lnSpc>
            </a:pPr>
            <a:endParaRPr lang="en-GB" sz="2000" dirty="0" smtClean="0"/>
          </a:p>
          <a:p>
            <a:pPr lvl="1">
              <a:lnSpc>
                <a:spcPct val="80000"/>
              </a:lnSpc>
            </a:pPr>
            <a:r>
              <a:rPr lang="en-GB" sz="2000" dirty="0" smtClean="0"/>
              <a:t>The problems:</a:t>
            </a:r>
          </a:p>
          <a:p>
            <a:pPr lvl="2">
              <a:lnSpc>
                <a:spcPct val="80000"/>
              </a:lnSpc>
            </a:pPr>
            <a:r>
              <a:rPr lang="en-GB" sz="1600" dirty="0" smtClean="0"/>
              <a:t>at point x, which declaration of variable y is current?</a:t>
            </a:r>
          </a:p>
          <a:p>
            <a:pPr lvl="2">
              <a:lnSpc>
                <a:spcPct val="80000"/>
              </a:lnSpc>
            </a:pPr>
            <a:r>
              <a:rPr lang="en-GB" sz="1600" dirty="0" smtClean="0"/>
              <a:t>as parser goes in and out of scopes, how does it track y? allocate and initialise a symbol table for each level!</a:t>
            </a:r>
          </a:p>
          <a:p>
            <a:pPr lvl="1" algn="just">
              <a:lnSpc>
                <a:spcPct val="80000"/>
              </a:lnSpc>
            </a:pPr>
            <a:endParaRPr lang="en-GB" sz="1600" dirty="0" smtClean="0"/>
          </a:p>
          <a:p>
            <a:pPr algn="just">
              <a:lnSpc>
                <a:spcPct val="80000"/>
              </a:lnSpc>
            </a:pPr>
            <a:endParaRPr lang="en-GB"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Exercises</a:t>
            </a:r>
            <a:endParaRPr lang="en-US" dirty="0"/>
          </a:p>
        </p:txBody>
      </p:sp>
      <p:sp>
        <p:nvSpPr>
          <p:cNvPr id="4" name="TextBox 3"/>
          <p:cNvSpPr txBox="1"/>
          <p:nvPr/>
        </p:nvSpPr>
        <p:spPr>
          <a:xfrm>
            <a:off x="457200" y="1428750"/>
            <a:ext cx="3980577" cy="923330"/>
          </a:xfrm>
          <a:prstGeom prst="rect">
            <a:avLst/>
          </a:prstGeom>
          <a:noFill/>
        </p:spPr>
        <p:txBody>
          <a:bodyPr wrap="none" rtlCol="0">
            <a:spAutoFit/>
          </a:bodyPr>
          <a:lstStyle/>
          <a:p>
            <a:r>
              <a:rPr lang="en-US" dirty="0" smtClean="0"/>
              <a:t>Explain why we use Symbol Table?</a:t>
            </a:r>
          </a:p>
          <a:p>
            <a:endParaRPr lang="en-US" dirty="0" smtClean="0"/>
          </a:p>
          <a:p>
            <a:r>
              <a:rPr lang="en-US" dirty="0" smtClean="0"/>
              <a:t>Give an example of Bucket Hashing?</a:t>
            </a:r>
            <a:endParaRPr 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a:t>Thank you</a:t>
            </a:r>
            <a:endParaRPr lang="ko-KR" altLang="en-US"/>
          </a:p>
        </p:txBody>
      </p:sp>
    </p:spTree>
    <p:extLst>
      <p:ext uri="{BB962C8B-B14F-4D97-AF65-F5344CB8AC3E}">
        <p14:creationId xmlns:p14="http://schemas.microsoft.com/office/powerpoint/2010/main" val="40130612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Content Taken From</a:t>
            </a:r>
            <a:endParaRPr lang="en-US" dirty="0"/>
          </a:p>
        </p:txBody>
      </p:sp>
      <p:sp>
        <p:nvSpPr>
          <p:cNvPr id="4" name="TextBox 3"/>
          <p:cNvSpPr txBox="1"/>
          <p:nvPr/>
        </p:nvSpPr>
        <p:spPr>
          <a:xfrm>
            <a:off x="0" y="1315819"/>
            <a:ext cx="9144000" cy="2062103"/>
          </a:xfrm>
          <a:prstGeom prst="rect">
            <a:avLst/>
          </a:prstGeom>
          <a:noFill/>
        </p:spPr>
        <p:txBody>
          <a:bodyPr wrap="square" rtlCol="0">
            <a:spAutoFit/>
          </a:bodyPr>
          <a:lstStyle/>
          <a:p>
            <a:pPr>
              <a:buFont typeface="Arial" pitchFamily="34" charset="0"/>
              <a:buChar char="•"/>
            </a:pPr>
            <a:r>
              <a:rPr lang="en-US" sz="1600" i="1" dirty="0" smtClean="0">
                <a:solidFill>
                  <a:schemeClr val="tx1">
                    <a:lumMod val="75000"/>
                    <a:lumOff val="25000"/>
                  </a:schemeClr>
                </a:solidFill>
              </a:rPr>
              <a:t> Compilers Principles, Techniques and Tools by Alfred V. </a:t>
            </a:r>
            <a:r>
              <a:rPr lang="en-US" sz="1600" i="1" dirty="0" err="1" smtClean="0">
                <a:solidFill>
                  <a:schemeClr val="tx1">
                    <a:lumMod val="75000"/>
                    <a:lumOff val="25000"/>
                  </a:schemeClr>
                </a:solidFill>
              </a:rPr>
              <a:t>Aho</a:t>
            </a:r>
            <a:r>
              <a:rPr lang="en-US" sz="1600" i="1" dirty="0" smtClean="0">
                <a:solidFill>
                  <a:schemeClr val="tx1">
                    <a:lumMod val="75000"/>
                    <a:lumOff val="25000"/>
                  </a:schemeClr>
                </a:solidFill>
              </a:rPr>
              <a:t>, Ravi </a:t>
            </a:r>
            <a:r>
              <a:rPr lang="en-US" sz="1600" i="1" dirty="0" err="1" smtClean="0">
                <a:solidFill>
                  <a:schemeClr val="tx1">
                    <a:lumMod val="75000"/>
                    <a:lumOff val="25000"/>
                  </a:schemeClr>
                </a:solidFill>
              </a:rPr>
              <a:t>Sethi</a:t>
            </a:r>
            <a:r>
              <a:rPr lang="en-US" sz="1600" i="1" dirty="0" smtClean="0">
                <a:solidFill>
                  <a:schemeClr val="tx1">
                    <a:lumMod val="75000"/>
                    <a:lumOff val="25000"/>
                  </a:schemeClr>
                </a:solidFill>
              </a:rPr>
              <a:t> and Jeffry D. </a:t>
            </a:r>
            <a:r>
              <a:rPr lang="en-US" sz="1600" i="1" dirty="0" err="1" smtClean="0">
                <a:solidFill>
                  <a:schemeClr val="tx1">
                    <a:lumMod val="75000"/>
                    <a:lumOff val="25000"/>
                  </a:schemeClr>
                </a:solidFill>
              </a:rPr>
              <a:t>Ulman</a:t>
            </a:r>
            <a:endParaRPr lang="en-US" sz="1600" i="1" dirty="0" smtClean="0">
              <a:solidFill>
                <a:schemeClr val="tx1">
                  <a:lumMod val="75000"/>
                  <a:lumOff val="25000"/>
                </a:schemeClr>
              </a:solidFill>
            </a:endParaRPr>
          </a:p>
          <a:p>
            <a:endParaRPr lang="en-US" sz="1600" i="1" dirty="0" smtClean="0">
              <a:solidFill>
                <a:schemeClr val="tx1">
                  <a:lumMod val="75000"/>
                  <a:lumOff val="25000"/>
                </a:schemeClr>
              </a:solidFill>
            </a:endParaRPr>
          </a:p>
          <a:p>
            <a:pPr>
              <a:buFont typeface="Arial" pitchFamily="34" charset="0"/>
              <a:buChar char="•"/>
            </a:pPr>
            <a:r>
              <a:rPr lang="en-US" sz="1600" i="1" dirty="0" smtClean="0">
                <a:solidFill>
                  <a:schemeClr val="tx1">
                    <a:lumMod val="75000"/>
                    <a:lumOff val="25000"/>
                  </a:schemeClr>
                </a:solidFill>
              </a:rPr>
              <a:t> </a:t>
            </a:r>
            <a:r>
              <a:rPr lang="en-US" sz="1600" dirty="0" smtClean="0">
                <a:solidFill>
                  <a:schemeClr val="tx1">
                    <a:lumMod val="75000"/>
                    <a:lumOff val="25000"/>
                  </a:schemeClr>
                </a:solidFill>
              </a:rPr>
              <a:t>Basics of Compiler Design, Anniversary edition by </a:t>
            </a:r>
            <a:r>
              <a:rPr lang="en-US" sz="1600" dirty="0" err="1" smtClean="0">
                <a:solidFill>
                  <a:schemeClr val="tx1">
                    <a:lumMod val="75000"/>
                    <a:lumOff val="25000"/>
                  </a:schemeClr>
                </a:solidFill>
              </a:rPr>
              <a:t>Torben</a:t>
            </a:r>
            <a:r>
              <a:rPr lang="en-US" sz="1600" dirty="0" smtClean="0">
                <a:solidFill>
                  <a:schemeClr val="tx1">
                    <a:lumMod val="75000"/>
                    <a:lumOff val="25000"/>
                  </a:schemeClr>
                </a:solidFill>
              </a:rPr>
              <a:t> </a:t>
            </a:r>
            <a:r>
              <a:rPr lang="en-US" sz="1600" dirty="0" err="1" smtClean="0">
                <a:solidFill>
                  <a:schemeClr val="tx1">
                    <a:lumMod val="75000"/>
                    <a:lumOff val="25000"/>
                  </a:schemeClr>
                </a:solidFill>
              </a:rPr>
              <a:t>Ægidius</a:t>
            </a:r>
            <a:r>
              <a:rPr lang="en-US" sz="1600" dirty="0" smtClean="0">
                <a:solidFill>
                  <a:schemeClr val="tx1">
                    <a:lumMod val="75000"/>
                    <a:lumOff val="25000"/>
                  </a:schemeClr>
                </a:solidFill>
              </a:rPr>
              <a:t> </a:t>
            </a:r>
            <a:r>
              <a:rPr lang="en-US" sz="1600" dirty="0" err="1" smtClean="0">
                <a:solidFill>
                  <a:schemeClr val="tx1">
                    <a:lumMod val="75000"/>
                    <a:lumOff val="25000"/>
                  </a:schemeClr>
                </a:solidFill>
              </a:rPr>
              <a:t>Mogensen</a:t>
            </a:r>
            <a:endParaRPr lang="en-US" sz="1600" dirty="0" smtClean="0">
              <a:solidFill>
                <a:schemeClr val="tx1">
                  <a:lumMod val="75000"/>
                  <a:lumOff val="25000"/>
                </a:schemeClr>
              </a:solidFill>
            </a:endParaRPr>
          </a:p>
          <a:p>
            <a:endParaRPr lang="en-US" altLang="en-US" sz="1600" i="1" dirty="0" smtClean="0">
              <a:solidFill>
                <a:schemeClr val="tx1">
                  <a:lumMod val="75000"/>
                  <a:lumOff val="25000"/>
                </a:schemeClr>
              </a:solidFill>
              <a:ea typeface="Times" pitchFamily="18" charset="0"/>
              <a:cs typeface="Times" pitchFamily="18" charset="0"/>
            </a:endParaRPr>
          </a:p>
          <a:p>
            <a:r>
              <a:rPr lang="en-US" altLang="en-US" sz="1600" i="1" dirty="0" smtClean="0">
                <a:solidFill>
                  <a:schemeClr val="tx1">
                    <a:lumMod val="75000"/>
                    <a:lumOff val="25000"/>
                  </a:schemeClr>
                </a:solidFill>
                <a:ea typeface="Times" pitchFamily="18" charset="0"/>
                <a:cs typeface="Times" pitchFamily="18" charset="0"/>
              </a:rPr>
              <a:t>Web URL:</a:t>
            </a:r>
          </a:p>
          <a:p>
            <a:r>
              <a:rPr lang="en-US" altLang="en-US" sz="1600" i="1" dirty="0" smtClean="0">
                <a:solidFill>
                  <a:schemeClr val="tx1">
                    <a:lumMod val="75000"/>
                    <a:lumOff val="25000"/>
                  </a:schemeClr>
                </a:solidFill>
                <a:ea typeface="Times" pitchFamily="18" charset="0"/>
                <a:cs typeface="Times" pitchFamily="18" charset="0"/>
              </a:rPr>
              <a:t>http://syllabus.cs.manchester.ac.uk/ugt/2019/COMP36512/2017/</a:t>
            </a:r>
          </a:p>
          <a:p>
            <a:pPr>
              <a:buFont typeface="Arial" pitchFamily="34" charset="0"/>
              <a:buChar char="•"/>
            </a:pPr>
            <a:endParaRPr lang="en-GB" altLang="en-US" sz="1600" i="1" dirty="0" smtClean="0">
              <a:solidFill>
                <a:schemeClr val="tx1">
                  <a:lumMod val="75000"/>
                  <a:lumOff val="25000"/>
                </a:schemeClr>
              </a:solidFill>
              <a:ea typeface="Times" pitchFamily="18" charset="0"/>
              <a:cs typeface="Times" pitchFamily="18" charset="0"/>
            </a:endParaRPr>
          </a:p>
          <a:p>
            <a:endParaRPr lang="en-US" sz="1600" dirty="0">
              <a:solidFill>
                <a:schemeClr val="tx1">
                  <a:lumMod val="75000"/>
                  <a:lumOff val="25000"/>
                </a:schemeClr>
              </a:solidFill>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01.13"/>
  <p:tag name="AS_TITLE" val="Aspose.Slides for .NET 4.0"/>
  <p:tag name="AS_VERSION" val="16.12.1.0"/>
</p:tagLst>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1720</TotalTime>
  <Words>1281</Words>
  <Application>Microsoft Office PowerPoint</Application>
  <PresentationFormat>On-screen Show (16:9)</PresentationFormat>
  <Paragraphs>145</Paragraphs>
  <Slides>21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Arial Unicode MS</vt:lpstr>
      <vt:lpstr>맑은 고딕</vt:lpstr>
      <vt:lpstr>Arial</vt:lpstr>
      <vt:lpstr>Calibri</vt:lpstr>
      <vt:lpstr>Courier New</vt:lpstr>
      <vt:lpstr>Times</vt:lpstr>
      <vt:lpstr>Wingdings</vt:lpstr>
      <vt:lpstr>Cover and End Slide Master</vt:lpstr>
      <vt:lpstr>Contents Slide Master</vt:lpstr>
      <vt:lpstr>PowerPoint Presentation</vt:lpstr>
      <vt:lpstr>PowerPoint Presentation</vt:lpstr>
      <vt:lpstr>Objectives</vt:lpstr>
      <vt:lpstr>UNIT 3.1</vt:lpstr>
      <vt:lpstr>PowerPoint Presentation</vt:lpstr>
      <vt:lpstr>PowerPoint Presentation</vt:lpstr>
      <vt:lpstr>PowerPoint Presentation</vt:lpstr>
      <vt:lpstr>UNIT 3.2</vt:lpstr>
      <vt:lpstr>PowerPoint Presentation</vt:lpstr>
      <vt:lpstr>PowerPoint Presentation</vt:lpstr>
      <vt:lpstr>PowerPoint Presentation</vt:lpstr>
      <vt:lpstr>PowerPoint Presentation</vt:lpstr>
      <vt:lpstr>UNIT 3.3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Anees</cp:lastModifiedBy>
  <cp:revision>219</cp:revision>
  <dcterms:created xsi:type="dcterms:W3CDTF">2016-12-05T23:26:54Z</dcterms:created>
  <dcterms:modified xsi:type="dcterms:W3CDTF">2020-07-01T07:51:01Z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3556737</vt:lpwstr>
  </property>
  <property fmtid="{D5CDD505-2E9C-101B-9397-08002B2CF9AE}" pid="3" name="NXPowerLiteSettings">
    <vt:lpwstr>C7000400038000</vt:lpwstr>
  </property>
  <property fmtid="{D5CDD505-2E9C-101B-9397-08002B2CF9AE}" pid="4" name="NXPowerLiteVersion">
    <vt:lpwstr>S8.2.1</vt:lpwstr>
  </property>
</Properties>
</file>