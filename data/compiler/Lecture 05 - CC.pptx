
<file path=[Content_Types].xml><?xml version="1.0" encoding="utf-8"?>
<Types xmlns="http://schemas.openxmlformats.org/package/2006/content-types">
  <Default Extension="png" ContentType="image/png"/>
  <Default Extension="jpeg" ContentType="image/jpeg"/>
  <Default Extension="emf" ContentType="image/x-emf"/>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51" r:id="rId2"/>
  </p:sldMasterIdLst>
  <p:notesMasterIdLst>
    <p:notesMasterId r:id="rId44"/>
  </p:notesMasterIdLst>
  <p:sldIdLst>
    <p:sldId id="256" r:id="rId3"/>
    <p:sldId id="262" r:id="rId4"/>
    <p:sldId id="444" r:id="rId5"/>
    <p:sldId id="445" r:id="rId6"/>
    <p:sldId id="412" r:id="rId7"/>
    <p:sldId id="413" r:id="rId8"/>
    <p:sldId id="414" r:id="rId9"/>
    <p:sldId id="415" r:id="rId10"/>
    <p:sldId id="416" r:id="rId11"/>
    <p:sldId id="417" r:id="rId12"/>
    <p:sldId id="418" r:id="rId13"/>
    <p:sldId id="419" r:id="rId14"/>
    <p:sldId id="421" r:id="rId15"/>
    <p:sldId id="446" r:id="rId16"/>
    <p:sldId id="420" r:id="rId17"/>
    <p:sldId id="422" r:id="rId18"/>
    <p:sldId id="423" r:id="rId19"/>
    <p:sldId id="424" r:id="rId20"/>
    <p:sldId id="425" r:id="rId21"/>
    <p:sldId id="447" r:id="rId22"/>
    <p:sldId id="426" r:id="rId23"/>
    <p:sldId id="427" r:id="rId24"/>
    <p:sldId id="428" r:id="rId25"/>
    <p:sldId id="429" r:id="rId26"/>
    <p:sldId id="430" r:id="rId27"/>
    <p:sldId id="431" r:id="rId28"/>
    <p:sldId id="448" r:id="rId29"/>
    <p:sldId id="432" r:id="rId30"/>
    <p:sldId id="433" r:id="rId31"/>
    <p:sldId id="434" r:id="rId32"/>
    <p:sldId id="435" r:id="rId33"/>
    <p:sldId id="436" r:id="rId34"/>
    <p:sldId id="437" r:id="rId35"/>
    <p:sldId id="438" r:id="rId36"/>
    <p:sldId id="439" r:id="rId37"/>
    <p:sldId id="440" r:id="rId38"/>
    <p:sldId id="441" r:id="rId39"/>
    <p:sldId id="442" r:id="rId40"/>
    <p:sldId id="443" r:id="rId41"/>
    <p:sldId id="271" r:id="rId42"/>
    <p:sldId id="375" r:id="rId43"/>
  </p:sldIdLst>
  <p:sldSz cx="9144000" cy="5143500" type="screen16x9"/>
  <p:notesSz cx="6858000" cy="9144000"/>
  <p:custDataLst>
    <p:tags r:id="rId45"/>
  </p:custDataLst>
  <p:defaultText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85D8D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vertBarState="maximized">
    <p:restoredLeft sz="15347" autoAdjust="0"/>
    <p:restoredTop sz="94660"/>
  </p:normalViewPr>
  <p:slideViewPr>
    <p:cSldViewPr>
      <p:cViewPr varScale="1">
        <p:scale>
          <a:sx n="55" d="100"/>
          <a:sy n="55" d="100"/>
        </p:scale>
        <p:origin x="36" y="438"/>
      </p:cViewPr>
      <p:guideLst>
        <p:guide orient="horz" pos="1620"/>
        <p:guide pos="2880"/>
      </p:guideLst>
    </p:cSldViewPr>
  </p:slideViewPr>
  <p:notesTextViewPr>
    <p:cViewPr>
      <p:scale>
        <a:sx n="1" d="1"/>
        <a:sy n="1" d="1"/>
      </p:scale>
      <p:origin x="0" y="0"/>
    </p:cViewPr>
  </p:notesTextViewPr>
  <p:notesViewPr>
    <p:cSldViewPr>
      <p:cViewPr>
        <p:scale>
          <a:sx n="66" d="100"/>
          <a:sy n="66" d="100"/>
        </p:scale>
        <p:origin x="0" y="0"/>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3" Type="http://schemas.openxmlformats.org/officeDocument/2006/relationships/slide" Target="slides/slide1.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viewProps" Target="viewProp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presProps" Target="presProp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41" Type="http://schemas.openxmlformats.org/officeDocument/2006/relationships/slide" Target="slides/slide39.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tags" Target="tags/tag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tableStyles" Target="tableStyles.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4" Type="http://schemas.openxmlformats.org/officeDocument/2006/relationships/notesMaster" Target="notesMasters/notesMaster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theme" Target="theme/theme1.xml"/><Relationship Id="rId8" Type="http://schemas.openxmlformats.org/officeDocument/2006/relationships/slide" Target="slides/slide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F6C2D849-E909-4C84-8539-67B30D4A74F3}" type="datetimeFigureOut">
              <a:rPr lang="en-US" smtClean="0"/>
              <a:pPr/>
              <a:t>11/12/2020</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92C6905C-8B7C-407C-8604-CA03A324E4A7}" type="slidenum">
              <a:rPr lang="en-US" smtClean="0"/>
              <a:pPr/>
              <a:t>‹#›</a:t>
            </a:fld>
            <a:endParaRPr lang="en-US"/>
          </a:p>
        </p:txBody>
      </p:sp>
    </p:spTree>
    <p:extLst>
      <p:ext uri="{BB962C8B-B14F-4D97-AF65-F5344CB8AC3E}">
        <p14:creationId xmlns:p14="http://schemas.microsoft.com/office/powerpoint/2010/main" val="410818949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Slide Image Placeholder 1"/>
          <p:cNvSpPr>
            <a:spLocks noGrp="1" noRot="1" noChangeAspect="1" noTextEdit="1"/>
          </p:cNvSpPr>
          <p:nvPr>
            <p:ph type="sldImg"/>
          </p:nvPr>
        </p:nvSpPr>
        <p:spPr bwMode="auto">
          <a:noFill/>
          <a:ln>
            <a:solidFill>
              <a:srgbClr val="000000"/>
            </a:solidFill>
            <a:miter lim="800000"/>
            <a:headEnd/>
            <a:tailEnd/>
          </a:ln>
        </p:spPr>
      </p:sp>
      <p:sp>
        <p:nvSpPr>
          <p:cNvPr id="98307" name="Notes Placeholder 2"/>
          <p:cNvSpPr>
            <a:spLocks noGrp="1"/>
          </p:cNvSpPr>
          <p:nvPr>
            <p:ph type="body" idx="1"/>
          </p:nvPr>
        </p:nvSpPr>
        <p:spPr bwMode="auto">
          <a:noFill/>
        </p:spPr>
        <p:txBody>
          <a:bodyPr wrap="square" numCol="1" anchor="t" anchorCtr="0" compatLnSpc="1">
            <a:prstTxWarp prst="textNoShape">
              <a:avLst/>
            </a:prstTxWarp>
          </a:bodyPr>
          <a:lstStyle/>
          <a:p>
            <a:endParaRPr lang="ur-PK" altLang="en-US" smtClean="0"/>
          </a:p>
        </p:txBody>
      </p:sp>
    </p:spTree>
    <p:extLst>
      <p:ext uri="{BB962C8B-B14F-4D97-AF65-F5344CB8AC3E}">
        <p14:creationId xmlns:p14="http://schemas.microsoft.com/office/powerpoint/2010/main" val="297393268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Slide Image Placeholder 1"/>
          <p:cNvSpPr>
            <a:spLocks noGrp="1" noRot="1" noChangeAspect="1" noTextEdit="1"/>
          </p:cNvSpPr>
          <p:nvPr>
            <p:ph type="sldImg"/>
          </p:nvPr>
        </p:nvSpPr>
        <p:spPr bwMode="auto">
          <a:noFill/>
          <a:ln>
            <a:solidFill>
              <a:srgbClr val="000000"/>
            </a:solidFill>
            <a:miter lim="800000"/>
            <a:headEnd/>
            <a:tailEnd/>
          </a:ln>
        </p:spPr>
      </p:sp>
      <p:sp>
        <p:nvSpPr>
          <p:cNvPr id="100355" name="Notes Placeholder 2"/>
          <p:cNvSpPr>
            <a:spLocks noGrp="1"/>
          </p:cNvSpPr>
          <p:nvPr>
            <p:ph type="body" idx="1"/>
          </p:nvPr>
        </p:nvSpPr>
        <p:spPr bwMode="auto">
          <a:noFill/>
        </p:spPr>
        <p:txBody>
          <a:bodyPr wrap="square" numCol="1" anchor="t" anchorCtr="0" compatLnSpc="1">
            <a:prstTxWarp prst="textNoShape">
              <a:avLst/>
            </a:prstTxWarp>
          </a:bodyPr>
          <a:lstStyle/>
          <a:p>
            <a:endParaRPr lang="ur-PK" altLang="en-US" smtClean="0"/>
          </a:p>
        </p:txBody>
      </p:sp>
    </p:spTree>
    <p:extLst>
      <p:ext uri="{BB962C8B-B14F-4D97-AF65-F5344CB8AC3E}">
        <p14:creationId xmlns:p14="http://schemas.microsoft.com/office/powerpoint/2010/main" val="267727230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Slide Image Placeholder 1"/>
          <p:cNvSpPr>
            <a:spLocks noGrp="1" noRot="1" noChangeAspect="1" noTextEdit="1"/>
          </p:cNvSpPr>
          <p:nvPr>
            <p:ph type="sldImg"/>
          </p:nvPr>
        </p:nvSpPr>
        <p:spPr bwMode="auto">
          <a:noFill/>
          <a:ln>
            <a:solidFill>
              <a:srgbClr val="000000"/>
            </a:solidFill>
            <a:miter lim="800000"/>
            <a:headEnd/>
            <a:tailEnd/>
          </a:ln>
        </p:spPr>
      </p:sp>
      <p:sp>
        <p:nvSpPr>
          <p:cNvPr id="102403" name="Notes Placeholder 2"/>
          <p:cNvSpPr>
            <a:spLocks noGrp="1"/>
          </p:cNvSpPr>
          <p:nvPr>
            <p:ph type="body" idx="1"/>
          </p:nvPr>
        </p:nvSpPr>
        <p:spPr bwMode="auto">
          <a:noFill/>
        </p:spPr>
        <p:txBody>
          <a:bodyPr wrap="square" numCol="1" anchor="t" anchorCtr="0" compatLnSpc="1">
            <a:prstTxWarp prst="textNoShape">
              <a:avLst/>
            </a:prstTxWarp>
          </a:bodyPr>
          <a:lstStyle/>
          <a:p>
            <a:endParaRPr lang="ur-PK" altLang="en-US" smtClean="0"/>
          </a:p>
        </p:txBody>
      </p:sp>
    </p:spTree>
    <p:extLst>
      <p:ext uri="{BB962C8B-B14F-4D97-AF65-F5344CB8AC3E}">
        <p14:creationId xmlns:p14="http://schemas.microsoft.com/office/powerpoint/2010/main" val="364879324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50" name="Slide Image Placeholder 1"/>
          <p:cNvSpPr>
            <a:spLocks noGrp="1" noRot="1" noChangeAspect="1" noTextEdit="1"/>
          </p:cNvSpPr>
          <p:nvPr>
            <p:ph type="sldImg"/>
          </p:nvPr>
        </p:nvSpPr>
        <p:spPr bwMode="auto">
          <a:noFill/>
          <a:ln>
            <a:solidFill>
              <a:srgbClr val="000000"/>
            </a:solidFill>
            <a:miter lim="800000"/>
            <a:headEnd/>
            <a:tailEnd/>
          </a:ln>
        </p:spPr>
      </p:sp>
      <p:sp>
        <p:nvSpPr>
          <p:cNvPr id="104451" name="Notes Placeholder 2"/>
          <p:cNvSpPr>
            <a:spLocks noGrp="1"/>
          </p:cNvSpPr>
          <p:nvPr>
            <p:ph type="body" idx="1"/>
          </p:nvPr>
        </p:nvSpPr>
        <p:spPr bwMode="auto">
          <a:noFill/>
        </p:spPr>
        <p:txBody>
          <a:bodyPr wrap="square" numCol="1" anchor="t" anchorCtr="0" compatLnSpc="1">
            <a:prstTxWarp prst="textNoShape">
              <a:avLst/>
            </a:prstTxWarp>
          </a:bodyPr>
          <a:lstStyle/>
          <a:p>
            <a:endParaRPr lang="ur-PK" altLang="en-US" smtClean="0"/>
          </a:p>
        </p:txBody>
      </p:sp>
    </p:spTree>
    <p:extLst>
      <p:ext uri="{BB962C8B-B14F-4D97-AF65-F5344CB8AC3E}">
        <p14:creationId xmlns:p14="http://schemas.microsoft.com/office/powerpoint/2010/main" val="292974452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Slide Image Placeholder 1"/>
          <p:cNvSpPr>
            <a:spLocks noGrp="1" noRot="1" noChangeAspect="1" noTextEdit="1"/>
          </p:cNvSpPr>
          <p:nvPr>
            <p:ph type="sldImg"/>
          </p:nvPr>
        </p:nvSpPr>
        <p:spPr bwMode="auto">
          <a:noFill/>
          <a:ln>
            <a:solidFill>
              <a:srgbClr val="000000"/>
            </a:solidFill>
            <a:miter lim="800000"/>
            <a:headEnd/>
            <a:tailEnd/>
          </a:ln>
        </p:spPr>
      </p:sp>
      <p:sp>
        <p:nvSpPr>
          <p:cNvPr id="106499" name="Notes Placeholder 2"/>
          <p:cNvSpPr>
            <a:spLocks noGrp="1"/>
          </p:cNvSpPr>
          <p:nvPr>
            <p:ph type="body" idx="1"/>
          </p:nvPr>
        </p:nvSpPr>
        <p:spPr bwMode="auto">
          <a:noFill/>
        </p:spPr>
        <p:txBody>
          <a:bodyPr wrap="square" numCol="1" anchor="t" anchorCtr="0" compatLnSpc="1">
            <a:prstTxWarp prst="textNoShape">
              <a:avLst/>
            </a:prstTxWarp>
          </a:bodyPr>
          <a:lstStyle/>
          <a:p>
            <a:endParaRPr lang="ur-PK" altLang="en-US" smtClean="0"/>
          </a:p>
        </p:txBody>
      </p:sp>
    </p:spTree>
    <p:extLst>
      <p:ext uri="{BB962C8B-B14F-4D97-AF65-F5344CB8AC3E}">
        <p14:creationId xmlns:p14="http://schemas.microsoft.com/office/powerpoint/2010/main" val="3261477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6" name="Slide Image Placeholder 1"/>
          <p:cNvSpPr>
            <a:spLocks noGrp="1" noRot="1" noChangeAspect="1" noTextEdit="1"/>
          </p:cNvSpPr>
          <p:nvPr>
            <p:ph type="sldImg"/>
          </p:nvPr>
        </p:nvSpPr>
        <p:spPr bwMode="auto">
          <a:noFill/>
          <a:ln>
            <a:solidFill>
              <a:srgbClr val="000000"/>
            </a:solidFill>
            <a:miter lim="800000"/>
            <a:headEnd/>
            <a:tailEnd/>
          </a:ln>
        </p:spPr>
      </p:sp>
      <p:sp>
        <p:nvSpPr>
          <p:cNvPr id="108547" name="Notes Placeholder 2"/>
          <p:cNvSpPr>
            <a:spLocks noGrp="1"/>
          </p:cNvSpPr>
          <p:nvPr>
            <p:ph type="body" idx="1"/>
          </p:nvPr>
        </p:nvSpPr>
        <p:spPr bwMode="auto">
          <a:noFill/>
        </p:spPr>
        <p:txBody>
          <a:bodyPr wrap="square" numCol="1" anchor="t" anchorCtr="0" compatLnSpc="1">
            <a:prstTxWarp prst="textNoShape">
              <a:avLst/>
            </a:prstTxWarp>
          </a:bodyPr>
          <a:lstStyle/>
          <a:p>
            <a:endParaRPr lang="ur-PK" altLang="en-US" smtClean="0"/>
          </a:p>
        </p:txBody>
      </p:sp>
    </p:spTree>
    <p:extLst>
      <p:ext uri="{BB962C8B-B14F-4D97-AF65-F5344CB8AC3E}">
        <p14:creationId xmlns:p14="http://schemas.microsoft.com/office/powerpoint/2010/main" val="134511848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4" name="Slide Image Placeholder 1"/>
          <p:cNvSpPr>
            <a:spLocks noGrp="1" noRot="1" noChangeAspect="1" noTextEdit="1"/>
          </p:cNvSpPr>
          <p:nvPr>
            <p:ph type="sldImg"/>
          </p:nvPr>
        </p:nvSpPr>
        <p:spPr bwMode="auto">
          <a:noFill/>
          <a:ln>
            <a:solidFill>
              <a:srgbClr val="000000"/>
            </a:solidFill>
            <a:miter lim="800000"/>
            <a:headEnd/>
            <a:tailEnd/>
          </a:ln>
        </p:spPr>
      </p:sp>
      <p:sp>
        <p:nvSpPr>
          <p:cNvPr id="110595" name="Notes Placeholder 2"/>
          <p:cNvSpPr>
            <a:spLocks noGrp="1"/>
          </p:cNvSpPr>
          <p:nvPr>
            <p:ph type="body" idx="1"/>
          </p:nvPr>
        </p:nvSpPr>
        <p:spPr bwMode="auto">
          <a:noFill/>
        </p:spPr>
        <p:txBody>
          <a:bodyPr wrap="square" numCol="1" anchor="t" anchorCtr="0" compatLnSpc="1">
            <a:prstTxWarp prst="textNoShape">
              <a:avLst/>
            </a:prstTxWarp>
          </a:bodyPr>
          <a:lstStyle/>
          <a:p>
            <a:endParaRPr lang="ur-PK" altLang="en-US" smtClean="0"/>
          </a:p>
        </p:txBody>
      </p:sp>
    </p:spTree>
    <p:extLst>
      <p:ext uri="{BB962C8B-B14F-4D97-AF65-F5344CB8AC3E}">
        <p14:creationId xmlns:p14="http://schemas.microsoft.com/office/powerpoint/2010/main" val="308770678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Slide Image Placeholder 1"/>
          <p:cNvSpPr>
            <a:spLocks noGrp="1" noRot="1" noChangeAspect="1" noTextEdit="1"/>
          </p:cNvSpPr>
          <p:nvPr>
            <p:ph type="sldImg"/>
          </p:nvPr>
        </p:nvSpPr>
        <p:spPr bwMode="auto">
          <a:noFill/>
          <a:ln>
            <a:solidFill>
              <a:srgbClr val="000000"/>
            </a:solidFill>
            <a:miter lim="800000"/>
            <a:headEnd/>
            <a:tailEnd/>
          </a:ln>
        </p:spPr>
      </p:sp>
      <p:sp>
        <p:nvSpPr>
          <p:cNvPr id="112643" name="Notes Placeholder 2"/>
          <p:cNvSpPr>
            <a:spLocks noGrp="1"/>
          </p:cNvSpPr>
          <p:nvPr>
            <p:ph type="body" idx="1"/>
          </p:nvPr>
        </p:nvSpPr>
        <p:spPr bwMode="auto">
          <a:noFill/>
        </p:spPr>
        <p:txBody>
          <a:bodyPr wrap="square" numCol="1" anchor="t" anchorCtr="0" compatLnSpc="1">
            <a:prstTxWarp prst="textNoShape">
              <a:avLst/>
            </a:prstTxWarp>
          </a:bodyPr>
          <a:lstStyle/>
          <a:p>
            <a:endParaRPr lang="ur-PK" altLang="en-US" smtClean="0"/>
          </a:p>
        </p:txBody>
      </p:sp>
    </p:spTree>
    <p:extLst>
      <p:ext uri="{BB962C8B-B14F-4D97-AF65-F5344CB8AC3E}">
        <p14:creationId xmlns:p14="http://schemas.microsoft.com/office/powerpoint/2010/main" val="317627982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90" name="Slide Image Placeholder 1"/>
          <p:cNvSpPr>
            <a:spLocks noGrp="1" noRot="1" noChangeAspect="1" noTextEdit="1"/>
          </p:cNvSpPr>
          <p:nvPr>
            <p:ph type="sldImg"/>
          </p:nvPr>
        </p:nvSpPr>
        <p:spPr bwMode="auto">
          <a:noFill/>
          <a:ln>
            <a:solidFill>
              <a:srgbClr val="000000"/>
            </a:solidFill>
            <a:miter lim="800000"/>
            <a:headEnd/>
            <a:tailEnd/>
          </a:ln>
        </p:spPr>
      </p:sp>
      <p:sp>
        <p:nvSpPr>
          <p:cNvPr id="114691" name="Notes Placeholder 2"/>
          <p:cNvSpPr>
            <a:spLocks noGrp="1"/>
          </p:cNvSpPr>
          <p:nvPr>
            <p:ph type="body" idx="1"/>
          </p:nvPr>
        </p:nvSpPr>
        <p:spPr bwMode="auto">
          <a:noFill/>
        </p:spPr>
        <p:txBody>
          <a:bodyPr wrap="square" numCol="1" anchor="t" anchorCtr="0" compatLnSpc="1">
            <a:prstTxWarp prst="textNoShape">
              <a:avLst/>
            </a:prstTxWarp>
          </a:bodyPr>
          <a:lstStyle/>
          <a:p>
            <a:endParaRPr lang="ur-PK" altLang="en-US" smtClean="0"/>
          </a:p>
        </p:txBody>
      </p:sp>
    </p:spTree>
    <p:extLst>
      <p:ext uri="{BB962C8B-B14F-4D97-AF65-F5344CB8AC3E}">
        <p14:creationId xmlns:p14="http://schemas.microsoft.com/office/powerpoint/2010/main" val="246802485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8" name="Slide Image Placeholder 1"/>
          <p:cNvSpPr>
            <a:spLocks noGrp="1" noRot="1" noChangeAspect="1" noTextEdit="1"/>
          </p:cNvSpPr>
          <p:nvPr>
            <p:ph type="sldImg"/>
          </p:nvPr>
        </p:nvSpPr>
        <p:spPr bwMode="auto">
          <a:noFill/>
          <a:ln>
            <a:solidFill>
              <a:srgbClr val="000000"/>
            </a:solidFill>
            <a:miter lim="800000"/>
            <a:headEnd/>
            <a:tailEnd/>
          </a:ln>
        </p:spPr>
      </p:sp>
      <p:sp>
        <p:nvSpPr>
          <p:cNvPr id="116739" name="Notes Placeholder 2"/>
          <p:cNvSpPr>
            <a:spLocks noGrp="1"/>
          </p:cNvSpPr>
          <p:nvPr>
            <p:ph type="body" idx="1"/>
          </p:nvPr>
        </p:nvSpPr>
        <p:spPr bwMode="auto">
          <a:noFill/>
        </p:spPr>
        <p:txBody>
          <a:bodyPr wrap="square" numCol="1" anchor="t" anchorCtr="0" compatLnSpc="1">
            <a:prstTxWarp prst="textNoShape">
              <a:avLst/>
            </a:prstTxWarp>
          </a:bodyPr>
          <a:lstStyle/>
          <a:p>
            <a:endParaRPr lang="ur-PK" altLang="en-US" smtClean="0"/>
          </a:p>
        </p:txBody>
      </p:sp>
    </p:spTree>
    <p:extLst>
      <p:ext uri="{BB962C8B-B14F-4D97-AF65-F5344CB8AC3E}">
        <p14:creationId xmlns:p14="http://schemas.microsoft.com/office/powerpoint/2010/main" val="357020245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86" name="Slide Image Placeholder 1"/>
          <p:cNvSpPr>
            <a:spLocks noGrp="1" noRot="1" noChangeAspect="1" noTextEdit="1"/>
          </p:cNvSpPr>
          <p:nvPr>
            <p:ph type="sldImg"/>
          </p:nvPr>
        </p:nvSpPr>
        <p:spPr bwMode="auto">
          <a:noFill/>
          <a:ln>
            <a:solidFill>
              <a:srgbClr val="000000"/>
            </a:solidFill>
            <a:miter lim="800000"/>
            <a:headEnd/>
            <a:tailEnd/>
          </a:ln>
        </p:spPr>
      </p:sp>
      <p:sp>
        <p:nvSpPr>
          <p:cNvPr id="118787" name="Notes Placeholder 2"/>
          <p:cNvSpPr>
            <a:spLocks noGrp="1"/>
          </p:cNvSpPr>
          <p:nvPr>
            <p:ph type="body" idx="1"/>
          </p:nvPr>
        </p:nvSpPr>
        <p:spPr bwMode="auto">
          <a:noFill/>
        </p:spPr>
        <p:txBody>
          <a:bodyPr wrap="square" numCol="1" anchor="t" anchorCtr="0" compatLnSpc="1">
            <a:prstTxWarp prst="textNoShape">
              <a:avLst/>
            </a:prstTxWarp>
          </a:bodyPr>
          <a:lstStyle/>
          <a:p>
            <a:endParaRPr lang="ur-PK" altLang="en-US" smtClean="0"/>
          </a:p>
        </p:txBody>
      </p:sp>
    </p:spTree>
    <p:extLst>
      <p:ext uri="{BB962C8B-B14F-4D97-AF65-F5344CB8AC3E}">
        <p14:creationId xmlns:p14="http://schemas.microsoft.com/office/powerpoint/2010/main" val="386069112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834" name="Slide Image Placeholder 1"/>
          <p:cNvSpPr>
            <a:spLocks noGrp="1" noRot="1" noChangeAspect="1" noTextEdit="1"/>
          </p:cNvSpPr>
          <p:nvPr>
            <p:ph type="sldImg"/>
          </p:nvPr>
        </p:nvSpPr>
        <p:spPr bwMode="auto">
          <a:noFill/>
          <a:ln>
            <a:solidFill>
              <a:srgbClr val="000000"/>
            </a:solidFill>
            <a:miter lim="800000"/>
            <a:headEnd/>
            <a:tailEnd/>
          </a:ln>
        </p:spPr>
      </p:sp>
      <p:sp>
        <p:nvSpPr>
          <p:cNvPr id="120835" name="Notes Placeholder 2"/>
          <p:cNvSpPr>
            <a:spLocks noGrp="1"/>
          </p:cNvSpPr>
          <p:nvPr>
            <p:ph type="body" idx="1"/>
          </p:nvPr>
        </p:nvSpPr>
        <p:spPr bwMode="auto">
          <a:noFill/>
        </p:spPr>
        <p:txBody>
          <a:bodyPr wrap="square" numCol="1" anchor="t" anchorCtr="0" compatLnSpc="1">
            <a:prstTxWarp prst="textNoShape">
              <a:avLst/>
            </a:prstTxWarp>
          </a:bodyPr>
          <a:lstStyle/>
          <a:p>
            <a:endParaRPr lang="ur-PK" altLang="en-US" smtClean="0"/>
          </a:p>
        </p:txBody>
      </p:sp>
    </p:spTree>
    <p:extLst>
      <p:ext uri="{BB962C8B-B14F-4D97-AF65-F5344CB8AC3E}">
        <p14:creationId xmlns:p14="http://schemas.microsoft.com/office/powerpoint/2010/main" val="232368248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2" name="Slide Image Placeholder 1"/>
          <p:cNvSpPr>
            <a:spLocks noGrp="1" noRot="1" noChangeAspect="1" noTextEdit="1"/>
          </p:cNvSpPr>
          <p:nvPr>
            <p:ph type="sldImg"/>
          </p:nvPr>
        </p:nvSpPr>
        <p:spPr bwMode="auto">
          <a:noFill/>
          <a:ln>
            <a:solidFill>
              <a:srgbClr val="000000"/>
            </a:solidFill>
            <a:miter lim="800000"/>
            <a:headEnd/>
            <a:tailEnd/>
          </a:ln>
        </p:spPr>
      </p:sp>
      <p:sp>
        <p:nvSpPr>
          <p:cNvPr id="122883" name="Notes Placeholder 2"/>
          <p:cNvSpPr>
            <a:spLocks noGrp="1"/>
          </p:cNvSpPr>
          <p:nvPr>
            <p:ph type="body" idx="1"/>
          </p:nvPr>
        </p:nvSpPr>
        <p:spPr bwMode="auto">
          <a:noFill/>
        </p:spPr>
        <p:txBody>
          <a:bodyPr wrap="square" numCol="1" anchor="t" anchorCtr="0" compatLnSpc="1">
            <a:prstTxWarp prst="textNoShape">
              <a:avLst/>
            </a:prstTxWarp>
          </a:bodyPr>
          <a:lstStyle/>
          <a:p>
            <a:endParaRPr lang="ur-PK" altLang="en-US" smtClean="0"/>
          </a:p>
        </p:txBody>
      </p:sp>
    </p:spTree>
    <p:extLst>
      <p:ext uri="{BB962C8B-B14F-4D97-AF65-F5344CB8AC3E}">
        <p14:creationId xmlns:p14="http://schemas.microsoft.com/office/powerpoint/2010/main" val="71603668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Slide Image Placeholder 1"/>
          <p:cNvSpPr>
            <a:spLocks noGrp="1" noRot="1" noChangeAspect="1" noTextEdit="1"/>
          </p:cNvSpPr>
          <p:nvPr>
            <p:ph type="sldImg"/>
          </p:nvPr>
        </p:nvSpPr>
        <p:spPr bwMode="auto">
          <a:noFill/>
          <a:ln>
            <a:solidFill>
              <a:srgbClr val="000000"/>
            </a:solidFill>
            <a:miter lim="800000"/>
            <a:headEnd/>
            <a:tailEnd/>
          </a:ln>
        </p:spPr>
      </p:sp>
      <p:sp>
        <p:nvSpPr>
          <p:cNvPr id="124931" name="Notes Placeholder 2"/>
          <p:cNvSpPr>
            <a:spLocks noGrp="1"/>
          </p:cNvSpPr>
          <p:nvPr>
            <p:ph type="body" idx="1"/>
          </p:nvPr>
        </p:nvSpPr>
        <p:spPr bwMode="auto">
          <a:noFill/>
        </p:spPr>
        <p:txBody>
          <a:bodyPr wrap="square" numCol="1" anchor="t" anchorCtr="0" compatLnSpc="1">
            <a:prstTxWarp prst="textNoShape">
              <a:avLst/>
            </a:prstTxWarp>
          </a:bodyPr>
          <a:lstStyle/>
          <a:p>
            <a:endParaRPr lang="ur-PK" altLang="en-US" smtClean="0"/>
          </a:p>
        </p:txBody>
      </p:sp>
    </p:spTree>
    <p:extLst>
      <p:ext uri="{BB962C8B-B14F-4D97-AF65-F5344CB8AC3E}">
        <p14:creationId xmlns:p14="http://schemas.microsoft.com/office/powerpoint/2010/main" val="227831077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978" name="Slide Image Placeholder 1"/>
          <p:cNvSpPr>
            <a:spLocks noGrp="1" noRot="1" noChangeAspect="1" noTextEdit="1"/>
          </p:cNvSpPr>
          <p:nvPr>
            <p:ph type="sldImg"/>
          </p:nvPr>
        </p:nvSpPr>
        <p:spPr bwMode="auto">
          <a:noFill/>
          <a:ln>
            <a:solidFill>
              <a:srgbClr val="000000"/>
            </a:solidFill>
            <a:miter lim="800000"/>
            <a:headEnd/>
            <a:tailEnd/>
          </a:ln>
        </p:spPr>
      </p:sp>
      <p:sp>
        <p:nvSpPr>
          <p:cNvPr id="126979" name="Notes Placeholder 2"/>
          <p:cNvSpPr>
            <a:spLocks noGrp="1"/>
          </p:cNvSpPr>
          <p:nvPr>
            <p:ph type="body" idx="1"/>
          </p:nvPr>
        </p:nvSpPr>
        <p:spPr bwMode="auto">
          <a:noFill/>
        </p:spPr>
        <p:txBody>
          <a:bodyPr wrap="square" numCol="1" anchor="t" anchorCtr="0" compatLnSpc="1">
            <a:prstTxWarp prst="textNoShape">
              <a:avLst/>
            </a:prstTxWarp>
          </a:bodyPr>
          <a:lstStyle/>
          <a:p>
            <a:endParaRPr lang="ur-PK" altLang="en-US" smtClean="0"/>
          </a:p>
        </p:txBody>
      </p:sp>
    </p:spTree>
    <p:extLst>
      <p:ext uri="{BB962C8B-B14F-4D97-AF65-F5344CB8AC3E}">
        <p14:creationId xmlns:p14="http://schemas.microsoft.com/office/powerpoint/2010/main" val="400774131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026" name="Slide Image Placeholder 1"/>
          <p:cNvSpPr>
            <a:spLocks noGrp="1" noRot="1" noChangeAspect="1" noTextEdit="1"/>
          </p:cNvSpPr>
          <p:nvPr>
            <p:ph type="sldImg"/>
          </p:nvPr>
        </p:nvSpPr>
        <p:spPr bwMode="auto">
          <a:noFill/>
          <a:ln>
            <a:solidFill>
              <a:srgbClr val="000000"/>
            </a:solidFill>
            <a:miter lim="800000"/>
            <a:headEnd/>
            <a:tailEnd/>
          </a:ln>
        </p:spPr>
      </p:sp>
      <p:sp>
        <p:nvSpPr>
          <p:cNvPr id="129027" name="Notes Placeholder 2"/>
          <p:cNvSpPr>
            <a:spLocks noGrp="1"/>
          </p:cNvSpPr>
          <p:nvPr>
            <p:ph type="body" idx="1"/>
          </p:nvPr>
        </p:nvSpPr>
        <p:spPr bwMode="auto">
          <a:noFill/>
        </p:spPr>
        <p:txBody>
          <a:bodyPr wrap="square" numCol="1" anchor="t" anchorCtr="0" compatLnSpc="1">
            <a:prstTxWarp prst="textNoShape">
              <a:avLst/>
            </a:prstTxWarp>
          </a:bodyPr>
          <a:lstStyle/>
          <a:p>
            <a:endParaRPr lang="ur-PK" altLang="en-US" smtClean="0"/>
          </a:p>
        </p:txBody>
      </p:sp>
    </p:spTree>
    <p:extLst>
      <p:ext uri="{BB962C8B-B14F-4D97-AF65-F5344CB8AC3E}">
        <p14:creationId xmlns:p14="http://schemas.microsoft.com/office/powerpoint/2010/main" val="291436685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over Slide layout">
    <p:bg>
      <p:bgPr>
        <a:solidFill>
          <a:schemeClr val="bg1"/>
        </a:solidFill>
        <a:effectLst/>
      </p:bgPr>
    </p:bg>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3705210"/>
            <a:ext cx="9144000" cy="522725"/>
          </a:xfrm>
          <a:prstGeom prst="rect">
            <a:avLst/>
          </a:prstGeom>
        </p:spPr>
        <p:txBody>
          <a:bodyPr anchor="ctr"/>
          <a:lstStyle>
            <a:lvl1pPr marL="0" indent="0" algn="ctr">
              <a:lnSpc>
                <a:spcPct val="100000"/>
              </a:lnSpc>
              <a:buNone/>
              <a:defRPr sz="3600" b="1" baseline="0">
                <a:solidFill>
                  <a:schemeClr val="tx1">
                    <a:lumMod val="75000"/>
                    <a:lumOff val="25000"/>
                  </a:schemeClr>
                </a:solidFill>
                <a:latin typeface="+mj-lt"/>
                <a:cs typeface="Arial" pitchFamily="34" charset="0"/>
              </a:defRPr>
            </a:lvl1pPr>
          </a:lstStyle>
          <a:p>
            <a:pPr lvl="0"/>
            <a:r>
              <a:rPr lang="en-US" altLang="ko-KR" smtClean="0">
                <a:ea typeface="맑은 고딕" pitchFamily="50" charset="-127"/>
              </a:rPr>
              <a:t>title</a:t>
            </a:r>
            <a:endParaRPr lang="en-US" altLang="ko-KR"/>
          </a:p>
        </p:txBody>
      </p:sp>
      <p:sp>
        <p:nvSpPr>
          <p:cNvPr id="11" name="Text Placeholder 9"/>
          <p:cNvSpPr>
            <a:spLocks noGrp="1"/>
          </p:cNvSpPr>
          <p:nvPr>
            <p:ph type="body" sz="quarter" idx="11" hasCustomPrompt="1"/>
          </p:nvPr>
        </p:nvSpPr>
        <p:spPr>
          <a:xfrm>
            <a:off x="-148" y="4227934"/>
            <a:ext cx="9144000" cy="288032"/>
          </a:xfrm>
          <a:prstGeom prst="rect">
            <a:avLst/>
          </a:prstGeom>
        </p:spPr>
        <p:txBody>
          <a:bodyPr anchor="ctr"/>
          <a:lstStyle>
            <a:lvl1pPr marL="0" indent="0" algn="ctr">
              <a:lnSpc>
                <a:spcPct val="100000"/>
              </a:lnSpc>
              <a:buNone/>
              <a:defRPr sz="1400" b="1" baseline="0">
                <a:solidFill>
                  <a:schemeClr val="tx1">
                    <a:lumMod val="75000"/>
                    <a:lumOff val="25000"/>
                  </a:schemeClr>
                </a:solidFill>
                <a:latin typeface="+mn-lt"/>
                <a:cs typeface="Arial" pitchFamily="34" charset="0"/>
              </a:defRPr>
            </a:lvl1pPr>
          </a:lstStyle>
          <a:p>
            <a:pPr lvl="0"/>
            <a:r>
              <a:rPr lang="en-US" altLang="ko-KR"/>
              <a:t>INSTERT THE TITLE OF YOUR PRESENTATION HERE</a:t>
            </a:r>
            <a:endParaRPr lang="ko-KR" altLang="en-US"/>
          </a:p>
        </p:txBody>
      </p:sp>
    </p:spTree>
    <p:extLst>
      <p:ext uri="{BB962C8B-B14F-4D97-AF65-F5344CB8AC3E}">
        <p14:creationId xmlns:p14="http://schemas.microsoft.com/office/powerpoint/2010/main" val="4162736505"/>
      </p:ext>
    </p:extLst>
  </p:cSld>
  <p:clrMapOvr>
    <a:masterClrMapping/>
  </p:clrMapOv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End Slide Layout">
    <p:bg>
      <p:bgPr>
        <a:blipFill dpi="0" rotWithShape="1">
          <a:blip r:embed="rId2">
            <a:lum/>
          </a:blip>
          <a:stretch>
            <a:fillRect t="-18000" b="-18000"/>
          </a:stretch>
        </a:blipFill>
        <a:effectLst/>
      </p:bgPr>
    </p:bg>
    <p:spTree>
      <p:nvGrpSpPr>
        <p:cNvPr id="1" name=""/>
        <p:cNvGrpSpPr/>
        <p:nvPr/>
      </p:nvGrpSpPr>
      <p:grpSpPr>
        <a:xfrm>
          <a:off x="0" y="0"/>
          <a:ext cx="0" cy="0"/>
          <a:chOff x="0" y="0"/>
          <a:chExt cx="0" cy="0"/>
        </a:xfrm>
      </p:grpSpPr>
      <p:sp>
        <p:nvSpPr>
          <p:cNvPr id="2" name="Oval 1"/>
          <p:cNvSpPr/>
          <p:nvPr userDrawn="1"/>
        </p:nvSpPr>
        <p:spPr>
          <a:xfrm>
            <a:off x="2699644" y="699542"/>
            <a:ext cx="3744416" cy="3744416"/>
          </a:xfrm>
          <a:prstGeom prst="ellipse">
            <a:avLst/>
          </a:prstGeom>
          <a:solidFill>
            <a:schemeClr val="tx2">
              <a:lumMod val="75000"/>
              <a:alpha val="77000"/>
            </a:schemeClr>
          </a:solidFill>
          <a:ln w="857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0" name="Text Placeholder 9"/>
          <p:cNvSpPr>
            <a:spLocks noGrp="1"/>
          </p:cNvSpPr>
          <p:nvPr>
            <p:ph type="body" sz="quarter" idx="10" hasCustomPrompt="1"/>
          </p:nvPr>
        </p:nvSpPr>
        <p:spPr>
          <a:xfrm>
            <a:off x="2699792" y="2181230"/>
            <a:ext cx="3744416" cy="576063"/>
          </a:xfrm>
          <a:prstGeom prst="rect">
            <a:avLst/>
          </a:prstGeom>
        </p:spPr>
        <p:txBody>
          <a:bodyPr anchor="ctr"/>
          <a:lstStyle>
            <a:lvl1pPr marL="0" indent="0" algn="ctr">
              <a:buNone/>
              <a:defRPr sz="3600" b="1" baseline="0">
                <a:solidFill>
                  <a:schemeClr val="bg1"/>
                </a:solidFill>
                <a:latin typeface="+mj-lt"/>
                <a:cs typeface="Arial" pitchFamily="34" charset="0"/>
              </a:defRPr>
            </a:lvl1pPr>
          </a:lstStyle>
          <a:p>
            <a:pPr lvl="0"/>
            <a:r>
              <a:rPr lang="en-US" altLang="ko-KR"/>
              <a:t>Thank you</a:t>
            </a:r>
          </a:p>
        </p:txBody>
      </p:sp>
      <p:sp>
        <p:nvSpPr>
          <p:cNvPr id="11" name="Text Placeholder 9"/>
          <p:cNvSpPr>
            <a:spLocks noGrp="1"/>
          </p:cNvSpPr>
          <p:nvPr>
            <p:ph type="body" sz="quarter" idx="11" hasCustomPrompt="1"/>
          </p:nvPr>
        </p:nvSpPr>
        <p:spPr>
          <a:xfrm>
            <a:off x="2699644" y="2757294"/>
            <a:ext cx="3744416" cy="288032"/>
          </a:xfrm>
          <a:prstGeom prst="rect">
            <a:avLst/>
          </a:prstGeom>
        </p:spPr>
        <p:txBody>
          <a:bodyPr anchor="ctr"/>
          <a:lstStyle>
            <a:lvl1pPr marL="0" indent="0" algn="ctr">
              <a:buNone/>
              <a:defRPr sz="1400" b="0" baseline="0">
                <a:solidFill>
                  <a:schemeClr val="bg1"/>
                </a:solidFill>
                <a:latin typeface="+mn-lt"/>
                <a:cs typeface="Arial" pitchFamily="34" charset="0"/>
              </a:defRPr>
            </a:lvl1pPr>
          </a:lstStyle>
          <a:p>
            <a:pPr lvl="0"/>
            <a:r>
              <a:rPr lang="en-US" altLang="ko-KR"/>
              <a:t>Insert the title of your subtitle Here</a:t>
            </a:r>
          </a:p>
        </p:txBody>
      </p:sp>
    </p:spTree>
    <p:extLst>
      <p:ext uri="{BB962C8B-B14F-4D97-AF65-F5344CB8AC3E}">
        <p14:creationId xmlns:p14="http://schemas.microsoft.com/office/powerpoint/2010/main" val="922477153"/>
      </p:ext>
    </p:extLst>
  </p:cSld>
  <p:clrMapOvr>
    <a:masterClrMapping/>
  </p:clrMapOv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obj">
  <p:cSld name="Title and 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457200" y="514350"/>
            <a:ext cx="8229600" cy="548879"/>
          </a:xfrm>
          <a:prstGeom prst="rect">
            <a:avLst/>
          </a:prstGeom>
        </p:spPr>
        <p:txBody>
          <a:bodyPr>
            <a:normAutofit/>
          </a:bodyPr>
          <a:lstStyle>
            <a:lvl1pPr algn="l">
              <a:defRPr sz="2700">
                <a:solidFill>
                  <a:srgbClr val="003366"/>
                </a:solidFill>
              </a:defRPr>
            </a:lvl1pPr>
          </a:lstStyle>
          <a:p>
            <a:r>
              <a:rPr lang="en-US" dirty="0"/>
              <a:t>Click to edit Master title style</a:t>
            </a:r>
          </a:p>
        </p:txBody>
      </p:sp>
      <p:sp>
        <p:nvSpPr>
          <p:cNvPr id="3" name="Content Placeholder 2"/>
          <p:cNvSpPr>
            <a:spLocks noGrp="1"/>
          </p:cNvSpPr>
          <p:nvPr>
            <p:ph idx="1"/>
          </p:nvPr>
        </p:nvSpPr>
        <p:spPr>
          <a:xfrm>
            <a:off x="457200" y="1200151"/>
            <a:ext cx="8229600" cy="3394472"/>
          </a:xfrm>
          <a:prstGeom prst="rect">
            <a:avLst/>
          </a:prstGeom>
        </p:spPr>
        <p:txBody>
          <a:bodyPr>
            <a:normAutofit/>
          </a:bodyPr>
          <a:lstStyle>
            <a:lvl1pPr>
              <a:defRPr sz="1500"/>
            </a:lvl1pPr>
            <a:lvl2pPr>
              <a:defRPr sz="1500"/>
            </a:lvl2pPr>
            <a:lvl3pPr>
              <a:defRPr sz="1500"/>
            </a:lvl3pPr>
            <a:lvl4pPr>
              <a:defRPr sz="1500"/>
            </a:lvl4pPr>
            <a:lvl5pPr>
              <a:defRPr sz="15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a:xfrm>
            <a:off x="457200" y="4767263"/>
            <a:ext cx="2133600" cy="273844"/>
          </a:xfrm>
          <a:prstGeom prst="rect">
            <a:avLst/>
          </a:prstGeom>
        </p:spPr>
        <p:txBody>
          <a:bodyPr/>
          <a:lstStyle/>
          <a:p>
            <a:fld id="{911BE2C0-B263-409E-B462-D229454C6A81}" type="datetime1">
              <a:rPr lang="en-US" smtClean="0"/>
              <a:pPr/>
              <a:t>11/12/2020</a:t>
            </a:fld>
            <a:endParaRPr lang="en-US"/>
          </a:p>
        </p:txBody>
      </p:sp>
      <p:sp>
        <p:nvSpPr>
          <p:cNvPr id="5" name="Footer Placeholder 4"/>
          <p:cNvSpPr>
            <a:spLocks noGrp="1"/>
          </p:cNvSpPr>
          <p:nvPr>
            <p:ph type="ftr" sz="quarter" idx="11"/>
          </p:nvPr>
        </p:nvSpPr>
        <p:spPr>
          <a:xfrm>
            <a:off x="3124200" y="4767263"/>
            <a:ext cx="2895600" cy="273844"/>
          </a:xfrm>
          <a:prstGeom prst="rect">
            <a:avLst/>
          </a:prstGeom>
        </p:spPr>
        <p:txBody>
          <a:bodyPr/>
          <a:lstStyle/>
          <a:p>
            <a:r>
              <a:rPr lang="en-US"/>
              <a:t>Obejct Oriented Programming</a:t>
            </a:r>
          </a:p>
        </p:txBody>
      </p:sp>
      <p:sp>
        <p:nvSpPr>
          <p:cNvPr id="6" name="Slide Number Placeholder 5"/>
          <p:cNvSpPr>
            <a:spLocks noGrp="1"/>
          </p:cNvSpPr>
          <p:nvPr>
            <p:ph type="sldNum" sz="quarter" idx="12"/>
          </p:nvPr>
        </p:nvSpPr>
        <p:spPr>
          <a:xfrm>
            <a:off x="6553200" y="4767263"/>
            <a:ext cx="2133600" cy="273844"/>
          </a:xfrm>
          <a:prstGeom prst="rect">
            <a:avLst/>
          </a:prstGeom>
        </p:spPr>
        <p:txBody>
          <a:bodyPr/>
          <a:lstStyle/>
          <a:p>
            <a:fld id="{4192AEF6-A042-4DA6-A3E1-F04AAE1E3944}" type="slidenum">
              <a:rPr lang="en-US" smtClean="0"/>
              <a:pPr/>
              <a:t>‹#›</a:t>
            </a:fld>
            <a:endParaRPr lang="en-US"/>
          </a:p>
        </p:txBody>
      </p:sp>
    </p:spTree>
    <p:extLst>
      <p:ext uri="{BB962C8B-B14F-4D97-AF65-F5344CB8AC3E}">
        <p14:creationId xmlns:p14="http://schemas.microsoft.com/office/powerpoint/2010/main" val="222368898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Agenda Layout">
    <p:bg>
      <p:bgPr>
        <a:solidFill>
          <a:schemeClr val="bg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875712077"/>
      </p:ext>
    </p:extLst>
  </p:cSld>
  <p:clrMapOvr>
    <a:masterClrMapping/>
  </p:clrMapOv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Basic Layout">
    <p:bg>
      <p:bgPr>
        <a:solidFill>
          <a:schemeClr val="bg1"/>
        </a:solidFill>
        <a:effectLst/>
      </p:bgPr>
    </p:bg>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483518"/>
            <a:ext cx="9144000" cy="576064"/>
          </a:xfrm>
          <a:prstGeom prst="rect">
            <a:avLst/>
          </a:prstGeom>
        </p:spPr>
        <p:txBody>
          <a:bodyPr anchor="ctr"/>
          <a:lstStyle>
            <a:lvl1pPr marL="0" indent="0" algn="ctr">
              <a:buNone/>
              <a:defRPr sz="3600" b="0" baseline="0">
                <a:solidFill>
                  <a:schemeClr val="tx1">
                    <a:lumMod val="75000"/>
                    <a:lumOff val="25000"/>
                  </a:schemeClr>
                </a:solidFill>
                <a:latin typeface="+mj-lt"/>
                <a:cs typeface="Arial" pitchFamily="34" charset="0"/>
              </a:defRPr>
            </a:lvl1pPr>
          </a:lstStyle>
          <a:p>
            <a:pPr lvl="0"/>
            <a:r>
              <a:rPr lang="en-US" altLang="ko-KR"/>
              <a:t>BASIC LAYOUT</a:t>
            </a:r>
          </a:p>
        </p:txBody>
      </p:sp>
      <p:sp>
        <p:nvSpPr>
          <p:cNvPr id="11" name="Text Placeholder 9"/>
          <p:cNvSpPr>
            <a:spLocks noGrp="1"/>
          </p:cNvSpPr>
          <p:nvPr>
            <p:ph type="body" sz="quarter" idx="11" hasCustomPrompt="1"/>
          </p:nvPr>
        </p:nvSpPr>
        <p:spPr>
          <a:xfrm>
            <a:off x="0" y="1059582"/>
            <a:ext cx="9144000" cy="288032"/>
          </a:xfrm>
          <a:prstGeom prst="rect">
            <a:avLst/>
          </a:prstGeom>
        </p:spPr>
        <p:txBody>
          <a:bodyPr anchor="ctr"/>
          <a:lstStyle>
            <a:lvl1pPr marL="0" indent="0" algn="ctr">
              <a:buNone/>
              <a:defRPr sz="1400" b="0" baseline="0">
                <a:solidFill>
                  <a:schemeClr val="tx1">
                    <a:lumMod val="75000"/>
                    <a:lumOff val="25000"/>
                  </a:schemeClr>
                </a:solidFill>
                <a:latin typeface="+mn-lt"/>
                <a:cs typeface="Arial" pitchFamily="34" charset="0"/>
              </a:defRPr>
            </a:lvl1pPr>
          </a:lstStyle>
          <a:p>
            <a:pPr lvl="0"/>
            <a:r>
              <a:rPr lang="en-US" altLang="ko-KR"/>
              <a:t>Insert the title of your subtitle Here</a:t>
            </a:r>
          </a:p>
        </p:txBody>
      </p:sp>
    </p:spTree>
    <p:extLst>
      <p:ext uri="{BB962C8B-B14F-4D97-AF65-F5344CB8AC3E}">
        <p14:creationId xmlns:p14="http://schemas.microsoft.com/office/powerpoint/2010/main" val="312904482"/>
      </p:ext>
    </p:extLst>
  </p:cSld>
  <p:clrMapOvr>
    <a:masterClrMapping/>
  </p:clrMapOv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2_Basic Layout">
    <p:bg>
      <p:bgPr>
        <a:solidFill>
          <a:schemeClr val="bg1"/>
        </a:solidFill>
        <a:effectLst/>
      </p:bgPr>
    </p:bg>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179512" y="555526"/>
            <a:ext cx="8424936" cy="576064"/>
          </a:xfrm>
          <a:prstGeom prst="rect">
            <a:avLst/>
          </a:prstGeom>
        </p:spPr>
        <p:txBody>
          <a:bodyPr anchor="ctr"/>
          <a:lstStyle>
            <a:lvl1pPr marL="0" indent="0" algn="l">
              <a:buNone/>
              <a:defRPr sz="3600" b="0" baseline="0">
                <a:solidFill>
                  <a:schemeClr val="tx1">
                    <a:lumMod val="75000"/>
                    <a:lumOff val="25000"/>
                  </a:schemeClr>
                </a:solidFill>
                <a:latin typeface="+mj-lt"/>
                <a:cs typeface="Arial" pitchFamily="34" charset="0"/>
              </a:defRPr>
            </a:lvl1pPr>
          </a:lstStyle>
          <a:p>
            <a:pPr lvl="0"/>
            <a:r>
              <a:rPr lang="en-US" altLang="ko-KR"/>
              <a:t>BASIC LAYOUT</a:t>
            </a:r>
          </a:p>
        </p:txBody>
      </p:sp>
      <p:sp>
        <p:nvSpPr>
          <p:cNvPr id="11" name="Text Placeholder 9"/>
          <p:cNvSpPr>
            <a:spLocks noGrp="1"/>
          </p:cNvSpPr>
          <p:nvPr>
            <p:ph type="body" sz="quarter" idx="11" hasCustomPrompt="1"/>
          </p:nvPr>
        </p:nvSpPr>
        <p:spPr>
          <a:xfrm>
            <a:off x="179512" y="1203598"/>
            <a:ext cx="8424936" cy="288032"/>
          </a:xfrm>
          <a:prstGeom prst="rect">
            <a:avLst/>
          </a:prstGeom>
        </p:spPr>
        <p:txBody>
          <a:bodyPr anchor="ctr"/>
          <a:lstStyle>
            <a:lvl1pPr marL="0" indent="0" algn="l">
              <a:buNone/>
              <a:defRPr sz="1400" b="0" baseline="0">
                <a:solidFill>
                  <a:schemeClr val="tx1">
                    <a:lumMod val="75000"/>
                    <a:lumOff val="25000"/>
                  </a:schemeClr>
                </a:solidFill>
                <a:latin typeface="+mn-lt"/>
                <a:cs typeface="Arial" pitchFamily="34" charset="0"/>
              </a:defRPr>
            </a:lvl1pPr>
          </a:lstStyle>
          <a:p>
            <a:pPr lvl="0"/>
            <a:r>
              <a:rPr lang="en-US" altLang="ko-KR"/>
              <a:t>Insert the title of your subtitle Here</a:t>
            </a:r>
          </a:p>
        </p:txBody>
      </p:sp>
    </p:spTree>
    <p:extLst>
      <p:ext uri="{BB962C8B-B14F-4D97-AF65-F5344CB8AC3E}">
        <p14:creationId xmlns:p14="http://schemas.microsoft.com/office/powerpoint/2010/main" val="1457713910"/>
      </p:ext>
    </p:extLst>
  </p:cSld>
  <p:clrMapOvr>
    <a:masterClrMapping/>
  </p:clrMapOv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1_Basic Layout">
    <p:bg>
      <p:bgPr>
        <a:solidFill>
          <a:schemeClr val="bg1"/>
        </a:solidFill>
        <a:effectLst/>
      </p:bgPr>
    </p:bg>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179512" y="483518"/>
            <a:ext cx="4248472" cy="576064"/>
          </a:xfrm>
          <a:prstGeom prst="rect">
            <a:avLst/>
          </a:prstGeom>
        </p:spPr>
        <p:txBody>
          <a:bodyPr anchor="ctr"/>
          <a:lstStyle>
            <a:lvl1pPr marL="0" indent="0" algn="l">
              <a:buNone/>
              <a:defRPr sz="3600" b="0" baseline="0">
                <a:solidFill>
                  <a:schemeClr val="tx1">
                    <a:lumMod val="75000"/>
                    <a:lumOff val="25000"/>
                  </a:schemeClr>
                </a:solidFill>
                <a:latin typeface="+mj-lt"/>
                <a:cs typeface="Arial" pitchFamily="34" charset="0"/>
              </a:defRPr>
            </a:lvl1pPr>
          </a:lstStyle>
          <a:p>
            <a:pPr lvl="0"/>
            <a:r>
              <a:rPr lang="en-US" altLang="ko-KR"/>
              <a:t>BASIC LAYOUT</a:t>
            </a:r>
          </a:p>
        </p:txBody>
      </p:sp>
      <p:sp>
        <p:nvSpPr>
          <p:cNvPr id="11" name="Text Placeholder 9"/>
          <p:cNvSpPr>
            <a:spLocks noGrp="1"/>
          </p:cNvSpPr>
          <p:nvPr>
            <p:ph type="body" sz="quarter" idx="11" hasCustomPrompt="1"/>
          </p:nvPr>
        </p:nvSpPr>
        <p:spPr>
          <a:xfrm>
            <a:off x="179512" y="1131590"/>
            <a:ext cx="4248472" cy="288032"/>
          </a:xfrm>
          <a:prstGeom prst="rect">
            <a:avLst/>
          </a:prstGeom>
        </p:spPr>
        <p:txBody>
          <a:bodyPr anchor="ctr"/>
          <a:lstStyle>
            <a:lvl1pPr marL="0" indent="0" algn="l">
              <a:buNone/>
              <a:defRPr sz="1400" b="0" baseline="0">
                <a:solidFill>
                  <a:schemeClr val="tx1">
                    <a:lumMod val="75000"/>
                    <a:lumOff val="25000"/>
                  </a:schemeClr>
                </a:solidFill>
                <a:latin typeface="+mn-lt"/>
                <a:cs typeface="Arial" pitchFamily="34" charset="0"/>
              </a:defRPr>
            </a:lvl1pPr>
          </a:lstStyle>
          <a:p>
            <a:pPr lvl="0"/>
            <a:r>
              <a:rPr lang="en-US" altLang="ko-KR"/>
              <a:t>Insert the title of your subtitle Here</a:t>
            </a:r>
          </a:p>
        </p:txBody>
      </p:sp>
    </p:spTree>
    <p:extLst>
      <p:ext uri="{BB962C8B-B14F-4D97-AF65-F5344CB8AC3E}">
        <p14:creationId xmlns:p14="http://schemas.microsoft.com/office/powerpoint/2010/main" val="3927735883"/>
      </p:ext>
    </p:extLst>
  </p:cSld>
  <p:clrMapOvr>
    <a:masterClrMapping/>
  </p:clrMapOv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3_Basic Layout">
    <p:bg>
      <p:bgPr>
        <a:solidFill>
          <a:schemeClr val="bg1"/>
        </a:solidFill>
        <a:effectLst/>
      </p:bgPr>
    </p:bg>
    <p:spTree>
      <p:nvGrpSpPr>
        <p:cNvPr id="1" name=""/>
        <p:cNvGrpSpPr/>
        <p:nvPr/>
      </p:nvGrpSpPr>
      <p:grpSpPr>
        <a:xfrm>
          <a:off x="0" y="0"/>
          <a:ext cx="0" cy="0"/>
          <a:chOff x="0" y="0"/>
          <a:chExt cx="0" cy="0"/>
        </a:xfrm>
      </p:grpSpPr>
      <p:sp>
        <p:nvSpPr>
          <p:cNvPr id="2" name="Rectangle 1"/>
          <p:cNvSpPr/>
          <p:nvPr userDrawn="1"/>
        </p:nvSpPr>
        <p:spPr>
          <a:xfrm>
            <a:off x="0" y="0"/>
            <a:ext cx="9144000" cy="105958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lumMod val="75000"/>
                  <a:lumOff val="25000"/>
                </a:schemeClr>
              </a:solidFill>
            </a:endParaRPr>
          </a:p>
        </p:txBody>
      </p:sp>
      <p:sp>
        <p:nvSpPr>
          <p:cNvPr id="10" name="Text Placeholder 9"/>
          <p:cNvSpPr>
            <a:spLocks noGrp="1"/>
          </p:cNvSpPr>
          <p:nvPr>
            <p:ph type="body" sz="quarter" idx="10" hasCustomPrompt="1"/>
          </p:nvPr>
        </p:nvSpPr>
        <p:spPr>
          <a:xfrm>
            <a:off x="-42902" y="455940"/>
            <a:ext cx="9144000" cy="576064"/>
          </a:xfrm>
          <a:prstGeom prst="rect">
            <a:avLst/>
          </a:prstGeom>
        </p:spPr>
        <p:txBody>
          <a:bodyPr anchor="ctr"/>
          <a:lstStyle>
            <a:lvl1pPr marL="0" indent="0" algn="ctr">
              <a:buNone/>
              <a:defRPr sz="1800" b="0" baseline="0">
                <a:solidFill>
                  <a:schemeClr val="tx1">
                    <a:lumMod val="75000"/>
                    <a:lumOff val="25000"/>
                  </a:schemeClr>
                </a:solidFill>
                <a:latin typeface="+mj-lt"/>
                <a:cs typeface="Arial" pitchFamily="34" charset="0"/>
              </a:defRPr>
            </a:lvl1pPr>
          </a:lstStyle>
          <a:p>
            <a:pPr lvl="0"/>
            <a:r>
              <a:rPr lang="en-US" altLang="ko-KR"/>
              <a:t>BASIC LAYOUT</a:t>
            </a:r>
          </a:p>
        </p:txBody>
      </p:sp>
      <p:sp>
        <p:nvSpPr>
          <p:cNvPr id="11" name="Text Placeholder 9"/>
          <p:cNvSpPr>
            <a:spLocks noGrp="1"/>
          </p:cNvSpPr>
          <p:nvPr>
            <p:ph type="body" sz="quarter" idx="11" hasCustomPrompt="1"/>
          </p:nvPr>
        </p:nvSpPr>
        <p:spPr>
          <a:xfrm>
            <a:off x="0" y="887988"/>
            <a:ext cx="9144000" cy="288032"/>
          </a:xfrm>
          <a:prstGeom prst="rect">
            <a:avLst/>
          </a:prstGeom>
        </p:spPr>
        <p:txBody>
          <a:bodyPr anchor="ctr"/>
          <a:lstStyle>
            <a:lvl1pPr marL="0" indent="0" algn="ctr">
              <a:buNone/>
              <a:defRPr sz="1400" b="0" baseline="0">
                <a:solidFill>
                  <a:schemeClr val="tx1">
                    <a:lumMod val="75000"/>
                    <a:lumOff val="25000"/>
                  </a:schemeClr>
                </a:solidFill>
                <a:latin typeface="+mn-lt"/>
                <a:cs typeface="Arial" pitchFamily="34" charset="0"/>
              </a:defRPr>
            </a:lvl1pPr>
          </a:lstStyle>
          <a:p>
            <a:pPr lvl="0"/>
            <a:r>
              <a:rPr lang="en-US" altLang="ko-KR"/>
              <a:t>Insert the title of your subtitle Here</a:t>
            </a:r>
          </a:p>
        </p:txBody>
      </p:sp>
      <p:sp>
        <p:nvSpPr>
          <p:cNvPr id="5" name="Picture Placeholder 2"/>
          <p:cNvSpPr>
            <a:spLocks noGrp="1"/>
          </p:cNvSpPr>
          <p:nvPr>
            <p:ph type="pic" idx="1" hasCustomPrompt="1"/>
          </p:nvPr>
        </p:nvSpPr>
        <p:spPr>
          <a:xfrm>
            <a:off x="649246" y="1275606"/>
            <a:ext cx="1648869" cy="1648869"/>
          </a:xfrm>
          <a:prstGeom prst="ellipse">
            <a:avLst/>
          </a:prstGeom>
          <a:solidFill>
            <a:schemeClr val="bg1">
              <a:lumMod val="95000"/>
            </a:schemeClr>
          </a:solidFill>
          <a:ln w="38100">
            <a:solidFill>
              <a:schemeClr val="tx2">
                <a:lumMod val="60000"/>
                <a:lumOff val="40000"/>
              </a:schemeClr>
            </a:solidFill>
          </a:ln>
        </p:spPr>
        <p:txBody>
          <a:bodyPr anchor="ctr"/>
          <a:lstStyle>
            <a:lvl1pPr marL="0" indent="0" algn="ctr">
              <a:buNone/>
              <a:defRPr sz="1200" baseline="0">
                <a:solidFill>
                  <a:schemeClr val="tx1">
                    <a:lumMod val="75000"/>
                    <a:lumOff val="25000"/>
                  </a:schemeClr>
                </a:solidFill>
                <a:latin typeface="+mn-lt"/>
                <a:cs typeface="Arial"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ko-KR"/>
              <a:t>Your Picture Here</a:t>
            </a:r>
            <a:endParaRPr lang="ko-KR" altLang="en-US"/>
          </a:p>
        </p:txBody>
      </p:sp>
      <p:sp>
        <p:nvSpPr>
          <p:cNvPr id="6" name="Picture Placeholder 2"/>
          <p:cNvSpPr>
            <a:spLocks noGrp="1"/>
          </p:cNvSpPr>
          <p:nvPr>
            <p:ph type="pic" idx="12" hasCustomPrompt="1"/>
          </p:nvPr>
        </p:nvSpPr>
        <p:spPr>
          <a:xfrm>
            <a:off x="2720790" y="1275606"/>
            <a:ext cx="1648869" cy="1648869"/>
          </a:xfrm>
          <a:prstGeom prst="ellipse">
            <a:avLst/>
          </a:prstGeom>
          <a:solidFill>
            <a:schemeClr val="bg1">
              <a:lumMod val="95000"/>
            </a:schemeClr>
          </a:solidFill>
          <a:ln w="38100">
            <a:solidFill>
              <a:schemeClr val="tx2">
                <a:lumMod val="60000"/>
                <a:lumOff val="40000"/>
              </a:schemeClr>
            </a:solidFill>
          </a:ln>
        </p:spPr>
        <p:txBody>
          <a:bodyPr anchor="ctr"/>
          <a:lstStyle>
            <a:lvl1pPr marL="0" indent="0" algn="ctr">
              <a:buNone/>
              <a:defRPr sz="1200" baseline="0">
                <a:solidFill>
                  <a:schemeClr val="tx1">
                    <a:lumMod val="75000"/>
                    <a:lumOff val="25000"/>
                  </a:schemeClr>
                </a:solidFill>
                <a:latin typeface="+mn-lt"/>
                <a:cs typeface="Arial"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ko-KR"/>
              <a:t>Your Picture Here</a:t>
            </a:r>
            <a:endParaRPr lang="ko-KR" altLang="en-US"/>
          </a:p>
        </p:txBody>
      </p:sp>
      <p:sp>
        <p:nvSpPr>
          <p:cNvPr id="7" name="Picture Placeholder 2"/>
          <p:cNvSpPr>
            <a:spLocks noGrp="1"/>
          </p:cNvSpPr>
          <p:nvPr>
            <p:ph type="pic" idx="13" hasCustomPrompt="1"/>
          </p:nvPr>
        </p:nvSpPr>
        <p:spPr>
          <a:xfrm>
            <a:off x="4792334" y="1275606"/>
            <a:ext cx="1648869" cy="1648869"/>
          </a:xfrm>
          <a:prstGeom prst="ellipse">
            <a:avLst/>
          </a:prstGeom>
          <a:solidFill>
            <a:schemeClr val="bg1">
              <a:lumMod val="95000"/>
            </a:schemeClr>
          </a:solidFill>
          <a:ln w="38100">
            <a:solidFill>
              <a:schemeClr val="tx2">
                <a:lumMod val="60000"/>
                <a:lumOff val="40000"/>
              </a:schemeClr>
            </a:solidFill>
          </a:ln>
        </p:spPr>
        <p:txBody>
          <a:bodyPr anchor="ctr"/>
          <a:lstStyle>
            <a:lvl1pPr marL="0" indent="0" algn="ctr">
              <a:buNone/>
              <a:defRPr sz="1200" baseline="0">
                <a:solidFill>
                  <a:schemeClr val="tx1">
                    <a:lumMod val="75000"/>
                    <a:lumOff val="25000"/>
                  </a:schemeClr>
                </a:solidFill>
                <a:latin typeface="+mn-lt"/>
                <a:cs typeface="Arial"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ko-KR"/>
              <a:t>Your Picture Here</a:t>
            </a:r>
            <a:endParaRPr lang="ko-KR" altLang="en-US"/>
          </a:p>
        </p:txBody>
      </p:sp>
      <p:sp>
        <p:nvSpPr>
          <p:cNvPr id="8" name="Picture Placeholder 2"/>
          <p:cNvSpPr>
            <a:spLocks noGrp="1"/>
          </p:cNvSpPr>
          <p:nvPr>
            <p:ph type="pic" idx="14" hasCustomPrompt="1"/>
          </p:nvPr>
        </p:nvSpPr>
        <p:spPr>
          <a:xfrm>
            <a:off x="6863879" y="1275606"/>
            <a:ext cx="1648869" cy="1648869"/>
          </a:xfrm>
          <a:prstGeom prst="ellipse">
            <a:avLst/>
          </a:prstGeom>
          <a:solidFill>
            <a:schemeClr val="bg1">
              <a:lumMod val="95000"/>
            </a:schemeClr>
          </a:solidFill>
          <a:ln w="38100">
            <a:solidFill>
              <a:schemeClr val="tx2">
                <a:lumMod val="60000"/>
                <a:lumOff val="40000"/>
              </a:schemeClr>
            </a:solidFill>
          </a:ln>
        </p:spPr>
        <p:txBody>
          <a:bodyPr anchor="ctr"/>
          <a:lstStyle>
            <a:lvl1pPr marL="0" indent="0" algn="ctr">
              <a:buNone/>
              <a:defRPr sz="1200" baseline="0">
                <a:solidFill>
                  <a:schemeClr val="tx1">
                    <a:lumMod val="75000"/>
                    <a:lumOff val="25000"/>
                  </a:schemeClr>
                </a:solidFill>
                <a:latin typeface="+mn-lt"/>
                <a:cs typeface="Arial"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ko-KR"/>
              <a:t>Your Picture Here</a:t>
            </a:r>
            <a:endParaRPr lang="ko-KR" altLang="en-US"/>
          </a:p>
        </p:txBody>
      </p:sp>
    </p:spTree>
    <p:extLst>
      <p:ext uri="{BB962C8B-B14F-4D97-AF65-F5344CB8AC3E}">
        <p14:creationId xmlns:p14="http://schemas.microsoft.com/office/powerpoint/2010/main" val="2650241133"/>
      </p:ext>
    </p:extLst>
  </p:cSld>
  <p:clrMapOvr>
    <a:masterClrMapping/>
  </p:clrMapOv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Images and Contents Layout">
    <p:spTree>
      <p:nvGrpSpPr>
        <p:cNvPr id="1" name=""/>
        <p:cNvGrpSpPr/>
        <p:nvPr/>
      </p:nvGrpSpPr>
      <p:grpSpPr>
        <a:xfrm>
          <a:off x="0" y="0"/>
          <a:ext cx="0" cy="0"/>
          <a:chOff x="0" y="0"/>
          <a:chExt cx="0" cy="0"/>
        </a:xfrm>
      </p:grpSpPr>
      <p:sp>
        <p:nvSpPr>
          <p:cNvPr id="4" name="Picture Placeholder 2"/>
          <p:cNvSpPr>
            <a:spLocks noGrp="1"/>
          </p:cNvSpPr>
          <p:nvPr>
            <p:ph type="pic" idx="1" hasCustomPrompt="1"/>
          </p:nvPr>
        </p:nvSpPr>
        <p:spPr>
          <a:xfrm>
            <a:off x="0" y="0"/>
            <a:ext cx="9144000" cy="5143500"/>
          </a:xfrm>
          <a:prstGeom prst="rect">
            <a:avLst/>
          </a:prstGeom>
          <a:noFill/>
        </p:spPr>
        <p:txBody>
          <a:bodyPr lIns="720000" anchor="ctr"/>
          <a:lstStyle>
            <a:lvl1pPr marL="0" indent="0" algn="l">
              <a:buNone/>
              <a:defRPr sz="1800" baseline="0">
                <a:solidFill>
                  <a:schemeClr val="tx1">
                    <a:lumMod val="75000"/>
                    <a:lumOff val="25000"/>
                  </a:schemeClr>
                </a:solidFill>
                <a:latin typeface="+mn-lt"/>
                <a:cs typeface="Arial"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ko-KR"/>
              <a:t>Your Picture Here</a:t>
            </a:r>
            <a:endParaRPr lang="ko-KR" altLang="en-US"/>
          </a:p>
        </p:txBody>
      </p:sp>
    </p:spTree>
    <p:extLst>
      <p:ext uri="{BB962C8B-B14F-4D97-AF65-F5344CB8AC3E}">
        <p14:creationId xmlns:p14="http://schemas.microsoft.com/office/powerpoint/2010/main" val="1615967038"/>
      </p:ext>
    </p:extLst>
  </p:cSld>
  <p:clrMapOvr>
    <a:masterClrMapping/>
  </p:clrMapOv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1_Images and Contents Layout">
    <p:spTree>
      <p:nvGrpSpPr>
        <p:cNvPr id="1" name=""/>
        <p:cNvGrpSpPr/>
        <p:nvPr/>
      </p:nvGrpSpPr>
      <p:grpSpPr>
        <a:xfrm>
          <a:off x="0" y="0"/>
          <a:ext cx="0" cy="0"/>
          <a:chOff x="0" y="0"/>
          <a:chExt cx="0" cy="0"/>
        </a:xfrm>
      </p:grpSpPr>
    </p:spTree>
    <p:extLst>
      <p:ext uri="{BB962C8B-B14F-4D97-AF65-F5344CB8AC3E}">
        <p14:creationId xmlns:p14="http://schemas.microsoft.com/office/powerpoint/2010/main" val="1156313931"/>
      </p:ext>
    </p:extLst>
  </p:cSld>
  <p:clrMapOvr>
    <a:masterClrMapping/>
  </p:clrMapOv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2_Images and Contents Layout">
    <p:bg>
      <p:bgPr>
        <a:solidFill>
          <a:schemeClr val="tx2">
            <a:lumMod val="75000"/>
          </a:schemeClr>
        </a:solidFill>
        <a:effectLst/>
      </p:bgPr>
    </p:bg>
    <p:spTree>
      <p:nvGrpSpPr>
        <p:cNvPr id="1" name=""/>
        <p:cNvGrpSpPr/>
        <p:nvPr/>
      </p:nvGrpSpPr>
      <p:grpSpPr>
        <a:xfrm>
          <a:off x="0" y="0"/>
          <a:ext cx="0" cy="0"/>
          <a:chOff x="0" y="0"/>
          <a:chExt cx="0" cy="0"/>
        </a:xfrm>
      </p:grpSpPr>
      <p:sp>
        <p:nvSpPr>
          <p:cNvPr id="7" name="Picture Placeholder 2"/>
          <p:cNvSpPr>
            <a:spLocks noGrp="1"/>
          </p:cNvSpPr>
          <p:nvPr>
            <p:ph type="pic" idx="1" hasCustomPrompt="1"/>
          </p:nvPr>
        </p:nvSpPr>
        <p:spPr>
          <a:xfrm>
            <a:off x="3347864" y="627534"/>
            <a:ext cx="5796136" cy="1052002"/>
          </a:xfrm>
          <a:prstGeom prst="rect">
            <a:avLst/>
          </a:prstGeom>
          <a:solidFill>
            <a:schemeClr val="bg1">
              <a:lumMod val="95000"/>
            </a:schemeClr>
          </a:solidFill>
        </p:spPr>
        <p:txBody>
          <a:bodyPr anchor="ctr"/>
          <a:lstStyle>
            <a:lvl1pPr marL="0" indent="0" algn="ctr">
              <a:buNone/>
              <a:defRPr sz="1200" baseline="0">
                <a:solidFill>
                  <a:schemeClr val="tx1">
                    <a:lumMod val="75000"/>
                    <a:lumOff val="25000"/>
                  </a:schemeClr>
                </a:solidFill>
                <a:latin typeface="+mn-lt"/>
                <a:cs typeface="Arial"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ko-KR"/>
              <a:t>Your Picture Here</a:t>
            </a:r>
            <a:endParaRPr lang="ko-KR" altLang="en-US"/>
          </a:p>
        </p:txBody>
      </p:sp>
      <p:sp>
        <p:nvSpPr>
          <p:cNvPr id="8" name="Picture Placeholder 2"/>
          <p:cNvSpPr>
            <a:spLocks noGrp="1"/>
          </p:cNvSpPr>
          <p:nvPr>
            <p:ph type="pic" idx="12" hasCustomPrompt="1"/>
          </p:nvPr>
        </p:nvSpPr>
        <p:spPr>
          <a:xfrm>
            <a:off x="4104000" y="1798321"/>
            <a:ext cx="5040000" cy="1548000"/>
          </a:xfrm>
          <a:prstGeom prst="rect">
            <a:avLst/>
          </a:prstGeom>
          <a:solidFill>
            <a:schemeClr val="bg1">
              <a:lumMod val="95000"/>
            </a:schemeClr>
          </a:solidFill>
        </p:spPr>
        <p:txBody>
          <a:bodyPr anchor="ctr"/>
          <a:lstStyle>
            <a:lvl1pPr marL="0" indent="0" algn="ctr">
              <a:buNone/>
              <a:defRPr sz="1200" baseline="0">
                <a:solidFill>
                  <a:schemeClr val="tx1">
                    <a:lumMod val="75000"/>
                    <a:lumOff val="25000"/>
                  </a:schemeClr>
                </a:solidFill>
                <a:latin typeface="+mn-lt"/>
                <a:cs typeface="Arial"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ko-KR"/>
              <a:t>Your Picture Here</a:t>
            </a:r>
            <a:endParaRPr lang="ko-KR" altLang="en-US"/>
          </a:p>
        </p:txBody>
      </p:sp>
      <p:sp>
        <p:nvSpPr>
          <p:cNvPr id="9" name="Picture Placeholder 2"/>
          <p:cNvSpPr>
            <a:spLocks noGrp="1"/>
          </p:cNvSpPr>
          <p:nvPr>
            <p:ph type="pic" idx="13" hasCustomPrompt="1"/>
          </p:nvPr>
        </p:nvSpPr>
        <p:spPr>
          <a:xfrm>
            <a:off x="4824000" y="3465106"/>
            <a:ext cx="4320000" cy="1050860"/>
          </a:xfrm>
          <a:prstGeom prst="rect">
            <a:avLst/>
          </a:prstGeom>
          <a:solidFill>
            <a:schemeClr val="bg1">
              <a:lumMod val="95000"/>
            </a:schemeClr>
          </a:solidFill>
        </p:spPr>
        <p:txBody>
          <a:bodyPr anchor="ctr"/>
          <a:lstStyle>
            <a:lvl1pPr marL="0" indent="0" algn="ctr">
              <a:buNone/>
              <a:defRPr sz="1200" baseline="0">
                <a:solidFill>
                  <a:schemeClr val="tx1">
                    <a:lumMod val="75000"/>
                    <a:lumOff val="25000"/>
                  </a:schemeClr>
                </a:solidFill>
                <a:latin typeface="+mn-lt"/>
                <a:cs typeface="Arial"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ko-KR"/>
              <a:t>Your Picture Here</a:t>
            </a:r>
            <a:endParaRPr lang="ko-KR" altLang="en-US"/>
          </a:p>
        </p:txBody>
      </p:sp>
    </p:spTree>
    <p:extLst>
      <p:ext uri="{BB962C8B-B14F-4D97-AF65-F5344CB8AC3E}">
        <p14:creationId xmlns:p14="http://schemas.microsoft.com/office/powerpoint/2010/main" val="2945812156"/>
      </p:ext>
    </p:extLst>
  </p:cSld>
  <p:clrMapOvr>
    <a:masterClrMapping/>
  </p:clrMapOvr>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4_Basic Layout">
    <p:bg>
      <p:bgPr>
        <a:blipFill dpi="0" rotWithShape="1">
          <a:blip r:embed="rId2">
            <a:lum/>
          </a:blip>
          <a:stretch>
            <a:fillRect/>
          </a:stretch>
        </a:blipFill>
        <a:effectLst/>
      </p:bgPr>
    </p:bg>
    <p:spTree>
      <p:nvGrpSpPr>
        <p:cNvPr id="1" name=""/>
        <p:cNvGrpSpPr/>
        <p:nvPr/>
      </p:nvGrpSpPr>
      <p:grpSpPr>
        <a:xfrm>
          <a:off x="0" y="0"/>
          <a:ext cx="0" cy="0"/>
          <a:chOff x="0" y="0"/>
          <a:chExt cx="0" cy="0"/>
        </a:xfrm>
      </p:grpSpPr>
      <p:sp>
        <p:nvSpPr>
          <p:cNvPr id="4" name="Picture Placeholder 2"/>
          <p:cNvSpPr>
            <a:spLocks noGrp="1"/>
          </p:cNvSpPr>
          <p:nvPr>
            <p:ph type="pic" idx="1" hasCustomPrompt="1"/>
          </p:nvPr>
        </p:nvSpPr>
        <p:spPr>
          <a:xfrm>
            <a:off x="3937417" y="627534"/>
            <a:ext cx="1872000" cy="3816424"/>
          </a:xfrm>
          <a:prstGeom prst="rect">
            <a:avLst/>
          </a:prstGeom>
          <a:solidFill>
            <a:schemeClr val="bg1">
              <a:lumMod val="95000"/>
            </a:schemeClr>
          </a:solidFill>
        </p:spPr>
        <p:txBody>
          <a:bodyPr anchor="ctr"/>
          <a:lstStyle>
            <a:lvl1pPr marL="0" indent="0" algn="ctr">
              <a:buNone/>
              <a:defRPr sz="1200" baseline="0">
                <a:solidFill>
                  <a:schemeClr val="tx1">
                    <a:lumMod val="75000"/>
                    <a:lumOff val="25000"/>
                  </a:schemeClr>
                </a:solidFill>
                <a:latin typeface="+mn-lt"/>
                <a:cs typeface="Arial"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ko-KR"/>
              <a:t>Insert Your Image</a:t>
            </a:r>
            <a:endParaRPr lang="ko-KR" altLang="en-US"/>
          </a:p>
        </p:txBody>
      </p:sp>
      <p:sp>
        <p:nvSpPr>
          <p:cNvPr id="5" name="Picture Placeholder 2"/>
          <p:cNvSpPr>
            <a:spLocks noGrp="1"/>
          </p:cNvSpPr>
          <p:nvPr>
            <p:ph type="pic" idx="10" hasCustomPrompt="1"/>
          </p:nvPr>
        </p:nvSpPr>
        <p:spPr>
          <a:xfrm>
            <a:off x="1968708" y="627534"/>
            <a:ext cx="1872000" cy="3816424"/>
          </a:xfrm>
          <a:prstGeom prst="rect">
            <a:avLst/>
          </a:prstGeom>
          <a:solidFill>
            <a:schemeClr val="bg1">
              <a:lumMod val="95000"/>
            </a:schemeClr>
          </a:solidFill>
        </p:spPr>
        <p:txBody>
          <a:bodyPr anchor="ctr"/>
          <a:lstStyle>
            <a:lvl1pPr marL="0" indent="0" algn="ctr">
              <a:buNone/>
              <a:defRPr sz="1200" baseline="0">
                <a:solidFill>
                  <a:schemeClr val="tx1">
                    <a:lumMod val="75000"/>
                    <a:lumOff val="25000"/>
                  </a:schemeClr>
                </a:solidFill>
                <a:latin typeface="+mn-lt"/>
                <a:cs typeface="Arial"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ko-KR"/>
              <a:t>Insert Your Image</a:t>
            </a:r>
            <a:endParaRPr lang="ko-KR" altLang="en-US"/>
          </a:p>
        </p:txBody>
      </p:sp>
      <p:sp>
        <p:nvSpPr>
          <p:cNvPr id="6" name="Picture Placeholder 2"/>
          <p:cNvSpPr>
            <a:spLocks noGrp="1"/>
          </p:cNvSpPr>
          <p:nvPr>
            <p:ph type="pic" idx="11" hasCustomPrompt="1"/>
          </p:nvPr>
        </p:nvSpPr>
        <p:spPr>
          <a:xfrm>
            <a:off x="0" y="627534"/>
            <a:ext cx="1872000" cy="3816424"/>
          </a:xfrm>
          <a:prstGeom prst="rect">
            <a:avLst/>
          </a:prstGeom>
          <a:solidFill>
            <a:schemeClr val="bg1">
              <a:lumMod val="95000"/>
            </a:schemeClr>
          </a:solidFill>
        </p:spPr>
        <p:txBody>
          <a:bodyPr anchor="ctr"/>
          <a:lstStyle>
            <a:lvl1pPr marL="0" indent="0" algn="ctr">
              <a:buNone/>
              <a:defRPr sz="1200" baseline="0">
                <a:solidFill>
                  <a:schemeClr val="tx1">
                    <a:lumMod val="75000"/>
                    <a:lumOff val="25000"/>
                  </a:schemeClr>
                </a:solidFill>
                <a:latin typeface="+mn-lt"/>
                <a:cs typeface="Arial"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ko-KR"/>
              <a:t>Insert Your Image</a:t>
            </a:r>
            <a:endParaRPr lang="ko-KR" altLang="en-US"/>
          </a:p>
        </p:txBody>
      </p:sp>
    </p:spTree>
    <p:extLst>
      <p:ext uri="{BB962C8B-B14F-4D97-AF65-F5344CB8AC3E}">
        <p14:creationId xmlns:p14="http://schemas.microsoft.com/office/powerpoint/2010/main" val="3416533728"/>
      </p:ext>
    </p:extLst>
  </p:cSld>
  <p:clrMapOvr>
    <a:masterClrMapping/>
  </p:clrMapOvr>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3_Images and Contents Layout">
    <p:spTree>
      <p:nvGrpSpPr>
        <p:cNvPr id="1" name=""/>
        <p:cNvGrpSpPr/>
        <p:nvPr/>
      </p:nvGrpSpPr>
      <p:grpSpPr>
        <a:xfrm>
          <a:off x="0" y="0"/>
          <a:ext cx="0" cy="0"/>
          <a:chOff x="0" y="0"/>
          <a:chExt cx="0" cy="0"/>
        </a:xfrm>
      </p:grpSpPr>
      <p:sp>
        <p:nvSpPr>
          <p:cNvPr id="4" name="Picture Placeholder 2"/>
          <p:cNvSpPr>
            <a:spLocks noGrp="1"/>
          </p:cNvSpPr>
          <p:nvPr>
            <p:ph type="pic" idx="13" hasCustomPrompt="1"/>
          </p:nvPr>
        </p:nvSpPr>
        <p:spPr>
          <a:xfrm>
            <a:off x="3795621" y="627533"/>
            <a:ext cx="3294112" cy="1115553"/>
          </a:xfrm>
          <a:prstGeom prst="rect">
            <a:avLst/>
          </a:prstGeom>
          <a:solidFill>
            <a:schemeClr val="bg1">
              <a:lumMod val="95000"/>
            </a:schemeClr>
          </a:solidFill>
        </p:spPr>
        <p:txBody>
          <a:bodyPr anchor="ctr"/>
          <a:lstStyle>
            <a:lvl1pPr marL="0" indent="0" algn="ctr">
              <a:buNone/>
              <a:defRPr sz="1200" baseline="0">
                <a:solidFill>
                  <a:schemeClr val="tx1">
                    <a:lumMod val="75000"/>
                    <a:lumOff val="25000"/>
                  </a:schemeClr>
                </a:solidFill>
                <a:latin typeface="+mn-lt"/>
                <a:cs typeface="Arial"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ko-KR"/>
              <a:t>Your Picture Here</a:t>
            </a:r>
            <a:endParaRPr lang="ko-KR" altLang="en-US"/>
          </a:p>
        </p:txBody>
      </p:sp>
      <p:sp>
        <p:nvSpPr>
          <p:cNvPr id="6" name="Picture Placeholder 2"/>
          <p:cNvSpPr>
            <a:spLocks noGrp="1"/>
          </p:cNvSpPr>
          <p:nvPr>
            <p:ph type="pic" idx="15" hasCustomPrompt="1"/>
          </p:nvPr>
        </p:nvSpPr>
        <p:spPr>
          <a:xfrm>
            <a:off x="5613166" y="3399271"/>
            <a:ext cx="3293944" cy="1116695"/>
          </a:xfrm>
          <a:prstGeom prst="rect">
            <a:avLst/>
          </a:prstGeom>
          <a:solidFill>
            <a:schemeClr val="bg1">
              <a:lumMod val="95000"/>
            </a:schemeClr>
          </a:solidFill>
        </p:spPr>
        <p:txBody>
          <a:bodyPr anchor="ctr"/>
          <a:lstStyle>
            <a:lvl1pPr marL="0" indent="0" algn="ctr">
              <a:buNone/>
              <a:defRPr sz="1200" baseline="0">
                <a:solidFill>
                  <a:schemeClr val="tx1">
                    <a:lumMod val="75000"/>
                    <a:lumOff val="25000"/>
                  </a:schemeClr>
                </a:solidFill>
                <a:latin typeface="+mn-lt"/>
                <a:cs typeface="Arial"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ko-KR"/>
              <a:t>Your Picture Here</a:t>
            </a:r>
            <a:endParaRPr lang="ko-KR" altLang="en-US"/>
          </a:p>
        </p:txBody>
      </p:sp>
      <p:sp>
        <p:nvSpPr>
          <p:cNvPr id="7" name="Picture Placeholder 2"/>
          <p:cNvSpPr>
            <a:spLocks noGrp="1"/>
          </p:cNvSpPr>
          <p:nvPr>
            <p:ph type="pic" idx="16" hasCustomPrompt="1"/>
          </p:nvPr>
        </p:nvSpPr>
        <p:spPr>
          <a:xfrm>
            <a:off x="3795621" y="1815095"/>
            <a:ext cx="1728192" cy="2700871"/>
          </a:xfrm>
          <a:prstGeom prst="rect">
            <a:avLst/>
          </a:prstGeom>
          <a:solidFill>
            <a:schemeClr val="bg1">
              <a:lumMod val="95000"/>
            </a:schemeClr>
          </a:solidFill>
        </p:spPr>
        <p:txBody>
          <a:bodyPr anchor="ctr"/>
          <a:lstStyle>
            <a:lvl1pPr marL="0" indent="0" algn="ctr">
              <a:buNone/>
              <a:defRPr sz="1200" baseline="0">
                <a:solidFill>
                  <a:schemeClr val="tx1">
                    <a:lumMod val="75000"/>
                    <a:lumOff val="25000"/>
                  </a:schemeClr>
                </a:solidFill>
                <a:latin typeface="+mn-lt"/>
                <a:cs typeface="Arial"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ko-KR"/>
              <a:t>Your Picture Here</a:t>
            </a:r>
            <a:endParaRPr lang="ko-KR" altLang="en-US"/>
          </a:p>
        </p:txBody>
      </p:sp>
      <p:sp>
        <p:nvSpPr>
          <p:cNvPr id="8" name="Picture Placeholder 2"/>
          <p:cNvSpPr>
            <a:spLocks noGrp="1"/>
          </p:cNvSpPr>
          <p:nvPr>
            <p:ph type="pic" idx="17" hasCustomPrompt="1"/>
          </p:nvPr>
        </p:nvSpPr>
        <p:spPr>
          <a:xfrm>
            <a:off x="5621504" y="1814524"/>
            <a:ext cx="1468228" cy="1512168"/>
          </a:xfrm>
          <a:prstGeom prst="rect">
            <a:avLst/>
          </a:prstGeom>
          <a:solidFill>
            <a:schemeClr val="bg1">
              <a:lumMod val="95000"/>
            </a:schemeClr>
          </a:solidFill>
        </p:spPr>
        <p:txBody>
          <a:bodyPr anchor="ctr"/>
          <a:lstStyle>
            <a:lvl1pPr marL="0" indent="0" algn="ctr">
              <a:buNone/>
              <a:defRPr sz="1200" baseline="0">
                <a:solidFill>
                  <a:schemeClr val="tx1">
                    <a:lumMod val="75000"/>
                    <a:lumOff val="25000"/>
                  </a:schemeClr>
                </a:solidFill>
                <a:latin typeface="+mn-lt"/>
                <a:cs typeface="Arial"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ko-KR"/>
              <a:t>Your Picture Here</a:t>
            </a:r>
            <a:endParaRPr lang="ko-KR" altLang="en-US"/>
          </a:p>
        </p:txBody>
      </p:sp>
      <p:sp>
        <p:nvSpPr>
          <p:cNvPr id="12" name="Picture Placeholder 2"/>
          <p:cNvSpPr>
            <a:spLocks noGrp="1"/>
          </p:cNvSpPr>
          <p:nvPr>
            <p:ph type="pic" idx="18" hasCustomPrompt="1"/>
          </p:nvPr>
        </p:nvSpPr>
        <p:spPr>
          <a:xfrm>
            <a:off x="7178918" y="627533"/>
            <a:ext cx="1728192" cy="2699730"/>
          </a:xfrm>
          <a:prstGeom prst="rect">
            <a:avLst/>
          </a:prstGeom>
          <a:solidFill>
            <a:schemeClr val="bg1">
              <a:lumMod val="95000"/>
            </a:schemeClr>
          </a:solidFill>
        </p:spPr>
        <p:txBody>
          <a:bodyPr anchor="ctr"/>
          <a:lstStyle>
            <a:lvl1pPr marL="0" indent="0" algn="ctr">
              <a:buNone/>
              <a:defRPr sz="1200" baseline="0">
                <a:solidFill>
                  <a:schemeClr val="tx1">
                    <a:lumMod val="75000"/>
                    <a:lumOff val="25000"/>
                  </a:schemeClr>
                </a:solidFill>
                <a:latin typeface="+mn-lt"/>
                <a:cs typeface="Arial"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ko-KR"/>
              <a:t>Your Picture Here</a:t>
            </a:r>
            <a:endParaRPr lang="ko-KR" altLang="en-US"/>
          </a:p>
        </p:txBody>
      </p:sp>
    </p:spTree>
    <p:extLst>
      <p:ext uri="{BB962C8B-B14F-4D97-AF65-F5344CB8AC3E}">
        <p14:creationId xmlns:p14="http://schemas.microsoft.com/office/powerpoint/2010/main" val="2137589142"/>
      </p:ext>
    </p:extLst>
  </p:cSld>
  <p:clrMapOvr>
    <a:masterClrMapping/>
  </p:clrMapOvr>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4_Images and Conten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411510"/>
            <a:ext cx="9144000" cy="576064"/>
          </a:xfrm>
          <a:prstGeom prst="rect">
            <a:avLst/>
          </a:prstGeom>
        </p:spPr>
        <p:txBody>
          <a:bodyPr anchor="ctr"/>
          <a:lstStyle>
            <a:lvl1pPr marL="0" indent="0" algn="ctr">
              <a:buNone/>
              <a:defRPr sz="1800" b="0" baseline="0">
                <a:solidFill>
                  <a:schemeClr val="tx1">
                    <a:lumMod val="75000"/>
                    <a:lumOff val="25000"/>
                  </a:schemeClr>
                </a:solidFill>
                <a:latin typeface="+mj-lt"/>
                <a:cs typeface="Arial" pitchFamily="34" charset="0"/>
              </a:defRPr>
            </a:lvl1pPr>
          </a:lstStyle>
          <a:p>
            <a:pPr lvl="0"/>
            <a:r>
              <a:rPr lang="en-US" altLang="ko-KR"/>
              <a:t>IMAGES &amp; CONTENTS</a:t>
            </a:r>
          </a:p>
        </p:txBody>
      </p:sp>
      <p:sp>
        <p:nvSpPr>
          <p:cNvPr id="11" name="Text Placeholder 9"/>
          <p:cNvSpPr>
            <a:spLocks noGrp="1"/>
          </p:cNvSpPr>
          <p:nvPr>
            <p:ph type="body" sz="quarter" idx="11" hasCustomPrompt="1"/>
          </p:nvPr>
        </p:nvSpPr>
        <p:spPr>
          <a:xfrm>
            <a:off x="0" y="987574"/>
            <a:ext cx="9144000" cy="288032"/>
          </a:xfrm>
          <a:prstGeom prst="rect">
            <a:avLst/>
          </a:prstGeom>
        </p:spPr>
        <p:txBody>
          <a:bodyPr anchor="ctr"/>
          <a:lstStyle>
            <a:lvl1pPr marL="0" indent="0" algn="ctr">
              <a:buNone/>
              <a:defRPr sz="1400" b="0" baseline="0">
                <a:solidFill>
                  <a:schemeClr val="tx1">
                    <a:lumMod val="75000"/>
                    <a:lumOff val="25000"/>
                  </a:schemeClr>
                </a:solidFill>
                <a:latin typeface="+mn-lt"/>
                <a:cs typeface="Arial" pitchFamily="34" charset="0"/>
              </a:defRPr>
            </a:lvl1pPr>
          </a:lstStyle>
          <a:p>
            <a:pPr lvl="0"/>
            <a:r>
              <a:rPr lang="en-US" altLang="ko-KR"/>
              <a:t>Insert the title of your subtitle Here</a:t>
            </a:r>
          </a:p>
        </p:txBody>
      </p:sp>
      <p:pic>
        <p:nvPicPr>
          <p:cNvPr id="4" name="Picture 3" descr="D:\Fullppt\005-PNG이미지\노트북.png"/>
          <p:cNvPicPr>
            <a:picLocks noChangeAspect="1" noChangeArrowheads="1"/>
          </p:cNvPicPr>
          <p:nvPr userDrawn="1"/>
        </p:nvPicPr>
        <p:blipFill>
          <a:blip r:embed="rId2">
            <a:extLst>
              <a:ext uri="{28A0092B-C50C-407E-A947-70E740481C1C}">
                <a14:useLocalDpi xmlns:a14="http://schemas.microsoft.com/office/drawing/2010/main" val="0"/>
              </a:ext>
            </a:extLst>
          </a:blip>
          <a:stretch>
            <a:fillRect/>
          </a:stretch>
        </p:blipFill>
        <p:spPr bwMode="auto">
          <a:xfrm>
            <a:off x="-757041" y="1313860"/>
            <a:ext cx="6438182" cy="3274563"/>
          </a:xfrm>
          <a:prstGeom prst="rect">
            <a:avLst/>
          </a:prstGeom>
          <a:noFill/>
          <a:extLst>
            <a:ext uri="{909E8E84-426E-40DD-AFC4-6F175D3DCCD1}">
              <a14:hiddenFill xmlns:a14="http://schemas.microsoft.com/office/drawing/2010/main">
                <a:solidFill>
                  <a:srgbClr val="FFFFFF"/>
                </a:solidFill>
              </a14:hiddenFill>
            </a:ext>
          </a:extLst>
        </p:spPr>
      </p:pic>
      <p:sp>
        <p:nvSpPr>
          <p:cNvPr id="5" name="Picture Placeholder 2"/>
          <p:cNvSpPr>
            <a:spLocks noGrp="1"/>
          </p:cNvSpPr>
          <p:nvPr>
            <p:ph type="pic" idx="1" hasCustomPrompt="1"/>
          </p:nvPr>
        </p:nvSpPr>
        <p:spPr>
          <a:xfrm>
            <a:off x="981898" y="1731279"/>
            <a:ext cx="3085597" cy="2281868"/>
          </a:xfrm>
          <a:prstGeom prst="rect">
            <a:avLst/>
          </a:prstGeom>
          <a:solidFill>
            <a:schemeClr val="bg1">
              <a:lumMod val="95000"/>
            </a:schemeClr>
          </a:solidFill>
        </p:spPr>
        <p:txBody>
          <a:bodyPr anchor="ctr"/>
          <a:lstStyle>
            <a:lvl1pPr marL="0" indent="0" algn="ctr">
              <a:buNone/>
              <a:defRPr sz="1200" baseline="0">
                <a:solidFill>
                  <a:schemeClr val="tx1">
                    <a:lumMod val="75000"/>
                    <a:lumOff val="25000"/>
                  </a:schemeClr>
                </a:solidFill>
                <a:latin typeface="+mn-lt"/>
                <a:cs typeface="Arial"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ko-KR"/>
              <a:t>Your Picture Here</a:t>
            </a:r>
            <a:endParaRPr lang="ko-KR" altLang="en-US"/>
          </a:p>
        </p:txBody>
      </p:sp>
    </p:spTree>
    <p:extLst>
      <p:ext uri="{BB962C8B-B14F-4D97-AF65-F5344CB8AC3E}">
        <p14:creationId xmlns:p14="http://schemas.microsoft.com/office/powerpoint/2010/main" val="195607751"/>
      </p:ext>
    </p:extLst>
  </p:cSld>
  <p:clrMapOvr>
    <a:masterClrMapping/>
  </p:clrMapOvr>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icon se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475603"/>
            <a:ext cx="9144000" cy="576064"/>
          </a:xfrm>
          <a:prstGeom prst="rect">
            <a:avLst/>
          </a:prstGeom>
        </p:spPr>
        <p:txBody>
          <a:bodyPr anchor="ctr"/>
          <a:lstStyle>
            <a:lvl1pPr marL="0" indent="0" algn="ctr">
              <a:buNone/>
              <a:defRPr sz="3600" b="0" baseline="0">
                <a:solidFill>
                  <a:schemeClr val="tx1">
                    <a:lumMod val="75000"/>
                    <a:lumOff val="25000"/>
                  </a:schemeClr>
                </a:solidFill>
                <a:latin typeface="+mj-lt"/>
                <a:cs typeface="Arial" pitchFamily="34" charset="0"/>
              </a:defRPr>
            </a:lvl1pPr>
          </a:lstStyle>
          <a:p>
            <a:pPr lvl="0"/>
            <a:r>
              <a:rPr lang="en-US" altLang="ko-KR"/>
              <a:t>ICON SETS LAYOUT</a:t>
            </a:r>
          </a:p>
        </p:txBody>
      </p:sp>
      <p:grpSp>
        <p:nvGrpSpPr>
          <p:cNvPr id="5" name="Group 4"/>
          <p:cNvGrpSpPr/>
          <p:nvPr userDrawn="1"/>
        </p:nvGrpSpPr>
        <p:grpSpPr>
          <a:xfrm>
            <a:off x="354008" y="1131589"/>
            <a:ext cx="2849840" cy="3384377"/>
            <a:chOff x="354008" y="1131589"/>
            <a:chExt cx="2849840" cy="3649171"/>
          </a:xfrm>
        </p:grpSpPr>
        <p:sp>
          <p:nvSpPr>
            <p:cNvPr id="6" name="Rounded Rectangle 5"/>
            <p:cNvSpPr/>
            <p:nvPr/>
          </p:nvSpPr>
          <p:spPr>
            <a:xfrm>
              <a:off x="354008" y="1131589"/>
              <a:ext cx="2849840" cy="3649171"/>
            </a:xfrm>
            <a:prstGeom prst="roundRect">
              <a:avLst>
                <a:gd name="adj" fmla="val 3968"/>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 name="Rounded Rectangle 8"/>
            <p:cNvSpPr/>
            <p:nvPr/>
          </p:nvSpPr>
          <p:spPr>
            <a:xfrm>
              <a:off x="531932" y="1347500"/>
              <a:ext cx="108520" cy="3240473"/>
            </a:xfrm>
            <a:prstGeom prst="roundRect">
              <a:avLst>
                <a:gd name="adj" fmla="val 50000"/>
              </a:avLst>
            </a:prstGeom>
            <a:solidFill>
              <a:schemeClr val="bg1">
                <a:alpha val="4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bg1"/>
                </a:solidFill>
              </a:endParaRPr>
            </a:p>
          </p:txBody>
        </p:sp>
        <p:sp>
          <p:nvSpPr>
            <p:cNvPr id="12" name="Half Frame 11"/>
            <p:cNvSpPr/>
            <p:nvPr/>
          </p:nvSpPr>
          <p:spPr>
            <a:xfrm rot="5400000">
              <a:off x="2592642" y="1238201"/>
              <a:ext cx="502331" cy="502331"/>
            </a:xfrm>
            <a:prstGeom prst="halfFrame">
              <a:avLst>
                <a:gd name="adj1" fmla="val 23728"/>
                <a:gd name="adj2" fmla="val 24642"/>
              </a:avLst>
            </a:prstGeom>
            <a:solidFill>
              <a:schemeClr val="bg1">
                <a:alpha val="2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grpSp>
    </p:spTree>
    <p:extLst>
      <p:ext uri="{BB962C8B-B14F-4D97-AF65-F5344CB8AC3E}">
        <p14:creationId xmlns:p14="http://schemas.microsoft.com/office/powerpoint/2010/main" val="738182204"/>
      </p:ext>
    </p:extLst>
  </p:cSld>
  <p:clrMapOvr>
    <a:masterClrMapping/>
  </p:clrMapOvr>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a:prstGeom prst="rect">
            <a:avLst/>
          </a:prstGeom>
        </p:spPr>
        <p:txBody>
          <a:bodyPr/>
          <a:lstStyle/>
          <a:p>
            <a:r>
              <a:rPr lang="en-US" smtClean="0"/>
              <a:t>Click to edit Master title style</a:t>
            </a:r>
            <a:endParaRPr lang="en-US"/>
          </a:p>
        </p:txBody>
      </p:sp>
      <p:sp>
        <p:nvSpPr>
          <p:cNvPr id="3" name="Content Placeholder 2"/>
          <p:cNvSpPr>
            <a:spLocks noGrp="1"/>
          </p:cNvSpPr>
          <p:nvPr>
            <p:ph idx="1"/>
          </p:nvPr>
        </p:nvSpPr>
        <p:spPr>
          <a:xfrm>
            <a:off x="457200" y="1200151"/>
            <a:ext cx="8229600" cy="3394472"/>
          </a:xfrm>
          <a:prstGeom prst="rect">
            <a:avLst/>
          </a:prstGeo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a:xfrm>
            <a:off x="457200" y="4767263"/>
            <a:ext cx="2133600" cy="273844"/>
          </a:xfrm>
          <a:prstGeom prst="rect">
            <a:avLst/>
          </a:prstGeom>
        </p:spPr>
        <p:txBody>
          <a:bodyPr/>
          <a:lstStyle>
            <a:lvl1pPr>
              <a:defRPr/>
            </a:lvl1pPr>
          </a:lstStyle>
          <a:p>
            <a:pPr>
              <a:defRPr/>
            </a:pPr>
            <a:fld id="{5FE8EB8B-A9D5-4A26-9DD1-85D00FF9662A}" type="datetime1">
              <a:rPr lang="de-DE"/>
              <a:pPr>
                <a:defRPr/>
              </a:pPr>
              <a:t>12.11.2020</a:t>
            </a:fld>
            <a:endParaRPr lang="en-US"/>
          </a:p>
        </p:txBody>
      </p:sp>
      <p:sp>
        <p:nvSpPr>
          <p:cNvPr id="5" name="Footer Placeholder 4"/>
          <p:cNvSpPr>
            <a:spLocks noGrp="1"/>
          </p:cNvSpPr>
          <p:nvPr>
            <p:ph type="ftr" sz="quarter" idx="11"/>
          </p:nvPr>
        </p:nvSpPr>
        <p:spPr>
          <a:xfrm>
            <a:off x="3124200" y="4767263"/>
            <a:ext cx="2895600" cy="273844"/>
          </a:xfrm>
          <a:prstGeom prst="rect">
            <a:avLst/>
          </a:prstGeom>
        </p:spPr>
        <p:txBody>
          <a:bodyPr/>
          <a:lstStyle>
            <a:lvl1pPr>
              <a:defRPr/>
            </a:lvl1pPr>
          </a:lstStyle>
          <a:p>
            <a:pPr>
              <a:defRPr/>
            </a:pPr>
            <a:endParaRPr lang="en-US"/>
          </a:p>
        </p:txBody>
      </p:sp>
      <p:sp>
        <p:nvSpPr>
          <p:cNvPr id="6" name="Slide Number Placeholder 5"/>
          <p:cNvSpPr>
            <a:spLocks noGrp="1"/>
          </p:cNvSpPr>
          <p:nvPr>
            <p:ph type="sldNum" sz="quarter" idx="12"/>
          </p:nvPr>
        </p:nvSpPr>
        <p:spPr>
          <a:xfrm>
            <a:off x="6553200" y="4767263"/>
            <a:ext cx="2133600" cy="273844"/>
          </a:xfrm>
          <a:prstGeom prst="rect">
            <a:avLst/>
          </a:prstGeom>
        </p:spPr>
        <p:txBody>
          <a:bodyPr/>
          <a:lstStyle>
            <a:lvl1pPr>
              <a:defRPr/>
            </a:lvl1pPr>
          </a:lstStyle>
          <a:p>
            <a:fld id="{E1C5FCBF-C22F-4AC5-95DC-FCA83A132A7C}" type="slidenum">
              <a:rPr lang="en-US"/>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image" Target="../media/image2.jpeg"/><Relationship Id="rId5" Type="http://schemas.openxmlformats.org/officeDocument/2006/relationships/image" Target="../media/image1.jpeg"/><Relationship Id="rId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1.xml"/><Relationship Id="rId13" Type="http://schemas.openxmlformats.org/officeDocument/2006/relationships/slideLayout" Target="../slideLayouts/slideLayout16.xml"/><Relationship Id="rId3" Type="http://schemas.openxmlformats.org/officeDocument/2006/relationships/slideLayout" Target="../slideLayouts/slideLayout6.xml"/><Relationship Id="rId7" Type="http://schemas.openxmlformats.org/officeDocument/2006/relationships/slideLayout" Target="../slideLayouts/slideLayout10.xml"/><Relationship Id="rId12" Type="http://schemas.openxmlformats.org/officeDocument/2006/relationships/slideLayout" Target="../slideLayouts/slideLayout15.xml"/><Relationship Id="rId2" Type="http://schemas.openxmlformats.org/officeDocument/2006/relationships/slideLayout" Target="../slideLayouts/slideLayout5.xml"/><Relationship Id="rId16" Type="http://schemas.openxmlformats.org/officeDocument/2006/relationships/image" Target="../media/image2.jpeg"/><Relationship Id="rId1" Type="http://schemas.openxmlformats.org/officeDocument/2006/relationships/slideLayout" Target="../slideLayouts/slideLayout4.xml"/><Relationship Id="rId6" Type="http://schemas.openxmlformats.org/officeDocument/2006/relationships/slideLayout" Target="../slideLayouts/slideLayout9.xml"/><Relationship Id="rId11" Type="http://schemas.openxmlformats.org/officeDocument/2006/relationships/slideLayout" Target="../slideLayouts/slideLayout14.xml"/><Relationship Id="rId5" Type="http://schemas.openxmlformats.org/officeDocument/2006/relationships/slideLayout" Target="../slideLayouts/slideLayout8.xml"/><Relationship Id="rId15" Type="http://schemas.openxmlformats.org/officeDocument/2006/relationships/image" Target="../media/image1.jpeg"/><Relationship Id="rId10" Type="http://schemas.openxmlformats.org/officeDocument/2006/relationships/slideLayout" Target="../slideLayouts/slideLayout13.xml"/><Relationship Id="rId4" Type="http://schemas.openxmlformats.org/officeDocument/2006/relationships/slideLayout" Target="../slideLayouts/slideLayout7.xml"/><Relationship Id="rId9" Type="http://schemas.openxmlformats.org/officeDocument/2006/relationships/slideLayout" Target="../slideLayouts/slideLayout12.xml"/><Relationship Id="rId14"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2" name="Picture 1"/>
          <p:cNvPicPr>
            <a:picLocks noChangeAspect="1"/>
          </p:cNvPicPr>
          <p:nvPr userDrawn="1"/>
        </p:nvPicPr>
        <p:blipFill>
          <a:blip r:embed="rId5"/>
          <a:stretch>
            <a:fillRect/>
          </a:stretch>
        </p:blipFill>
        <p:spPr>
          <a:xfrm>
            <a:off x="3070850" y="0"/>
            <a:ext cx="6088050" cy="551250"/>
          </a:xfrm>
          <a:prstGeom prst="rect">
            <a:avLst/>
          </a:prstGeom>
        </p:spPr>
      </p:pic>
      <p:pic>
        <p:nvPicPr>
          <p:cNvPr id="3" name="Picture 2"/>
          <p:cNvPicPr>
            <a:picLocks noChangeAspect="1"/>
          </p:cNvPicPr>
          <p:nvPr userDrawn="1"/>
        </p:nvPicPr>
        <p:blipFill>
          <a:blip r:embed="rId5"/>
          <a:stretch>
            <a:fillRect/>
          </a:stretch>
        </p:blipFill>
        <p:spPr>
          <a:xfrm rot="10800000">
            <a:off x="-23339" y="4592250"/>
            <a:ext cx="6088050" cy="551250"/>
          </a:xfrm>
          <a:prstGeom prst="rect">
            <a:avLst/>
          </a:prstGeom>
        </p:spPr>
      </p:pic>
      <p:sp>
        <p:nvSpPr>
          <p:cNvPr id="4" name="TextBox 3"/>
          <p:cNvSpPr txBox="1"/>
          <p:nvPr userDrawn="1"/>
        </p:nvSpPr>
        <p:spPr>
          <a:xfrm>
            <a:off x="179512" y="123478"/>
            <a:ext cx="1440160" cy="338554"/>
          </a:xfrm>
          <a:prstGeom prst="rect">
            <a:avLst/>
          </a:prstGeom>
          <a:blipFill>
            <a:blip r:embed="rId6"/>
            <a:stretch>
              <a:fillRect/>
            </a:stretch>
          </a:blipFill>
        </p:spPr>
        <p:txBody>
          <a:bodyPr wrap="square" rtlCol="0">
            <a:spAutoFit/>
          </a:bodyPr>
          <a:lstStyle/>
          <a:p>
            <a:pPr algn="ctr"/>
            <a:endParaRPr lang="ko-KR" altLang="en-US" sz="1600">
              <a:solidFill>
                <a:schemeClr val="tx1">
                  <a:lumMod val="75000"/>
                  <a:lumOff val="25000"/>
                </a:schemeClr>
              </a:solidFill>
              <a:cs typeface="Arial" pitchFamily="34" charset="0"/>
            </a:endParaRPr>
          </a:p>
        </p:txBody>
      </p:sp>
    </p:spTree>
    <p:extLst>
      <p:ext uri="{BB962C8B-B14F-4D97-AF65-F5344CB8AC3E}">
        <p14:creationId xmlns:p14="http://schemas.microsoft.com/office/powerpoint/2010/main" val="173668305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73" r:id="rId3"/>
  </p:sldLayoutIdLst>
  <p:transition/>
  <p:hf hdr="0" ftr="0" dt="0"/>
  <p:txStyles>
    <p:titleStyle>
      <a:lvl1pPr algn="ctr" defTabSz="914400" rtl="0" eaLnBrk="1" latinLnBrk="1"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1"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1"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1"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2" name="Picture 1"/>
          <p:cNvPicPr>
            <a:picLocks noChangeAspect="1"/>
          </p:cNvPicPr>
          <p:nvPr userDrawn="1"/>
        </p:nvPicPr>
        <p:blipFill>
          <a:blip r:embed="rId15"/>
          <a:stretch>
            <a:fillRect/>
          </a:stretch>
        </p:blipFill>
        <p:spPr>
          <a:xfrm>
            <a:off x="3070850" y="0"/>
            <a:ext cx="6088050" cy="551250"/>
          </a:xfrm>
          <a:prstGeom prst="rect">
            <a:avLst/>
          </a:prstGeom>
        </p:spPr>
      </p:pic>
      <p:pic>
        <p:nvPicPr>
          <p:cNvPr id="3" name="Picture 2"/>
          <p:cNvPicPr>
            <a:picLocks noChangeAspect="1"/>
          </p:cNvPicPr>
          <p:nvPr userDrawn="1"/>
        </p:nvPicPr>
        <p:blipFill>
          <a:blip r:embed="rId15"/>
          <a:stretch>
            <a:fillRect/>
          </a:stretch>
        </p:blipFill>
        <p:spPr>
          <a:xfrm rot="10800000">
            <a:off x="-36511" y="4592250"/>
            <a:ext cx="6088050" cy="551250"/>
          </a:xfrm>
          <a:prstGeom prst="rect">
            <a:avLst/>
          </a:prstGeom>
        </p:spPr>
      </p:pic>
      <p:sp>
        <p:nvSpPr>
          <p:cNvPr id="4" name="TextBox 3"/>
          <p:cNvSpPr txBox="1"/>
          <p:nvPr userDrawn="1"/>
        </p:nvSpPr>
        <p:spPr>
          <a:xfrm>
            <a:off x="179512" y="123478"/>
            <a:ext cx="1440160" cy="338554"/>
          </a:xfrm>
          <a:prstGeom prst="rect">
            <a:avLst/>
          </a:prstGeom>
          <a:blipFill>
            <a:blip r:embed="rId16"/>
            <a:stretch>
              <a:fillRect/>
            </a:stretch>
          </a:blipFill>
        </p:spPr>
        <p:txBody>
          <a:bodyPr wrap="square" rtlCol="0">
            <a:spAutoFit/>
          </a:bodyPr>
          <a:lstStyle/>
          <a:p>
            <a:pPr algn="ctr"/>
            <a:endParaRPr lang="ko-KR" altLang="en-US" sz="1600">
              <a:solidFill>
                <a:schemeClr val="tx1">
                  <a:lumMod val="75000"/>
                  <a:lumOff val="25000"/>
                </a:schemeClr>
              </a:solidFill>
              <a:cs typeface="Arial" pitchFamily="34" charset="0"/>
            </a:endParaRPr>
          </a:p>
        </p:txBody>
      </p:sp>
    </p:spTree>
    <p:extLst>
      <p:ext uri="{BB962C8B-B14F-4D97-AF65-F5344CB8AC3E}">
        <p14:creationId xmlns:p14="http://schemas.microsoft.com/office/powerpoint/2010/main" val="1737555548"/>
      </p:ext>
    </p:extLst>
  </p:cSld>
  <p:clrMap bg1="lt1" tx1="dk1" bg2="lt2" tx2="dk2" accent1="accent1" accent2="accent2" accent3="accent3" accent4="accent4" accent5="accent5" accent6="accent6" hlink="hlink" folHlink="folHlink"/>
  <p:sldLayoutIdLst>
    <p:sldLayoutId id="2147483659" r:id="rId1"/>
    <p:sldLayoutId id="2147483652" r:id="rId2"/>
    <p:sldLayoutId id="2147483661" r:id="rId3"/>
    <p:sldLayoutId id="2147483660" r:id="rId4"/>
    <p:sldLayoutId id="2147483662" r:id="rId5"/>
    <p:sldLayoutId id="2147483655" r:id="rId6"/>
    <p:sldLayoutId id="2147483663" r:id="rId7"/>
    <p:sldLayoutId id="2147483664" r:id="rId8"/>
    <p:sldLayoutId id="2147483668" r:id="rId9"/>
    <p:sldLayoutId id="2147483665" r:id="rId10"/>
    <p:sldLayoutId id="2147483670" r:id="rId11"/>
    <p:sldLayoutId id="2147483656" r:id="rId12"/>
    <p:sldLayoutId id="2147483672" r:id="rId13"/>
  </p:sldLayoutIdLst>
  <p:transition/>
  <p:hf hdr="0" ftr="0" dt="0"/>
  <p:txStyles>
    <p:titleStyle>
      <a:lvl1pPr algn="ctr" defTabSz="914400" rtl="0" eaLnBrk="1" latinLnBrk="1"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1"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1"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1"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3.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slide" Target="slide6.xml"/><Relationship Id="rId2" Type="http://schemas.openxmlformats.org/officeDocument/2006/relationships/slide" Target="slide5.xml"/><Relationship Id="rId1" Type="http://schemas.openxmlformats.org/officeDocument/2006/relationships/slideLayout" Target="../slideLayouts/slideLayout3.xml"/><Relationship Id="rId5" Type="http://schemas.openxmlformats.org/officeDocument/2006/relationships/slide" Target="slide12.xml"/><Relationship Id="rId4" Type="http://schemas.openxmlformats.org/officeDocument/2006/relationships/slide" Target="slide13.xml"/></Relationships>
</file>

<file path=ppt/slides/_rels/slide4.xml.rels><?xml version="1.0" encoding="UTF-8" standalone="yes"?>
<Relationships xmlns="http://schemas.openxmlformats.org/package/2006/relationships"><Relationship Id="rId2" Type="http://schemas.openxmlformats.org/officeDocument/2006/relationships/slide" Target="slide2.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2" Type="http://schemas.openxmlformats.org/officeDocument/2006/relationships/slide" Target="slide2.xml"/><Relationship Id="rId1" Type="http://schemas.openxmlformats.org/officeDocument/2006/relationships/slideLayout" Target="../slideLayouts/slideLayout16.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2" Type="http://schemas.openxmlformats.org/officeDocument/2006/relationships/slide" Target="slide2.xml"/><Relationship Id="rId1" Type="http://schemas.openxmlformats.org/officeDocument/2006/relationships/slideLayout" Target="../slideLayouts/slideLayout16.xml"/></Relationships>
</file>

<file path=ppt/slides/_rels/slide2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xml"/><Relationship Id="rId1" Type="http://schemas.openxmlformats.org/officeDocument/2006/relationships/slideLayout" Target="../slideLayouts/slideLayout16.xml"/><Relationship Id="rId4" Type="http://schemas.openxmlformats.org/officeDocument/2006/relationships/image" Target="../media/image15.png"/></Relationships>
</file>

<file path=ppt/slides/_rels/slide2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xml"/><Relationship Id="rId1" Type="http://schemas.openxmlformats.org/officeDocument/2006/relationships/slideLayout" Target="../slideLayouts/slideLayout16.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6.xml"/></Relationships>
</file>

<file path=ppt/slides/_rels/slide2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4.xml"/><Relationship Id="rId1" Type="http://schemas.openxmlformats.org/officeDocument/2006/relationships/slideLayout" Target="../slideLayouts/slideLayout16.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6.xml"/></Relationships>
</file>

<file path=ppt/slides/_rels/slide2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6.xml"/><Relationship Id="rId1" Type="http://schemas.openxmlformats.org/officeDocument/2006/relationships/slideLayout" Target="../slideLayouts/slideLayout16.xml"/></Relationships>
</file>

<file path=ppt/slides/_rels/slide27.xml.rels><?xml version="1.0" encoding="UTF-8" standalone="yes"?>
<Relationships xmlns="http://schemas.openxmlformats.org/package/2006/relationships"><Relationship Id="rId2" Type="http://schemas.openxmlformats.org/officeDocument/2006/relationships/slide" Target="slide2.xml"/><Relationship Id="rId1" Type="http://schemas.openxmlformats.org/officeDocument/2006/relationships/slideLayout" Target="../slideLayouts/slideLayout16.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6.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6.xml"/></Relationships>
</file>

<file path=ppt/slides/_rels/slide30.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9.xml"/><Relationship Id="rId1" Type="http://schemas.openxmlformats.org/officeDocument/2006/relationships/slideLayout" Target="../slideLayouts/slideLayout16.xml"/></Relationships>
</file>

<file path=ppt/slides/_rels/slide31.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0.xml"/><Relationship Id="rId1" Type="http://schemas.openxmlformats.org/officeDocument/2006/relationships/slideLayout" Target="../slideLayouts/slideLayout16.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6.xml"/></Relationships>
</file>

<file path=ppt/slides/_rels/slide33.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2.xml"/><Relationship Id="rId1" Type="http://schemas.openxmlformats.org/officeDocument/2006/relationships/slideLayout" Target="../slideLayouts/slideLayout16.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6.xml"/></Relationships>
</file>

<file path=ppt/slides/_rels/slide35.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4.xml"/><Relationship Id="rId1" Type="http://schemas.openxmlformats.org/officeDocument/2006/relationships/slideLayout" Target="../slideLayouts/slideLayout16.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6.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6.xml"/></Relationships>
</file>

<file path=ppt/slides/_rels/slide38.xml.rels><?xml version="1.0" encoding="UTF-8" standalone="yes"?>
<Relationships xmlns="http://schemas.openxmlformats.org/package/2006/relationships"><Relationship Id="rId2" Type="http://schemas.openxmlformats.org/officeDocument/2006/relationships/image" Target="../media/image23.emf"/><Relationship Id="rId1" Type="http://schemas.openxmlformats.org/officeDocument/2006/relationships/slideLayout" Target="../slideLayouts/slideLayout16.xml"/></Relationships>
</file>

<file path=ppt/slides/_rels/slide39.xml.rels><?xml version="1.0" encoding="UTF-8" standalone="yes"?>
<Relationships xmlns="http://schemas.openxmlformats.org/package/2006/relationships"><Relationship Id="rId2" Type="http://schemas.openxmlformats.org/officeDocument/2006/relationships/image" Target="../media/image24.emf"/><Relationship Id="rId1" Type="http://schemas.openxmlformats.org/officeDocument/2006/relationships/slideLayout" Target="../slideLayouts/slideLayout16.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hyperlink" Target="https://slideplayer.com/slide/8459297/" TargetMode="External"/><Relationship Id="rId2" Type="http://schemas.openxmlformats.org/officeDocument/2006/relationships/hyperlink" Target="https://www.thecrazyprogrammer.com/2017/02/lexical-analyzer-in-c.html" TargetMode="External"/><Relationship Id="rId1" Type="http://schemas.openxmlformats.org/officeDocument/2006/relationships/slideLayout" Target="../slideLayouts/slideLayout5.xml"/><Relationship Id="rId4" Type="http://schemas.openxmlformats.org/officeDocument/2006/relationships/hyperlink" Target="https://www.coursehero.com/file/50240138/Lec-6pptx/" TargetMode="Externa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13000"/>
            <a:lum/>
          </a:blip>
          <a:stretch>
            <a:fillRect t="-18000" b="-18000"/>
          </a:stretch>
        </a:blipFill>
        <a:effectLst/>
      </p:bgPr>
    </p:bg>
    <p:spTree>
      <p:nvGrpSpPr>
        <p:cNvPr id="1" name=""/>
        <p:cNvGrpSpPr/>
        <p:nvPr/>
      </p:nvGrpSpPr>
      <p:grpSpPr>
        <a:xfrm>
          <a:off x="0" y="0"/>
          <a:ext cx="0" cy="0"/>
          <a:chOff x="0" y="0"/>
          <a:chExt cx="0" cy="0"/>
        </a:xfrm>
      </p:grpSpPr>
      <p:sp>
        <p:nvSpPr>
          <p:cNvPr id="3" name="Text Placeholder 2"/>
          <p:cNvSpPr>
            <a:spLocks noGrp="1"/>
          </p:cNvSpPr>
          <p:nvPr>
            <p:ph type="body" sz="quarter" idx="10"/>
          </p:nvPr>
        </p:nvSpPr>
        <p:spPr>
          <a:xfrm>
            <a:off x="4014" y="3291830"/>
            <a:ext cx="9144000" cy="522725"/>
          </a:xfrm>
        </p:spPr>
        <p:txBody>
          <a:bodyPr/>
          <a:lstStyle/>
          <a:p>
            <a:pPr lvl="0"/>
            <a:r>
              <a:rPr lang="en-US" altLang="ko-KR" sz="3600" dirty="0" smtClean="0">
                <a:ea typeface="맑은 고딕" pitchFamily="50" charset="-127"/>
              </a:rPr>
              <a:t>Lecture 05</a:t>
            </a:r>
            <a:endParaRPr lang="en-US" altLang="ko-KR" sz="3600" dirty="0"/>
          </a:p>
        </p:txBody>
      </p:sp>
      <p:sp>
        <p:nvSpPr>
          <p:cNvPr id="5" name="TextBox 4"/>
          <p:cNvSpPr txBox="1"/>
          <p:nvPr/>
        </p:nvSpPr>
        <p:spPr>
          <a:xfrm>
            <a:off x="179512" y="123478"/>
            <a:ext cx="1440160" cy="338554"/>
          </a:xfrm>
          <a:prstGeom prst="rect">
            <a:avLst/>
          </a:prstGeom>
          <a:blipFill>
            <a:blip r:embed="rId3"/>
            <a:stretch>
              <a:fillRect/>
            </a:stretch>
          </a:blipFill>
        </p:spPr>
        <p:txBody>
          <a:bodyPr wrap="square" rtlCol="0">
            <a:spAutoFit/>
          </a:bodyPr>
          <a:lstStyle/>
          <a:p>
            <a:pPr algn="ctr"/>
            <a:endParaRPr lang="ko-KR" altLang="en-US" sz="1600">
              <a:solidFill>
                <a:schemeClr val="tx1">
                  <a:lumMod val="75000"/>
                  <a:lumOff val="25000"/>
                </a:schemeClr>
              </a:solidFill>
              <a:cs typeface="Arial" pitchFamily="34" charset="0"/>
            </a:endParaRPr>
          </a:p>
        </p:txBody>
      </p:sp>
      <p:sp>
        <p:nvSpPr>
          <p:cNvPr id="6" name="TextBox 5"/>
          <p:cNvSpPr txBox="1"/>
          <p:nvPr/>
        </p:nvSpPr>
        <p:spPr>
          <a:xfrm>
            <a:off x="1905000" y="1885950"/>
            <a:ext cx="5261377" cy="707886"/>
          </a:xfrm>
          <a:prstGeom prst="rect">
            <a:avLst/>
          </a:prstGeom>
          <a:noFill/>
        </p:spPr>
        <p:txBody>
          <a:bodyPr wrap="none" rtlCol="0">
            <a:spAutoFit/>
          </a:bodyPr>
          <a:lstStyle/>
          <a:p>
            <a:r>
              <a:rPr lang="en-US" sz="4000" dirty="0" smtClean="0">
                <a:solidFill>
                  <a:schemeClr val="tx1">
                    <a:lumMod val="75000"/>
                    <a:lumOff val="25000"/>
                  </a:schemeClr>
                </a:solidFill>
              </a:rPr>
              <a:t>Compiler Construction</a:t>
            </a:r>
            <a:endParaRPr lang="en-US" sz="4000" dirty="0">
              <a:solidFill>
                <a:schemeClr val="tx1">
                  <a:lumMod val="75000"/>
                  <a:lumOff val="25000"/>
                </a:schemeClr>
              </a:solidFill>
            </a:endParaRPr>
          </a:p>
        </p:txBody>
      </p:sp>
    </p:spTree>
    <p:extLst>
      <p:ext uri="{BB962C8B-B14F-4D97-AF65-F5344CB8AC3E}">
        <p14:creationId xmlns:p14="http://schemas.microsoft.com/office/powerpoint/2010/main" val="2971841378"/>
      </p:ext>
    </p:extLst>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p:txBody>
          <a:bodyPr/>
          <a:lstStyle/>
          <a:p>
            <a:r>
              <a:rPr lang="en-US" altLang="ko-KR" dirty="0" smtClean="0"/>
              <a:t>Chapter 03</a:t>
            </a:r>
            <a:endParaRPr lang="ko-KR" altLang="en-US" dirty="0"/>
          </a:p>
        </p:txBody>
      </p:sp>
      <p:sp>
        <p:nvSpPr>
          <p:cNvPr id="3" name="Text Placeholder 2"/>
          <p:cNvSpPr>
            <a:spLocks noGrp="1"/>
          </p:cNvSpPr>
          <p:nvPr>
            <p:ph type="body" sz="quarter" idx="11"/>
          </p:nvPr>
        </p:nvSpPr>
        <p:spPr>
          <a:xfrm>
            <a:off x="2699644" y="2757294"/>
            <a:ext cx="3744416" cy="288032"/>
          </a:xfrm>
        </p:spPr>
        <p:txBody>
          <a:bodyPr/>
          <a:lstStyle/>
          <a:p>
            <a:r>
              <a:rPr lang="en-US" dirty="0" smtClean="0"/>
              <a:t>Lexical Analyzer</a:t>
            </a:r>
            <a:endParaRPr lang="en-US" dirty="0"/>
          </a:p>
        </p:txBody>
      </p:sp>
    </p:spTree>
    <p:extLst>
      <p:ext uri="{BB962C8B-B14F-4D97-AF65-F5344CB8AC3E}">
        <p14:creationId xmlns:p14="http://schemas.microsoft.com/office/powerpoint/2010/main" val="61455909"/>
      </p:ext>
    </p:extLst>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Objectives</a:t>
            </a:r>
          </a:p>
        </p:txBody>
      </p:sp>
      <p:sp>
        <p:nvSpPr>
          <p:cNvPr id="3" name="Content Placeholder 2"/>
          <p:cNvSpPr>
            <a:spLocks noGrp="1"/>
          </p:cNvSpPr>
          <p:nvPr>
            <p:ph idx="1"/>
          </p:nvPr>
        </p:nvSpPr>
        <p:spPr>
          <a:xfrm>
            <a:off x="1485900" y="1200151"/>
            <a:ext cx="6172200" cy="3371849"/>
          </a:xfrm>
        </p:spPr>
        <p:txBody>
          <a:bodyPr>
            <a:normAutofit/>
          </a:bodyPr>
          <a:lstStyle/>
          <a:p>
            <a:pPr marL="0" indent="0">
              <a:buNone/>
            </a:pPr>
            <a:r>
              <a:rPr lang="en-US" sz="1350" dirty="0"/>
              <a:t>You will learn about;</a:t>
            </a:r>
          </a:p>
          <a:p>
            <a:pPr>
              <a:buFont typeface="+mj-lt"/>
              <a:buAutoNum type="arabicPeriod"/>
            </a:pPr>
            <a:r>
              <a:rPr lang="en-US" sz="1350" b="1" dirty="0">
                <a:hlinkClick r:id="rId2" action="ppaction://hlinksldjump"/>
              </a:rPr>
              <a:t>Unit </a:t>
            </a:r>
            <a:r>
              <a:rPr lang="en-US" sz="1350" b="1" dirty="0" smtClean="0">
                <a:hlinkClick r:id="rId2" action="ppaction://hlinksldjump"/>
              </a:rPr>
              <a:t>5.1 </a:t>
            </a:r>
            <a:r>
              <a:rPr lang="en-US" sz="1350" b="1" dirty="0">
                <a:hlinkClick r:id="rId2" action="ppaction://hlinksldjump"/>
              </a:rPr>
              <a:t>:</a:t>
            </a:r>
            <a:endParaRPr lang="en-US" sz="1350" b="1" dirty="0"/>
          </a:p>
          <a:p>
            <a:pPr lvl="1">
              <a:defRPr/>
            </a:pPr>
            <a:r>
              <a:rPr lang="en-US" sz="1350" dirty="0" smtClean="0"/>
              <a:t>Finite </a:t>
            </a:r>
            <a:r>
              <a:rPr lang="en-US" sz="1350" dirty="0"/>
              <a:t>Automata</a:t>
            </a:r>
            <a:endParaRPr lang="en-US" altLang="ko-KR" sz="1350" dirty="0" smtClean="0"/>
          </a:p>
          <a:p>
            <a:pPr>
              <a:buFont typeface="+mj-lt"/>
              <a:buAutoNum type="arabicPeriod"/>
            </a:pPr>
            <a:r>
              <a:rPr lang="en-US" sz="1350" b="1" dirty="0" smtClean="0">
                <a:hlinkClick r:id="rId3" action="ppaction://hlinksldjump"/>
              </a:rPr>
              <a:t>Unit 5.2 :</a:t>
            </a:r>
            <a:endParaRPr lang="en-US" sz="1350" b="1" dirty="0" smtClean="0"/>
          </a:p>
          <a:p>
            <a:pPr lvl="1"/>
            <a:r>
              <a:rPr lang="en-US" sz="1350" dirty="0" smtClean="0"/>
              <a:t>Subset </a:t>
            </a:r>
            <a:r>
              <a:rPr lang="en-US" sz="1350" dirty="0"/>
              <a:t>Construction Algorithm</a:t>
            </a:r>
            <a:endParaRPr lang="en-US" sz="1350" dirty="0" smtClean="0"/>
          </a:p>
          <a:p>
            <a:pPr>
              <a:buFont typeface="+mj-lt"/>
              <a:buAutoNum type="arabicPeriod"/>
            </a:pPr>
            <a:r>
              <a:rPr lang="en-US" sz="1350" b="1" dirty="0" smtClean="0">
                <a:hlinkClick r:id="rId4" action="ppaction://hlinksldjump"/>
              </a:rPr>
              <a:t>Unit 5.3 :</a:t>
            </a:r>
            <a:endParaRPr lang="en-US" sz="1350" b="1" dirty="0" smtClean="0"/>
          </a:p>
          <a:p>
            <a:pPr lvl="1"/>
            <a:r>
              <a:rPr lang="en-GB" sz="1350" dirty="0" smtClean="0"/>
              <a:t> </a:t>
            </a:r>
            <a:r>
              <a:rPr lang="en-GB" sz="1350" dirty="0"/>
              <a:t>Simulations</a:t>
            </a:r>
            <a:endParaRPr lang="en-US" sz="1350" b="1" dirty="0" smtClean="0"/>
          </a:p>
          <a:p>
            <a:pPr>
              <a:buFont typeface="+mj-lt"/>
              <a:buAutoNum type="arabicPeriod"/>
            </a:pPr>
            <a:r>
              <a:rPr lang="en-US" sz="1350" b="1" dirty="0">
                <a:hlinkClick r:id="rId5" action="ppaction://hlinksldjump"/>
              </a:rPr>
              <a:t>Unit </a:t>
            </a:r>
            <a:r>
              <a:rPr lang="en-US" sz="1350" b="1" dirty="0" smtClean="0">
                <a:hlinkClick r:id="rId5" action="ppaction://hlinksldjump"/>
              </a:rPr>
              <a:t>5.4 :</a:t>
            </a:r>
            <a:endParaRPr lang="en-US" sz="1350" b="1" dirty="0" smtClean="0"/>
          </a:p>
          <a:p>
            <a:pPr lvl="1"/>
            <a:r>
              <a:rPr lang="en-GB" sz="1350" dirty="0" smtClean="0"/>
              <a:t>Pattern </a:t>
            </a:r>
            <a:r>
              <a:rPr lang="en-GB" sz="1350" dirty="0"/>
              <a:t>Matching Based on NFA 's and DFA’s</a:t>
            </a:r>
          </a:p>
          <a:p>
            <a:pPr marL="457200" lvl="1" indent="0">
              <a:buNone/>
            </a:pPr>
            <a:endParaRPr lang="en-US" sz="1350" dirty="0"/>
          </a:p>
          <a:p>
            <a:pPr marL="342900" lvl="1" indent="0">
              <a:buNone/>
            </a:pPr>
            <a:endParaRPr lang="en-US" sz="1350" dirty="0"/>
          </a:p>
          <a:p>
            <a:pPr lvl="1"/>
            <a:endParaRPr lang="en-US" sz="1350" dirty="0"/>
          </a:p>
          <a:p>
            <a:pPr marL="342900" lvl="1" indent="0">
              <a:buNone/>
            </a:pPr>
            <a:endParaRPr lang="en-US" sz="1350" dirty="0"/>
          </a:p>
          <a:p>
            <a:pPr>
              <a:buFont typeface="Wingdings" pitchFamily="2" charset="2"/>
              <a:buChar char="Ø"/>
            </a:pPr>
            <a:endParaRPr lang="en-US" sz="1350" dirty="0"/>
          </a:p>
          <a:p>
            <a:pPr>
              <a:buFont typeface="Wingdings" pitchFamily="2" charset="2"/>
              <a:buChar char="Ø"/>
            </a:pPr>
            <a:endParaRPr lang="en-US" sz="1350" dirty="0"/>
          </a:p>
          <a:p>
            <a:pPr lvl="1">
              <a:buFont typeface="Courier New" pitchFamily="49" charset="0"/>
              <a:buChar char="o"/>
            </a:pPr>
            <a:endParaRPr lang="en-US" sz="1350" b="1" dirty="0"/>
          </a:p>
          <a:p>
            <a:pPr marL="300038" lvl="2" indent="0">
              <a:buNone/>
            </a:pPr>
            <a:endParaRPr lang="en-US" sz="1350" dirty="0"/>
          </a:p>
        </p:txBody>
      </p:sp>
      <p:sp>
        <p:nvSpPr>
          <p:cNvPr id="4" name="Slide Number Placeholder 3"/>
          <p:cNvSpPr>
            <a:spLocks noGrp="1"/>
          </p:cNvSpPr>
          <p:nvPr>
            <p:ph type="sldNum" sz="quarter" idx="12"/>
          </p:nvPr>
        </p:nvSpPr>
        <p:spPr/>
        <p:txBody>
          <a:bodyPr/>
          <a:lstStyle/>
          <a:p>
            <a:endParaRPr lang="en-US" dirty="0" smtClean="0"/>
          </a:p>
          <a:p>
            <a:fld id="{4192AEF6-A042-4DA6-A3E1-F04AAE1E3944}" type="slidenum">
              <a:rPr lang="en-US" smtClean="0"/>
              <a:pPr/>
              <a:t>3</a:t>
            </a:fld>
            <a:endParaRPr lang="en-US" dirty="0"/>
          </a:p>
        </p:txBody>
      </p:sp>
    </p:spTree>
    <p:extLst>
      <p:ext uri="{BB962C8B-B14F-4D97-AF65-F5344CB8AC3E}">
        <p14:creationId xmlns:p14="http://schemas.microsoft.com/office/powerpoint/2010/main" val="1028314033"/>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43000" y="2086172"/>
            <a:ext cx="6172200" cy="548879"/>
          </a:xfrm>
        </p:spPr>
        <p:txBody>
          <a:bodyPr/>
          <a:lstStyle/>
          <a:p>
            <a:pPr algn="ctr"/>
            <a:r>
              <a:rPr lang="en-US" dirty="0" smtClean="0"/>
              <a:t>UNIT 5.1</a:t>
            </a:r>
            <a:endParaRPr lang="en-US" dirty="0"/>
          </a:p>
        </p:txBody>
      </p:sp>
      <p:sp>
        <p:nvSpPr>
          <p:cNvPr id="4" name="Slide Number Placeholder 3"/>
          <p:cNvSpPr>
            <a:spLocks noGrp="1"/>
          </p:cNvSpPr>
          <p:nvPr>
            <p:ph type="sldNum" sz="quarter" idx="12"/>
          </p:nvPr>
        </p:nvSpPr>
        <p:spPr/>
        <p:txBody>
          <a:bodyPr/>
          <a:lstStyle/>
          <a:p>
            <a:fld id="{4192AEF6-A042-4DA6-A3E1-F04AAE1E3944}" type="slidenum">
              <a:rPr lang="en-US" smtClean="0"/>
              <a:pPr/>
              <a:t>4</a:t>
            </a:fld>
            <a:endParaRPr lang="en-US"/>
          </a:p>
        </p:txBody>
      </p:sp>
      <p:sp>
        <p:nvSpPr>
          <p:cNvPr id="5" name="TextBox 4"/>
          <p:cNvSpPr txBox="1"/>
          <p:nvPr/>
        </p:nvSpPr>
        <p:spPr>
          <a:xfrm>
            <a:off x="2819400" y="2794842"/>
            <a:ext cx="3829050" cy="577081"/>
          </a:xfrm>
          <a:prstGeom prst="rect">
            <a:avLst/>
          </a:prstGeom>
          <a:noFill/>
        </p:spPr>
        <p:txBody>
          <a:bodyPr wrap="square" rtlCol="0">
            <a:spAutoFit/>
          </a:bodyPr>
          <a:lstStyle/>
          <a:p>
            <a:pPr lvl="1">
              <a:defRPr/>
            </a:pPr>
            <a:r>
              <a:rPr lang="en-US" dirty="0"/>
              <a:t>Finite Automata</a:t>
            </a:r>
            <a:endParaRPr lang="en-US" altLang="ko-KR" dirty="0"/>
          </a:p>
          <a:p>
            <a:pPr algn="ctr"/>
            <a:endParaRPr lang="en-US" sz="1350" dirty="0"/>
          </a:p>
        </p:txBody>
      </p:sp>
      <p:sp>
        <p:nvSpPr>
          <p:cNvPr id="6" name="TextBox 5"/>
          <p:cNvSpPr txBox="1"/>
          <p:nvPr/>
        </p:nvSpPr>
        <p:spPr>
          <a:xfrm>
            <a:off x="6972300" y="1"/>
            <a:ext cx="1543050" cy="219291"/>
          </a:xfrm>
          <a:prstGeom prst="rect">
            <a:avLst/>
          </a:prstGeom>
          <a:noFill/>
        </p:spPr>
        <p:txBody>
          <a:bodyPr wrap="square" rtlCol="0">
            <a:spAutoFit/>
          </a:bodyPr>
          <a:lstStyle/>
          <a:p>
            <a:r>
              <a:rPr lang="en-US" sz="825" b="1" dirty="0">
                <a:solidFill>
                  <a:schemeClr val="bg1"/>
                </a:solidFill>
                <a:hlinkClick r:id="rId2" action="ppaction://hlinksldjump"/>
              </a:rPr>
              <a:t>Home</a:t>
            </a:r>
            <a:endParaRPr lang="en-US" sz="825" b="1" dirty="0">
              <a:solidFill>
                <a:schemeClr val="bg1"/>
              </a:solidFill>
            </a:endParaRPr>
          </a:p>
        </p:txBody>
      </p:sp>
    </p:spTree>
    <p:extLst>
      <p:ext uri="{BB962C8B-B14F-4D97-AF65-F5344CB8AC3E}">
        <p14:creationId xmlns:p14="http://schemas.microsoft.com/office/powerpoint/2010/main" val="177950014"/>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p:txBody>
          <a:bodyPr/>
          <a:lstStyle/>
          <a:p>
            <a:r>
              <a:rPr lang="en-US" dirty="0" smtClean="0"/>
              <a:t>Finite Automata</a:t>
            </a:r>
            <a:endParaRPr lang="en-US" dirty="0"/>
          </a:p>
        </p:txBody>
      </p:sp>
      <p:sp>
        <p:nvSpPr>
          <p:cNvPr id="4" name="Rectangle 3"/>
          <p:cNvSpPr/>
          <p:nvPr/>
        </p:nvSpPr>
        <p:spPr>
          <a:xfrm>
            <a:off x="152400" y="1372433"/>
            <a:ext cx="8839200" cy="3046988"/>
          </a:xfrm>
          <a:prstGeom prst="rect">
            <a:avLst/>
          </a:prstGeom>
        </p:spPr>
        <p:txBody>
          <a:bodyPr wrap="square">
            <a:spAutoFit/>
          </a:bodyPr>
          <a:lstStyle/>
          <a:p>
            <a:r>
              <a:rPr lang="en-US" sz="2400" dirty="0" smtClean="0">
                <a:solidFill>
                  <a:schemeClr val="tx1">
                    <a:lumMod val="75000"/>
                    <a:lumOff val="25000"/>
                  </a:schemeClr>
                </a:solidFill>
              </a:rPr>
              <a:t>We shall now discover how </a:t>
            </a:r>
            <a:r>
              <a:rPr lang="en-US" sz="2400" dirty="0" err="1" smtClean="0">
                <a:solidFill>
                  <a:schemeClr val="tx1">
                    <a:lumMod val="75000"/>
                    <a:lumOff val="25000"/>
                  </a:schemeClr>
                </a:solidFill>
              </a:rPr>
              <a:t>Lex</a:t>
            </a:r>
            <a:r>
              <a:rPr lang="en-US" sz="2400" dirty="0" smtClean="0">
                <a:solidFill>
                  <a:schemeClr val="tx1">
                    <a:lumMod val="75000"/>
                    <a:lumOff val="25000"/>
                  </a:schemeClr>
                </a:solidFill>
              </a:rPr>
              <a:t> turns its input program into a lexical analyzer. At the heart of the transition is the formalism known as </a:t>
            </a:r>
            <a:r>
              <a:rPr lang="en-US" sz="2400" i="1" dirty="0" smtClean="0">
                <a:solidFill>
                  <a:schemeClr val="tx1">
                    <a:lumMod val="75000"/>
                    <a:lumOff val="25000"/>
                  </a:schemeClr>
                </a:solidFill>
              </a:rPr>
              <a:t>finite automata. These </a:t>
            </a:r>
            <a:r>
              <a:rPr lang="en-US" sz="2400" dirty="0" smtClean="0">
                <a:solidFill>
                  <a:schemeClr val="tx1">
                    <a:lumMod val="75000"/>
                    <a:lumOff val="25000"/>
                  </a:schemeClr>
                </a:solidFill>
              </a:rPr>
              <a:t>are essentially graphs, like transition diagrams, with a few differences:</a:t>
            </a:r>
          </a:p>
          <a:p>
            <a:endParaRPr lang="en-US" sz="2400" dirty="0" smtClean="0">
              <a:solidFill>
                <a:schemeClr val="tx1">
                  <a:lumMod val="75000"/>
                  <a:lumOff val="25000"/>
                </a:schemeClr>
              </a:solidFill>
            </a:endParaRPr>
          </a:p>
          <a:p>
            <a:r>
              <a:rPr lang="en-US" sz="2400" dirty="0" smtClean="0">
                <a:solidFill>
                  <a:schemeClr val="tx1">
                    <a:lumMod val="75000"/>
                    <a:lumOff val="25000"/>
                  </a:schemeClr>
                </a:solidFill>
              </a:rPr>
              <a:t>1. Finite automata are </a:t>
            </a:r>
            <a:r>
              <a:rPr lang="en-US" sz="2400" i="1" dirty="0" smtClean="0">
                <a:solidFill>
                  <a:schemeClr val="tx1">
                    <a:lumMod val="75000"/>
                    <a:lumOff val="25000"/>
                  </a:schemeClr>
                </a:solidFill>
              </a:rPr>
              <a:t>recognizers; they simply say "yes" or "no" about each</a:t>
            </a:r>
          </a:p>
          <a:p>
            <a:r>
              <a:rPr lang="en-US" sz="2400" dirty="0" smtClean="0">
                <a:solidFill>
                  <a:schemeClr val="tx1">
                    <a:lumMod val="75000"/>
                    <a:lumOff val="25000"/>
                  </a:schemeClr>
                </a:solidFill>
              </a:rPr>
              <a:t>possible input string.</a:t>
            </a:r>
          </a:p>
        </p:txBody>
      </p:sp>
    </p:spTree>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p:txBody>
          <a:bodyPr/>
          <a:lstStyle/>
          <a:p>
            <a:r>
              <a:rPr lang="en-US" dirty="0" smtClean="0"/>
              <a:t>Finite Automata</a:t>
            </a:r>
            <a:endParaRPr lang="en-US" dirty="0"/>
          </a:p>
        </p:txBody>
      </p:sp>
      <p:sp>
        <p:nvSpPr>
          <p:cNvPr id="3" name="Text Placeholder 2"/>
          <p:cNvSpPr>
            <a:spLocks noGrp="1"/>
          </p:cNvSpPr>
          <p:nvPr>
            <p:ph type="body" sz="quarter" idx="11"/>
          </p:nvPr>
        </p:nvSpPr>
        <p:spPr/>
        <p:txBody>
          <a:bodyPr/>
          <a:lstStyle/>
          <a:p>
            <a:endParaRPr lang="en-US"/>
          </a:p>
        </p:txBody>
      </p:sp>
      <p:sp>
        <p:nvSpPr>
          <p:cNvPr id="4" name="Rectangle 3"/>
          <p:cNvSpPr/>
          <p:nvPr/>
        </p:nvSpPr>
        <p:spPr>
          <a:xfrm>
            <a:off x="152400" y="1372433"/>
            <a:ext cx="8839200" cy="3416320"/>
          </a:xfrm>
          <a:prstGeom prst="rect">
            <a:avLst/>
          </a:prstGeom>
        </p:spPr>
        <p:txBody>
          <a:bodyPr wrap="square">
            <a:spAutoFit/>
          </a:bodyPr>
          <a:lstStyle/>
          <a:p>
            <a:r>
              <a:rPr lang="it-IT" sz="1750" b="1" dirty="0" smtClean="0">
                <a:solidFill>
                  <a:schemeClr val="tx1">
                    <a:lumMod val="75000"/>
                    <a:lumOff val="25000"/>
                  </a:schemeClr>
                </a:solidFill>
              </a:rPr>
              <a:t>2. Finite automata come in two flavors:</a:t>
            </a:r>
          </a:p>
          <a:p>
            <a:r>
              <a:rPr lang="en-US" sz="1750" dirty="0" smtClean="0">
                <a:solidFill>
                  <a:schemeClr val="tx1">
                    <a:lumMod val="75000"/>
                    <a:lumOff val="25000"/>
                  </a:schemeClr>
                </a:solidFill>
              </a:rPr>
              <a:t>(a) </a:t>
            </a:r>
            <a:r>
              <a:rPr lang="en-US" sz="1750" i="1" dirty="0" smtClean="0">
                <a:solidFill>
                  <a:schemeClr val="tx1">
                    <a:lumMod val="75000"/>
                    <a:lumOff val="25000"/>
                  </a:schemeClr>
                </a:solidFill>
              </a:rPr>
              <a:t>Nondeterministic finite automata (NFA) have no restrictions on the</a:t>
            </a:r>
          </a:p>
          <a:p>
            <a:r>
              <a:rPr lang="en-US" sz="1750" dirty="0" smtClean="0">
                <a:solidFill>
                  <a:schemeClr val="tx1">
                    <a:lumMod val="75000"/>
                    <a:lumOff val="25000"/>
                  </a:schemeClr>
                </a:solidFill>
              </a:rPr>
              <a:t>labels of their edges. A symbol can label several edges out of the</a:t>
            </a:r>
          </a:p>
          <a:p>
            <a:r>
              <a:rPr lang="en-US" sz="1750" dirty="0" smtClean="0">
                <a:solidFill>
                  <a:schemeClr val="tx1">
                    <a:lumMod val="75000"/>
                    <a:lumOff val="25000"/>
                  </a:schemeClr>
                </a:solidFill>
              </a:rPr>
              <a:t>same state, and E, the empty string, is a possible label.</a:t>
            </a:r>
          </a:p>
          <a:p>
            <a:endParaRPr lang="en-US" sz="1750" dirty="0" smtClean="0">
              <a:solidFill>
                <a:schemeClr val="tx1">
                  <a:lumMod val="75000"/>
                  <a:lumOff val="25000"/>
                </a:schemeClr>
              </a:solidFill>
            </a:endParaRPr>
          </a:p>
          <a:p>
            <a:r>
              <a:rPr lang="en-US" sz="1750" dirty="0" smtClean="0">
                <a:solidFill>
                  <a:schemeClr val="tx1">
                    <a:lumMod val="75000"/>
                    <a:lumOff val="25000"/>
                  </a:schemeClr>
                </a:solidFill>
              </a:rPr>
              <a:t>(b) </a:t>
            </a:r>
            <a:r>
              <a:rPr lang="en-US" sz="1750" i="1" dirty="0" smtClean="0">
                <a:solidFill>
                  <a:schemeClr val="tx1">
                    <a:lumMod val="75000"/>
                    <a:lumOff val="25000"/>
                  </a:schemeClr>
                </a:solidFill>
              </a:rPr>
              <a:t>Deterministic finite automata (DFA) have, for each state, and for</a:t>
            </a:r>
          </a:p>
          <a:p>
            <a:r>
              <a:rPr lang="en-US" sz="1750" dirty="0" smtClean="0">
                <a:solidFill>
                  <a:schemeClr val="tx1">
                    <a:lumMod val="75000"/>
                    <a:lumOff val="25000"/>
                  </a:schemeClr>
                </a:solidFill>
              </a:rPr>
              <a:t>each symbol of its input alphabet exactly one edge with that symbol</a:t>
            </a:r>
          </a:p>
          <a:p>
            <a:r>
              <a:rPr lang="en-US" sz="1750" dirty="0" smtClean="0">
                <a:solidFill>
                  <a:schemeClr val="tx1">
                    <a:lumMod val="75000"/>
                    <a:lumOff val="25000"/>
                  </a:schemeClr>
                </a:solidFill>
              </a:rPr>
              <a:t>leaving that state.</a:t>
            </a:r>
          </a:p>
          <a:p>
            <a:endParaRPr lang="en-US" sz="1750" dirty="0" smtClean="0">
              <a:solidFill>
                <a:schemeClr val="tx1">
                  <a:lumMod val="75000"/>
                  <a:lumOff val="25000"/>
                </a:schemeClr>
              </a:solidFill>
            </a:endParaRPr>
          </a:p>
          <a:p>
            <a:r>
              <a:rPr lang="en-US" sz="1750" dirty="0" smtClean="0">
                <a:solidFill>
                  <a:schemeClr val="tx1">
                    <a:lumMod val="75000"/>
                    <a:lumOff val="25000"/>
                  </a:schemeClr>
                </a:solidFill>
              </a:rPr>
              <a:t>Both deterministic and nondeterministic finite automata are capable of recognizing</a:t>
            </a:r>
          </a:p>
          <a:p>
            <a:r>
              <a:rPr lang="en-US" sz="1750" dirty="0" smtClean="0">
                <a:solidFill>
                  <a:schemeClr val="tx1">
                    <a:lumMod val="75000"/>
                    <a:lumOff val="25000"/>
                  </a:schemeClr>
                </a:solidFill>
              </a:rPr>
              <a:t>the same languages. In fact these languages are exactly the same</a:t>
            </a:r>
          </a:p>
          <a:p>
            <a:r>
              <a:rPr lang="en-US" sz="1750" dirty="0" smtClean="0">
                <a:solidFill>
                  <a:schemeClr val="tx1">
                    <a:lumMod val="75000"/>
                    <a:lumOff val="25000"/>
                  </a:schemeClr>
                </a:solidFill>
              </a:rPr>
              <a:t>languages, called the </a:t>
            </a:r>
            <a:r>
              <a:rPr lang="en-US" sz="1750" i="1" dirty="0" smtClean="0">
                <a:solidFill>
                  <a:schemeClr val="tx1">
                    <a:lumMod val="75000"/>
                    <a:lumOff val="25000"/>
                  </a:schemeClr>
                </a:solidFill>
              </a:rPr>
              <a:t>regular languages, that regular expressions can </a:t>
            </a:r>
            <a:r>
              <a:rPr lang="en-US" sz="1750" i="1" dirty="0" err="1" smtClean="0">
                <a:solidFill>
                  <a:schemeClr val="tx1">
                    <a:lumMod val="75000"/>
                    <a:lumOff val="25000"/>
                  </a:schemeClr>
                </a:solidFill>
              </a:rPr>
              <a:t>de~cribe</a:t>
            </a:r>
            <a:r>
              <a:rPr lang="en-US" sz="1750" i="1" dirty="0" smtClean="0">
                <a:solidFill>
                  <a:schemeClr val="tx1">
                    <a:lumMod val="75000"/>
                    <a:lumOff val="25000"/>
                  </a:schemeClr>
                </a:solidFill>
              </a:rPr>
              <a:t>.~</a:t>
            </a:r>
            <a:endParaRPr lang="en-US" sz="1750" dirty="0">
              <a:solidFill>
                <a:schemeClr val="tx1">
                  <a:lumMod val="75000"/>
                  <a:lumOff val="25000"/>
                </a:schemeClr>
              </a:solidFill>
            </a:endParaRPr>
          </a:p>
        </p:txBody>
      </p:sp>
    </p:spTree>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p:txBody>
          <a:bodyPr/>
          <a:lstStyle/>
          <a:p>
            <a:r>
              <a:rPr lang="en-US" dirty="0" smtClean="0"/>
              <a:t>Non Deterministic Finite Automata</a:t>
            </a:r>
            <a:endParaRPr lang="en-US" dirty="0"/>
          </a:p>
        </p:txBody>
      </p:sp>
      <p:sp>
        <p:nvSpPr>
          <p:cNvPr id="3" name="Text Placeholder 2"/>
          <p:cNvSpPr>
            <a:spLocks noGrp="1"/>
          </p:cNvSpPr>
          <p:nvPr>
            <p:ph type="body" sz="quarter" idx="11"/>
          </p:nvPr>
        </p:nvSpPr>
        <p:spPr/>
        <p:txBody>
          <a:bodyPr/>
          <a:lstStyle/>
          <a:p>
            <a:endParaRPr lang="en-US"/>
          </a:p>
        </p:txBody>
      </p:sp>
      <p:sp>
        <p:nvSpPr>
          <p:cNvPr id="4" name="Rectangle 3"/>
          <p:cNvSpPr/>
          <p:nvPr/>
        </p:nvSpPr>
        <p:spPr>
          <a:xfrm>
            <a:off x="228600" y="1358027"/>
            <a:ext cx="8686800" cy="3170099"/>
          </a:xfrm>
          <a:prstGeom prst="rect">
            <a:avLst/>
          </a:prstGeom>
        </p:spPr>
        <p:txBody>
          <a:bodyPr wrap="square">
            <a:spAutoFit/>
          </a:bodyPr>
          <a:lstStyle/>
          <a:p>
            <a:r>
              <a:rPr lang="en-US" sz="2000" dirty="0" smtClean="0">
                <a:solidFill>
                  <a:schemeClr val="tx1">
                    <a:lumMod val="75000"/>
                    <a:lumOff val="25000"/>
                  </a:schemeClr>
                </a:solidFill>
              </a:rPr>
              <a:t>A </a:t>
            </a:r>
            <a:r>
              <a:rPr lang="en-US" sz="2000" i="1" dirty="0" smtClean="0">
                <a:solidFill>
                  <a:schemeClr val="tx1">
                    <a:lumMod val="75000"/>
                    <a:lumOff val="25000"/>
                  </a:schemeClr>
                </a:solidFill>
              </a:rPr>
              <a:t>nondeterministic finite automaton (NFA) consists of:</a:t>
            </a:r>
          </a:p>
          <a:p>
            <a:endParaRPr lang="en-US" sz="2000" i="1" dirty="0" smtClean="0">
              <a:solidFill>
                <a:schemeClr val="tx1">
                  <a:lumMod val="75000"/>
                  <a:lumOff val="25000"/>
                </a:schemeClr>
              </a:solidFill>
            </a:endParaRPr>
          </a:p>
          <a:p>
            <a:r>
              <a:rPr lang="en-US" sz="2000" dirty="0" smtClean="0">
                <a:solidFill>
                  <a:schemeClr val="tx1">
                    <a:lumMod val="75000"/>
                    <a:lumOff val="25000"/>
                  </a:schemeClr>
                </a:solidFill>
              </a:rPr>
              <a:t>1. A finite set of states S.</a:t>
            </a:r>
          </a:p>
          <a:p>
            <a:r>
              <a:rPr lang="en-US" sz="2000" dirty="0" smtClean="0">
                <a:solidFill>
                  <a:schemeClr val="tx1">
                    <a:lumMod val="75000"/>
                    <a:lumOff val="25000"/>
                  </a:schemeClr>
                </a:solidFill>
              </a:rPr>
              <a:t>2. A set of input symbols C, the </a:t>
            </a:r>
            <a:r>
              <a:rPr lang="en-US" sz="2000" i="1" dirty="0" smtClean="0">
                <a:solidFill>
                  <a:schemeClr val="tx1">
                    <a:lumMod val="75000"/>
                    <a:lumOff val="25000"/>
                  </a:schemeClr>
                </a:solidFill>
              </a:rPr>
              <a:t>input alphabet. We assume that E, which</a:t>
            </a:r>
          </a:p>
          <a:p>
            <a:r>
              <a:rPr lang="en-US" sz="2000" dirty="0" smtClean="0">
                <a:solidFill>
                  <a:schemeClr val="tx1">
                    <a:lumMod val="75000"/>
                    <a:lumOff val="25000"/>
                  </a:schemeClr>
                </a:solidFill>
              </a:rPr>
              <a:t>stands for the empty string, is never a member of C.</a:t>
            </a:r>
          </a:p>
          <a:p>
            <a:r>
              <a:rPr lang="en-US" sz="2000" i="1" dirty="0" smtClean="0">
                <a:solidFill>
                  <a:schemeClr val="tx1">
                    <a:lumMod val="75000"/>
                    <a:lumOff val="25000"/>
                  </a:schemeClr>
                </a:solidFill>
              </a:rPr>
              <a:t>3. A transition function that gives, for each state, and for each symbol in</a:t>
            </a:r>
          </a:p>
          <a:p>
            <a:r>
              <a:rPr lang="en-US" sz="2000" dirty="0" smtClean="0">
                <a:solidFill>
                  <a:schemeClr val="tx1">
                    <a:lumMod val="75000"/>
                    <a:lumOff val="25000"/>
                  </a:schemeClr>
                </a:solidFill>
              </a:rPr>
              <a:t>C U (E) a set of </a:t>
            </a:r>
            <a:r>
              <a:rPr lang="en-US" sz="2000" i="1" dirty="0" smtClean="0">
                <a:solidFill>
                  <a:schemeClr val="tx1">
                    <a:lumMod val="75000"/>
                    <a:lumOff val="25000"/>
                  </a:schemeClr>
                </a:solidFill>
              </a:rPr>
              <a:t>next states.</a:t>
            </a:r>
          </a:p>
          <a:p>
            <a:r>
              <a:rPr lang="en-US" sz="2000" dirty="0" smtClean="0">
                <a:solidFill>
                  <a:schemeClr val="tx1">
                    <a:lumMod val="75000"/>
                    <a:lumOff val="25000"/>
                  </a:schemeClr>
                </a:solidFill>
              </a:rPr>
              <a:t>4. A state so from S that is distinguished as the </a:t>
            </a:r>
            <a:r>
              <a:rPr lang="en-US" sz="2000" i="1" dirty="0" smtClean="0">
                <a:solidFill>
                  <a:schemeClr val="tx1">
                    <a:lumMod val="75000"/>
                    <a:lumOff val="25000"/>
                  </a:schemeClr>
                </a:solidFill>
              </a:rPr>
              <a:t>start state (or initial state).</a:t>
            </a:r>
          </a:p>
          <a:p>
            <a:r>
              <a:rPr lang="en-US" sz="2000" i="1" dirty="0" smtClean="0">
                <a:solidFill>
                  <a:schemeClr val="tx1">
                    <a:lumMod val="75000"/>
                    <a:lumOff val="25000"/>
                  </a:schemeClr>
                </a:solidFill>
              </a:rPr>
              <a:t>5. A set of states F, a subset of S, that is distinguished as the accepting</a:t>
            </a:r>
          </a:p>
          <a:p>
            <a:r>
              <a:rPr lang="en-US" sz="2000" i="1" dirty="0" smtClean="0">
                <a:solidFill>
                  <a:schemeClr val="tx1">
                    <a:lumMod val="75000"/>
                    <a:lumOff val="25000"/>
                  </a:schemeClr>
                </a:solidFill>
              </a:rPr>
              <a:t>states (or final states).</a:t>
            </a:r>
            <a:endParaRPr lang="en-US" sz="2000" dirty="0">
              <a:solidFill>
                <a:schemeClr val="tx1">
                  <a:lumMod val="75000"/>
                  <a:lumOff val="25000"/>
                </a:schemeClr>
              </a:solidFill>
            </a:endParaRPr>
          </a:p>
        </p:txBody>
      </p:sp>
    </p:spTree>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p:txBody>
          <a:bodyPr/>
          <a:lstStyle/>
          <a:p>
            <a:r>
              <a:rPr lang="en-US" dirty="0" smtClean="0"/>
              <a:t>Examples NFA</a:t>
            </a:r>
            <a:endParaRPr lang="en-US" dirty="0"/>
          </a:p>
        </p:txBody>
      </p:sp>
      <p:sp>
        <p:nvSpPr>
          <p:cNvPr id="3" name="Text Placeholder 2"/>
          <p:cNvSpPr>
            <a:spLocks noGrp="1"/>
          </p:cNvSpPr>
          <p:nvPr>
            <p:ph type="body" sz="quarter" idx="11"/>
          </p:nvPr>
        </p:nvSpPr>
        <p:spPr/>
        <p:txBody>
          <a:bodyPr/>
          <a:lstStyle/>
          <a:p>
            <a:endParaRPr lang="en-US"/>
          </a:p>
        </p:txBody>
      </p:sp>
      <p:pic>
        <p:nvPicPr>
          <p:cNvPr id="4098" name="Picture 2"/>
          <p:cNvPicPr>
            <a:picLocks noChangeAspect="1" noChangeArrowheads="1"/>
          </p:cNvPicPr>
          <p:nvPr/>
        </p:nvPicPr>
        <p:blipFill>
          <a:blip r:embed="rId2"/>
          <a:srcRect/>
          <a:stretch>
            <a:fillRect/>
          </a:stretch>
        </p:blipFill>
        <p:spPr bwMode="auto">
          <a:xfrm>
            <a:off x="1752600" y="2419350"/>
            <a:ext cx="5685503" cy="1828800"/>
          </a:xfrm>
          <a:prstGeom prst="rect">
            <a:avLst/>
          </a:prstGeom>
          <a:noFill/>
          <a:ln w="9525">
            <a:noFill/>
            <a:miter lim="800000"/>
            <a:headEnd/>
            <a:tailEnd/>
          </a:ln>
          <a:effectLst/>
        </p:spPr>
      </p:pic>
      <p:sp>
        <p:nvSpPr>
          <p:cNvPr id="5" name="Rectangle 4"/>
          <p:cNvSpPr/>
          <p:nvPr/>
        </p:nvSpPr>
        <p:spPr>
          <a:xfrm>
            <a:off x="1219200" y="1581150"/>
            <a:ext cx="7010400" cy="369332"/>
          </a:xfrm>
          <a:prstGeom prst="rect">
            <a:avLst/>
          </a:prstGeom>
        </p:spPr>
        <p:txBody>
          <a:bodyPr wrap="square">
            <a:spAutoFit/>
          </a:bodyPr>
          <a:lstStyle/>
          <a:p>
            <a:r>
              <a:rPr lang="en-US" dirty="0" smtClean="0">
                <a:solidFill>
                  <a:schemeClr val="tx1">
                    <a:lumMod val="75000"/>
                    <a:lumOff val="25000"/>
                  </a:schemeClr>
                </a:solidFill>
              </a:rPr>
              <a:t>NFA recognizing the language of regular expression (</a:t>
            </a:r>
            <a:r>
              <a:rPr lang="en-US" dirty="0" err="1" smtClean="0">
                <a:solidFill>
                  <a:schemeClr val="tx1">
                    <a:lumMod val="75000"/>
                    <a:lumOff val="25000"/>
                  </a:schemeClr>
                </a:solidFill>
              </a:rPr>
              <a:t>a|b</a:t>
            </a:r>
            <a:r>
              <a:rPr lang="en-US" dirty="0" smtClean="0">
                <a:solidFill>
                  <a:schemeClr val="tx1">
                    <a:lumMod val="75000"/>
                    <a:lumOff val="25000"/>
                  </a:schemeClr>
                </a:solidFill>
              </a:rPr>
              <a:t>)*</a:t>
            </a:r>
            <a:r>
              <a:rPr lang="en-US" smtClean="0">
                <a:solidFill>
                  <a:schemeClr val="tx1">
                    <a:lumMod val="75000"/>
                    <a:lumOff val="25000"/>
                  </a:schemeClr>
                </a:solidFill>
              </a:rPr>
              <a:t>abb</a:t>
            </a:r>
            <a:endParaRPr lang="en-US" dirty="0">
              <a:solidFill>
                <a:schemeClr val="tx1">
                  <a:lumMod val="75000"/>
                  <a:lumOff val="25000"/>
                </a:schemeClr>
              </a:solidFill>
            </a:endParaRPr>
          </a:p>
        </p:txBody>
      </p:sp>
    </p:spTree>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p:txBody>
          <a:bodyPr/>
          <a:lstStyle/>
          <a:p>
            <a:r>
              <a:rPr lang="en-US" dirty="0" smtClean="0"/>
              <a:t>Examples NFA</a:t>
            </a:r>
            <a:endParaRPr lang="en-US" dirty="0"/>
          </a:p>
        </p:txBody>
      </p:sp>
      <p:sp>
        <p:nvSpPr>
          <p:cNvPr id="3" name="Text Placeholder 2"/>
          <p:cNvSpPr>
            <a:spLocks noGrp="1"/>
          </p:cNvSpPr>
          <p:nvPr>
            <p:ph type="body" sz="quarter" idx="11"/>
          </p:nvPr>
        </p:nvSpPr>
        <p:spPr/>
        <p:txBody>
          <a:bodyPr/>
          <a:lstStyle/>
          <a:p>
            <a:endParaRPr lang="en-US"/>
          </a:p>
        </p:txBody>
      </p:sp>
      <p:sp>
        <p:nvSpPr>
          <p:cNvPr id="5" name="Rectangle 4"/>
          <p:cNvSpPr/>
          <p:nvPr/>
        </p:nvSpPr>
        <p:spPr>
          <a:xfrm>
            <a:off x="1219200" y="1581150"/>
            <a:ext cx="7010400" cy="369332"/>
          </a:xfrm>
          <a:prstGeom prst="rect">
            <a:avLst/>
          </a:prstGeom>
        </p:spPr>
        <p:txBody>
          <a:bodyPr wrap="square">
            <a:spAutoFit/>
          </a:bodyPr>
          <a:lstStyle/>
          <a:p>
            <a:r>
              <a:rPr lang="en-US" dirty="0" smtClean="0">
                <a:solidFill>
                  <a:schemeClr val="tx1">
                    <a:lumMod val="75000"/>
                    <a:lumOff val="25000"/>
                  </a:schemeClr>
                </a:solidFill>
              </a:rPr>
              <a:t>NFA recognizing the language of regular expression </a:t>
            </a:r>
            <a:r>
              <a:rPr lang="en-US" dirty="0" err="1" smtClean="0">
                <a:solidFill>
                  <a:schemeClr val="tx1">
                    <a:lumMod val="75000"/>
                    <a:lumOff val="25000"/>
                  </a:schemeClr>
                </a:solidFill>
              </a:rPr>
              <a:t>aa</a:t>
            </a:r>
            <a:r>
              <a:rPr lang="en-US" dirty="0" smtClean="0">
                <a:solidFill>
                  <a:schemeClr val="tx1">
                    <a:lumMod val="75000"/>
                    <a:lumOff val="25000"/>
                  </a:schemeClr>
                </a:solidFill>
              </a:rPr>
              <a:t>* | bb*</a:t>
            </a:r>
            <a:endParaRPr lang="en-US" dirty="0">
              <a:solidFill>
                <a:schemeClr val="tx1">
                  <a:lumMod val="75000"/>
                  <a:lumOff val="25000"/>
                </a:schemeClr>
              </a:solidFill>
            </a:endParaRPr>
          </a:p>
        </p:txBody>
      </p:sp>
      <p:pic>
        <p:nvPicPr>
          <p:cNvPr id="5122" name="Picture 2"/>
          <p:cNvPicPr>
            <a:picLocks noChangeAspect="1" noChangeArrowheads="1"/>
          </p:cNvPicPr>
          <p:nvPr/>
        </p:nvPicPr>
        <p:blipFill>
          <a:blip r:embed="rId2"/>
          <a:srcRect/>
          <a:stretch>
            <a:fillRect/>
          </a:stretch>
        </p:blipFill>
        <p:spPr bwMode="auto">
          <a:xfrm>
            <a:off x="2895600" y="2038350"/>
            <a:ext cx="3810000" cy="2708040"/>
          </a:xfrm>
          <a:prstGeom prst="rect">
            <a:avLst/>
          </a:prstGeom>
          <a:noFill/>
          <a:ln w="9525">
            <a:noFill/>
            <a:miter lim="800000"/>
            <a:headEnd/>
            <a:tailEnd/>
          </a:ln>
          <a:effectLst/>
        </p:spPr>
      </p:pic>
    </p:spTree>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p:txBody>
          <a:bodyPr/>
          <a:lstStyle/>
          <a:p>
            <a:r>
              <a:rPr lang="en-US" dirty="0" smtClean="0"/>
              <a:t>Simulating a DFA</a:t>
            </a:r>
            <a:endParaRPr lang="en-US" dirty="0"/>
          </a:p>
        </p:txBody>
      </p:sp>
      <p:sp>
        <p:nvSpPr>
          <p:cNvPr id="3" name="Text Placeholder 2"/>
          <p:cNvSpPr>
            <a:spLocks noGrp="1"/>
          </p:cNvSpPr>
          <p:nvPr>
            <p:ph type="body" sz="quarter" idx="11"/>
          </p:nvPr>
        </p:nvSpPr>
        <p:spPr/>
        <p:txBody>
          <a:bodyPr/>
          <a:lstStyle/>
          <a:p>
            <a:endParaRPr lang="en-US"/>
          </a:p>
        </p:txBody>
      </p:sp>
      <p:pic>
        <p:nvPicPr>
          <p:cNvPr id="6146" name="Picture 2"/>
          <p:cNvPicPr>
            <a:picLocks noChangeAspect="1" noChangeArrowheads="1"/>
          </p:cNvPicPr>
          <p:nvPr/>
        </p:nvPicPr>
        <p:blipFill>
          <a:blip r:embed="rId2"/>
          <a:srcRect/>
          <a:stretch>
            <a:fillRect/>
          </a:stretch>
        </p:blipFill>
        <p:spPr bwMode="auto">
          <a:xfrm>
            <a:off x="76200" y="2190750"/>
            <a:ext cx="5037987" cy="1905000"/>
          </a:xfrm>
          <a:prstGeom prst="rect">
            <a:avLst/>
          </a:prstGeom>
          <a:noFill/>
          <a:ln w="9525">
            <a:noFill/>
            <a:miter lim="800000"/>
            <a:headEnd/>
            <a:tailEnd/>
          </a:ln>
          <a:effectLst/>
        </p:spPr>
      </p:pic>
      <p:sp>
        <p:nvSpPr>
          <p:cNvPr id="5" name="Rectangle 4"/>
          <p:cNvSpPr/>
          <p:nvPr/>
        </p:nvSpPr>
        <p:spPr>
          <a:xfrm>
            <a:off x="1149425" y="1581150"/>
            <a:ext cx="2736775" cy="369332"/>
          </a:xfrm>
          <a:prstGeom prst="rect">
            <a:avLst/>
          </a:prstGeom>
        </p:spPr>
        <p:txBody>
          <a:bodyPr wrap="none">
            <a:spAutoFit/>
          </a:bodyPr>
          <a:lstStyle/>
          <a:p>
            <a:r>
              <a:rPr lang="en-US" dirty="0" smtClean="0">
                <a:solidFill>
                  <a:schemeClr val="tx1">
                    <a:lumMod val="75000"/>
                    <a:lumOff val="25000"/>
                  </a:schemeClr>
                </a:solidFill>
              </a:rPr>
              <a:t>DFA accepting (</a:t>
            </a:r>
            <a:r>
              <a:rPr lang="en-US" dirty="0" err="1" smtClean="0">
                <a:solidFill>
                  <a:schemeClr val="tx1">
                    <a:lumMod val="75000"/>
                    <a:lumOff val="25000"/>
                  </a:schemeClr>
                </a:solidFill>
              </a:rPr>
              <a:t>a|b</a:t>
            </a:r>
            <a:r>
              <a:rPr lang="en-US" dirty="0" smtClean="0">
                <a:solidFill>
                  <a:schemeClr val="tx1">
                    <a:lumMod val="75000"/>
                    <a:lumOff val="25000"/>
                  </a:schemeClr>
                </a:solidFill>
              </a:rPr>
              <a:t>)*</a:t>
            </a:r>
            <a:r>
              <a:rPr lang="en-US" dirty="0" err="1" smtClean="0">
                <a:solidFill>
                  <a:schemeClr val="tx1">
                    <a:lumMod val="75000"/>
                    <a:lumOff val="25000"/>
                  </a:schemeClr>
                </a:solidFill>
              </a:rPr>
              <a:t>abb</a:t>
            </a:r>
            <a:endParaRPr lang="en-US" dirty="0">
              <a:solidFill>
                <a:schemeClr val="tx1">
                  <a:lumMod val="75000"/>
                  <a:lumOff val="25000"/>
                </a:schemeClr>
              </a:solidFill>
            </a:endParaRPr>
          </a:p>
        </p:txBody>
      </p:sp>
      <p:pic>
        <p:nvPicPr>
          <p:cNvPr id="6147" name="Picture 3"/>
          <p:cNvPicPr>
            <a:picLocks noChangeAspect="1" noChangeArrowheads="1"/>
          </p:cNvPicPr>
          <p:nvPr/>
        </p:nvPicPr>
        <p:blipFill>
          <a:blip r:embed="rId3"/>
          <a:srcRect l="19611" r="9734"/>
          <a:stretch>
            <a:fillRect/>
          </a:stretch>
        </p:blipFill>
        <p:spPr bwMode="auto">
          <a:xfrm>
            <a:off x="5435640" y="1514475"/>
            <a:ext cx="3632160" cy="3114675"/>
          </a:xfrm>
          <a:prstGeom prst="rect">
            <a:avLst/>
          </a:prstGeom>
          <a:noFill/>
          <a:ln w="9525">
            <a:noFill/>
            <a:miter lim="800000"/>
            <a:headEnd/>
            <a:tailEnd/>
          </a:ln>
          <a:effectLst/>
        </p:spPr>
      </p:pic>
    </p:spTree>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p:txBody>
          <a:bodyPr/>
          <a:lstStyle/>
          <a:p>
            <a:r>
              <a:rPr lang="en-US" dirty="0" smtClean="0"/>
              <a:t>Conversion of NFA to DFA</a:t>
            </a:r>
            <a:endParaRPr lang="en-US" dirty="0"/>
          </a:p>
        </p:txBody>
      </p:sp>
      <p:sp>
        <p:nvSpPr>
          <p:cNvPr id="3" name="Text Placeholder 2"/>
          <p:cNvSpPr>
            <a:spLocks noGrp="1"/>
          </p:cNvSpPr>
          <p:nvPr>
            <p:ph type="body" sz="quarter" idx="11"/>
          </p:nvPr>
        </p:nvSpPr>
        <p:spPr/>
        <p:txBody>
          <a:bodyPr/>
          <a:lstStyle/>
          <a:p>
            <a:endParaRPr lang="en-US"/>
          </a:p>
        </p:txBody>
      </p:sp>
      <p:sp>
        <p:nvSpPr>
          <p:cNvPr id="4" name="Rectangle 3"/>
          <p:cNvSpPr/>
          <p:nvPr/>
        </p:nvSpPr>
        <p:spPr>
          <a:xfrm>
            <a:off x="304800" y="1371927"/>
            <a:ext cx="8610600" cy="3293209"/>
          </a:xfrm>
          <a:prstGeom prst="rect">
            <a:avLst/>
          </a:prstGeom>
        </p:spPr>
        <p:txBody>
          <a:bodyPr wrap="square">
            <a:spAutoFit/>
          </a:bodyPr>
          <a:lstStyle/>
          <a:p>
            <a:pPr marL="457200" indent="-457200">
              <a:lnSpc>
                <a:spcPct val="85000"/>
              </a:lnSpc>
            </a:pPr>
            <a:r>
              <a:rPr lang="pt-BR" altLang="en-US" sz="2000" dirty="0" smtClean="0">
                <a:sym typeface="Wingdings" pitchFamily="2" charset="2"/>
              </a:rPr>
              <a:t>The algorithm is called </a:t>
            </a:r>
            <a:r>
              <a:rPr lang="pt-BR" altLang="en-US" sz="2000" i="1" dirty="0" smtClean="0">
                <a:solidFill>
                  <a:srgbClr val="FF0000"/>
                </a:solidFill>
                <a:sym typeface="Wingdings" pitchFamily="2" charset="2"/>
              </a:rPr>
              <a:t>subset construction</a:t>
            </a:r>
            <a:r>
              <a:rPr lang="pt-BR" altLang="en-US" sz="2000" dirty="0" smtClean="0">
                <a:sym typeface="Wingdings" pitchFamily="2" charset="2"/>
              </a:rPr>
              <a:t>.</a:t>
            </a:r>
          </a:p>
          <a:p>
            <a:pPr marL="457200" indent="-457200">
              <a:lnSpc>
                <a:spcPct val="85000"/>
              </a:lnSpc>
            </a:pPr>
            <a:r>
              <a:rPr lang="pt-BR" altLang="en-US" sz="2000" dirty="0" smtClean="0">
                <a:sym typeface="Wingdings" pitchFamily="2" charset="2"/>
              </a:rPr>
              <a:t>In the </a:t>
            </a:r>
            <a:r>
              <a:rPr lang="pt-BR" altLang="en-US" sz="2000" dirty="0" smtClean="0">
                <a:solidFill>
                  <a:srgbClr val="FF0000"/>
                </a:solidFill>
                <a:sym typeface="Wingdings" pitchFamily="2" charset="2"/>
              </a:rPr>
              <a:t>transition table </a:t>
            </a:r>
            <a:r>
              <a:rPr lang="pt-BR" altLang="en-US" sz="2000" dirty="0" smtClean="0">
                <a:sym typeface="Wingdings" pitchFamily="2" charset="2"/>
              </a:rPr>
              <a:t>of an NFA, each entry is a set of states.</a:t>
            </a:r>
          </a:p>
          <a:p>
            <a:pPr marL="457200" indent="-457200">
              <a:lnSpc>
                <a:spcPct val="85000"/>
              </a:lnSpc>
            </a:pPr>
            <a:r>
              <a:rPr lang="pt-BR" altLang="en-US" sz="2000" dirty="0" smtClean="0">
                <a:sym typeface="Wingdings" pitchFamily="2" charset="2"/>
              </a:rPr>
              <a:t>In DFA, each entry is a </a:t>
            </a:r>
            <a:r>
              <a:rPr lang="pt-BR" altLang="en-US" sz="2000" dirty="0" smtClean="0">
                <a:solidFill>
                  <a:srgbClr val="FF0000"/>
                </a:solidFill>
                <a:sym typeface="Wingdings" pitchFamily="2" charset="2"/>
              </a:rPr>
              <a:t>single state.</a:t>
            </a:r>
          </a:p>
          <a:p>
            <a:pPr marL="457200" indent="-457200">
              <a:lnSpc>
                <a:spcPct val="85000"/>
              </a:lnSpc>
            </a:pPr>
            <a:r>
              <a:rPr lang="pt-BR" altLang="en-US" sz="2000" dirty="0" smtClean="0">
                <a:sym typeface="Wingdings" pitchFamily="2" charset="2"/>
              </a:rPr>
              <a:t>The general idea behind NFA-to-DFA construction is that</a:t>
            </a:r>
            <a:r>
              <a:rPr lang="pt-BR" altLang="en-US" sz="2000" dirty="0" smtClean="0">
                <a:solidFill>
                  <a:srgbClr val="FF0000"/>
                </a:solidFill>
                <a:sym typeface="Wingdings" pitchFamily="2" charset="2"/>
              </a:rPr>
              <a:t> each DFA state</a:t>
            </a:r>
            <a:r>
              <a:rPr lang="pt-BR" altLang="en-US" sz="2000" dirty="0" smtClean="0">
                <a:sym typeface="Wingdings" pitchFamily="2" charset="2"/>
              </a:rPr>
              <a:t> corresponds to </a:t>
            </a:r>
            <a:r>
              <a:rPr lang="pt-BR" altLang="en-US" sz="2000" dirty="0" smtClean="0">
                <a:solidFill>
                  <a:srgbClr val="FF0000"/>
                </a:solidFill>
                <a:sym typeface="Wingdings" pitchFamily="2" charset="2"/>
              </a:rPr>
              <a:t>a set of NFA states</a:t>
            </a:r>
            <a:r>
              <a:rPr lang="pt-BR" altLang="en-US" sz="2000" dirty="0" smtClean="0">
                <a:sym typeface="Wingdings" pitchFamily="2" charset="2"/>
              </a:rPr>
              <a:t>.</a:t>
            </a:r>
          </a:p>
          <a:p>
            <a:pPr marL="457200" indent="-457200">
              <a:lnSpc>
                <a:spcPct val="85000"/>
              </a:lnSpc>
            </a:pPr>
            <a:r>
              <a:rPr lang="pt-BR" altLang="en-US" sz="2000" dirty="0" smtClean="0">
                <a:sym typeface="Wingdings" pitchFamily="2" charset="2"/>
              </a:rPr>
              <a:t>The DFA uses its state to keep track of all possible states the NFA can be in after reading each input symbol.</a:t>
            </a:r>
            <a:endParaRPr lang="pt-BR" altLang="en-US" sz="2000" dirty="0" smtClean="0"/>
          </a:p>
          <a:p>
            <a:pPr marL="457200" indent="-457200">
              <a:lnSpc>
                <a:spcPct val="90000"/>
              </a:lnSpc>
            </a:pPr>
            <a:r>
              <a:rPr lang="pt-BR" altLang="en-US" sz="2000" dirty="0" smtClean="0">
                <a:sym typeface="Wingdings" pitchFamily="2" charset="2"/>
              </a:rPr>
              <a:t>We will use the following operations.</a:t>
            </a:r>
          </a:p>
          <a:p>
            <a:pPr marL="457200" indent="-457200">
              <a:lnSpc>
                <a:spcPct val="90000"/>
              </a:lnSpc>
            </a:pPr>
            <a:r>
              <a:rPr lang="pt-BR" altLang="en-US" i="1" dirty="0" smtClean="0">
                <a:solidFill>
                  <a:srgbClr val="FF0000"/>
                </a:solidFill>
                <a:latin typeface="Symbol" pitchFamily="18" charset="2"/>
                <a:sym typeface="Wingdings" pitchFamily="2" charset="2"/>
              </a:rPr>
              <a:t>e</a:t>
            </a:r>
            <a:r>
              <a:rPr lang="pt-BR" altLang="en-US" sz="2000" i="1" dirty="0" smtClean="0">
                <a:solidFill>
                  <a:srgbClr val="FF0000"/>
                </a:solidFill>
                <a:sym typeface="Wingdings" pitchFamily="2" charset="2"/>
              </a:rPr>
              <a:t>-closure(T)</a:t>
            </a:r>
            <a:r>
              <a:rPr lang="pt-BR" altLang="en-US" sz="2000" dirty="0" smtClean="0">
                <a:sym typeface="Wingdings" pitchFamily="2" charset="2"/>
              </a:rPr>
              <a:t>: </a:t>
            </a:r>
            <a:br>
              <a:rPr lang="pt-BR" altLang="en-US" sz="2000" dirty="0" smtClean="0">
                <a:sym typeface="Wingdings" pitchFamily="2" charset="2"/>
              </a:rPr>
            </a:br>
            <a:r>
              <a:rPr lang="pt-BR" altLang="en-US" sz="2000" dirty="0" smtClean="0">
                <a:solidFill>
                  <a:srgbClr val="FF0000"/>
                </a:solidFill>
                <a:sym typeface="Wingdings" pitchFamily="2" charset="2"/>
              </a:rPr>
              <a:t>set </a:t>
            </a:r>
            <a:r>
              <a:rPr lang="pt-BR" altLang="en-US" sz="2000" dirty="0" smtClean="0">
                <a:sym typeface="Wingdings" pitchFamily="2" charset="2"/>
              </a:rPr>
              <a:t>of NFA states reachable from some NFA state</a:t>
            </a:r>
            <a:r>
              <a:rPr lang="pt-BR" altLang="en-US" sz="2000" dirty="0" smtClean="0">
                <a:solidFill>
                  <a:srgbClr val="FF0000"/>
                </a:solidFill>
                <a:sym typeface="Wingdings" pitchFamily="2" charset="2"/>
              </a:rPr>
              <a:t> </a:t>
            </a:r>
            <a:r>
              <a:rPr lang="pt-BR" altLang="en-US" sz="2000" i="1" dirty="0" smtClean="0">
                <a:solidFill>
                  <a:srgbClr val="FF0000"/>
                </a:solidFill>
                <a:sym typeface="Wingdings" pitchFamily="2" charset="2"/>
              </a:rPr>
              <a:t>s</a:t>
            </a:r>
            <a:r>
              <a:rPr lang="pt-BR" altLang="en-US" sz="2000" dirty="0" smtClean="0">
                <a:solidFill>
                  <a:srgbClr val="FF0000"/>
                </a:solidFill>
                <a:sym typeface="Wingdings" pitchFamily="2" charset="2"/>
              </a:rPr>
              <a:t> </a:t>
            </a:r>
            <a:r>
              <a:rPr lang="pt-BR" altLang="en-US" sz="2000" dirty="0" smtClean="0">
                <a:sym typeface="Wingdings" pitchFamily="2" charset="2"/>
              </a:rPr>
              <a:t>in</a:t>
            </a:r>
            <a:r>
              <a:rPr lang="pt-BR" altLang="en-US" sz="2000" dirty="0" smtClean="0">
                <a:solidFill>
                  <a:srgbClr val="FF0000"/>
                </a:solidFill>
                <a:sym typeface="Wingdings" pitchFamily="2" charset="2"/>
              </a:rPr>
              <a:t> </a:t>
            </a:r>
            <a:r>
              <a:rPr lang="pt-BR" altLang="en-US" sz="2000" i="1" dirty="0" smtClean="0">
                <a:solidFill>
                  <a:srgbClr val="FF0000"/>
                </a:solidFill>
                <a:sym typeface="Wingdings" pitchFamily="2" charset="2"/>
              </a:rPr>
              <a:t>T</a:t>
            </a:r>
            <a:r>
              <a:rPr lang="pt-BR" altLang="en-US" sz="2000" dirty="0" smtClean="0">
                <a:solidFill>
                  <a:srgbClr val="FF0000"/>
                </a:solidFill>
                <a:sym typeface="Wingdings" pitchFamily="2" charset="2"/>
              </a:rPr>
              <a:t> </a:t>
            </a:r>
            <a:r>
              <a:rPr lang="pt-BR" altLang="en-US" sz="2000" dirty="0" smtClean="0">
                <a:sym typeface="Wingdings" pitchFamily="2" charset="2"/>
              </a:rPr>
              <a:t>on </a:t>
            </a:r>
            <a:r>
              <a:rPr lang="pt-BR" altLang="en-US" sz="2000" dirty="0" smtClean="0">
                <a:solidFill>
                  <a:srgbClr val="FF0000"/>
                </a:solidFill>
                <a:latin typeface="Symbol" pitchFamily="18" charset="2"/>
                <a:sym typeface="Wingdings" pitchFamily="2" charset="2"/>
              </a:rPr>
              <a:t>e</a:t>
            </a:r>
            <a:r>
              <a:rPr lang="pt-BR" altLang="en-US" sz="2000" dirty="0" smtClean="0">
                <a:sym typeface="Wingdings" pitchFamily="2" charset="2"/>
              </a:rPr>
              <a:t>-transitions alone.</a:t>
            </a:r>
            <a:endParaRPr lang="pt-BR" altLang="en-US" sz="2000" dirty="0" smtClean="0"/>
          </a:p>
          <a:p>
            <a:pPr marL="457200" indent="-457200">
              <a:lnSpc>
                <a:spcPct val="85000"/>
              </a:lnSpc>
            </a:pPr>
            <a:endParaRPr lang="pt-BR" altLang="en-US" sz="2000" dirty="0" smtClean="0">
              <a:solidFill>
                <a:srgbClr val="FF0000"/>
              </a:solidFill>
              <a:sym typeface="Wingdings" pitchFamily="2" charset="2"/>
            </a:endParaRPr>
          </a:p>
        </p:txBody>
      </p:sp>
    </p:spTree>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p:txBody>
          <a:bodyPr/>
          <a:lstStyle/>
          <a:p>
            <a:r>
              <a:rPr lang="en-US" dirty="0" smtClean="0"/>
              <a:t>Conversion of NFA to DFA</a:t>
            </a:r>
            <a:endParaRPr lang="en-US" dirty="0"/>
          </a:p>
        </p:txBody>
      </p:sp>
      <p:sp>
        <p:nvSpPr>
          <p:cNvPr id="3" name="Text Placeholder 2"/>
          <p:cNvSpPr>
            <a:spLocks noGrp="1"/>
          </p:cNvSpPr>
          <p:nvPr>
            <p:ph type="body" sz="quarter" idx="11"/>
          </p:nvPr>
        </p:nvSpPr>
        <p:spPr/>
        <p:txBody>
          <a:bodyPr/>
          <a:lstStyle/>
          <a:p>
            <a:endParaRPr lang="en-US"/>
          </a:p>
        </p:txBody>
      </p:sp>
      <p:sp>
        <p:nvSpPr>
          <p:cNvPr id="4" name="Rectangle 3"/>
          <p:cNvSpPr/>
          <p:nvPr/>
        </p:nvSpPr>
        <p:spPr>
          <a:xfrm>
            <a:off x="304800" y="1371927"/>
            <a:ext cx="8610600" cy="3323987"/>
          </a:xfrm>
          <a:prstGeom prst="rect">
            <a:avLst/>
          </a:prstGeom>
        </p:spPr>
        <p:txBody>
          <a:bodyPr wrap="square">
            <a:spAutoFit/>
          </a:bodyPr>
          <a:lstStyle/>
          <a:p>
            <a:pPr marL="457200" indent="-457200">
              <a:lnSpc>
                <a:spcPct val="85000"/>
              </a:lnSpc>
            </a:pPr>
            <a:r>
              <a:rPr lang="pt-BR" altLang="en-US" sz="2000" i="1" dirty="0" smtClean="0">
                <a:solidFill>
                  <a:srgbClr val="FF0000"/>
                </a:solidFill>
                <a:sym typeface="Wingdings" pitchFamily="2" charset="2"/>
              </a:rPr>
              <a:t>move(T,a)</a:t>
            </a:r>
            <a:r>
              <a:rPr lang="pt-BR" altLang="en-US" sz="2000" dirty="0" smtClean="0">
                <a:sym typeface="Wingdings" pitchFamily="2" charset="2"/>
              </a:rPr>
              <a:t>: </a:t>
            </a:r>
            <a:br>
              <a:rPr lang="pt-BR" altLang="en-US" sz="2000" dirty="0" smtClean="0">
                <a:sym typeface="Wingdings" pitchFamily="2" charset="2"/>
              </a:rPr>
            </a:br>
            <a:r>
              <a:rPr lang="pt-BR" altLang="en-US" sz="2000" dirty="0" smtClean="0">
                <a:solidFill>
                  <a:srgbClr val="FF0000"/>
                </a:solidFill>
                <a:sym typeface="Wingdings" pitchFamily="2" charset="2"/>
              </a:rPr>
              <a:t>set </a:t>
            </a:r>
            <a:r>
              <a:rPr lang="pt-BR" altLang="en-US" sz="2000" dirty="0" smtClean="0">
                <a:sym typeface="Wingdings" pitchFamily="2" charset="2"/>
              </a:rPr>
              <a:t>of NFA states to which there is a transition on input </a:t>
            </a:r>
            <a:r>
              <a:rPr lang="pt-BR" altLang="en-US" sz="2000" i="1" dirty="0" smtClean="0">
                <a:solidFill>
                  <a:srgbClr val="FF0000"/>
                </a:solidFill>
                <a:sym typeface="Wingdings" pitchFamily="2" charset="2"/>
              </a:rPr>
              <a:t>a</a:t>
            </a:r>
            <a:r>
              <a:rPr lang="pt-BR" altLang="en-US" sz="2000" dirty="0" smtClean="0">
                <a:sym typeface="Wingdings" pitchFamily="2" charset="2"/>
              </a:rPr>
              <a:t> from some NFA state </a:t>
            </a:r>
            <a:r>
              <a:rPr lang="pt-BR" altLang="en-US" sz="2000" i="1" dirty="0" smtClean="0">
                <a:solidFill>
                  <a:srgbClr val="FF0000"/>
                </a:solidFill>
                <a:sym typeface="Wingdings" pitchFamily="2" charset="2"/>
              </a:rPr>
              <a:t>s</a:t>
            </a:r>
            <a:r>
              <a:rPr lang="pt-BR" altLang="en-US" sz="2000" dirty="0" smtClean="0">
                <a:sym typeface="Wingdings" pitchFamily="2" charset="2"/>
              </a:rPr>
              <a:t> in set of states </a:t>
            </a:r>
            <a:r>
              <a:rPr lang="pt-BR" altLang="en-US" sz="2000" i="1" dirty="0" smtClean="0">
                <a:solidFill>
                  <a:srgbClr val="FF0000"/>
                </a:solidFill>
                <a:sym typeface="Wingdings" pitchFamily="2" charset="2"/>
              </a:rPr>
              <a:t>T</a:t>
            </a:r>
            <a:r>
              <a:rPr lang="pt-BR" altLang="en-US" sz="2000" dirty="0" smtClean="0">
                <a:sym typeface="Wingdings" pitchFamily="2" charset="2"/>
              </a:rPr>
              <a:t>.</a:t>
            </a:r>
          </a:p>
          <a:p>
            <a:pPr marL="457200" indent="-457200">
              <a:lnSpc>
                <a:spcPct val="85000"/>
              </a:lnSpc>
            </a:pPr>
            <a:r>
              <a:rPr lang="pt-BR" altLang="en-US" sz="2000" dirty="0" smtClean="0">
                <a:sym typeface="Wingdings" pitchFamily="2" charset="2"/>
              </a:rPr>
              <a:t>Before it sees the first input symbol, NFA can be in </a:t>
            </a:r>
            <a:br>
              <a:rPr lang="pt-BR" altLang="en-US" sz="2000" dirty="0" smtClean="0">
                <a:sym typeface="Wingdings" pitchFamily="2" charset="2"/>
              </a:rPr>
            </a:br>
            <a:r>
              <a:rPr lang="pt-BR" altLang="en-US" sz="2000" dirty="0" smtClean="0">
                <a:sym typeface="Wingdings" pitchFamily="2" charset="2"/>
              </a:rPr>
              <a:t>any of the state in the set </a:t>
            </a:r>
            <a:r>
              <a:rPr lang="pt-BR" altLang="en-US" i="1" dirty="0" smtClean="0">
                <a:solidFill>
                  <a:srgbClr val="FF0000"/>
                </a:solidFill>
                <a:latin typeface="Symbol" pitchFamily="18" charset="2"/>
                <a:sym typeface="Wingdings" pitchFamily="2" charset="2"/>
              </a:rPr>
              <a:t>e</a:t>
            </a:r>
            <a:r>
              <a:rPr lang="pt-BR" altLang="en-US" sz="2000" i="1" dirty="0" smtClean="0">
                <a:solidFill>
                  <a:srgbClr val="FF0000"/>
                </a:solidFill>
                <a:sym typeface="Wingdings" pitchFamily="2" charset="2"/>
              </a:rPr>
              <a:t>-closure(s</a:t>
            </a:r>
            <a:r>
              <a:rPr lang="pt-BR" altLang="en-US" sz="2000" i="1" baseline="-25000" dirty="0" smtClean="0">
                <a:solidFill>
                  <a:srgbClr val="FF0000"/>
                </a:solidFill>
                <a:sym typeface="Wingdings" pitchFamily="2" charset="2"/>
              </a:rPr>
              <a:t>0</a:t>
            </a:r>
            <a:r>
              <a:rPr lang="pt-BR" altLang="en-US" sz="2000" i="1" dirty="0" smtClean="0">
                <a:solidFill>
                  <a:srgbClr val="FF0000"/>
                </a:solidFill>
                <a:sym typeface="Wingdings" pitchFamily="2" charset="2"/>
              </a:rPr>
              <a:t>)</a:t>
            </a:r>
            <a:r>
              <a:rPr lang="pt-BR" altLang="en-US" sz="2000" dirty="0" smtClean="0">
                <a:sym typeface="Wingdings" pitchFamily="2" charset="2"/>
              </a:rPr>
              <a:t>, where </a:t>
            </a:r>
            <a:r>
              <a:rPr lang="pt-BR" altLang="en-US" sz="2000" i="1" dirty="0" smtClean="0">
                <a:solidFill>
                  <a:srgbClr val="FF0000"/>
                </a:solidFill>
                <a:sym typeface="Wingdings" pitchFamily="2" charset="2"/>
              </a:rPr>
              <a:t>s</a:t>
            </a:r>
            <a:r>
              <a:rPr lang="pt-BR" altLang="en-US" sz="2000" i="1" baseline="-25000" dirty="0" smtClean="0">
                <a:solidFill>
                  <a:srgbClr val="FF0000"/>
                </a:solidFill>
                <a:sym typeface="Wingdings" pitchFamily="2" charset="2"/>
              </a:rPr>
              <a:t>0 </a:t>
            </a:r>
            <a:r>
              <a:rPr lang="pt-BR" altLang="en-US" sz="2000" dirty="0" smtClean="0">
                <a:sym typeface="Wingdings" pitchFamily="2" charset="2"/>
              </a:rPr>
              <a:t>is the start state of the NFA.</a:t>
            </a:r>
          </a:p>
          <a:p>
            <a:pPr marL="457200" indent="-457200">
              <a:lnSpc>
                <a:spcPct val="85000"/>
              </a:lnSpc>
            </a:pPr>
            <a:r>
              <a:rPr lang="pt-BR" altLang="en-US" sz="2000" dirty="0" smtClean="0">
                <a:sym typeface="Wingdings" pitchFamily="2" charset="2"/>
              </a:rPr>
              <a:t>Suppose that exactly the states in set </a:t>
            </a:r>
            <a:r>
              <a:rPr lang="pt-BR" altLang="en-US" sz="2000" i="1" dirty="0" smtClean="0">
                <a:solidFill>
                  <a:srgbClr val="FF0000"/>
                </a:solidFill>
                <a:sym typeface="Wingdings" pitchFamily="2" charset="2"/>
              </a:rPr>
              <a:t>T</a:t>
            </a:r>
            <a:r>
              <a:rPr lang="pt-BR" altLang="en-US" sz="2000" dirty="0" smtClean="0">
                <a:sym typeface="Wingdings" pitchFamily="2" charset="2"/>
              </a:rPr>
              <a:t> are reachable from </a:t>
            </a:r>
            <a:r>
              <a:rPr lang="pt-BR" altLang="en-US" sz="2000" i="1" dirty="0" smtClean="0">
                <a:solidFill>
                  <a:srgbClr val="FF0000"/>
                </a:solidFill>
                <a:sym typeface="Wingdings" pitchFamily="2" charset="2"/>
              </a:rPr>
              <a:t>s</a:t>
            </a:r>
            <a:r>
              <a:rPr lang="pt-BR" altLang="en-US" sz="2000" i="1" baseline="-25000" dirty="0" smtClean="0">
                <a:solidFill>
                  <a:srgbClr val="FF0000"/>
                </a:solidFill>
                <a:sym typeface="Wingdings" pitchFamily="2" charset="2"/>
              </a:rPr>
              <a:t>0</a:t>
            </a:r>
            <a:r>
              <a:rPr lang="pt-BR" altLang="en-US" sz="2000" dirty="0" smtClean="0">
                <a:sym typeface="Wingdings" pitchFamily="2" charset="2"/>
              </a:rPr>
              <a:t> on a given sequence of input symbols.</a:t>
            </a:r>
          </a:p>
          <a:p>
            <a:pPr marL="457200" indent="-457200"/>
            <a:r>
              <a:rPr lang="pt-BR" altLang="en-US" sz="2000" dirty="0" smtClean="0">
                <a:sym typeface="Wingdings" pitchFamily="2" charset="2"/>
              </a:rPr>
              <a:t>Let </a:t>
            </a:r>
            <a:r>
              <a:rPr lang="pt-BR" altLang="en-US" sz="2000" i="1" dirty="0" smtClean="0">
                <a:solidFill>
                  <a:srgbClr val="FF0000"/>
                </a:solidFill>
                <a:sym typeface="Wingdings" pitchFamily="2" charset="2"/>
              </a:rPr>
              <a:t>a</a:t>
            </a:r>
            <a:r>
              <a:rPr lang="pt-BR" altLang="en-US" sz="2000" dirty="0" smtClean="0">
                <a:sym typeface="Wingdings" pitchFamily="2" charset="2"/>
              </a:rPr>
              <a:t> be the next input symbol.</a:t>
            </a:r>
          </a:p>
          <a:p>
            <a:pPr marL="457200" indent="-457200">
              <a:buClr>
                <a:srgbClr val="5C0000"/>
              </a:buClr>
            </a:pPr>
            <a:r>
              <a:rPr lang="pt-BR" altLang="en-US" sz="2000" dirty="0" smtClean="0">
                <a:solidFill>
                  <a:srgbClr val="5C0000"/>
                </a:solidFill>
                <a:sym typeface="Wingdings" pitchFamily="2" charset="2"/>
              </a:rPr>
              <a:t>On seeing </a:t>
            </a:r>
            <a:r>
              <a:rPr lang="pt-BR" altLang="en-US" sz="2000" i="1" dirty="0" smtClean="0">
                <a:solidFill>
                  <a:srgbClr val="5C0000"/>
                </a:solidFill>
                <a:sym typeface="Wingdings" pitchFamily="2" charset="2"/>
              </a:rPr>
              <a:t>a</a:t>
            </a:r>
            <a:r>
              <a:rPr lang="pt-BR" altLang="en-US" sz="2000" dirty="0" smtClean="0">
                <a:solidFill>
                  <a:srgbClr val="5C0000"/>
                </a:solidFill>
                <a:sym typeface="Wingdings" pitchFamily="2" charset="2"/>
              </a:rPr>
              <a:t>, the NFA can move to any of the states in the set </a:t>
            </a:r>
            <a:r>
              <a:rPr lang="pt-BR" altLang="en-US" sz="2000" i="1" dirty="0" smtClean="0">
                <a:solidFill>
                  <a:srgbClr val="5C0000"/>
                </a:solidFill>
                <a:sym typeface="Wingdings" pitchFamily="2" charset="2"/>
              </a:rPr>
              <a:t>move(T,a)</a:t>
            </a:r>
            <a:r>
              <a:rPr lang="pt-BR" altLang="en-US" sz="2000" dirty="0" smtClean="0">
                <a:solidFill>
                  <a:srgbClr val="5C0000"/>
                </a:solidFill>
                <a:sym typeface="Wingdings" pitchFamily="2" charset="2"/>
              </a:rPr>
              <a:t>.</a:t>
            </a:r>
          </a:p>
          <a:p>
            <a:pPr marL="457200" indent="-457200">
              <a:lnSpc>
                <a:spcPct val="85000"/>
              </a:lnSpc>
            </a:pPr>
            <a:endParaRPr lang="pt-BR" altLang="en-US" sz="2000" dirty="0" smtClean="0">
              <a:sym typeface="Wingdings" pitchFamily="2" charset="2"/>
            </a:endParaRPr>
          </a:p>
          <a:p>
            <a:pPr marL="457200" indent="-457200">
              <a:lnSpc>
                <a:spcPct val="85000"/>
              </a:lnSpc>
            </a:pPr>
            <a:endParaRPr lang="pt-BR" altLang="en-US" sz="2000" dirty="0" smtClean="0">
              <a:solidFill>
                <a:srgbClr val="FF0000"/>
              </a:solidFill>
              <a:sym typeface="Wingdings" pitchFamily="2" charset="2"/>
            </a:endParaRPr>
          </a:p>
        </p:txBody>
      </p:sp>
    </p:spTree>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p:txBody>
          <a:bodyPr/>
          <a:lstStyle/>
          <a:p>
            <a:r>
              <a:rPr lang="en-US" dirty="0" smtClean="0"/>
              <a:t>Conversion of NFA to DFA</a:t>
            </a:r>
            <a:endParaRPr lang="en-US" dirty="0"/>
          </a:p>
        </p:txBody>
      </p:sp>
      <p:sp>
        <p:nvSpPr>
          <p:cNvPr id="3" name="Text Placeholder 2"/>
          <p:cNvSpPr>
            <a:spLocks noGrp="1"/>
          </p:cNvSpPr>
          <p:nvPr>
            <p:ph type="body" sz="quarter" idx="11"/>
          </p:nvPr>
        </p:nvSpPr>
        <p:spPr/>
        <p:txBody>
          <a:bodyPr/>
          <a:lstStyle/>
          <a:p>
            <a:endParaRPr lang="en-US"/>
          </a:p>
        </p:txBody>
      </p:sp>
      <p:sp>
        <p:nvSpPr>
          <p:cNvPr id="4" name="Rectangle 3"/>
          <p:cNvSpPr/>
          <p:nvPr/>
        </p:nvSpPr>
        <p:spPr>
          <a:xfrm>
            <a:off x="304800" y="1371927"/>
            <a:ext cx="8610600" cy="1661993"/>
          </a:xfrm>
          <a:prstGeom prst="rect">
            <a:avLst/>
          </a:prstGeom>
        </p:spPr>
        <p:txBody>
          <a:bodyPr wrap="square">
            <a:spAutoFit/>
          </a:bodyPr>
          <a:lstStyle/>
          <a:p>
            <a:pPr marL="457200" indent="-457200">
              <a:lnSpc>
                <a:spcPct val="85000"/>
              </a:lnSpc>
            </a:pPr>
            <a:r>
              <a:rPr lang="pt-BR" altLang="en-US" sz="2400" dirty="0" smtClean="0">
                <a:sym typeface="Wingdings" pitchFamily="2" charset="2"/>
              </a:rPr>
              <a:t>When we allow for </a:t>
            </a:r>
            <a:r>
              <a:rPr lang="pt-BR" altLang="en-US" sz="2400" dirty="0" smtClean="0">
                <a:solidFill>
                  <a:srgbClr val="FF0000"/>
                </a:solidFill>
                <a:latin typeface="Symbol" pitchFamily="18" charset="2"/>
                <a:sym typeface="Wingdings" pitchFamily="2" charset="2"/>
              </a:rPr>
              <a:t>e</a:t>
            </a:r>
            <a:r>
              <a:rPr lang="pt-BR" altLang="en-US" sz="2400" dirty="0" smtClean="0">
                <a:sym typeface="Wingdings" pitchFamily="2" charset="2"/>
              </a:rPr>
              <a:t>-transitions, NFA can be in any of the states in </a:t>
            </a:r>
            <a:br>
              <a:rPr lang="pt-BR" altLang="en-US" sz="2400" dirty="0" smtClean="0">
                <a:sym typeface="Wingdings" pitchFamily="2" charset="2"/>
              </a:rPr>
            </a:br>
            <a:r>
              <a:rPr lang="pt-BR" altLang="en-US" sz="2400" i="1" dirty="0" smtClean="0">
                <a:solidFill>
                  <a:srgbClr val="FF0000"/>
                </a:solidFill>
                <a:latin typeface="Symbol" pitchFamily="18" charset="2"/>
                <a:sym typeface="Wingdings" pitchFamily="2" charset="2"/>
              </a:rPr>
              <a:t>e</a:t>
            </a:r>
            <a:r>
              <a:rPr lang="pt-BR" altLang="en-US" sz="2400" i="1" dirty="0" smtClean="0">
                <a:solidFill>
                  <a:srgbClr val="FF0000"/>
                </a:solidFill>
                <a:sym typeface="Wingdings" pitchFamily="2" charset="2"/>
              </a:rPr>
              <a:t>-closure(move(T,a))</a:t>
            </a:r>
            <a:r>
              <a:rPr lang="pt-BR" altLang="en-US" sz="2400" dirty="0" smtClean="0">
                <a:solidFill>
                  <a:srgbClr val="FF0000"/>
                </a:solidFill>
                <a:sym typeface="Wingdings" pitchFamily="2" charset="2"/>
              </a:rPr>
              <a:t> </a:t>
            </a:r>
            <a:r>
              <a:rPr lang="pt-BR" altLang="en-US" sz="2400" dirty="0" smtClean="0">
                <a:sym typeface="Wingdings" pitchFamily="2" charset="2"/>
              </a:rPr>
              <a:t/>
            </a:r>
            <a:br>
              <a:rPr lang="pt-BR" altLang="en-US" sz="2400" dirty="0" smtClean="0">
                <a:sym typeface="Wingdings" pitchFamily="2" charset="2"/>
              </a:rPr>
            </a:br>
            <a:r>
              <a:rPr lang="pt-BR" altLang="en-US" sz="2400" dirty="0" smtClean="0">
                <a:sym typeface="Wingdings" pitchFamily="2" charset="2"/>
              </a:rPr>
              <a:t>after seeing </a:t>
            </a:r>
            <a:r>
              <a:rPr lang="pt-BR" altLang="en-US" sz="2400" i="1" dirty="0" smtClean="0">
                <a:solidFill>
                  <a:srgbClr val="FF0000"/>
                </a:solidFill>
                <a:sym typeface="Wingdings" pitchFamily="2" charset="2"/>
              </a:rPr>
              <a:t>a</a:t>
            </a:r>
            <a:r>
              <a:rPr lang="pt-BR" altLang="en-US" sz="2400" dirty="0" smtClean="0">
                <a:sym typeface="Wingdings" pitchFamily="2" charset="2"/>
              </a:rPr>
              <a:t>.</a:t>
            </a:r>
          </a:p>
          <a:p>
            <a:pPr marL="457200" indent="-457200">
              <a:lnSpc>
                <a:spcPct val="85000"/>
              </a:lnSpc>
            </a:pPr>
            <a:endParaRPr lang="pt-BR" altLang="en-US" sz="2400" dirty="0" smtClean="0">
              <a:solidFill>
                <a:srgbClr val="FF0000"/>
              </a:solidFill>
              <a:sym typeface="Wingdings" pitchFamily="2" charset="2"/>
            </a:endParaRPr>
          </a:p>
        </p:txBody>
      </p:sp>
    </p:spTree>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43000" y="2086172"/>
            <a:ext cx="6172200" cy="548879"/>
          </a:xfrm>
        </p:spPr>
        <p:txBody>
          <a:bodyPr/>
          <a:lstStyle/>
          <a:p>
            <a:r>
              <a:rPr lang="en-US" sz="2700" dirty="0">
                <a:solidFill>
                  <a:srgbClr val="003366"/>
                </a:solidFill>
              </a:rPr>
              <a:t>UNIT </a:t>
            </a:r>
            <a:r>
              <a:rPr lang="en-US" sz="2700" dirty="0" smtClean="0">
                <a:solidFill>
                  <a:srgbClr val="003366"/>
                </a:solidFill>
              </a:rPr>
              <a:t>5.2</a:t>
            </a:r>
            <a:endParaRPr lang="en-US" sz="2700" dirty="0">
              <a:solidFill>
                <a:srgbClr val="003366"/>
              </a:solidFill>
            </a:endParaRPr>
          </a:p>
        </p:txBody>
      </p:sp>
      <p:sp>
        <p:nvSpPr>
          <p:cNvPr id="4" name="Slide Number Placeholder 3"/>
          <p:cNvSpPr>
            <a:spLocks noGrp="1"/>
          </p:cNvSpPr>
          <p:nvPr>
            <p:ph type="sldNum" sz="quarter" idx="12"/>
          </p:nvPr>
        </p:nvSpPr>
        <p:spPr/>
        <p:txBody>
          <a:bodyPr/>
          <a:lstStyle/>
          <a:p>
            <a:fld id="{4192AEF6-A042-4DA6-A3E1-F04AAE1E3944}" type="slidenum">
              <a:rPr lang="en-US" smtClean="0"/>
              <a:pPr/>
              <a:t>14</a:t>
            </a:fld>
            <a:endParaRPr lang="en-US"/>
          </a:p>
        </p:txBody>
      </p:sp>
      <p:sp>
        <p:nvSpPr>
          <p:cNvPr id="5" name="TextBox 4"/>
          <p:cNvSpPr txBox="1"/>
          <p:nvPr/>
        </p:nvSpPr>
        <p:spPr>
          <a:xfrm>
            <a:off x="2362200" y="2876550"/>
            <a:ext cx="3829050" cy="369332"/>
          </a:xfrm>
          <a:prstGeom prst="rect">
            <a:avLst/>
          </a:prstGeom>
          <a:noFill/>
        </p:spPr>
        <p:txBody>
          <a:bodyPr wrap="square" rtlCol="0">
            <a:spAutoFit/>
          </a:bodyPr>
          <a:lstStyle/>
          <a:p>
            <a:pPr lvl="1">
              <a:defRPr/>
            </a:pPr>
            <a:r>
              <a:rPr lang="en-US" dirty="0"/>
              <a:t>Subset Construction Algorithm</a:t>
            </a:r>
            <a:endParaRPr lang="en-US" sz="1350" dirty="0"/>
          </a:p>
        </p:txBody>
      </p:sp>
      <p:sp>
        <p:nvSpPr>
          <p:cNvPr id="6" name="TextBox 5"/>
          <p:cNvSpPr txBox="1"/>
          <p:nvPr/>
        </p:nvSpPr>
        <p:spPr>
          <a:xfrm>
            <a:off x="6972300" y="1"/>
            <a:ext cx="1543050" cy="219291"/>
          </a:xfrm>
          <a:prstGeom prst="rect">
            <a:avLst/>
          </a:prstGeom>
          <a:noFill/>
        </p:spPr>
        <p:txBody>
          <a:bodyPr wrap="square" rtlCol="0">
            <a:spAutoFit/>
          </a:bodyPr>
          <a:lstStyle/>
          <a:p>
            <a:r>
              <a:rPr lang="en-US" sz="825" b="1" dirty="0">
                <a:solidFill>
                  <a:schemeClr val="bg1"/>
                </a:solidFill>
                <a:hlinkClick r:id="rId2" action="ppaction://hlinksldjump"/>
              </a:rPr>
              <a:t>Home</a:t>
            </a:r>
            <a:endParaRPr lang="en-US" sz="825" b="1" dirty="0">
              <a:solidFill>
                <a:schemeClr val="bg1"/>
              </a:solidFill>
            </a:endParaRPr>
          </a:p>
        </p:txBody>
      </p:sp>
    </p:spTree>
    <p:extLst>
      <p:ext uri="{BB962C8B-B14F-4D97-AF65-F5344CB8AC3E}">
        <p14:creationId xmlns:p14="http://schemas.microsoft.com/office/powerpoint/2010/main" val="2036143082"/>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p:txBody>
          <a:bodyPr/>
          <a:lstStyle/>
          <a:p>
            <a:r>
              <a:rPr lang="en-US" dirty="0" smtClean="0"/>
              <a:t>Subset Construction Algorithm</a:t>
            </a:r>
            <a:endParaRPr lang="en-US" dirty="0"/>
          </a:p>
        </p:txBody>
      </p:sp>
      <p:sp>
        <p:nvSpPr>
          <p:cNvPr id="3" name="Text Placeholder 2"/>
          <p:cNvSpPr>
            <a:spLocks noGrp="1"/>
          </p:cNvSpPr>
          <p:nvPr>
            <p:ph type="body" sz="quarter" idx="11"/>
          </p:nvPr>
        </p:nvSpPr>
        <p:spPr/>
        <p:txBody>
          <a:bodyPr/>
          <a:lstStyle/>
          <a:p>
            <a:endParaRPr lang="en-US"/>
          </a:p>
        </p:txBody>
      </p:sp>
      <p:sp>
        <p:nvSpPr>
          <p:cNvPr id="4" name="Rectangle 3"/>
          <p:cNvSpPr/>
          <p:nvPr/>
        </p:nvSpPr>
        <p:spPr>
          <a:xfrm>
            <a:off x="152400" y="1392778"/>
            <a:ext cx="8763000" cy="2931572"/>
          </a:xfrm>
          <a:prstGeom prst="rect">
            <a:avLst/>
          </a:prstGeom>
        </p:spPr>
        <p:txBody>
          <a:bodyPr wrap="square">
            <a:spAutoFit/>
          </a:bodyPr>
          <a:lstStyle/>
          <a:p>
            <a:pPr>
              <a:buFont typeface="Arial" pitchFamily="34" charset="0"/>
              <a:buNone/>
              <a:defRPr/>
            </a:pPr>
            <a:r>
              <a:rPr lang="en-US" b="1" i="1" dirty="0" smtClean="0">
                <a:solidFill>
                  <a:srgbClr val="FF0000"/>
                </a:solidFill>
              </a:rPr>
              <a:t>Algorithm:</a:t>
            </a:r>
          </a:p>
          <a:p>
            <a:pPr>
              <a:buFont typeface="Arial" pitchFamily="34" charset="0"/>
              <a:buNone/>
              <a:defRPr/>
            </a:pPr>
            <a:r>
              <a:rPr lang="en-US" i="1" dirty="0" smtClean="0">
                <a:solidFill>
                  <a:srgbClr val="FF0000"/>
                </a:solidFill>
              </a:rPr>
              <a:t>Input:</a:t>
            </a:r>
            <a:r>
              <a:rPr lang="en-US" dirty="0" smtClean="0">
                <a:solidFill>
                  <a:srgbClr val="FF0000"/>
                </a:solidFill>
              </a:rPr>
              <a:t> </a:t>
            </a:r>
            <a:r>
              <a:rPr lang="en-US" dirty="0" smtClean="0"/>
              <a:t/>
            </a:r>
            <a:br>
              <a:rPr lang="en-US" dirty="0" smtClean="0"/>
            </a:br>
            <a:r>
              <a:rPr lang="en-US" dirty="0" smtClean="0"/>
              <a:t>	NFA </a:t>
            </a:r>
            <a:r>
              <a:rPr lang="en-US" dirty="0" smtClean="0">
                <a:solidFill>
                  <a:srgbClr val="FF0000"/>
                </a:solidFill>
              </a:rPr>
              <a:t>N</a:t>
            </a:r>
            <a:r>
              <a:rPr lang="en-US" dirty="0" smtClean="0"/>
              <a:t> with state set </a:t>
            </a:r>
            <a:r>
              <a:rPr lang="en-US" dirty="0" smtClean="0">
                <a:solidFill>
                  <a:srgbClr val="FF0000"/>
                </a:solidFill>
              </a:rPr>
              <a:t>S</a:t>
            </a:r>
            <a:r>
              <a:rPr lang="en-US" dirty="0" smtClean="0"/>
              <a:t>, alphabet</a:t>
            </a:r>
            <a:r>
              <a:rPr lang="en-US" dirty="0" smtClean="0">
                <a:solidFill>
                  <a:srgbClr val="FF0000"/>
                </a:solidFill>
              </a:rPr>
              <a:t> </a:t>
            </a:r>
            <a:r>
              <a:rPr lang="en-US" dirty="0" smtClean="0">
                <a:solidFill>
                  <a:srgbClr val="FF0000"/>
                </a:solidFill>
                <a:latin typeface="Symbol" pitchFamily="18" charset="2"/>
              </a:rPr>
              <a:t>S</a:t>
            </a:r>
            <a:r>
              <a:rPr lang="en-US" dirty="0" smtClean="0"/>
              <a:t>, start state </a:t>
            </a:r>
            <a:r>
              <a:rPr lang="en-US" dirty="0" smtClean="0">
                <a:solidFill>
                  <a:srgbClr val="FF0000"/>
                </a:solidFill>
              </a:rPr>
              <a:t>s</a:t>
            </a:r>
            <a:r>
              <a:rPr lang="en-US" baseline="-25000" dirty="0" smtClean="0">
                <a:solidFill>
                  <a:srgbClr val="FF0000"/>
                </a:solidFill>
              </a:rPr>
              <a:t>0</a:t>
            </a:r>
            <a:r>
              <a:rPr lang="en-US" dirty="0" smtClean="0"/>
              <a:t>, final states </a:t>
            </a:r>
            <a:r>
              <a:rPr lang="en-US" dirty="0" smtClean="0">
                <a:solidFill>
                  <a:srgbClr val="FF0000"/>
                </a:solidFill>
              </a:rPr>
              <a:t>F</a:t>
            </a:r>
            <a:endParaRPr lang="en-US" dirty="0" smtClean="0">
              <a:solidFill>
                <a:srgbClr val="FF0000"/>
              </a:solidFill>
              <a:sym typeface="Wingdings" pitchFamily="2" charset="2"/>
            </a:endParaRPr>
          </a:p>
          <a:p>
            <a:pPr>
              <a:lnSpc>
                <a:spcPct val="85000"/>
              </a:lnSpc>
              <a:defRPr/>
            </a:pPr>
            <a:r>
              <a:rPr lang="en-US" dirty="0" smtClean="0">
                <a:solidFill>
                  <a:srgbClr val="FF0000"/>
                </a:solidFill>
              </a:rPr>
              <a:t> </a:t>
            </a:r>
            <a:r>
              <a:rPr lang="en-US" i="1" dirty="0" smtClean="0">
                <a:solidFill>
                  <a:srgbClr val="FF0000"/>
                </a:solidFill>
                <a:sym typeface="Wingdings" pitchFamily="2" charset="2"/>
              </a:rPr>
              <a:t>Output:</a:t>
            </a:r>
            <a:r>
              <a:rPr lang="en-US" dirty="0" smtClean="0">
                <a:solidFill>
                  <a:srgbClr val="FF0000"/>
                </a:solidFill>
                <a:sym typeface="Wingdings" pitchFamily="2" charset="2"/>
              </a:rPr>
              <a:t> </a:t>
            </a:r>
            <a:br>
              <a:rPr lang="en-US" dirty="0" smtClean="0">
                <a:solidFill>
                  <a:srgbClr val="FF0000"/>
                </a:solidFill>
                <a:sym typeface="Wingdings" pitchFamily="2" charset="2"/>
              </a:rPr>
            </a:br>
            <a:r>
              <a:rPr lang="en-US" dirty="0" smtClean="0">
                <a:solidFill>
                  <a:srgbClr val="FF0000"/>
                </a:solidFill>
                <a:sym typeface="Wingdings" pitchFamily="2" charset="2"/>
              </a:rPr>
              <a:t>	</a:t>
            </a:r>
            <a:r>
              <a:rPr lang="en-US" dirty="0" smtClean="0">
                <a:sym typeface="Wingdings" pitchFamily="2" charset="2"/>
              </a:rPr>
              <a:t>DFA </a:t>
            </a:r>
            <a:r>
              <a:rPr lang="en-US" dirty="0" smtClean="0">
                <a:solidFill>
                  <a:srgbClr val="FF0000"/>
                </a:solidFill>
                <a:sym typeface="Wingdings" pitchFamily="2" charset="2"/>
              </a:rPr>
              <a:t>D</a:t>
            </a:r>
            <a:r>
              <a:rPr lang="en-US" dirty="0" smtClean="0">
                <a:sym typeface="Wingdings" pitchFamily="2" charset="2"/>
              </a:rPr>
              <a:t> with state set</a:t>
            </a:r>
            <a:r>
              <a:rPr lang="en-US" dirty="0" smtClean="0">
                <a:solidFill>
                  <a:srgbClr val="FF0000"/>
                </a:solidFill>
                <a:sym typeface="Wingdings" pitchFamily="2" charset="2"/>
              </a:rPr>
              <a:t> S’</a:t>
            </a:r>
            <a:r>
              <a:rPr lang="en-US" dirty="0" smtClean="0">
                <a:sym typeface="Wingdings" pitchFamily="2" charset="2"/>
              </a:rPr>
              <a:t>, alphabet</a:t>
            </a:r>
            <a:r>
              <a:rPr lang="en-US" dirty="0" smtClean="0">
                <a:solidFill>
                  <a:srgbClr val="FF0000"/>
                </a:solidFill>
                <a:sym typeface="Wingdings" pitchFamily="2" charset="2"/>
              </a:rPr>
              <a:t> </a:t>
            </a:r>
            <a:r>
              <a:rPr lang="en-US" dirty="0" smtClean="0">
                <a:solidFill>
                  <a:srgbClr val="FF0000"/>
                </a:solidFill>
                <a:latin typeface="Symbol" pitchFamily="18" charset="2"/>
                <a:sym typeface="Wingdings" pitchFamily="2" charset="2"/>
              </a:rPr>
              <a:t>S</a:t>
            </a:r>
            <a:r>
              <a:rPr lang="en-US" dirty="0" smtClean="0">
                <a:sym typeface="Wingdings" pitchFamily="2" charset="2"/>
              </a:rPr>
              <a:t>, start states </a:t>
            </a:r>
            <a:br>
              <a:rPr lang="en-US" dirty="0" smtClean="0">
                <a:sym typeface="Wingdings" pitchFamily="2" charset="2"/>
              </a:rPr>
            </a:br>
            <a:r>
              <a:rPr lang="en-US" dirty="0" smtClean="0">
                <a:solidFill>
                  <a:srgbClr val="FF0000"/>
                </a:solidFill>
                <a:sym typeface="Wingdings" pitchFamily="2" charset="2"/>
              </a:rPr>
              <a:t>s</a:t>
            </a:r>
            <a:r>
              <a:rPr lang="en-US" baseline="-25000" dirty="0" smtClean="0">
                <a:solidFill>
                  <a:srgbClr val="FF0000"/>
                </a:solidFill>
                <a:sym typeface="Wingdings" pitchFamily="2" charset="2"/>
              </a:rPr>
              <a:t>0</a:t>
            </a:r>
            <a:r>
              <a:rPr lang="en-US" dirty="0" smtClean="0">
                <a:solidFill>
                  <a:srgbClr val="FF0000"/>
                </a:solidFill>
                <a:sym typeface="Wingdings" pitchFamily="2" charset="2"/>
              </a:rPr>
              <a:t>’ = </a:t>
            </a:r>
            <a:r>
              <a:rPr lang="en-US" dirty="0" smtClean="0">
                <a:solidFill>
                  <a:srgbClr val="FF0000"/>
                </a:solidFill>
                <a:latin typeface="Symbol" pitchFamily="18" charset="2"/>
                <a:sym typeface="Wingdings" pitchFamily="2" charset="2"/>
              </a:rPr>
              <a:t>e</a:t>
            </a:r>
            <a:r>
              <a:rPr lang="en-US" dirty="0" smtClean="0">
                <a:solidFill>
                  <a:srgbClr val="FF0000"/>
                </a:solidFill>
                <a:sym typeface="Wingdings" pitchFamily="2" charset="2"/>
              </a:rPr>
              <a:t>-closure(s</a:t>
            </a:r>
            <a:r>
              <a:rPr lang="en-US" baseline="-25000" dirty="0" smtClean="0">
                <a:solidFill>
                  <a:srgbClr val="FF0000"/>
                </a:solidFill>
                <a:sym typeface="Wingdings" pitchFamily="2" charset="2"/>
              </a:rPr>
              <a:t>0</a:t>
            </a:r>
            <a:r>
              <a:rPr lang="en-US" dirty="0" smtClean="0">
                <a:solidFill>
                  <a:srgbClr val="FF0000"/>
                </a:solidFill>
                <a:sym typeface="Wingdings" pitchFamily="2" charset="2"/>
              </a:rPr>
              <a:t>)</a:t>
            </a:r>
            <a:r>
              <a:rPr lang="en-US" dirty="0" smtClean="0">
                <a:sym typeface="Wingdings" pitchFamily="2" charset="2"/>
              </a:rPr>
              <a:t>, final states </a:t>
            </a:r>
            <a:r>
              <a:rPr lang="en-US" dirty="0" smtClean="0">
                <a:solidFill>
                  <a:srgbClr val="FF0000"/>
                </a:solidFill>
                <a:sym typeface="Wingdings" pitchFamily="2" charset="2"/>
              </a:rPr>
              <a:t>F’</a:t>
            </a:r>
            <a:r>
              <a:rPr lang="en-US" dirty="0" smtClean="0">
                <a:sym typeface="Wingdings" pitchFamily="2" charset="2"/>
              </a:rPr>
              <a:t>, transition table: </a:t>
            </a:r>
            <a:r>
              <a:rPr lang="en-US" dirty="0" smtClean="0">
                <a:solidFill>
                  <a:srgbClr val="FF0000"/>
                </a:solidFill>
                <a:sym typeface="Wingdings" pitchFamily="2" charset="2"/>
              </a:rPr>
              <a:t>S’ x </a:t>
            </a:r>
            <a:r>
              <a:rPr lang="en-US" dirty="0" smtClean="0">
                <a:solidFill>
                  <a:srgbClr val="FF0000"/>
                </a:solidFill>
                <a:latin typeface="Symbol" pitchFamily="18" charset="2"/>
                <a:sym typeface="Wingdings" pitchFamily="2" charset="2"/>
              </a:rPr>
              <a:t>S</a:t>
            </a:r>
            <a:r>
              <a:rPr lang="en-US" dirty="0" smtClean="0">
                <a:solidFill>
                  <a:srgbClr val="FF0000"/>
                </a:solidFill>
                <a:sym typeface="Wingdings" pitchFamily="2" charset="2"/>
              </a:rPr>
              <a:t> </a:t>
            </a:r>
            <a:r>
              <a:rPr lang="en-US" dirty="0" smtClean="0">
                <a:solidFill>
                  <a:srgbClr val="FF0000"/>
                </a:solidFill>
                <a:cs typeface="Arial" charset="0"/>
                <a:sym typeface="Wingdings" pitchFamily="2" charset="2"/>
              </a:rPr>
              <a:t>→</a:t>
            </a:r>
            <a:r>
              <a:rPr lang="en-US" dirty="0" smtClean="0">
                <a:solidFill>
                  <a:srgbClr val="FF0000"/>
                </a:solidFill>
                <a:sym typeface="Wingdings" pitchFamily="2" charset="2"/>
              </a:rPr>
              <a:t> S’</a:t>
            </a:r>
          </a:p>
          <a:p>
            <a:pPr marL="457200" indent="-457200">
              <a:lnSpc>
                <a:spcPct val="85000"/>
              </a:lnSpc>
              <a:defRPr/>
            </a:pPr>
            <a:endParaRPr lang="pt-BR" dirty="0" smtClean="0">
              <a:solidFill>
                <a:srgbClr val="FF0000"/>
              </a:solidFill>
              <a:sym typeface="Wingdings" pitchFamily="2" charset="2"/>
            </a:endParaRPr>
          </a:p>
          <a:p>
            <a:pPr>
              <a:buFont typeface="Arial" pitchFamily="34" charset="0"/>
              <a:buNone/>
              <a:defRPr/>
            </a:pPr>
            <a:r>
              <a:rPr lang="en-US" dirty="0" smtClean="0"/>
              <a:t>// initially, e-closure(s</a:t>
            </a:r>
            <a:r>
              <a:rPr lang="en-US" baseline="-25000" dirty="0" smtClean="0"/>
              <a:t>0</a:t>
            </a:r>
            <a:r>
              <a:rPr lang="en-US" dirty="0" smtClean="0"/>
              <a:t>) is the only state in D states S’ and it is unmarked</a:t>
            </a:r>
          </a:p>
          <a:p>
            <a:pPr>
              <a:buFont typeface="Arial" pitchFamily="34" charset="0"/>
              <a:buNone/>
              <a:defRPr/>
            </a:pPr>
            <a:r>
              <a:rPr lang="en-US" i="1" dirty="0" smtClean="0">
                <a:solidFill>
                  <a:srgbClr val="FF0000"/>
                </a:solidFill>
              </a:rPr>
              <a:t>s</a:t>
            </a:r>
            <a:r>
              <a:rPr lang="en-US" i="1" baseline="-25000" dirty="0" smtClean="0">
                <a:solidFill>
                  <a:srgbClr val="FF0000"/>
                </a:solidFill>
              </a:rPr>
              <a:t>0</a:t>
            </a:r>
            <a:r>
              <a:rPr lang="en-US" i="1" dirty="0" smtClean="0">
                <a:solidFill>
                  <a:srgbClr val="FF0000"/>
                </a:solidFill>
              </a:rPr>
              <a:t>’</a:t>
            </a:r>
            <a:r>
              <a:rPr lang="en-US" dirty="0" smtClean="0">
                <a:solidFill>
                  <a:srgbClr val="FF0000"/>
                </a:solidFill>
              </a:rPr>
              <a:t> = </a:t>
            </a:r>
            <a:r>
              <a:rPr lang="en-US" dirty="0" smtClean="0">
                <a:solidFill>
                  <a:srgbClr val="FF0000"/>
                </a:solidFill>
                <a:latin typeface="Symbol" pitchFamily="18" charset="2"/>
              </a:rPr>
              <a:t>e</a:t>
            </a:r>
            <a:r>
              <a:rPr lang="en-US" dirty="0" smtClean="0">
                <a:solidFill>
                  <a:srgbClr val="FF0000"/>
                </a:solidFill>
              </a:rPr>
              <a:t>-closure(</a:t>
            </a:r>
            <a:r>
              <a:rPr lang="en-US" i="1" dirty="0" smtClean="0">
                <a:solidFill>
                  <a:srgbClr val="FF0000"/>
                </a:solidFill>
              </a:rPr>
              <a:t>s</a:t>
            </a:r>
            <a:r>
              <a:rPr lang="en-US" i="1" baseline="-25000" dirty="0" smtClean="0">
                <a:solidFill>
                  <a:srgbClr val="FF0000"/>
                </a:solidFill>
              </a:rPr>
              <a:t>0</a:t>
            </a:r>
            <a:r>
              <a:rPr lang="en-US" dirty="0" smtClean="0">
                <a:solidFill>
                  <a:srgbClr val="FF0000"/>
                </a:solidFill>
              </a:rPr>
              <a:t>)</a:t>
            </a:r>
          </a:p>
          <a:p>
            <a:pPr>
              <a:buFont typeface="Arial" pitchFamily="34" charset="0"/>
              <a:buNone/>
              <a:defRPr/>
            </a:pPr>
            <a:r>
              <a:rPr lang="en-US" i="1" dirty="0" smtClean="0">
                <a:solidFill>
                  <a:srgbClr val="FF0000"/>
                </a:solidFill>
              </a:rPr>
              <a:t>S’</a:t>
            </a:r>
            <a:r>
              <a:rPr lang="en-US" dirty="0" smtClean="0">
                <a:solidFill>
                  <a:srgbClr val="FF0000"/>
                </a:solidFill>
              </a:rPr>
              <a:t> = {</a:t>
            </a:r>
            <a:r>
              <a:rPr lang="en-US" i="1" dirty="0" smtClean="0">
                <a:solidFill>
                  <a:srgbClr val="FF0000"/>
                </a:solidFill>
              </a:rPr>
              <a:t>s</a:t>
            </a:r>
            <a:r>
              <a:rPr lang="en-US" i="1" baseline="-25000" dirty="0" smtClean="0">
                <a:solidFill>
                  <a:srgbClr val="FF0000"/>
                </a:solidFill>
              </a:rPr>
              <a:t>0</a:t>
            </a:r>
            <a:r>
              <a:rPr lang="en-US" i="1" dirty="0" smtClean="0">
                <a:solidFill>
                  <a:srgbClr val="FF0000"/>
                </a:solidFill>
              </a:rPr>
              <a:t>’ </a:t>
            </a:r>
            <a:r>
              <a:rPr lang="en-US" dirty="0" smtClean="0">
                <a:solidFill>
                  <a:srgbClr val="FF0000"/>
                </a:solidFill>
              </a:rPr>
              <a:t>} (unmarked)</a:t>
            </a:r>
          </a:p>
          <a:p>
            <a:pPr marL="457200" indent="-457200">
              <a:lnSpc>
                <a:spcPct val="85000"/>
              </a:lnSpc>
              <a:defRPr/>
            </a:pPr>
            <a:endParaRPr lang="pt-BR" dirty="0">
              <a:solidFill>
                <a:srgbClr val="FF0000"/>
              </a:solidFill>
              <a:sym typeface="Wingdings" pitchFamily="2" charset="2"/>
            </a:endParaRPr>
          </a:p>
        </p:txBody>
      </p:sp>
    </p:spTree>
  </p:cSld>
  <p:clrMapOvr>
    <a:masterClrMapping/>
  </p:clrMapOv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p:txBody>
          <a:bodyPr/>
          <a:lstStyle/>
          <a:p>
            <a:r>
              <a:rPr lang="en-US" dirty="0" smtClean="0"/>
              <a:t>Subset Construction Algorithm</a:t>
            </a:r>
            <a:endParaRPr lang="en-US" dirty="0"/>
          </a:p>
        </p:txBody>
      </p:sp>
      <p:sp>
        <p:nvSpPr>
          <p:cNvPr id="3" name="Text Placeholder 2"/>
          <p:cNvSpPr>
            <a:spLocks noGrp="1"/>
          </p:cNvSpPr>
          <p:nvPr>
            <p:ph type="body" sz="quarter" idx="11"/>
          </p:nvPr>
        </p:nvSpPr>
        <p:spPr/>
        <p:txBody>
          <a:bodyPr/>
          <a:lstStyle/>
          <a:p>
            <a:endParaRPr lang="en-US"/>
          </a:p>
        </p:txBody>
      </p:sp>
      <p:sp>
        <p:nvSpPr>
          <p:cNvPr id="4" name="Rectangle 3"/>
          <p:cNvSpPr/>
          <p:nvPr/>
        </p:nvSpPr>
        <p:spPr>
          <a:xfrm>
            <a:off x="152400" y="1392778"/>
            <a:ext cx="8763000" cy="3550203"/>
          </a:xfrm>
          <a:prstGeom prst="rect">
            <a:avLst/>
          </a:prstGeom>
        </p:spPr>
        <p:txBody>
          <a:bodyPr wrap="square">
            <a:spAutoFit/>
          </a:bodyPr>
          <a:lstStyle/>
          <a:p>
            <a:pPr>
              <a:lnSpc>
                <a:spcPct val="90000"/>
              </a:lnSpc>
              <a:spcBef>
                <a:spcPct val="15000"/>
              </a:spcBef>
              <a:buFont typeface="Arial" pitchFamily="34" charset="0"/>
              <a:buNone/>
              <a:defRPr/>
            </a:pPr>
            <a:r>
              <a:rPr lang="en-US" sz="1400" i="1" dirty="0" smtClean="0"/>
              <a:t>while</a:t>
            </a:r>
            <a:r>
              <a:rPr lang="en-US" sz="1400" dirty="0" smtClean="0">
                <a:solidFill>
                  <a:srgbClr val="FFFF00"/>
                </a:solidFill>
              </a:rPr>
              <a:t> </a:t>
            </a:r>
            <a:r>
              <a:rPr lang="en-US" sz="1400" dirty="0" smtClean="0">
                <a:solidFill>
                  <a:srgbClr val="FF0000"/>
                </a:solidFill>
              </a:rPr>
              <a:t>there is some unmarked state </a:t>
            </a:r>
            <a:r>
              <a:rPr lang="en-US" sz="1400" i="1" dirty="0" smtClean="0">
                <a:solidFill>
                  <a:srgbClr val="FF0000"/>
                </a:solidFill>
              </a:rPr>
              <a:t>T i</a:t>
            </a:r>
            <a:r>
              <a:rPr lang="en-US" sz="1400" dirty="0" smtClean="0">
                <a:solidFill>
                  <a:srgbClr val="FF0000"/>
                </a:solidFill>
              </a:rPr>
              <a:t>n </a:t>
            </a:r>
            <a:r>
              <a:rPr lang="en-US" sz="1400" i="1" dirty="0" smtClean="0">
                <a:solidFill>
                  <a:srgbClr val="FF0000"/>
                </a:solidFill>
              </a:rPr>
              <a:t>S’</a:t>
            </a:r>
          </a:p>
          <a:p>
            <a:pPr>
              <a:lnSpc>
                <a:spcPct val="90000"/>
              </a:lnSpc>
              <a:spcBef>
                <a:spcPct val="15000"/>
              </a:spcBef>
              <a:buFont typeface="Arial" pitchFamily="34" charset="0"/>
              <a:buNone/>
              <a:defRPr/>
            </a:pPr>
            <a:r>
              <a:rPr lang="en-US" sz="800" dirty="0" smtClean="0">
                <a:solidFill>
                  <a:srgbClr val="FF0000"/>
                </a:solidFill>
              </a:rPr>
              <a:t> </a:t>
            </a:r>
            <a:r>
              <a:rPr lang="en-US" sz="1400" dirty="0" smtClean="0">
                <a:solidFill>
                  <a:srgbClr val="FF0000"/>
                </a:solidFill>
              </a:rPr>
              <a:t> </a:t>
            </a:r>
          </a:p>
          <a:p>
            <a:pPr>
              <a:lnSpc>
                <a:spcPct val="90000"/>
              </a:lnSpc>
              <a:spcBef>
                <a:spcPct val="15000"/>
              </a:spcBef>
              <a:buFont typeface="Arial" pitchFamily="34" charset="0"/>
              <a:buNone/>
              <a:defRPr/>
            </a:pPr>
            <a:r>
              <a:rPr lang="en-US" sz="1400" dirty="0" smtClean="0">
                <a:solidFill>
                  <a:srgbClr val="FF0000"/>
                </a:solidFill>
              </a:rPr>
              <a:t>mark state </a:t>
            </a:r>
            <a:r>
              <a:rPr lang="en-US" sz="1400" i="1" dirty="0" smtClean="0">
                <a:solidFill>
                  <a:srgbClr val="FF0000"/>
                </a:solidFill>
              </a:rPr>
              <a:t>T</a:t>
            </a:r>
          </a:p>
          <a:p>
            <a:pPr>
              <a:lnSpc>
                <a:spcPct val="90000"/>
              </a:lnSpc>
              <a:spcBef>
                <a:spcPct val="15000"/>
              </a:spcBef>
              <a:buFont typeface="Arial" pitchFamily="34" charset="0"/>
              <a:buNone/>
              <a:defRPr/>
            </a:pPr>
            <a:r>
              <a:rPr lang="en-US" sz="1400" dirty="0" smtClean="0">
                <a:solidFill>
                  <a:srgbClr val="FFFF00"/>
                </a:solidFill>
              </a:rPr>
              <a:t>  </a:t>
            </a:r>
            <a:r>
              <a:rPr lang="en-US" sz="1400" i="1" dirty="0" smtClean="0"/>
              <a:t>for</a:t>
            </a:r>
            <a:r>
              <a:rPr lang="en-US" sz="1400" dirty="0" smtClean="0">
                <a:solidFill>
                  <a:srgbClr val="FFFF00"/>
                </a:solidFill>
              </a:rPr>
              <a:t> </a:t>
            </a:r>
            <a:r>
              <a:rPr lang="en-US" sz="1400" dirty="0" smtClean="0">
                <a:solidFill>
                  <a:srgbClr val="FF0000"/>
                </a:solidFill>
              </a:rPr>
              <a:t>all </a:t>
            </a:r>
            <a:r>
              <a:rPr lang="en-US" sz="1400" i="1" dirty="0" smtClean="0">
                <a:solidFill>
                  <a:srgbClr val="FF0000"/>
                </a:solidFill>
              </a:rPr>
              <a:t>a</a:t>
            </a:r>
            <a:r>
              <a:rPr lang="en-US" sz="1400" dirty="0" smtClean="0">
                <a:solidFill>
                  <a:srgbClr val="FF0000"/>
                </a:solidFill>
              </a:rPr>
              <a:t> in </a:t>
            </a:r>
            <a:r>
              <a:rPr lang="en-US" sz="1400" dirty="0" smtClean="0">
                <a:solidFill>
                  <a:srgbClr val="FF0000"/>
                </a:solidFill>
                <a:latin typeface="Symbol" pitchFamily="18" charset="2"/>
              </a:rPr>
              <a:t>S</a:t>
            </a:r>
            <a:r>
              <a:rPr lang="en-US" sz="1400" dirty="0" smtClean="0">
                <a:solidFill>
                  <a:srgbClr val="FF0000"/>
                </a:solidFill>
              </a:rPr>
              <a:t> </a:t>
            </a:r>
            <a:r>
              <a:rPr lang="en-US" sz="1400" i="1" dirty="0" smtClean="0"/>
              <a:t>do</a:t>
            </a:r>
          </a:p>
          <a:p>
            <a:pPr>
              <a:lnSpc>
                <a:spcPct val="90000"/>
              </a:lnSpc>
              <a:spcBef>
                <a:spcPct val="15000"/>
              </a:spcBef>
              <a:buFont typeface="Arial" pitchFamily="34" charset="0"/>
              <a:buNone/>
              <a:defRPr/>
            </a:pPr>
            <a:r>
              <a:rPr lang="en-US" sz="1400" dirty="0" smtClean="0">
                <a:solidFill>
                  <a:srgbClr val="FFFF00"/>
                </a:solidFill>
              </a:rPr>
              <a:t>     </a:t>
            </a:r>
            <a:r>
              <a:rPr lang="en-US" sz="1400" i="1" dirty="0" smtClean="0">
                <a:solidFill>
                  <a:srgbClr val="FF0000"/>
                </a:solidFill>
              </a:rPr>
              <a:t>U</a:t>
            </a:r>
            <a:r>
              <a:rPr lang="en-US" sz="1400" dirty="0" smtClean="0">
                <a:solidFill>
                  <a:srgbClr val="FF0000"/>
                </a:solidFill>
              </a:rPr>
              <a:t> = </a:t>
            </a:r>
            <a:r>
              <a:rPr lang="en-US" sz="1400" dirty="0" smtClean="0">
                <a:solidFill>
                  <a:srgbClr val="FF0000"/>
                </a:solidFill>
                <a:latin typeface="Symbol" pitchFamily="18" charset="2"/>
              </a:rPr>
              <a:t>e</a:t>
            </a:r>
            <a:r>
              <a:rPr lang="en-US" sz="1400" dirty="0" smtClean="0">
                <a:solidFill>
                  <a:srgbClr val="FF0000"/>
                </a:solidFill>
              </a:rPr>
              <a:t>-closure( move(</a:t>
            </a:r>
            <a:r>
              <a:rPr lang="en-US" sz="1400" i="1" dirty="0" err="1" smtClean="0">
                <a:solidFill>
                  <a:srgbClr val="FF0000"/>
                </a:solidFill>
              </a:rPr>
              <a:t>T</a:t>
            </a:r>
            <a:r>
              <a:rPr lang="en-US" sz="1400" dirty="0" err="1" smtClean="0">
                <a:solidFill>
                  <a:srgbClr val="FF0000"/>
                </a:solidFill>
              </a:rPr>
              <a:t>,</a:t>
            </a:r>
            <a:r>
              <a:rPr lang="en-US" sz="1400" i="1" dirty="0" err="1" smtClean="0">
                <a:solidFill>
                  <a:srgbClr val="FF0000"/>
                </a:solidFill>
              </a:rPr>
              <a:t>a</a:t>
            </a:r>
            <a:r>
              <a:rPr lang="en-US" sz="1400" dirty="0" smtClean="0">
                <a:solidFill>
                  <a:srgbClr val="FF0000"/>
                </a:solidFill>
              </a:rPr>
              <a:t>) );</a:t>
            </a:r>
          </a:p>
          <a:p>
            <a:pPr>
              <a:lnSpc>
                <a:spcPct val="90000"/>
              </a:lnSpc>
              <a:spcBef>
                <a:spcPct val="15000"/>
              </a:spcBef>
              <a:buFont typeface="Arial" pitchFamily="34" charset="0"/>
              <a:buNone/>
              <a:defRPr/>
            </a:pPr>
            <a:r>
              <a:rPr lang="en-US" sz="1400" dirty="0" smtClean="0">
                <a:solidFill>
                  <a:srgbClr val="FFFF00"/>
                </a:solidFill>
              </a:rPr>
              <a:t>     </a:t>
            </a:r>
            <a:r>
              <a:rPr lang="en-US" sz="1400" i="1" dirty="0" smtClean="0"/>
              <a:t>if</a:t>
            </a:r>
            <a:r>
              <a:rPr lang="en-US" sz="1400" dirty="0" smtClean="0">
                <a:solidFill>
                  <a:srgbClr val="FFFF00"/>
                </a:solidFill>
              </a:rPr>
              <a:t> </a:t>
            </a:r>
            <a:r>
              <a:rPr lang="en-US" sz="1400" i="1" dirty="0" smtClean="0">
                <a:solidFill>
                  <a:srgbClr val="FF0000"/>
                </a:solidFill>
              </a:rPr>
              <a:t>U</a:t>
            </a:r>
            <a:r>
              <a:rPr lang="en-US" sz="1400" dirty="0" smtClean="0">
                <a:solidFill>
                  <a:srgbClr val="FF0000"/>
                </a:solidFill>
              </a:rPr>
              <a:t> not already in </a:t>
            </a:r>
            <a:r>
              <a:rPr lang="en-US" sz="1400" i="1" dirty="0" smtClean="0">
                <a:solidFill>
                  <a:srgbClr val="FF0000"/>
                </a:solidFill>
              </a:rPr>
              <a:t>S’</a:t>
            </a:r>
          </a:p>
          <a:p>
            <a:pPr>
              <a:lnSpc>
                <a:spcPct val="90000"/>
              </a:lnSpc>
              <a:spcBef>
                <a:spcPct val="15000"/>
              </a:spcBef>
              <a:buFont typeface="Arial" pitchFamily="34" charset="0"/>
              <a:buNone/>
              <a:defRPr/>
            </a:pPr>
            <a:r>
              <a:rPr lang="en-US" sz="1400" dirty="0" smtClean="0">
                <a:solidFill>
                  <a:srgbClr val="FF0000"/>
                </a:solidFill>
              </a:rPr>
              <a:t>        add U as an unmarked state to </a:t>
            </a:r>
            <a:r>
              <a:rPr lang="en-US" sz="1400" i="1" dirty="0" smtClean="0">
                <a:solidFill>
                  <a:srgbClr val="FF0000"/>
                </a:solidFill>
              </a:rPr>
              <a:t>S’</a:t>
            </a:r>
          </a:p>
          <a:p>
            <a:pPr>
              <a:lnSpc>
                <a:spcPct val="90000"/>
              </a:lnSpc>
              <a:spcBef>
                <a:spcPct val="15000"/>
              </a:spcBef>
              <a:buFont typeface="Arial" pitchFamily="34" charset="0"/>
              <a:buNone/>
              <a:defRPr/>
            </a:pPr>
            <a:r>
              <a:rPr lang="en-US" sz="1400" dirty="0" smtClean="0">
                <a:solidFill>
                  <a:srgbClr val="FF0000"/>
                </a:solidFill>
              </a:rPr>
              <a:t>     </a:t>
            </a:r>
            <a:r>
              <a:rPr lang="en-US" sz="1400" dirty="0" err="1" smtClean="0">
                <a:solidFill>
                  <a:srgbClr val="FF0000"/>
                </a:solidFill>
              </a:rPr>
              <a:t>Dtran</a:t>
            </a:r>
            <a:r>
              <a:rPr lang="en-US" sz="1400" dirty="0" smtClean="0">
                <a:solidFill>
                  <a:srgbClr val="FF0000"/>
                </a:solidFill>
              </a:rPr>
              <a:t>(</a:t>
            </a:r>
            <a:r>
              <a:rPr lang="en-US" sz="1400" i="1" dirty="0" err="1" smtClean="0">
                <a:solidFill>
                  <a:srgbClr val="FF0000"/>
                </a:solidFill>
              </a:rPr>
              <a:t>T</a:t>
            </a:r>
            <a:r>
              <a:rPr lang="en-US" sz="1400" dirty="0" err="1" smtClean="0">
                <a:solidFill>
                  <a:srgbClr val="FF0000"/>
                </a:solidFill>
              </a:rPr>
              <a:t>,</a:t>
            </a:r>
            <a:r>
              <a:rPr lang="en-US" sz="1400" i="1" dirty="0" err="1" smtClean="0">
                <a:solidFill>
                  <a:srgbClr val="FF0000"/>
                </a:solidFill>
              </a:rPr>
              <a:t>a</a:t>
            </a:r>
            <a:r>
              <a:rPr lang="en-US" sz="1400" dirty="0" smtClean="0">
                <a:solidFill>
                  <a:srgbClr val="FF0000"/>
                </a:solidFill>
              </a:rPr>
              <a:t>) = </a:t>
            </a:r>
            <a:r>
              <a:rPr lang="en-US" sz="1400" i="1" dirty="0" smtClean="0">
                <a:solidFill>
                  <a:srgbClr val="FF0000"/>
                </a:solidFill>
              </a:rPr>
              <a:t>U</a:t>
            </a:r>
            <a:r>
              <a:rPr lang="en-US" sz="1400" dirty="0" smtClean="0">
                <a:solidFill>
                  <a:srgbClr val="FF0000"/>
                </a:solidFill>
              </a:rPr>
              <a:t>;</a:t>
            </a:r>
          </a:p>
          <a:p>
            <a:pPr>
              <a:lnSpc>
                <a:spcPct val="90000"/>
              </a:lnSpc>
              <a:spcBef>
                <a:spcPct val="15000"/>
              </a:spcBef>
              <a:buFont typeface="Arial" pitchFamily="34" charset="0"/>
              <a:buNone/>
              <a:defRPr/>
            </a:pPr>
            <a:r>
              <a:rPr lang="en-US" sz="1400" dirty="0" smtClean="0">
                <a:solidFill>
                  <a:srgbClr val="FFFF00"/>
                </a:solidFill>
              </a:rPr>
              <a:t>  </a:t>
            </a:r>
            <a:r>
              <a:rPr lang="en-US" sz="1400" i="1" dirty="0" smtClean="0"/>
              <a:t>end for</a:t>
            </a:r>
          </a:p>
          <a:p>
            <a:pPr>
              <a:lnSpc>
                <a:spcPct val="90000"/>
              </a:lnSpc>
              <a:spcBef>
                <a:spcPct val="15000"/>
              </a:spcBef>
              <a:buFont typeface="Arial" pitchFamily="34" charset="0"/>
              <a:buNone/>
              <a:defRPr/>
            </a:pPr>
            <a:r>
              <a:rPr lang="en-US" sz="1400" i="1" dirty="0" smtClean="0"/>
              <a:t>end while</a:t>
            </a:r>
          </a:p>
          <a:p>
            <a:pPr>
              <a:lnSpc>
                <a:spcPct val="85000"/>
              </a:lnSpc>
              <a:defRPr/>
            </a:pPr>
            <a:endParaRPr lang="pt-BR" sz="1400" dirty="0" smtClean="0">
              <a:solidFill>
                <a:srgbClr val="FF0000"/>
              </a:solidFill>
              <a:sym typeface="Wingdings" pitchFamily="2" charset="2"/>
            </a:endParaRPr>
          </a:p>
          <a:p>
            <a:pPr>
              <a:buFont typeface="Arial" pitchFamily="34" charset="0"/>
              <a:buNone/>
              <a:defRPr/>
            </a:pPr>
            <a:r>
              <a:rPr lang="en-US" sz="1400" i="1" dirty="0" smtClean="0">
                <a:solidFill>
                  <a:srgbClr val="FF0000"/>
                </a:solidFill>
              </a:rPr>
              <a:t>F’:</a:t>
            </a:r>
          </a:p>
          <a:p>
            <a:pPr>
              <a:buFont typeface="Arial" pitchFamily="34" charset="0"/>
              <a:buNone/>
              <a:defRPr/>
            </a:pPr>
            <a:r>
              <a:rPr lang="en-US" sz="1400" i="1" dirty="0" smtClean="0"/>
              <a:t>for</a:t>
            </a:r>
            <a:r>
              <a:rPr lang="en-US" sz="1400" dirty="0" smtClean="0"/>
              <a:t> </a:t>
            </a:r>
            <a:r>
              <a:rPr lang="en-US" sz="1400" dirty="0" smtClean="0">
                <a:solidFill>
                  <a:srgbClr val="FF0000"/>
                </a:solidFill>
              </a:rPr>
              <a:t>each DFA state </a:t>
            </a:r>
            <a:r>
              <a:rPr lang="en-US" sz="1400" i="1" dirty="0" smtClean="0">
                <a:solidFill>
                  <a:srgbClr val="FF0000"/>
                </a:solidFill>
              </a:rPr>
              <a:t>S</a:t>
            </a:r>
          </a:p>
          <a:p>
            <a:pPr>
              <a:buFont typeface="Arial" pitchFamily="34" charset="0"/>
              <a:buNone/>
              <a:defRPr/>
            </a:pPr>
            <a:r>
              <a:rPr lang="en-US" sz="1400" dirty="0" smtClean="0">
                <a:solidFill>
                  <a:srgbClr val="FF0000"/>
                </a:solidFill>
              </a:rPr>
              <a:t>  </a:t>
            </a:r>
            <a:r>
              <a:rPr lang="en-US" sz="1400" i="1" dirty="0" smtClean="0">
                <a:solidFill>
                  <a:srgbClr val="FF0000"/>
                </a:solidFill>
              </a:rPr>
              <a:t>if</a:t>
            </a:r>
            <a:r>
              <a:rPr lang="en-US" sz="1400" dirty="0" smtClean="0">
                <a:solidFill>
                  <a:srgbClr val="FF0000"/>
                </a:solidFill>
              </a:rPr>
              <a:t> </a:t>
            </a:r>
            <a:r>
              <a:rPr lang="en-US" sz="1400" i="1" dirty="0" smtClean="0">
                <a:solidFill>
                  <a:srgbClr val="FF0000"/>
                </a:solidFill>
              </a:rPr>
              <a:t>S</a:t>
            </a:r>
            <a:r>
              <a:rPr lang="en-US" sz="1400" dirty="0" smtClean="0">
                <a:solidFill>
                  <a:srgbClr val="FF0000"/>
                </a:solidFill>
              </a:rPr>
              <a:t> contains an NFA final state</a:t>
            </a:r>
          </a:p>
          <a:p>
            <a:pPr>
              <a:buFont typeface="Arial" pitchFamily="34" charset="0"/>
              <a:buNone/>
              <a:defRPr/>
            </a:pPr>
            <a:r>
              <a:rPr lang="en-US" sz="1400" dirty="0" smtClean="0">
                <a:solidFill>
                  <a:srgbClr val="FF0000"/>
                </a:solidFill>
              </a:rPr>
              <a:t>      mark </a:t>
            </a:r>
            <a:r>
              <a:rPr lang="en-US" sz="1400" i="1" dirty="0" smtClean="0">
                <a:solidFill>
                  <a:srgbClr val="FF0000"/>
                </a:solidFill>
              </a:rPr>
              <a:t>S</a:t>
            </a:r>
            <a:r>
              <a:rPr lang="en-US" sz="1400" dirty="0" smtClean="0">
                <a:solidFill>
                  <a:srgbClr val="FF0000"/>
                </a:solidFill>
              </a:rPr>
              <a:t> as DFA final state</a:t>
            </a:r>
          </a:p>
          <a:p>
            <a:pPr>
              <a:lnSpc>
                <a:spcPct val="85000"/>
              </a:lnSpc>
              <a:defRPr/>
            </a:pPr>
            <a:endParaRPr lang="pt-BR" sz="1400" dirty="0">
              <a:solidFill>
                <a:srgbClr val="FF0000"/>
              </a:solidFill>
              <a:sym typeface="Wingdings" pitchFamily="2" charset="2"/>
            </a:endParaRPr>
          </a:p>
        </p:txBody>
      </p:sp>
    </p:spTree>
  </p:cSld>
  <p:clrMapOvr>
    <a:masterClrMapping/>
  </p:clrMapOv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p:txBody>
          <a:bodyPr/>
          <a:lstStyle/>
          <a:p>
            <a:r>
              <a:rPr lang="en-US" dirty="0" smtClean="0"/>
              <a:t>Subset Construction Algorithm</a:t>
            </a:r>
            <a:endParaRPr lang="en-US" dirty="0"/>
          </a:p>
        </p:txBody>
      </p:sp>
      <p:sp>
        <p:nvSpPr>
          <p:cNvPr id="3" name="Text Placeholder 2"/>
          <p:cNvSpPr>
            <a:spLocks noGrp="1"/>
          </p:cNvSpPr>
          <p:nvPr>
            <p:ph type="body" sz="quarter" idx="11"/>
          </p:nvPr>
        </p:nvSpPr>
        <p:spPr/>
        <p:txBody>
          <a:bodyPr/>
          <a:lstStyle/>
          <a:p>
            <a:endParaRPr lang="en-US"/>
          </a:p>
        </p:txBody>
      </p:sp>
      <p:pic>
        <p:nvPicPr>
          <p:cNvPr id="7170" name="Picture 2"/>
          <p:cNvPicPr>
            <a:picLocks noChangeAspect="1" noChangeArrowheads="1"/>
          </p:cNvPicPr>
          <p:nvPr/>
        </p:nvPicPr>
        <p:blipFill>
          <a:blip r:embed="rId2"/>
          <a:srcRect/>
          <a:stretch>
            <a:fillRect/>
          </a:stretch>
        </p:blipFill>
        <p:spPr bwMode="auto">
          <a:xfrm>
            <a:off x="990600" y="1885950"/>
            <a:ext cx="7308026" cy="2667000"/>
          </a:xfrm>
          <a:prstGeom prst="rect">
            <a:avLst/>
          </a:prstGeom>
          <a:noFill/>
          <a:ln w="9525">
            <a:noFill/>
            <a:miter lim="800000"/>
            <a:headEnd/>
            <a:tailEnd/>
          </a:ln>
          <a:effectLst/>
        </p:spPr>
      </p:pic>
      <p:sp>
        <p:nvSpPr>
          <p:cNvPr id="57" name="Rectangle 56"/>
          <p:cNvSpPr/>
          <p:nvPr/>
        </p:nvSpPr>
        <p:spPr>
          <a:xfrm>
            <a:off x="3352800" y="1352550"/>
            <a:ext cx="2185342" cy="369332"/>
          </a:xfrm>
          <a:prstGeom prst="rect">
            <a:avLst/>
          </a:prstGeom>
        </p:spPr>
        <p:txBody>
          <a:bodyPr wrap="none">
            <a:spAutoFit/>
          </a:bodyPr>
          <a:lstStyle/>
          <a:p>
            <a:r>
              <a:rPr lang="en-US" dirty="0" smtClean="0">
                <a:solidFill>
                  <a:schemeClr val="tx1">
                    <a:lumMod val="75000"/>
                    <a:lumOff val="25000"/>
                  </a:schemeClr>
                </a:solidFill>
              </a:rPr>
              <a:t>NFA N for (alb)*</a:t>
            </a:r>
            <a:r>
              <a:rPr lang="en-US" dirty="0" err="1" smtClean="0">
                <a:solidFill>
                  <a:schemeClr val="tx1">
                    <a:lumMod val="75000"/>
                    <a:lumOff val="25000"/>
                  </a:schemeClr>
                </a:solidFill>
              </a:rPr>
              <a:t>abb</a:t>
            </a:r>
            <a:endParaRPr lang="en-US" dirty="0">
              <a:solidFill>
                <a:schemeClr val="tx1">
                  <a:lumMod val="75000"/>
                  <a:lumOff val="25000"/>
                </a:schemeClr>
              </a:solidFill>
            </a:endParaRPr>
          </a:p>
        </p:txBody>
      </p:sp>
    </p:spTree>
  </p:cSld>
  <p:clrMapOvr>
    <a:masterClrMapping/>
  </p:clrMapOv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p:txBody>
          <a:bodyPr/>
          <a:lstStyle/>
          <a:p>
            <a:r>
              <a:rPr lang="en-US" dirty="0" smtClean="0"/>
              <a:t>Subset Construction Algorithm</a:t>
            </a:r>
            <a:endParaRPr lang="en-US" dirty="0"/>
          </a:p>
        </p:txBody>
      </p:sp>
      <p:sp>
        <p:nvSpPr>
          <p:cNvPr id="3" name="Text Placeholder 2"/>
          <p:cNvSpPr>
            <a:spLocks noGrp="1"/>
          </p:cNvSpPr>
          <p:nvPr>
            <p:ph type="body" sz="quarter" idx="11"/>
          </p:nvPr>
        </p:nvSpPr>
        <p:spPr/>
        <p:txBody>
          <a:bodyPr/>
          <a:lstStyle/>
          <a:p>
            <a:endParaRPr lang="en-US"/>
          </a:p>
        </p:txBody>
      </p:sp>
      <p:pic>
        <p:nvPicPr>
          <p:cNvPr id="8194" name="Picture 2"/>
          <p:cNvPicPr>
            <a:picLocks noChangeAspect="1" noChangeArrowheads="1"/>
          </p:cNvPicPr>
          <p:nvPr/>
        </p:nvPicPr>
        <p:blipFill>
          <a:blip r:embed="rId2"/>
          <a:srcRect/>
          <a:stretch>
            <a:fillRect/>
          </a:stretch>
        </p:blipFill>
        <p:spPr bwMode="auto">
          <a:xfrm>
            <a:off x="609600" y="1758655"/>
            <a:ext cx="8229600" cy="2337095"/>
          </a:xfrm>
          <a:prstGeom prst="rect">
            <a:avLst/>
          </a:prstGeom>
          <a:noFill/>
          <a:ln w="9525">
            <a:noFill/>
            <a:miter lim="800000"/>
            <a:headEnd/>
            <a:tailEnd/>
          </a:ln>
          <a:effectLst/>
        </p:spPr>
      </p:pic>
    </p:spTree>
  </p:cSld>
  <p:clrMapOvr>
    <a:masterClrMapping/>
  </p:clrMapOv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p:txBody>
          <a:bodyPr/>
          <a:lstStyle/>
          <a:p>
            <a:r>
              <a:rPr lang="en-US" dirty="0" smtClean="0"/>
              <a:t>Subset Construction Algorithm</a:t>
            </a:r>
            <a:endParaRPr lang="en-US" dirty="0"/>
          </a:p>
        </p:txBody>
      </p:sp>
      <p:sp>
        <p:nvSpPr>
          <p:cNvPr id="3" name="Text Placeholder 2"/>
          <p:cNvSpPr>
            <a:spLocks noGrp="1"/>
          </p:cNvSpPr>
          <p:nvPr>
            <p:ph type="body" sz="quarter" idx="11"/>
          </p:nvPr>
        </p:nvSpPr>
        <p:spPr/>
        <p:txBody>
          <a:bodyPr/>
          <a:lstStyle/>
          <a:p>
            <a:r>
              <a:rPr lang="en-US" dirty="0" smtClean="0"/>
              <a:t>Transition table </a:t>
            </a:r>
            <a:r>
              <a:rPr lang="en-US" dirty="0" err="1" smtClean="0"/>
              <a:t>Dtran</a:t>
            </a:r>
            <a:r>
              <a:rPr lang="en-US" dirty="0" smtClean="0"/>
              <a:t> for DFA D</a:t>
            </a:r>
            <a:endParaRPr lang="en-US" dirty="0"/>
          </a:p>
        </p:txBody>
      </p:sp>
      <p:pic>
        <p:nvPicPr>
          <p:cNvPr id="9218" name="Picture 2"/>
          <p:cNvPicPr>
            <a:picLocks noChangeAspect="1" noChangeArrowheads="1"/>
          </p:cNvPicPr>
          <p:nvPr/>
        </p:nvPicPr>
        <p:blipFill>
          <a:blip r:embed="rId2"/>
          <a:srcRect/>
          <a:stretch>
            <a:fillRect/>
          </a:stretch>
        </p:blipFill>
        <p:spPr bwMode="auto">
          <a:xfrm>
            <a:off x="1066800" y="1581150"/>
            <a:ext cx="7610347" cy="2619375"/>
          </a:xfrm>
          <a:prstGeom prst="rect">
            <a:avLst/>
          </a:prstGeom>
          <a:noFill/>
          <a:ln w="9525">
            <a:noFill/>
            <a:miter lim="800000"/>
            <a:headEnd/>
            <a:tailEnd/>
          </a:ln>
          <a:effectLst/>
        </p:spPr>
      </p:pic>
    </p:spTree>
  </p:cSld>
  <p:clrMapOvr>
    <a:masterClrMapping/>
  </p:clrMapOv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43000" y="2086172"/>
            <a:ext cx="6172200" cy="548879"/>
          </a:xfrm>
        </p:spPr>
        <p:txBody>
          <a:bodyPr/>
          <a:lstStyle/>
          <a:p>
            <a:r>
              <a:rPr lang="en-US" sz="2700" dirty="0">
                <a:solidFill>
                  <a:srgbClr val="003366"/>
                </a:solidFill>
              </a:rPr>
              <a:t>UNIT </a:t>
            </a:r>
            <a:r>
              <a:rPr lang="en-US" sz="2700" dirty="0" smtClean="0">
                <a:solidFill>
                  <a:srgbClr val="003366"/>
                </a:solidFill>
              </a:rPr>
              <a:t>5.3</a:t>
            </a:r>
            <a:endParaRPr lang="en-US" sz="2700" dirty="0">
              <a:solidFill>
                <a:srgbClr val="003366"/>
              </a:solidFill>
            </a:endParaRPr>
          </a:p>
        </p:txBody>
      </p:sp>
      <p:sp>
        <p:nvSpPr>
          <p:cNvPr id="4" name="Slide Number Placeholder 3"/>
          <p:cNvSpPr>
            <a:spLocks noGrp="1"/>
          </p:cNvSpPr>
          <p:nvPr>
            <p:ph type="sldNum" sz="quarter" idx="12"/>
          </p:nvPr>
        </p:nvSpPr>
        <p:spPr/>
        <p:txBody>
          <a:bodyPr/>
          <a:lstStyle/>
          <a:p>
            <a:fld id="{4192AEF6-A042-4DA6-A3E1-F04AAE1E3944}" type="slidenum">
              <a:rPr lang="en-US" smtClean="0"/>
              <a:pPr/>
              <a:t>20</a:t>
            </a:fld>
            <a:endParaRPr lang="en-US"/>
          </a:p>
        </p:txBody>
      </p:sp>
      <p:sp>
        <p:nvSpPr>
          <p:cNvPr id="5" name="TextBox 4"/>
          <p:cNvSpPr txBox="1"/>
          <p:nvPr/>
        </p:nvSpPr>
        <p:spPr>
          <a:xfrm>
            <a:off x="3048000" y="2800350"/>
            <a:ext cx="3829050" cy="369332"/>
          </a:xfrm>
          <a:prstGeom prst="rect">
            <a:avLst/>
          </a:prstGeom>
          <a:noFill/>
        </p:spPr>
        <p:txBody>
          <a:bodyPr wrap="square" rtlCol="0">
            <a:spAutoFit/>
          </a:bodyPr>
          <a:lstStyle/>
          <a:p>
            <a:pPr lvl="1">
              <a:defRPr/>
            </a:pPr>
            <a:r>
              <a:rPr lang="en-US" dirty="0"/>
              <a:t>Simulations</a:t>
            </a:r>
            <a:endParaRPr lang="en-US" sz="1350" dirty="0"/>
          </a:p>
        </p:txBody>
      </p:sp>
      <p:sp>
        <p:nvSpPr>
          <p:cNvPr id="6" name="TextBox 5"/>
          <p:cNvSpPr txBox="1"/>
          <p:nvPr/>
        </p:nvSpPr>
        <p:spPr>
          <a:xfrm>
            <a:off x="6972300" y="1"/>
            <a:ext cx="1543050" cy="219291"/>
          </a:xfrm>
          <a:prstGeom prst="rect">
            <a:avLst/>
          </a:prstGeom>
          <a:noFill/>
        </p:spPr>
        <p:txBody>
          <a:bodyPr wrap="square" rtlCol="0">
            <a:spAutoFit/>
          </a:bodyPr>
          <a:lstStyle/>
          <a:p>
            <a:r>
              <a:rPr lang="en-US" sz="825" b="1" dirty="0">
                <a:solidFill>
                  <a:schemeClr val="bg1"/>
                </a:solidFill>
                <a:hlinkClick r:id="rId2" action="ppaction://hlinksldjump"/>
              </a:rPr>
              <a:t>Home</a:t>
            </a:r>
            <a:endParaRPr lang="en-US" sz="825" b="1" dirty="0">
              <a:solidFill>
                <a:schemeClr val="bg1"/>
              </a:solidFill>
            </a:endParaRPr>
          </a:p>
        </p:txBody>
      </p:sp>
    </p:spTree>
    <p:extLst>
      <p:ext uri="{BB962C8B-B14F-4D97-AF65-F5344CB8AC3E}">
        <p14:creationId xmlns:p14="http://schemas.microsoft.com/office/powerpoint/2010/main" val="3201564174"/>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3" name="Content Placeholder 2"/>
          <p:cNvSpPr>
            <a:spLocks noGrp="1"/>
          </p:cNvSpPr>
          <p:nvPr>
            <p:ph idx="1"/>
          </p:nvPr>
        </p:nvSpPr>
        <p:spPr>
          <a:xfrm>
            <a:off x="133350" y="914400"/>
            <a:ext cx="8553450" cy="3771900"/>
          </a:xfrm>
        </p:spPr>
        <p:txBody>
          <a:bodyPr/>
          <a:lstStyle/>
          <a:p>
            <a:pPr algn="just"/>
            <a:r>
              <a:rPr lang="en-US" altLang="en-US" sz="2400" dirty="0" smtClean="0"/>
              <a:t>A strategy that has been used in a number of text-editing programs is to </a:t>
            </a:r>
            <a:r>
              <a:rPr lang="en-US" altLang="en-US" sz="2400" dirty="0" smtClean="0">
                <a:solidFill>
                  <a:srgbClr val="0070C0"/>
                </a:solidFill>
              </a:rPr>
              <a:t>construct an NFA from a regular expression</a:t>
            </a:r>
            <a:r>
              <a:rPr lang="en-US" altLang="en-US" sz="2400" dirty="0" smtClean="0"/>
              <a:t> and then simulate the NFA.</a:t>
            </a:r>
          </a:p>
        </p:txBody>
      </p:sp>
      <p:pic>
        <p:nvPicPr>
          <p:cNvPr id="97285" name="Picture 2"/>
          <p:cNvPicPr>
            <a:picLocks noChangeAspect="1" noChangeArrowheads="1"/>
          </p:cNvPicPr>
          <p:nvPr/>
        </p:nvPicPr>
        <p:blipFill>
          <a:blip r:embed="rId3"/>
          <a:srcRect/>
          <a:stretch>
            <a:fillRect/>
          </a:stretch>
        </p:blipFill>
        <p:spPr bwMode="auto">
          <a:xfrm>
            <a:off x="457201" y="2508648"/>
            <a:ext cx="7889875" cy="806053"/>
          </a:xfrm>
          <a:prstGeom prst="rect">
            <a:avLst/>
          </a:prstGeom>
          <a:noFill/>
          <a:ln w="9525">
            <a:noFill/>
            <a:miter lim="800000"/>
            <a:headEnd/>
            <a:tailEnd/>
          </a:ln>
        </p:spPr>
      </p:pic>
      <p:pic>
        <p:nvPicPr>
          <p:cNvPr id="97286" name="Picture 7" descr="Lec12-01.PNG"/>
          <p:cNvPicPr>
            <a:picLocks noChangeAspect="1"/>
          </p:cNvPicPr>
          <p:nvPr/>
        </p:nvPicPr>
        <p:blipFill>
          <a:blip r:embed="rId4"/>
          <a:srcRect/>
          <a:stretch>
            <a:fillRect/>
          </a:stretch>
        </p:blipFill>
        <p:spPr bwMode="auto">
          <a:xfrm>
            <a:off x="442914" y="3371850"/>
            <a:ext cx="8313737" cy="971550"/>
          </a:xfrm>
          <a:prstGeom prst="rect">
            <a:avLst/>
          </a:prstGeom>
          <a:noFill/>
          <a:ln w="9525">
            <a:noFill/>
            <a:miter lim="800000"/>
            <a:headEnd/>
            <a:tailEnd/>
          </a:ln>
        </p:spPr>
      </p:pic>
      <p:sp>
        <p:nvSpPr>
          <p:cNvPr id="7" name="Text Placeholder 1"/>
          <p:cNvSpPr txBox="1">
            <a:spLocks/>
          </p:cNvSpPr>
          <p:nvPr/>
        </p:nvSpPr>
        <p:spPr>
          <a:xfrm>
            <a:off x="0" y="483518"/>
            <a:ext cx="9144000" cy="576064"/>
          </a:xfrm>
          <a:prstGeom prst="rect">
            <a:avLst/>
          </a:prstGeom>
        </p:spPr>
        <p:txBody>
          <a:bodyPr/>
          <a:lstStyle/>
          <a:p>
            <a:pPr lvl="0" algn="ctr"/>
            <a:r>
              <a:rPr lang="en-US" sz="3600" spc="-10" dirty="0" smtClean="0">
                <a:solidFill>
                  <a:schemeClr val="tx1">
                    <a:lumMod val="75000"/>
                    <a:lumOff val="25000"/>
                  </a:schemeClr>
                </a:solidFill>
              </a:rPr>
              <a:t>Simulation of an NFA</a:t>
            </a:r>
            <a:endParaRPr kumimoji="0" lang="en-US" sz="3600" b="0" i="0" u="none" strike="noStrike" kern="1200" cap="none" spc="0" normalizeH="0" baseline="0" noProof="0" dirty="0">
              <a:ln>
                <a:noFill/>
              </a:ln>
              <a:solidFill>
                <a:schemeClr val="tx1">
                  <a:lumMod val="75000"/>
                  <a:lumOff val="25000"/>
                </a:schemeClr>
              </a:solidFill>
              <a:effectLst/>
              <a:uLnTx/>
              <a:uFillTx/>
              <a:latin typeface="+mn-lt"/>
              <a:ea typeface="+mn-ea"/>
              <a:cs typeface="+mn-cs"/>
            </a:endParaRPr>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1" name="Content Placeholder 2"/>
          <p:cNvSpPr>
            <a:spLocks noGrp="1"/>
          </p:cNvSpPr>
          <p:nvPr>
            <p:ph idx="1"/>
          </p:nvPr>
        </p:nvSpPr>
        <p:spPr>
          <a:xfrm>
            <a:off x="295275" y="914400"/>
            <a:ext cx="8553450" cy="3771900"/>
          </a:xfrm>
        </p:spPr>
        <p:txBody>
          <a:bodyPr/>
          <a:lstStyle/>
          <a:p>
            <a:r>
              <a:rPr lang="en-US" altLang="en-US" b="1" dirty="0" smtClean="0">
                <a:solidFill>
                  <a:schemeClr val="tx1">
                    <a:lumMod val="75000"/>
                    <a:lumOff val="25000"/>
                  </a:schemeClr>
                </a:solidFill>
              </a:rPr>
              <a:t>Algorithm:</a:t>
            </a:r>
          </a:p>
          <a:p>
            <a:endParaRPr lang="en-US" altLang="en-US" dirty="0" smtClean="0">
              <a:solidFill>
                <a:schemeClr val="tx1">
                  <a:lumMod val="75000"/>
                  <a:lumOff val="25000"/>
                </a:schemeClr>
              </a:solidFill>
            </a:endParaRPr>
          </a:p>
        </p:txBody>
      </p:sp>
      <p:pic>
        <p:nvPicPr>
          <p:cNvPr id="99333" name="Picture 2"/>
          <p:cNvPicPr>
            <a:picLocks noChangeAspect="1" noChangeArrowheads="1"/>
          </p:cNvPicPr>
          <p:nvPr/>
        </p:nvPicPr>
        <p:blipFill>
          <a:blip r:embed="rId3"/>
          <a:srcRect/>
          <a:stretch>
            <a:fillRect/>
          </a:stretch>
        </p:blipFill>
        <p:spPr bwMode="auto">
          <a:xfrm>
            <a:off x="1524001" y="1543050"/>
            <a:ext cx="6246813" cy="2800350"/>
          </a:xfrm>
          <a:prstGeom prst="rect">
            <a:avLst/>
          </a:prstGeom>
          <a:noFill/>
          <a:ln w="9525">
            <a:noFill/>
            <a:miter lim="800000"/>
            <a:headEnd/>
            <a:tailEnd/>
          </a:ln>
        </p:spPr>
      </p:pic>
      <p:sp>
        <p:nvSpPr>
          <p:cNvPr id="6" name="Text Placeholder 1"/>
          <p:cNvSpPr txBox="1">
            <a:spLocks/>
          </p:cNvSpPr>
          <p:nvPr/>
        </p:nvSpPr>
        <p:spPr>
          <a:xfrm>
            <a:off x="0" y="483518"/>
            <a:ext cx="9144000" cy="576064"/>
          </a:xfrm>
          <a:prstGeom prst="rect">
            <a:avLst/>
          </a:prstGeom>
        </p:spPr>
        <p:txBody>
          <a:bodyPr/>
          <a:lstStyle/>
          <a:p>
            <a:pPr lvl="0" algn="ctr"/>
            <a:r>
              <a:rPr lang="en-US" sz="3600" spc="-10" dirty="0" smtClean="0">
                <a:solidFill>
                  <a:schemeClr val="tx1">
                    <a:lumMod val="75000"/>
                    <a:lumOff val="25000"/>
                  </a:schemeClr>
                </a:solidFill>
              </a:rPr>
              <a:t>Simulation of an NFA</a:t>
            </a:r>
            <a:endParaRPr kumimoji="0" lang="en-US" sz="3600" b="0" i="0" u="none" strike="noStrike" kern="1200" cap="none" spc="0" normalizeH="0" baseline="0" noProof="0" dirty="0">
              <a:ln>
                <a:noFill/>
              </a:ln>
              <a:solidFill>
                <a:schemeClr val="tx1">
                  <a:lumMod val="75000"/>
                  <a:lumOff val="25000"/>
                </a:schemeClr>
              </a:solidFill>
              <a:effectLst/>
              <a:uLnTx/>
              <a:uFillTx/>
              <a:latin typeface="+mn-lt"/>
              <a:ea typeface="+mn-ea"/>
              <a:cs typeface="+mn-cs"/>
            </a:endParaRPr>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95275" y="914400"/>
            <a:ext cx="8553450" cy="3771900"/>
          </a:xfrm>
        </p:spPr>
        <p:txBody>
          <a:bodyPr>
            <a:normAutofit fontScale="77500" lnSpcReduction="20000"/>
          </a:bodyPr>
          <a:lstStyle/>
          <a:p>
            <a:pPr>
              <a:defRPr/>
            </a:pPr>
            <a:endParaRPr lang="en-US" dirty="0" smtClean="0">
              <a:solidFill>
                <a:schemeClr val="tx1">
                  <a:lumMod val="75000"/>
                  <a:lumOff val="25000"/>
                </a:schemeClr>
              </a:solidFill>
            </a:endParaRPr>
          </a:p>
          <a:p>
            <a:pPr>
              <a:defRPr/>
            </a:pPr>
            <a:r>
              <a:rPr lang="en-US" dirty="0" smtClean="0">
                <a:solidFill>
                  <a:schemeClr val="tx1">
                    <a:lumMod val="75000"/>
                    <a:lumOff val="25000"/>
                  </a:schemeClr>
                </a:solidFill>
              </a:rPr>
              <a:t>Its components are:</a:t>
            </a:r>
          </a:p>
          <a:p>
            <a:pPr>
              <a:defRPr/>
            </a:pPr>
            <a:endParaRPr lang="en-US" dirty="0" smtClean="0">
              <a:solidFill>
                <a:schemeClr val="tx1">
                  <a:lumMod val="75000"/>
                  <a:lumOff val="25000"/>
                </a:schemeClr>
              </a:solidFill>
            </a:endParaRPr>
          </a:p>
          <a:p>
            <a:pPr lvl="1">
              <a:buFont typeface="Arial" pitchFamily="34" charset="0"/>
              <a:buChar char="•"/>
              <a:defRPr/>
            </a:pPr>
            <a:r>
              <a:rPr lang="en-US" dirty="0" smtClean="0">
                <a:solidFill>
                  <a:schemeClr val="tx1">
                    <a:lumMod val="75000"/>
                    <a:lumOff val="25000"/>
                  </a:schemeClr>
                </a:solidFill>
              </a:rPr>
              <a:t>A transition table for the automaton.</a:t>
            </a:r>
          </a:p>
          <a:p>
            <a:pPr lvl="1">
              <a:buFont typeface="Arial" pitchFamily="34" charset="0"/>
              <a:buChar char="•"/>
              <a:defRPr/>
            </a:pPr>
            <a:endParaRPr lang="en-US" dirty="0" smtClean="0">
              <a:solidFill>
                <a:schemeClr val="tx1">
                  <a:lumMod val="75000"/>
                  <a:lumOff val="25000"/>
                </a:schemeClr>
              </a:solidFill>
            </a:endParaRPr>
          </a:p>
          <a:p>
            <a:pPr lvl="1">
              <a:buFont typeface="Arial" pitchFamily="34" charset="0"/>
              <a:buChar char="•"/>
              <a:defRPr/>
            </a:pPr>
            <a:r>
              <a:rPr lang="en-US" dirty="0" smtClean="0">
                <a:solidFill>
                  <a:schemeClr val="tx1">
                    <a:lumMod val="75000"/>
                    <a:lumOff val="25000"/>
                  </a:schemeClr>
                </a:solidFill>
              </a:rPr>
              <a:t>Functions that are passed directly through </a:t>
            </a:r>
            <a:r>
              <a:rPr lang="en-US" dirty="0" err="1" smtClean="0">
                <a:solidFill>
                  <a:schemeClr val="tx1">
                    <a:lumMod val="75000"/>
                    <a:lumOff val="25000"/>
                  </a:schemeClr>
                </a:solidFill>
              </a:rPr>
              <a:t>Lex</a:t>
            </a:r>
            <a:r>
              <a:rPr lang="en-US" dirty="0" smtClean="0">
                <a:solidFill>
                  <a:schemeClr val="tx1">
                    <a:lumMod val="75000"/>
                    <a:lumOff val="25000"/>
                  </a:schemeClr>
                </a:solidFill>
              </a:rPr>
              <a:t> to the output.</a:t>
            </a:r>
          </a:p>
          <a:p>
            <a:pPr lvl="1">
              <a:buFont typeface="Arial" pitchFamily="34" charset="0"/>
              <a:buChar char="•"/>
              <a:defRPr/>
            </a:pPr>
            <a:endParaRPr lang="en-US" dirty="0" smtClean="0">
              <a:solidFill>
                <a:schemeClr val="tx1">
                  <a:lumMod val="75000"/>
                  <a:lumOff val="25000"/>
                </a:schemeClr>
              </a:solidFill>
            </a:endParaRPr>
          </a:p>
          <a:p>
            <a:pPr lvl="1">
              <a:buFont typeface="Arial" pitchFamily="34" charset="0"/>
              <a:buChar char="•"/>
              <a:defRPr/>
            </a:pPr>
            <a:r>
              <a:rPr lang="en-US" dirty="0" smtClean="0">
                <a:solidFill>
                  <a:schemeClr val="tx1">
                    <a:lumMod val="75000"/>
                    <a:lumOff val="25000"/>
                  </a:schemeClr>
                </a:solidFill>
              </a:rPr>
              <a:t>The actions from the input program, which appear as fragments of code to be invoked by the automaton simulator.</a:t>
            </a:r>
          </a:p>
        </p:txBody>
      </p:sp>
      <p:sp>
        <p:nvSpPr>
          <p:cNvPr id="5" name="Text Placeholder 1"/>
          <p:cNvSpPr txBox="1">
            <a:spLocks/>
          </p:cNvSpPr>
          <p:nvPr/>
        </p:nvSpPr>
        <p:spPr>
          <a:xfrm>
            <a:off x="0" y="483518"/>
            <a:ext cx="9144000" cy="576064"/>
          </a:xfrm>
          <a:prstGeom prst="rect">
            <a:avLst/>
          </a:prstGeom>
        </p:spPr>
        <p:txBody>
          <a:bodyPr/>
          <a:lstStyle/>
          <a:p>
            <a:pPr lvl="0" algn="ctr"/>
            <a:r>
              <a:rPr lang="en-US" sz="3600" spc="-10" dirty="0" smtClean="0">
                <a:solidFill>
                  <a:schemeClr val="tx1">
                    <a:lumMod val="75000"/>
                    <a:lumOff val="25000"/>
                  </a:schemeClr>
                </a:solidFill>
              </a:rPr>
              <a:t>Structure of the Generated Analyzer</a:t>
            </a:r>
            <a:endParaRPr kumimoji="0" lang="en-US" sz="3600" b="0" i="0" u="none" strike="noStrike" kern="1200" cap="none" spc="0" normalizeH="0" baseline="0" noProof="0" dirty="0">
              <a:ln>
                <a:noFill/>
              </a:ln>
              <a:solidFill>
                <a:schemeClr val="tx1">
                  <a:lumMod val="75000"/>
                  <a:lumOff val="25000"/>
                </a:schemeClr>
              </a:solidFill>
              <a:effectLst/>
              <a:uLnTx/>
              <a:uFillTx/>
              <a:latin typeface="+mn-lt"/>
              <a:ea typeface="+mn-ea"/>
              <a:cs typeface="+mn-cs"/>
            </a:endParaRPr>
          </a:p>
        </p:txBody>
      </p:sp>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7" name="Content Placeholder 2"/>
          <p:cNvSpPr>
            <a:spLocks noGrp="1"/>
          </p:cNvSpPr>
          <p:nvPr>
            <p:ph idx="1"/>
          </p:nvPr>
        </p:nvSpPr>
        <p:spPr>
          <a:xfrm>
            <a:off x="295275" y="914400"/>
            <a:ext cx="8553450" cy="3771900"/>
          </a:xfrm>
        </p:spPr>
        <p:txBody>
          <a:bodyPr/>
          <a:lstStyle/>
          <a:p>
            <a:endParaRPr lang="en-US" altLang="en-US" sz="2000" dirty="0" smtClean="0">
              <a:solidFill>
                <a:schemeClr val="tx1">
                  <a:lumMod val="75000"/>
                  <a:lumOff val="25000"/>
                </a:schemeClr>
              </a:solidFill>
            </a:endParaRPr>
          </a:p>
          <a:p>
            <a:r>
              <a:rPr lang="en-US" altLang="en-US" sz="2000" b="1" dirty="0" smtClean="0">
                <a:solidFill>
                  <a:schemeClr val="tx1">
                    <a:lumMod val="75000"/>
                    <a:lumOff val="25000"/>
                  </a:schemeClr>
                </a:solidFill>
              </a:rPr>
              <a:t>Architecture of a lexical analyzer generated by </a:t>
            </a:r>
            <a:r>
              <a:rPr lang="en-US" altLang="en-US" sz="2000" b="1" dirty="0" err="1" smtClean="0">
                <a:solidFill>
                  <a:schemeClr val="tx1">
                    <a:lumMod val="75000"/>
                    <a:lumOff val="25000"/>
                  </a:schemeClr>
                </a:solidFill>
              </a:rPr>
              <a:t>Lex</a:t>
            </a:r>
            <a:r>
              <a:rPr lang="en-US" altLang="en-US" sz="2000" b="1" dirty="0" smtClean="0">
                <a:solidFill>
                  <a:schemeClr val="tx1">
                    <a:lumMod val="75000"/>
                    <a:lumOff val="25000"/>
                  </a:schemeClr>
                </a:solidFill>
              </a:rPr>
              <a:t>.</a:t>
            </a:r>
          </a:p>
        </p:txBody>
      </p:sp>
      <p:pic>
        <p:nvPicPr>
          <p:cNvPr id="103429" name="Picture 3"/>
          <p:cNvPicPr>
            <a:picLocks noChangeAspect="1" noChangeArrowheads="1"/>
          </p:cNvPicPr>
          <p:nvPr/>
        </p:nvPicPr>
        <p:blipFill>
          <a:blip r:embed="rId3"/>
          <a:srcRect/>
          <a:stretch>
            <a:fillRect/>
          </a:stretch>
        </p:blipFill>
        <p:spPr bwMode="auto">
          <a:xfrm>
            <a:off x="1447801" y="1828800"/>
            <a:ext cx="5029199" cy="2523751"/>
          </a:xfrm>
          <a:prstGeom prst="rect">
            <a:avLst/>
          </a:prstGeom>
          <a:noFill/>
          <a:ln w="9525">
            <a:noFill/>
            <a:miter lim="800000"/>
            <a:headEnd/>
            <a:tailEnd/>
          </a:ln>
        </p:spPr>
      </p:pic>
      <p:sp>
        <p:nvSpPr>
          <p:cNvPr id="7" name="Text Placeholder 1"/>
          <p:cNvSpPr txBox="1">
            <a:spLocks/>
          </p:cNvSpPr>
          <p:nvPr/>
        </p:nvSpPr>
        <p:spPr>
          <a:xfrm>
            <a:off x="0" y="483518"/>
            <a:ext cx="9144000" cy="576064"/>
          </a:xfrm>
          <a:prstGeom prst="rect">
            <a:avLst/>
          </a:prstGeom>
        </p:spPr>
        <p:txBody>
          <a:bodyPr/>
          <a:lstStyle/>
          <a:p>
            <a:pPr lvl="0" algn="ctr"/>
            <a:r>
              <a:rPr lang="en-US" sz="3600" spc="-10" dirty="0" smtClean="0">
                <a:solidFill>
                  <a:schemeClr val="tx1">
                    <a:lumMod val="75000"/>
                    <a:lumOff val="25000"/>
                  </a:schemeClr>
                </a:solidFill>
              </a:rPr>
              <a:t>Structure of the Generated Analyzer</a:t>
            </a:r>
            <a:endParaRPr kumimoji="0" lang="en-US" sz="3600" b="0" i="0" u="none" strike="noStrike" kern="1200" cap="none" spc="0" normalizeH="0" baseline="0" noProof="0" dirty="0">
              <a:ln>
                <a:noFill/>
              </a:ln>
              <a:solidFill>
                <a:schemeClr val="tx1">
                  <a:lumMod val="75000"/>
                  <a:lumOff val="25000"/>
                </a:schemeClr>
              </a:solidFill>
              <a:effectLst/>
              <a:uLnTx/>
              <a:uFillTx/>
              <a:latin typeface="+mn-lt"/>
              <a:ea typeface="+mn-ea"/>
              <a:cs typeface="+mn-cs"/>
            </a:endParaRPr>
          </a:p>
        </p:txBody>
      </p:sp>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95275" y="914400"/>
            <a:ext cx="8553450" cy="3771900"/>
          </a:xfrm>
        </p:spPr>
        <p:txBody>
          <a:bodyPr>
            <a:noAutofit/>
          </a:bodyPr>
          <a:lstStyle/>
          <a:p>
            <a:pPr>
              <a:defRPr/>
            </a:pPr>
            <a:endParaRPr lang="en-US" sz="2000" dirty="0" smtClean="0">
              <a:solidFill>
                <a:schemeClr val="tx1">
                  <a:lumMod val="75000"/>
                  <a:lumOff val="25000"/>
                </a:schemeClr>
              </a:solidFill>
            </a:endParaRPr>
          </a:p>
          <a:p>
            <a:pPr>
              <a:defRPr/>
            </a:pPr>
            <a:r>
              <a:rPr lang="en-US" sz="2000" dirty="0" smtClean="0">
                <a:solidFill>
                  <a:schemeClr val="tx1">
                    <a:lumMod val="75000"/>
                    <a:lumOff val="25000"/>
                  </a:schemeClr>
                </a:solidFill>
              </a:rPr>
              <a:t>To construct the automaton, we begin by taking each regular-expression pattern in the </a:t>
            </a:r>
            <a:r>
              <a:rPr lang="en-US" sz="2000" dirty="0" err="1" smtClean="0">
                <a:solidFill>
                  <a:schemeClr val="tx1">
                    <a:lumMod val="75000"/>
                    <a:lumOff val="25000"/>
                  </a:schemeClr>
                </a:solidFill>
              </a:rPr>
              <a:t>Lex</a:t>
            </a:r>
            <a:r>
              <a:rPr lang="en-US" sz="2000" dirty="0" smtClean="0">
                <a:solidFill>
                  <a:schemeClr val="tx1">
                    <a:lumMod val="75000"/>
                    <a:lumOff val="25000"/>
                  </a:schemeClr>
                </a:solidFill>
              </a:rPr>
              <a:t> program and converting it to an NFA.</a:t>
            </a:r>
          </a:p>
          <a:p>
            <a:pPr>
              <a:defRPr/>
            </a:pPr>
            <a:endParaRPr lang="en-US" sz="2000" dirty="0" smtClean="0">
              <a:solidFill>
                <a:schemeClr val="tx1">
                  <a:lumMod val="75000"/>
                  <a:lumOff val="25000"/>
                </a:schemeClr>
              </a:solidFill>
            </a:endParaRPr>
          </a:p>
          <a:p>
            <a:pPr>
              <a:defRPr/>
            </a:pPr>
            <a:r>
              <a:rPr lang="en-US" sz="2000" dirty="0" smtClean="0">
                <a:solidFill>
                  <a:schemeClr val="tx1">
                    <a:lumMod val="75000"/>
                    <a:lumOff val="25000"/>
                  </a:schemeClr>
                </a:solidFill>
              </a:rPr>
              <a:t>We need a single automaton that will recognize lexemes matching any of the patterns in the program.</a:t>
            </a:r>
          </a:p>
          <a:p>
            <a:pPr>
              <a:defRPr/>
            </a:pPr>
            <a:endParaRPr lang="en-US" sz="2000" dirty="0" smtClean="0">
              <a:solidFill>
                <a:schemeClr val="tx1">
                  <a:lumMod val="75000"/>
                  <a:lumOff val="25000"/>
                </a:schemeClr>
              </a:solidFill>
            </a:endParaRPr>
          </a:p>
          <a:p>
            <a:pPr lvl="1">
              <a:buFont typeface="Arial" pitchFamily="34" charset="0"/>
              <a:buChar char="•"/>
              <a:defRPr/>
            </a:pPr>
            <a:r>
              <a:rPr lang="en-US" sz="1800" dirty="0" smtClean="0">
                <a:solidFill>
                  <a:schemeClr val="tx1">
                    <a:lumMod val="75000"/>
                    <a:lumOff val="25000"/>
                  </a:schemeClr>
                </a:solidFill>
              </a:rPr>
              <a:t>So we combine all the NFA's into one by introducing a new start state with ɛ-transitions to each of the start states of the NFA's Ni for pattern </a:t>
            </a:r>
            <a:r>
              <a:rPr lang="en-US" sz="1800" i="1" dirty="0" smtClean="0">
                <a:solidFill>
                  <a:schemeClr val="tx1">
                    <a:lumMod val="75000"/>
                    <a:lumOff val="25000"/>
                  </a:schemeClr>
                </a:solidFill>
              </a:rPr>
              <a:t>Pi</a:t>
            </a:r>
            <a:r>
              <a:rPr lang="en-US" sz="1800" dirty="0" smtClean="0">
                <a:solidFill>
                  <a:schemeClr val="tx1">
                    <a:lumMod val="75000"/>
                    <a:lumOff val="25000"/>
                  </a:schemeClr>
                </a:solidFill>
              </a:rPr>
              <a:t> </a:t>
            </a:r>
          </a:p>
        </p:txBody>
      </p:sp>
      <p:sp>
        <p:nvSpPr>
          <p:cNvPr id="5" name="Text Placeholder 1"/>
          <p:cNvSpPr txBox="1">
            <a:spLocks/>
          </p:cNvSpPr>
          <p:nvPr/>
        </p:nvSpPr>
        <p:spPr>
          <a:xfrm>
            <a:off x="0" y="483518"/>
            <a:ext cx="9144000" cy="576064"/>
          </a:xfrm>
          <a:prstGeom prst="rect">
            <a:avLst/>
          </a:prstGeom>
        </p:spPr>
        <p:txBody>
          <a:bodyPr/>
          <a:lstStyle/>
          <a:p>
            <a:pPr lvl="0" algn="ctr"/>
            <a:r>
              <a:rPr lang="en-US" sz="3600" spc="-10" dirty="0" smtClean="0">
                <a:solidFill>
                  <a:schemeClr val="tx1">
                    <a:lumMod val="75000"/>
                    <a:lumOff val="25000"/>
                  </a:schemeClr>
                </a:solidFill>
              </a:rPr>
              <a:t>Structure of the Generated Analyzer</a:t>
            </a:r>
            <a:endParaRPr kumimoji="0" lang="en-US" sz="3600" b="0" i="0" u="none" strike="noStrike" kern="1200" cap="none" spc="0" normalizeH="0" baseline="0" noProof="0" dirty="0">
              <a:ln>
                <a:noFill/>
              </a:ln>
              <a:solidFill>
                <a:schemeClr val="tx1">
                  <a:lumMod val="75000"/>
                  <a:lumOff val="25000"/>
                </a:schemeClr>
              </a:solidFill>
              <a:effectLst/>
              <a:uLnTx/>
              <a:uFillTx/>
              <a:latin typeface="+mn-lt"/>
              <a:ea typeface="+mn-ea"/>
              <a:cs typeface="+mn-cs"/>
            </a:endParaRPr>
          </a:p>
        </p:txBody>
      </p:sp>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3" name="Content Placeholder 2"/>
          <p:cNvSpPr>
            <a:spLocks noGrp="1"/>
          </p:cNvSpPr>
          <p:nvPr>
            <p:ph idx="1"/>
          </p:nvPr>
        </p:nvSpPr>
        <p:spPr>
          <a:xfrm>
            <a:off x="295275" y="914400"/>
            <a:ext cx="8553450" cy="3771900"/>
          </a:xfrm>
        </p:spPr>
        <p:txBody>
          <a:bodyPr/>
          <a:lstStyle/>
          <a:p>
            <a:endParaRPr lang="en-US" altLang="en-US" sz="2400" dirty="0" smtClean="0"/>
          </a:p>
          <a:p>
            <a:r>
              <a:rPr lang="en-US" altLang="en-US" sz="2400" dirty="0" smtClean="0"/>
              <a:t>An </a:t>
            </a:r>
            <a:r>
              <a:rPr lang="en-US" altLang="en-US" sz="2400" dirty="0" smtClean="0">
                <a:solidFill>
                  <a:srgbClr val="FF0000"/>
                </a:solidFill>
              </a:rPr>
              <a:t>NFA</a:t>
            </a:r>
            <a:r>
              <a:rPr lang="en-US" altLang="en-US" sz="2400" dirty="0" smtClean="0"/>
              <a:t> constructed from a </a:t>
            </a:r>
            <a:r>
              <a:rPr lang="en-US" altLang="en-US" sz="2400" dirty="0" err="1" smtClean="0"/>
              <a:t>Lex</a:t>
            </a:r>
            <a:r>
              <a:rPr lang="en-US" altLang="en-US" sz="2400" dirty="0" smtClean="0"/>
              <a:t> program</a:t>
            </a:r>
          </a:p>
        </p:txBody>
      </p:sp>
      <p:pic>
        <p:nvPicPr>
          <p:cNvPr id="107525" name="Picture 2"/>
          <p:cNvPicPr>
            <a:picLocks noChangeAspect="1" noChangeArrowheads="1"/>
          </p:cNvPicPr>
          <p:nvPr/>
        </p:nvPicPr>
        <p:blipFill>
          <a:blip r:embed="rId3"/>
          <a:srcRect/>
          <a:stretch>
            <a:fillRect/>
          </a:stretch>
        </p:blipFill>
        <p:spPr bwMode="auto">
          <a:xfrm>
            <a:off x="1695450" y="1943101"/>
            <a:ext cx="3189288" cy="2336006"/>
          </a:xfrm>
          <a:prstGeom prst="rect">
            <a:avLst/>
          </a:prstGeom>
          <a:noFill/>
          <a:ln w="9525">
            <a:noFill/>
            <a:miter lim="800000"/>
            <a:headEnd/>
            <a:tailEnd/>
          </a:ln>
        </p:spPr>
      </p:pic>
      <p:sp>
        <p:nvSpPr>
          <p:cNvPr id="9" name="TextBox 8"/>
          <p:cNvSpPr txBox="1"/>
          <p:nvPr/>
        </p:nvSpPr>
        <p:spPr>
          <a:xfrm>
            <a:off x="5383213" y="2114550"/>
            <a:ext cx="3194208" cy="390107"/>
          </a:xfrm>
          <a:prstGeom prst="rect">
            <a:avLst/>
          </a:prstGeom>
          <a:noFill/>
        </p:spPr>
        <p:txBody>
          <a:bodyPr wrap="none" rtlCol="1">
            <a:spAutoFit/>
          </a:bodyPr>
          <a:lstStyle/>
          <a:p>
            <a:pPr>
              <a:defRPr/>
            </a:pPr>
            <a:r>
              <a:rPr lang="en-US" sz="1935" b="1" dirty="0">
                <a:solidFill>
                  <a:srgbClr val="FF0000"/>
                </a:solidFill>
              </a:rPr>
              <a:t>a</a:t>
            </a:r>
            <a:r>
              <a:rPr lang="en-US" sz="1935" b="1" dirty="0">
                <a:solidFill>
                  <a:schemeClr val="accent1"/>
                </a:solidFill>
              </a:rPr>
              <a:t> </a:t>
            </a:r>
            <a:r>
              <a:rPr lang="en-US" sz="1935" dirty="0"/>
              <a:t>{ action A</a:t>
            </a:r>
            <a:r>
              <a:rPr lang="en-US" sz="1935" baseline="-25000" dirty="0"/>
              <a:t>1</a:t>
            </a:r>
            <a:r>
              <a:rPr lang="en-US" sz="1935" dirty="0"/>
              <a:t> for pattern P</a:t>
            </a:r>
            <a:r>
              <a:rPr lang="en-US" sz="1935" baseline="-25000" dirty="0"/>
              <a:t>1</a:t>
            </a:r>
            <a:r>
              <a:rPr lang="en-US" sz="1935" dirty="0"/>
              <a:t> }</a:t>
            </a:r>
            <a:endParaRPr lang="en-US" sz="1935" b="1" dirty="0">
              <a:solidFill>
                <a:schemeClr val="accent1"/>
              </a:solidFill>
            </a:endParaRPr>
          </a:p>
        </p:txBody>
      </p:sp>
      <p:sp>
        <p:nvSpPr>
          <p:cNvPr id="10" name="TextBox 9"/>
          <p:cNvSpPr txBox="1"/>
          <p:nvPr/>
        </p:nvSpPr>
        <p:spPr>
          <a:xfrm>
            <a:off x="5383213" y="2694385"/>
            <a:ext cx="3498778" cy="390107"/>
          </a:xfrm>
          <a:prstGeom prst="rect">
            <a:avLst/>
          </a:prstGeom>
          <a:noFill/>
        </p:spPr>
        <p:txBody>
          <a:bodyPr wrap="none" rtlCol="1">
            <a:spAutoFit/>
          </a:bodyPr>
          <a:lstStyle/>
          <a:p>
            <a:pPr>
              <a:defRPr/>
            </a:pPr>
            <a:r>
              <a:rPr lang="en-US" sz="1935" b="1" dirty="0" err="1">
                <a:solidFill>
                  <a:srgbClr val="FF0000"/>
                </a:solidFill>
              </a:rPr>
              <a:t>abb</a:t>
            </a:r>
            <a:r>
              <a:rPr lang="en-US" sz="1935" b="1" dirty="0">
                <a:solidFill>
                  <a:schemeClr val="accent1"/>
                </a:solidFill>
              </a:rPr>
              <a:t> </a:t>
            </a:r>
            <a:r>
              <a:rPr lang="en-US" sz="1935" dirty="0"/>
              <a:t>{ action A</a:t>
            </a:r>
            <a:r>
              <a:rPr lang="en-US" sz="1935" baseline="-25000" dirty="0"/>
              <a:t>2</a:t>
            </a:r>
            <a:r>
              <a:rPr lang="en-US" sz="1935" dirty="0"/>
              <a:t> for pattern P</a:t>
            </a:r>
            <a:r>
              <a:rPr lang="en-US" sz="1935" baseline="-25000" dirty="0"/>
              <a:t>2</a:t>
            </a:r>
            <a:r>
              <a:rPr lang="en-US" sz="1935" dirty="0"/>
              <a:t> }</a:t>
            </a:r>
            <a:endParaRPr lang="en-US" sz="1935" b="1" dirty="0">
              <a:solidFill>
                <a:schemeClr val="accent1"/>
              </a:solidFill>
            </a:endParaRPr>
          </a:p>
        </p:txBody>
      </p:sp>
      <p:sp>
        <p:nvSpPr>
          <p:cNvPr id="11" name="TextBox 10"/>
          <p:cNvSpPr txBox="1"/>
          <p:nvPr/>
        </p:nvSpPr>
        <p:spPr>
          <a:xfrm>
            <a:off x="5405438" y="3894535"/>
            <a:ext cx="3447482" cy="390107"/>
          </a:xfrm>
          <a:prstGeom prst="rect">
            <a:avLst/>
          </a:prstGeom>
          <a:noFill/>
        </p:spPr>
        <p:txBody>
          <a:bodyPr wrap="none" rtlCol="1">
            <a:spAutoFit/>
          </a:bodyPr>
          <a:lstStyle/>
          <a:p>
            <a:pPr>
              <a:defRPr/>
            </a:pPr>
            <a:r>
              <a:rPr lang="en-US" sz="1935" b="1" dirty="0">
                <a:solidFill>
                  <a:srgbClr val="FF0000"/>
                </a:solidFill>
              </a:rPr>
              <a:t>a*b</a:t>
            </a:r>
            <a:r>
              <a:rPr lang="en-US" sz="1935" b="1" baseline="30000" dirty="0">
                <a:solidFill>
                  <a:srgbClr val="FF0000"/>
                </a:solidFill>
              </a:rPr>
              <a:t>+ </a:t>
            </a:r>
            <a:r>
              <a:rPr lang="en-US" sz="1935" dirty="0"/>
              <a:t>{ action A</a:t>
            </a:r>
            <a:r>
              <a:rPr lang="en-US" sz="1935" baseline="-25000" dirty="0"/>
              <a:t>n</a:t>
            </a:r>
            <a:r>
              <a:rPr lang="en-US" sz="1935" dirty="0"/>
              <a:t> for pattern </a:t>
            </a:r>
            <a:r>
              <a:rPr lang="en-US" sz="1935" dirty="0" err="1"/>
              <a:t>P</a:t>
            </a:r>
            <a:r>
              <a:rPr lang="en-US" sz="1935" baseline="-25000" dirty="0" err="1"/>
              <a:t>n</a:t>
            </a:r>
            <a:r>
              <a:rPr lang="en-US" sz="1935" dirty="0"/>
              <a:t>}</a:t>
            </a:r>
            <a:endParaRPr lang="en-US" sz="1935" b="1" baseline="30000" dirty="0">
              <a:solidFill>
                <a:schemeClr val="accent1"/>
              </a:solidFill>
            </a:endParaRPr>
          </a:p>
        </p:txBody>
      </p:sp>
      <p:sp>
        <p:nvSpPr>
          <p:cNvPr id="12" name="Text Placeholder 1"/>
          <p:cNvSpPr txBox="1">
            <a:spLocks/>
          </p:cNvSpPr>
          <p:nvPr/>
        </p:nvSpPr>
        <p:spPr>
          <a:xfrm>
            <a:off x="0" y="483518"/>
            <a:ext cx="9144000" cy="576064"/>
          </a:xfrm>
          <a:prstGeom prst="rect">
            <a:avLst/>
          </a:prstGeom>
        </p:spPr>
        <p:txBody>
          <a:bodyPr/>
          <a:lstStyle/>
          <a:p>
            <a:pPr lvl="0" algn="ctr"/>
            <a:r>
              <a:rPr lang="en-US" sz="3600" spc="-10" dirty="0" smtClean="0">
                <a:solidFill>
                  <a:schemeClr val="tx1">
                    <a:lumMod val="75000"/>
                    <a:lumOff val="25000"/>
                  </a:schemeClr>
                </a:solidFill>
              </a:rPr>
              <a:t>Structure of the Generated Analyzer</a:t>
            </a:r>
            <a:endParaRPr kumimoji="0" lang="en-US" sz="3600" b="0" i="0" u="none" strike="noStrike" kern="1200" cap="none" spc="0" normalizeH="0" baseline="0" noProof="0" dirty="0">
              <a:ln>
                <a:noFill/>
              </a:ln>
              <a:solidFill>
                <a:schemeClr val="tx1">
                  <a:lumMod val="75000"/>
                  <a:lumOff val="25000"/>
                </a:schemeClr>
              </a:solidFill>
              <a:effectLst/>
              <a:uLnTx/>
              <a:uFillTx/>
              <a:latin typeface="+mn-lt"/>
              <a:ea typeface="+mn-ea"/>
              <a:cs typeface="+mn-cs"/>
            </a:endParaRPr>
          </a:p>
        </p:txBody>
      </p:sp>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43000" y="2086172"/>
            <a:ext cx="6172200" cy="548879"/>
          </a:xfrm>
        </p:spPr>
        <p:txBody>
          <a:bodyPr/>
          <a:lstStyle/>
          <a:p>
            <a:r>
              <a:rPr lang="en-US" sz="2700" dirty="0">
                <a:solidFill>
                  <a:srgbClr val="003366"/>
                </a:solidFill>
              </a:rPr>
              <a:t>UNIT </a:t>
            </a:r>
            <a:r>
              <a:rPr lang="en-US" sz="2700" dirty="0" smtClean="0">
                <a:solidFill>
                  <a:srgbClr val="003366"/>
                </a:solidFill>
              </a:rPr>
              <a:t>5.4</a:t>
            </a:r>
            <a:endParaRPr lang="en-US" sz="2700" dirty="0">
              <a:solidFill>
                <a:srgbClr val="003366"/>
              </a:solidFill>
            </a:endParaRPr>
          </a:p>
        </p:txBody>
      </p:sp>
      <p:sp>
        <p:nvSpPr>
          <p:cNvPr id="4" name="Slide Number Placeholder 3"/>
          <p:cNvSpPr>
            <a:spLocks noGrp="1"/>
          </p:cNvSpPr>
          <p:nvPr>
            <p:ph type="sldNum" sz="quarter" idx="12"/>
          </p:nvPr>
        </p:nvSpPr>
        <p:spPr/>
        <p:txBody>
          <a:bodyPr/>
          <a:lstStyle/>
          <a:p>
            <a:fld id="{4192AEF6-A042-4DA6-A3E1-F04AAE1E3944}" type="slidenum">
              <a:rPr lang="en-US" smtClean="0"/>
              <a:pPr/>
              <a:t>27</a:t>
            </a:fld>
            <a:endParaRPr lang="en-US"/>
          </a:p>
        </p:txBody>
      </p:sp>
      <p:sp>
        <p:nvSpPr>
          <p:cNvPr id="5" name="TextBox 4"/>
          <p:cNvSpPr txBox="1"/>
          <p:nvPr/>
        </p:nvSpPr>
        <p:spPr>
          <a:xfrm>
            <a:off x="1600200" y="2800350"/>
            <a:ext cx="5276850" cy="369332"/>
          </a:xfrm>
          <a:prstGeom prst="rect">
            <a:avLst/>
          </a:prstGeom>
          <a:noFill/>
        </p:spPr>
        <p:txBody>
          <a:bodyPr wrap="square" rtlCol="0">
            <a:spAutoFit/>
          </a:bodyPr>
          <a:lstStyle/>
          <a:p>
            <a:pPr lvl="1">
              <a:defRPr/>
            </a:pPr>
            <a:r>
              <a:rPr lang="en-GB" dirty="0"/>
              <a:t>Pattern Matching Based on NFA 's and DFA’s</a:t>
            </a:r>
            <a:endParaRPr lang="en-US" sz="1350" dirty="0"/>
          </a:p>
        </p:txBody>
      </p:sp>
      <p:sp>
        <p:nvSpPr>
          <p:cNvPr id="6" name="TextBox 5"/>
          <p:cNvSpPr txBox="1"/>
          <p:nvPr/>
        </p:nvSpPr>
        <p:spPr>
          <a:xfrm>
            <a:off x="6972300" y="1"/>
            <a:ext cx="1543050" cy="219291"/>
          </a:xfrm>
          <a:prstGeom prst="rect">
            <a:avLst/>
          </a:prstGeom>
          <a:noFill/>
        </p:spPr>
        <p:txBody>
          <a:bodyPr wrap="square" rtlCol="0">
            <a:spAutoFit/>
          </a:bodyPr>
          <a:lstStyle/>
          <a:p>
            <a:r>
              <a:rPr lang="en-US" sz="825" b="1" dirty="0">
                <a:solidFill>
                  <a:schemeClr val="bg1"/>
                </a:solidFill>
                <a:hlinkClick r:id="rId2" action="ppaction://hlinksldjump"/>
              </a:rPr>
              <a:t>Home</a:t>
            </a:r>
            <a:endParaRPr lang="en-US" sz="825" b="1" dirty="0">
              <a:solidFill>
                <a:schemeClr val="bg1"/>
              </a:solidFill>
            </a:endParaRPr>
          </a:p>
        </p:txBody>
      </p:sp>
    </p:spTree>
    <p:extLst>
      <p:ext uri="{BB962C8B-B14F-4D97-AF65-F5344CB8AC3E}">
        <p14:creationId xmlns:p14="http://schemas.microsoft.com/office/powerpoint/2010/main" val="2411528954"/>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95275" y="1085850"/>
            <a:ext cx="8553450" cy="3771900"/>
          </a:xfrm>
        </p:spPr>
        <p:txBody>
          <a:bodyPr>
            <a:normAutofit fontScale="62500" lnSpcReduction="20000"/>
          </a:bodyPr>
          <a:lstStyle/>
          <a:p>
            <a:pPr>
              <a:defRPr/>
            </a:pPr>
            <a:r>
              <a:rPr lang="en-US" dirty="0" smtClean="0"/>
              <a:t>For pattern based matching the simulator starts reading characters and calculates the set of states.</a:t>
            </a:r>
          </a:p>
          <a:p>
            <a:pPr>
              <a:defRPr/>
            </a:pPr>
            <a:endParaRPr lang="en-US" dirty="0" smtClean="0"/>
          </a:p>
          <a:p>
            <a:pPr>
              <a:defRPr/>
            </a:pPr>
            <a:r>
              <a:rPr lang="en-US" dirty="0" smtClean="0"/>
              <a:t>At some point the input character does not lead to any state or we have reached the </a:t>
            </a:r>
            <a:r>
              <a:rPr lang="en-US" dirty="0" err="1" smtClean="0">
                <a:solidFill>
                  <a:srgbClr val="FF0000"/>
                </a:solidFill>
              </a:rPr>
              <a:t>eof</a:t>
            </a:r>
            <a:r>
              <a:rPr lang="en-US" dirty="0" smtClean="0">
                <a:solidFill>
                  <a:srgbClr val="FF0000"/>
                </a:solidFill>
              </a:rPr>
              <a:t>. </a:t>
            </a:r>
          </a:p>
          <a:p>
            <a:pPr>
              <a:buFont typeface="Arial" pitchFamily="34" charset="0"/>
              <a:buNone/>
              <a:defRPr/>
            </a:pPr>
            <a:endParaRPr lang="en-US" dirty="0" smtClean="0">
              <a:solidFill>
                <a:srgbClr val="FF0000"/>
              </a:solidFill>
            </a:endParaRPr>
          </a:p>
          <a:p>
            <a:pPr lvl="1">
              <a:buFont typeface="Arial" pitchFamily="34" charset="0"/>
              <a:buChar char="•"/>
              <a:defRPr/>
            </a:pPr>
            <a:r>
              <a:rPr lang="en-US" dirty="0" smtClean="0"/>
              <a:t>Since we wish to find the </a:t>
            </a:r>
            <a:r>
              <a:rPr lang="en-US" dirty="0" smtClean="0">
                <a:solidFill>
                  <a:srgbClr val="FF0000"/>
                </a:solidFill>
              </a:rPr>
              <a:t>longest lexeme </a:t>
            </a:r>
            <a:r>
              <a:rPr lang="en-US" dirty="0" smtClean="0"/>
              <a:t>matching the pattern we proceed backwards from the current point (where there was no state) until we reach an accepting state (i.e., the set of NFA states, N-states, contains an accepting N-state). </a:t>
            </a:r>
          </a:p>
          <a:p>
            <a:pPr lvl="1">
              <a:buFont typeface="Arial" pitchFamily="34" charset="0"/>
              <a:buChar char="•"/>
              <a:defRPr/>
            </a:pPr>
            <a:r>
              <a:rPr lang="en-US" dirty="0" smtClean="0"/>
              <a:t>Each </a:t>
            </a:r>
            <a:r>
              <a:rPr lang="en-US" dirty="0" smtClean="0">
                <a:solidFill>
                  <a:srgbClr val="FF0000"/>
                </a:solidFill>
              </a:rPr>
              <a:t>accepting N-state</a:t>
            </a:r>
            <a:r>
              <a:rPr lang="en-US" dirty="0" smtClean="0">
                <a:solidFill>
                  <a:schemeClr val="accent1"/>
                </a:solidFill>
              </a:rPr>
              <a:t> </a:t>
            </a:r>
            <a:r>
              <a:rPr lang="en-US" dirty="0" smtClean="0"/>
              <a:t>corresponds to a matched pattern. </a:t>
            </a:r>
          </a:p>
          <a:p>
            <a:pPr lvl="1">
              <a:buFont typeface="Arial" pitchFamily="34" charset="0"/>
              <a:buChar char="•"/>
              <a:defRPr/>
            </a:pPr>
            <a:r>
              <a:rPr lang="en-US" dirty="0" smtClean="0"/>
              <a:t>The </a:t>
            </a:r>
            <a:r>
              <a:rPr lang="en-US" dirty="0" err="1" smtClean="0"/>
              <a:t>lex</a:t>
            </a:r>
            <a:r>
              <a:rPr lang="en-US" dirty="0" smtClean="0"/>
              <a:t> rule is that if a lexeme matches multiple patterns we choose the pattern listed first in the </a:t>
            </a:r>
            <a:r>
              <a:rPr lang="en-US" dirty="0" err="1" smtClean="0"/>
              <a:t>lex</a:t>
            </a:r>
            <a:r>
              <a:rPr lang="en-US" dirty="0" smtClean="0"/>
              <a:t>-program.</a:t>
            </a:r>
          </a:p>
        </p:txBody>
      </p:sp>
      <p:sp>
        <p:nvSpPr>
          <p:cNvPr id="5" name="Text Placeholder 1"/>
          <p:cNvSpPr txBox="1">
            <a:spLocks/>
          </p:cNvSpPr>
          <p:nvPr/>
        </p:nvSpPr>
        <p:spPr>
          <a:xfrm>
            <a:off x="0" y="483518"/>
            <a:ext cx="9144000" cy="576064"/>
          </a:xfrm>
          <a:prstGeom prst="rect">
            <a:avLst/>
          </a:prstGeom>
        </p:spPr>
        <p:txBody>
          <a:bodyPr/>
          <a:lstStyle/>
          <a:p>
            <a:pPr lvl="0" algn="ctr"/>
            <a:r>
              <a:rPr lang="en-US" sz="3600" spc="-10" dirty="0" smtClean="0">
                <a:solidFill>
                  <a:schemeClr val="tx1">
                    <a:lumMod val="75000"/>
                    <a:lumOff val="25000"/>
                  </a:schemeClr>
                </a:solidFill>
              </a:rPr>
              <a:t>Pattern Matching Based on NFA 's</a:t>
            </a:r>
            <a:endParaRPr kumimoji="0" lang="en-US" sz="3600" b="0" i="0" u="none" strike="noStrike" kern="1200" cap="none" spc="0" normalizeH="0" baseline="0" noProof="0" dirty="0">
              <a:ln>
                <a:noFill/>
              </a:ln>
              <a:solidFill>
                <a:schemeClr val="tx1">
                  <a:lumMod val="75000"/>
                  <a:lumOff val="25000"/>
                </a:schemeClr>
              </a:solidFill>
              <a:effectLst/>
              <a:uLnTx/>
              <a:uFillTx/>
              <a:latin typeface="+mn-lt"/>
              <a:ea typeface="+mn-ea"/>
              <a:cs typeface="+mn-cs"/>
            </a:endParaRPr>
          </a:p>
        </p:txBody>
      </p:sp>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9" name="Content Placeholder 2"/>
          <p:cNvSpPr>
            <a:spLocks noGrp="1"/>
          </p:cNvSpPr>
          <p:nvPr>
            <p:ph idx="1"/>
          </p:nvPr>
        </p:nvSpPr>
        <p:spPr>
          <a:xfrm>
            <a:off x="295275" y="914400"/>
            <a:ext cx="8553450" cy="3771900"/>
          </a:xfrm>
        </p:spPr>
        <p:txBody>
          <a:bodyPr/>
          <a:lstStyle/>
          <a:p>
            <a:endParaRPr lang="en-US" altLang="en-US" sz="2000" dirty="0" smtClean="0"/>
          </a:p>
          <a:p>
            <a:r>
              <a:rPr lang="en-US" altLang="en-US" sz="2000" dirty="0" smtClean="0"/>
              <a:t>Ex. Consider three patterns and their associated actions and consider processing the input </a:t>
            </a:r>
            <a:r>
              <a:rPr lang="en-US" altLang="en-US" sz="2000" b="1" dirty="0" err="1" smtClean="0">
                <a:solidFill>
                  <a:srgbClr val="FF0000"/>
                </a:solidFill>
              </a:rPr>
              <a:t>aaba</a:t>
            </a:r>
            <a:r>
              <a:rPr lang="en-US" altLang="en-US" sz="2000" dirty="0" smtClean="0"/>
              <a:t>.</a:t>
            </a:r>
          </a:p>
        </p:txBody>
      </p:sp>
      <p:sp>
        <p:nvSpPr>
          <p:cNvPr id="5" name="TextBox 4"/>
          <p:cNvSpPr txBox="1"/>
          <p:nvPr/>
        </p:nvSpPr>
        <p:spPr>
          <a:xfrm>
            <a:off x="2506664" y="2671763"/>
            <a:ext cx="3030701" cy="390107"/>
          </a:xfrm>
          <a:prstGeom prst="rect">
            <a:avLst/>
          </a:prstGeom>
          <a:noFill/>
        </p:spPr>
        <p:txBody>
          <a:bodyPr wrap="none" rtlCol="1">
            <a:spAutoFit/>
          </a:bodyPr>
          <a:lstStyle/>
          <a:p>
            <a:pPr>
              <a:defRPr/>
            </a:pPr>
            <a:r>
              <a:rPr lang="en-US" sz="1935" b="1" dirty="0">
                <a:solidFill>
                  <a:srgbClr val="FF0000"/>
                </a:solidFill>
              </a:rPr>
              <a:t>a</a:t>
            </a:r>
            <a:r>
              <a:rPr lang="en-US" sz="1935" b="1" dirty="0">
                <a:solidFill>
                  <a:schemeClr val="accent1"/>
                </a:solidFill>
              </a:rPr>
              <a:t>		</a:t>
            </a:r>
            <a:r>
              <a:rPr lang="en-US" sz="1935" dirty="0"/>
              <a:t>Action A</a:t>
            </a:r>
            <a:r>
              <a:rPr lang="en-US" sz="1935" baseline="-25000" dirty="0"/>
              <a:t>1</a:t>
            </a:r>
            <a:endParaRPr lang="en-US" sz="1935" b="1" dirty="0">
              <a:solidFill>
                <a:schemeClr val="accent1"/>
              </a:solidFill>
            </a:endParaRPr>
          </a:p>
        </p:txBody>
      </p:sp>
      <p:sp>
        <p:nvSpPr>
          <p:cNvPr id="6" name="TextBox 5"/>
          <p:cNvSpPr txBox="1"/>
          <p:nvPr/>
        </p:nvSpPr>
        <p:spPr>
          <a:xfrm>
            <a:off x="2506664" y="3014663"/>
            <a:ext cx="3030701" cy="390107"/>
          </a:xfrm>
          <a:prstGeom prst="rect">
            <a:avLst/>
          </a:prstGeom>
          <a:noFill/>
        </p:spPr>
        <p:txBody>
          <a:bodyPr wrap="none" rtlCol="1">
            <a:spAutoFit/>
          </a:bodyPr>
          <a:lstStyle/>
          <a:p>
            <a:pPr>
              <a:defRPr/>
            </a:pPr>
            <a:r>
              <a:rPr lang="en-US" sz="1935" b="1" dirty="0" err="1">
                <a:solidFill>
                  <a:srgbClr val="FF0000"/>
                </a:solidFill>
              </a:rPr>
              <a:t>abb</a:t>
            </a:r>
            <a:r>
              <a:rPr lang="en-US" sz="1935" b="1" dirty="0">
                <a:solidFill>
                  <a:schemeClr val="accent1"/>
                </a:solidFill>
              </a:rPr>
              <a:t> 		</a:t>
            </a:r>
            <a:r>
              <a:rPr lang="en-US" sz="1935" dirty="0"/>
              <a:t>Action A</a:t>
            </a:r>
            <a:r>
              <a:rPr lang="en-US" sz="1935" baseline="-25000" dirty="0"/>
              <a:t>2</a:t>
            </a:r>
            <a:endParaRPr lang="en-US" sz="1935" b="1" dirty="0">
              <a:solidFill>
                <a:schemeClr val="accent1"/>
              </a:solidFill>
            </a:endParaRPr>
          </a:p>
        </p:txBody>
      </p:sp>
      <p:sp>
        <p:nvSpPr>
          <p:cNvPr id="7" name="TextBox 6"/>
          <p:cNvSpPr txBox="1"/>
          <p:nvPr/>
        </p:nvSpPr>
        <p:spPr>
          <a:xfrm>
            <a:off x="2530475" y="3371850"/>
            <a:ext cx="3030701" cy="390107"/>
          </a:xfrm>
          <a:prstGeom prst="rect">
            <a:avLst/>
          </a:prstGeom>
          <a:noFill/>
        </p:spPr>
        <p:txBody>
          <a:bodyPr wrap="none" rtlCol="1">
            <a:spAutoFit/>
          </a:bodyPr>
          <a:lstStyle/>
          <a:p>
            <a:pPr>
              <a:defRPr/>
            </a:pPr>
            <a:r>
              <a:rPr lang="en-US" sz="1935" b="1" dirty="0">
                <a:solidFill>
                  <a:srgbClr val="FF0000"/>
                </a:solidFill>
              </a:rPr>
              <a:t>a*b</a:t>
            </a:r>
            <a:r>
              <a:rPr lang="en-US" sz="1935" b="1" baseline="30000" dirty="0">
                <a:solidFill>
                  <a:srgbClr val="FF0000"/>
                </a:solidFill>
              </a:rPr>
              <a:t>+</a:t>
            </a:r>
            <a:r>
              <a:rPr lang="en-US" sz="1935" b="1" baseline="30000" dirty="0">
                <a:solidFill>
                  <a:schemeClr val="accent1"/>
                </a:solidFill>
              </a:rPr>
              <a:t> 	</a:t>
            </a:r>
            <a:r>
              <a:rPr lang="en-US" sz="1935" dirty="0"/>
              <a:t> 	Action A</a:t>
            </a:r>
            <a:r>
              <a:rPr lang="en-US" sz="1935" baseline="-25000" dirty="0"/>
              <a:t>3</a:t>
            </a:r>
            <a:endParaRPr lang="en-US" sz="1935" b="1" baseline="30000" dirty="0">
              <a:solidFill>
                <a:schemeClr val="accent1"/>
              </a:solidFill>
            </a:endParaRPr>
          </a:p>
        </p:txBody>
      </p:sp>
      <p:sp>
        <p:nvSpPr>
          <p:cNvPr id="8" name="TextBox 7"/>
          <p:cNvSpPr txBox="1"/>
          <p:nvPr/>
        </p:nvSpPr>
        <p:spPr>
          <a:xfrm>
            <a:off x="2212975" y="2228850"/>
            <a:ext cx="3981450" cy="390107"/>
          </a:xfrm>
          <a:prstGeom prst="rect">
            <a:avLst/>
          </a:prstGeom>
          <a:noFill/>
        </p:spPr>
        <p:txBody>
          <a:bodyPr rtlCol="1">
            <a:spAutoFit/>
          </a:bodyPr>
          <a:lstStyle/>
          <a:p>
            <a:pPr>
              <a:defRPr/>
            </a:pPr>
            <a:r>
              <a:rPr lang="en-US" sz="1935" b="1" dirty="0">
                <a:solidFill>
                  <a:srgbClr val="FF0000"/>
                </a:solidFill>
              </a:rPr>
              <a:t>Pattern</a:t>
            </a:r>
            <a:r>
              <a:rPr lang="en-US" sz="1935" b="1" dirty="0">
                <a:solidFill>
                  <a:schemeClr val="accent1"/>
                </a:solidFill>
              </a:rPr>
              <a:t>	 	</a:t>
            </a:r>
            <a:r>
              <a:rPr lang="en-US" dirty="0"/>
              <a:t>Actions to perform</a:t>
            </a:r>
            <a:endParaRPr lang="en-US" sz="1935" b="1" dirty="0">
              <a:solidFill>
                <a:schemeClr val="accent1"/>
              </a:solidFill>
            </a:endParaRPr>
          </a:p>
        </p:txBody>
      </p:sp>
      <p:sp>
        <p:nvSpPr>
          <p:cNvPr id="9" name="Text Placeholder 1"/>
          <p:cNvSpPr txBox="1">
            <a:spLocks/>
          </p:cNvSpPr>
          <p:nvPr/>
        </p:nvSpPr>
        <p:spPr>
          <a:xfrm>
            <a:off x="0" y="483518"/>
            <a:ext cx="9144000" cy="576064"/>
          </a:xfrm>
          <a:prstGeom prst="rect">
            <a:avLst/>
          </a:prstGeom>
        </p:spPr>
        <p:txBody>
          <a:bodyPr/>
          <a:lstStyle/>
          <a:p>
            <a:pPr lvl="0" algn="ctr"/>
            <a:r>
              <a:rPr lang="en-US" sz="3600" spc="-10" dirty="0" smtClean="0">
                <a:solidFill>
                  <a:schemeClr val="tx1">
                    <a:lumMod val="75000"/>
                    <a:lumOff val="25000"/>
                  </a:schemeClr>
                </a:solidFill>
              </a:rPr>
              <a:t>Pattern Matching Based on NFA 's</a:t>
            </a:r>
            <a:endParaRPr kumimoji="0" lang="en-US" sz="3600" b="0" i="0" u="none" strike="noStrike" kern="1200" cap="none" spc="0" normalizeH="0" baseline="0" noProof="0" dirty="0">
              <a:ln>
                <a:noFill/>
              </a:ln>
              <a:solidFill>
                <a:schemeClr val="tx1">
                  <a:lumMod val="75000"/>
                  <a:lumOff val="25000"/>
                </a:schemeClr>
              </a:solidFill>
              <a:effectLst/>
              <a:uLnTx/>
              <a:uFillTx/>
              <a:latin typeface="+mn-lt"/>
              <a:ea typeface="+mn-ea"/>
              <a:cs typeface="+mn-cs"/>
            </a:endParaRPr>
          </a:p>
        </p:txBody>
      </p:sp>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7" name="Content Placeholder 2"/>
          <p:cNvSpPr>
            <a:spLocks noGrp="1"/>
          </p:cNvSpPr>
          <p:nvPr>
            <p:ph idx="1"/>
          </p:nvPr>
        </p:nvSpPr>
        <p:spPr>
          <a:xfrm>
            <a:off x="295275" y="914400"/>
            <a:ext cx="8553450" cy="3771900"/>
          </a:xfrm>
        </p:spPr>
        <p:txBody>
          <a:bodyPr/>
          <a:lstStyle/>
          <a:p>
            <a:r>
              <a:rPr lang="en-US" altLang="en-US" sz="1600" dirty="0" smtClean="0"/>
              <a:t>We begin by constructing the three NFAs. </a:t>
            </a:r>
          </a:p>
          <a:p>
            <a:endParaRPr lang="en-US" altLang="en-US" sz="1600" dirty="0" smtClean="0"/>
          </a:p>
          <a:p>
            <a:pPr lvl="1">
              <a:buFont typeface="Arial" pitchFamily="34" charset="0"/>
              <a:buChar char="•"/>
            </a:pPr>
            <a:endParaRPr lang="en-US" altLang="en-US" sz="1400" dirty="0" smtClean="0"/>
          </a:p>
          <a:p>
            <a:pPr lvl="1">
              <a:buFont typeface="Arial" pitchFamily="34" charset="0"/>
              <a:buChar char="•"/>
            </a:pPr>
            <a:endParaRPr lang="en-US" altLang="en-US" sz="1400" dirty="0" smtClean="0"/>
          </a:p>
          <a:p>
            <a:pPr lvl="1">
              <a:buFont typeface="Arial" pitchFamily="34" charset="0"/>
              <a:buChar char="•"/>
            </a:pPr>
            <a:endParaRPr lang="en-US" altLang="en-US" sz="1400" dirty="0" smtClean="0"/>
          </a:p>
          <a:p>
            <a:pPr lvl="1">
              <a:buFont typeface="Arial" pitchFamily="34" charset="0"/>
              <a:buChar char="•"/>
            </a:pPr>
            <a:endParaRPr lang="en-US" altLang="en-US" sz="1400" dirty="0" smtClean="0"/>
          </a:p>
          <a:p>
            <a:pPr lvl="1">
              <a:buFont typeface="Arial" pitchFamily="34" charset="0"/>
              <a:buChar char="•"/>
            </a:pPr>
            <a:endParaRPr lang="en-US" altLang="en-US" sz="1400" dirty="0" smtClean="0"/>
          </a:p>
          <a:p>
            <a:pPr lvl="1">
              <a:buFont typeface="Arial" pitchFamily="34" charset="0"/>
              <a:buChar char="•"/>
            </a:pPr>
            <a:endParaRPr lang="en-US" altLang="en-US" sz="1400" dirty="0" smtClean="0"/>
          </a:p>
          <a:p>
            <a:pPr lvl="1">
              <a:buFont typeface="Arial" pitchFamily="34" charset="0"/>
              <a:buChar char="•"/>
            </a:pPr>
            <a:endParaRPr lang="en-US" altLang="en-US" sz="1400" dirty="0" smtClean="0"/>
          </a:p>
          <a:p>
            <a:endParaRPr lang="en-US" altLang="en-US" sz="1600" dirty="0" smtClean="0"/>
          </a:p>
        </p:txBody>
      </p:sp>
      <p:pic>
        <p:nvPicPr>
          <p:cNvPr id="113669" name="Picture 2"/>
          <p:cNvPicPr>
            <a:picLocks noChangeAspect="1" noChangeArrowheads="1"/>
          </p:cNvPicPr>
          <p:nvPr/>
        </p:nvPicPr>
        <p:blipFill>
          <a:blip r:embed="rId3"/>
          <a:srcRect/>
          <a:stretch>
            <a:fillRect/>
          </a:stretch>
        </p:blipFill>
        <p:spPr bwMode="auto">
          <a:xfrm>
            <a:off x="2506663" y="1657350"/>
            <a:ext cx="4254500" cy="2728913"/>
          </a:xfrm>
          <a:prstGeom prst="rect">
            <a:avLst/>
          </a:prstGeom>
          <a:noFill/>
          <a:ln w="9525">
            <a:noFill/>
            <a:miter lim="800000"/>
            <a:headEnd/>
            <a:tailEnd/>
          </a:ln>
        </p:spPr>
      </p:pic>
      <p:sp>
        <p:nvSpPr>
          <p:cNvPr id="6" name="Text Placeholder 1"/>
          <p:cNvSpPr txBox="1">
            <a:spLocks/>
          </p:cNvSpPr>
          <p:nvPr/>
        </p:nvSpPr>
        <p:spPr>
          <a:xfrm>
            <a:off x="0" y="483518"/>
            <a:ext cx="9144000" cy="576064"/>
          </a:xfrm>
          <a:prstGeom prst="rect">
            <a:avLst/>
          </a:prstGeom>
        </p:spPr>
        <p:txBody>
          <a:bodyPr/>
          <a:lstStyle/>
          <a:p>
            <a:pPr lvl="0" algn="ctr"/>
            <a:r>
              <a:rPr lang="en-US" sz="3600" spc="-10" dirty="0" smtClean="0">
                <a:solidFill>
                  <a:schemeClr val="tx1">
                    <a:lumMod val="75000"/>
                    <a:lumOff val="25000"/>
                  </a:schemeClr>
                </a:solidFill>
              </a:rPr>
              <a:t>Pattern Matching Based on NFA 's</a:t>
            </a:r>
            <a:endParaRPr kumimoji="0" lang="en-US" sz="3600" b="0" i="0" u="none" strike="noStrike" kern="1200" cap="none" spc="0" normalizeH="0" baseline="0" noProof="0" dirty="0">
              <a:ln>
                <a:noFill/>
              </a:ln>
              <a:solidFill>
                <a:schemeClr val="tx1">
                  <a:lumMod val="75000"/>
                  <a:lumOff val="25000"/>
                </a:schemeClr>
              </a:solidFill>
              <a:effectLst/>
              <a:uLnTx/>
              <a:uFillTx/>
              <a:latin typeface="+mn-lt"/>
              <a:ea typeface="+mn-ea"/>
              <a:cs typeface="+mn-cs"/>
            </a:endParaRPr>
          </a:p>
        </p:txBody>
      </p:sp>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5" name="Content Placeholder 2"/>
          <p:cNvSpPr>
            <a:spLocks noGrp="1"/>
          </p:cNvSpPr>
          <p:nvPr>
            <p:ph idx="1"/>
          </p:nvPr>
        </p:nvSpPr>
        <p:spPr>
          <a:xfrm>
            <a:off x="295275" y="914400"/>
            <a:ext cx="8553450" cy="3771900"/>
          </a:xfrm>
        </p:spPr>
        <p:txBody>
          <a:bodyPr/>
          <a:lstStyle/>
          <a:p>
            <a:endParaRPr lang="en-US" altLang="en-US" sz="2000" dirty="0" smtClean="0"/>
          </a:p>
          <a:p>
            <a:r>
              <a:rPr lang="en-US" altLang="en-US" sz="2000" dirty="0" smtClean="0"/>
              <a:t>We introduce a </a:t>
            </a:r>
            <a:r>
              <a:rPr lang="en-US" altLang="en-US" sz="2000" dirty="0" smtClean="0">
                <a:solidFill>
                  <a:srgbClr val="FF0000"/>
                </a:solidFill>
              </a:rPr>
              <a:t>new start state </a:t>
            </a:r>
            <a:r>
              <a:rPr lang="en-US" altLang="en-US" sz="2000" dirty="0" smtClean="0"/>
              <a:t>and </a:t>
            </a:r>
            <a:r>
              <a:rPr lang="en-US" altLang="en-US" sz="2000" dirty="0" smtClean="0">
                <a:solidFill>
                  <a:srgbClr val="FF0000"/>
                </a:solidFill>
              </a:rPr>
              <a:t>ε-transitions</a:t>
            </a:r>
            <a:r>
              <a:rPr lang="en-US" altLang="en-US" sz="2000" dirty="0" smtClean="0"/>
              <a:t> as discussed in the previous section.</a:t>
            </a:r>
          </a:p>
        </p:txBody>
      </p:sp>
      <p:pic>
        <p:nvPicPr>
          <p:cNvPr id="115717" name="Picture 2"/>
          <p:cNvPicPr>
            <a:picLocks noChangeAspect="1" noChangeArrowheads="1"/>
          </p:cNvPicPr>
          <p:nvPr/>
        </p:nvPicPr>
        <p:blipFill>
          <a:blip r:embed="rId3"/>
          <a:srcRect/>
          <a:stretch>
            <a:fillRect/>
          </a:stretch>
        </p:blipFill>
        <p:spPr bwMode="auto">
          <a:xfrm>
            <a:off x="1695450" y="1828800"/>
            <a:ext cx="6046788" cy="2762250"/>
          </a:xfrm>
          <a:prstGeom prst="rect">
            <a:avLst/>
          </a:prstGeom>
          <a:noFill/>
          <a:ln w="9525">
            <a:noFill/>
            <a:miter lim="800000"/>
            <a:headEnd/>
            <a:tailEnd/>
          </a:ln>
        </p:spPr>
      </p:pic>
      <p:sp>
        <p:nvSpPr>
          <p:cNvPr id="6" name="Text Placeholder 1"/>
          <p:cNvSpPr txBox="1">
            <a:spLocks/>
          </p:cNvSpPr>
          <p:nvPr/>
        </p:nvSpPr>
        <p:spPr>
          <a:xfrm>
            <a:off x="0" y="483518"/>
            <a:ext cx="9144000" cy="576064"/>
          </a:xfrm>
          <a:prstGeom prst="rect">
            <a:avLst/>
          </a:prstGeom>
        </p:spPr>
        <p:txBody>
          <a:bodyPr/>
          <a:lstStyle/>
          <a:p>
            <a:pPr lvl="0" algn="ctr"/>
            <a:r>
              <a:rPr lang="en-US" sz="3600" spc="-10" dirty="0" smtClean="0">
                <a:solidFill>
                  <a:schemeClr val="tx1">
                    <a:lumMod val="75000"/>
                    <a:lumOff val="25000"/>
                  </a:schemeClr>
                </a:solidFill>
              </a:rPr>
              <a:t>Pattern Matching Based on NFA 's</a:t>
            </a:r>
            <a:endParaRPr kumimoji="0" lang="en-US" sz="3600" b="0" i="0" u="none" strike="noStrike" kern="1200" cap="none" spc="0" normalizeH="0" baseline="0" noProof="0" dirty="0">
              <a:ln>
                <a:noFill/>
              </a:ln>
              <a:solidFill>
                <a:schemeClr val="tx1">
                  <a:lumMod val="75000"/>
                  <a:lumOff val="25000"/>
                </a:schemeClr>
              </a:solidFill>
              <a:effectLst/>
              <a:uLnTx/>
              <a:uFillTx/>
              <a:latin typeface="+mn-lt"/>
              <a:ea typeface="+mn-ea"/>
              <a:cs typeface="+mn-cs"/>
            </a:endParaRPr>
          </a:p>
        </p:txBody>
      </p:sp>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95275" y="1028700"/>
            <a:ext cx="8553450" cy="3771900"/>
          </a:xfrm>
        </p:spPr>
        <p:txBody>
          <a:bodyPr>
            <a:normAutofit fontScale="70000" lnSpcReduction="20000"/>
          </a:bodyPr>
          <a:lstStyle/>
          <a:p>
            <a:pPr>
              <a:defRPr/>
            </a:pPr>
            <a:r>
              <a:rPr lang="en-US" dirty="0" smtClean="0"/>
              <a:t>We start at the </a:t>
            </a:r>
            <a:r>
              <a:rPr lang="en-US" dirty="0" smtClean="0">
                <a:solidFill>
                  <a:srgbClr val="FF0000"/>
                </a:solidFill>
              </a:rPr>
              <a:t>ε-closure</a:t>
            </a:r>
            <a:r>
              <a:rPr lang="en-US" dirty="0" smtClean="0"/>
              <a:t> of the start state, which is </a:t>
            </a:r>
            <a:r>
              <a:rPr lang="en-US" dirty="0" smtClean="0">
                <a:solidFill>
                  <a:srgbClr val="FF0000"/>
                </a:solidFill>
              </a:rPr>
              <a:t>{0,1,3,7}.</a:t>
            </a:r>
          </a:p>
          <a:p>
            <a:pPr>
              <a:defRPr/>
            </a:pPr>
            <a:endParaRPr lang="en-US" dirty="0" smtClean="0"/>
          </a:p>
          <a:p>
            <a:pPr>
              <a:defRPr/>
            </a:pPr>
            <a:r>
              <a:rPr lang="en-US" dirty="0" smtClean="0"/>
              <a:t>The first </a:t>
            </a:r>
            <a:r>
              <a:rPr lang="en-US" dirty="0" smtClean="0">
                <a:solidFill>
                  <a:srgbClr val="FF0000"/>
                </a:solidFill>
              </a:rPr>
              <a:t>a</a:t>
            </a:r>
            <a:r>
              <a:rPr lang="en-US" dirty="0" smtClean="0"/>
              <a:t> (remember the input is </a:t>
            </a:r>
            <a:r>
              <a:rPr lang="en-US" dirty="0" err="1" smtClean="0"/>
              <a:t>aaba</a:t>
            </a:r>
            <a:r>
              <a:rPr lang="en-US" dirty="0" smtClean="0"/>
              <a:t>) takes us to </a:t>
            </a:r>
            <a:r>
              <a:rPr lang="en-US" dirty="0" smtClean="0">
                <a:solidFill>
                  <a:srgbClr val="FF0000"/>
                </a:solidFill>
              </a:rPr>
              <a:t>{2,4,7}</a:t>
            </a:r>
            <a:r>
              <a:rPr lang="en-US" dirty="0" smtClean="0"/>
              <a:t>.</a:t>
            </a:r>
          </a:p>
          <a:p>
            <a:pPr lvl="1">
              <a:buFont typeface="Arial" pitchFamily="34" charset="0"/>
              <a:buChar char="•"/>
              <a:defRPr/>
            </a:pPr>
            <a:r>
              <a:rPr lang="en-US" dirty="0" smtClean="0"/>
              <a:t>This includes an accepting state and indeed we have matched the first pattern. However, we do </a:t>
            </a:r>
            <a:r>
              <a:rPr lang="en-US" b="1" dirty="0" smtClean="0"/>
              <a:t>not</a:t>
            </a:r>
            <a:r>
              <a:rPr lang="en-US" dirty="0" smtClean="0"/>
              <a:t> stop since we may find a longer match.</a:t>
            </a:r>
          </a:p>
          <a:p>
            <a:pPr>
              <a:defRPr/>
            </a:pPr>
            <a:endParaRPr lang="en-US" dirty="0" smtClean="0"/>
          </a:p>
          <a:p>
            <a:pPr>
              <a:defRPr/>
            </a:pPr>
            <a:r>
              <a:rPr lang="en-US" dirty="0" smtClean="0"/>
              <a:t>The next </a:t>
            </a:r>
            <a:r>
              <a:rPr lang="en-US" dirty="0" smtClean="0">
                <a:solidFill>
                  <a:srgbClr val="FF0000"/>
                </a:solidFill>
              </a:rPr>
              <a:t>a </a:t>
            </a:r>
            <a:r>
              <a:rPr lang="en-US" dirty="0" smtClean="0"/>
              <a:t>takes us to </a:t>
            </a:r>
            <a:r>
              <a:rPr lang="en-US" dirty="0" smtClean="0">
                <a:solidFill>
                  <a:srgbClr val="FF0000"/>
                </a:solidFill>
              </a:rPr>
              <a:t>{7}</a:t>
            </a:r>
            <a:r>
              <a:rPr lang="en-US" dirty="0" smtClean="0"/>
              <a:t> and next </a:t>
            </a:r>
            <a:r>
              <a:rPr lang="en-US" dirty="0" smtClean="0">
                <a:solidFill>
                  <a:srgbClr val="FF0000"/>
                </a:solidFill>
              </a:rPr>
              <a:t>b</a:t>
            </a:r>
            <a:r>
              <a:rPr lang="en-US" dirty="0" smtClean="0"/>
              <a:t> takes us to </a:t>
            </a:r>
            <a:r>
              <a:rPr lang="en-US" dirty="0" smtClean="0">
                <a:solidFill>
                  <a:srgbClr val="FF0000"/>
                </a:solidFill>
              </a:rPr>
              <a:t>{8}</a:t>
            </a:r>
            <a:r>
              <a:rPr lang="en-US" dirty="0" smtClean="0"/>
              <a:t>.</a:t>
            </a:r>
          </a:p>
          <a:p>
            <a:pPr>
              <a:defRPr/>
            </a:pPr>
            <a:endParaRPr lang="en-US" dirty="0" smtClean="0"/>
          </a:p>
          <a:p>
            <a:pPr>
              <a:defRPr/>
            </a:pPr>
            <a:r>
              <a:rPr lang="en-US" dirty="0" smtClean="0"/>
              <a:t>The next </a:t>
            </a:r>
            <a:r>
              <a:rPr lang="en-US" dirty="0" smtClean="0">
                <a:solidFill>
                  <a:srgbClr val="FF0000"/>
                </a:solidFill>
              </a:rPr>
              <a:t>a</a:t>
            </a:r>
            <a:r>
              <a:rPr lang="en-US" dirty="0" smtClean="0"/>
              <a:t> fails since there are no a-transitions out of </a:t>
            </a:r>
            <a:r>
              <a:rPr lang="en-US" dirty="0" smtClean="0">
                <a:solidFill>
                  <a:srgbClr val="FF0000"/>
                </a:solidFill>
              </a:rPr>
              <a:t>state 8</a:t>
            </a:r>
            <a:r>
              <a:rPr lang="en-US" dirty="0" smtClean="0"/>
              <a:t>.</a:t>
            </a:r>
            <a:endParaRPr lang="en-US" dirty="0"/>
          </a:p>
        </p:txBody>
      </p:sp>
      <p:sp>
        <p:nvSpPr>
          <p:cNvPr id="5" name="Text Placeholder 1"/>
          <p:cNvSpPr txBox="1">
            <a:spLocks/>
          </p:cNvSpPr>
          <p:nvPr/>
        </p:nvSpPr>
        <p:spPr>
          <a:xfrm>
            <a:off x="0" y="483518"/>
            <a:ext cx="9144000" cy="576064"/>
          </a:xfrm>
          <a:prstGeom prst="rect">
            <a:avLst/>
          </a:prstGeom>
        </p:spPr>
        <p:txBody>
          <a:bodyPr/>
          <a:lstStyle/>
          <a:p>
            <a:pPr lvl="0" algn="ctr"/>
            <a:r>
              <a:rPr lang="en-US" sz="3600" spc="-10" dirty="0" smtClean="0">
                <a:solidFill>
                  <a:schemeClr val="tx1">
                    <a:lumMod val="75000"/>
                    <a:lumOff val="25000"/>
                  </a:schemeClr>
                </a:solidFill>
              </a:rPr>
              <a:t>Pattern Matching Based on NFA 's</a:t>
            </a:r>
            <a:endParaRPr kumimoji="0" lang="en-US" sz="3600" b="0" i="0" u="none" strike="noStrike" kern="1200" cap="none" spc="0" normalizeH="0" baseline="0" noProof="0" dirty="0">
              <a:ln>
                <a:noFill/>
              </a:ln>
              <a:solidFill>
                <a:schemeClr val="tx1">
                  <a:lumMod val="75000"/>
                  <a:lumOff val="25000"/>
                </a:schemeClr>
              </a:solidFill>
              <a:effectLst/>
              <a:uLnTx/>
              <a:uFillTx/>
              <a:latin typeface="+mn-lt"/>
              <a:ea typeface="+mn-ea"/>
              <a:cs typeface="+mn-cs"/>
            </a:endParaRPr>
          </a:p>
        </p:txBody>
      </p:sp>
    </p:spTree>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11" name="Content Placeholder 2"/>
          <p:cNvSpPr>
            <a:spLocks noGrp="1"/>
          </p:cNvSpPr>
          <p:nvPr>
            <p:ph idx="1"/>
          </p:nvPr>
        </p:nvSpPr>
        <p:spPr>
          <a:xfrm>
            <a:off x="295275" y="914400"/>
            <a:ext cx="8553450" cy="3771900"/>
          </a:xfrm>
        </p:spPr>
        <p:txBody>
          <a:bodyPr/>
          <a:lstStyle/>
          <a:p>
            <a:r>
              <a:rPr lang="en-US" altLang="en-US" sz="1800" dirty="0" smtClean="0"/>
              <a:t>We are back in {8} and ask if one of these N-states is an accepting state.</a:t>
            </a:r>
          </a:p>
          <a:p>
            <a:endParaRPr lang="en-US" altLang="en-US" sz="1800" dirty="0" smtClean="0"/>
          </a:p>
          <a:p>
            <a:r>
              <a:rPr lang="en-US" altLang="en-US" sz="1800" dirty="0" smtClean="0"/>
              <a:t>Indeed state 8 is accepting for third pattern. </a:t>
            </a:r>
          </a:p>
          <a:p>
            <a:endParaRPr lang="en-US" altLang="en-US" sz="1800" dirty="0" smtClean="0"/>
          </a:p>
          <a:p>
            <a:r>
              <a:rPr lang="en-US" altLang="en-US" sz="1800" dirty="0" smtClean="0"/>
              <a:t>Action3 would now be performed.</a:t>
            </a:r>
          </a:p>
        </p:txBody>
      </p:sp>
      <p:pic>
        <p:nvPicPr>
          <p:cNvPr id="119813" name="Picture 2"/>
          <p:cNvPicPr>
            <a:picLocks noChangeAspect="1" noChangeArrowheads="1"/>
          </p:cNvPicPr>
          <p:nvPr/>
        </p:nvPicPr>
        <p:blipFill>
          <a:blip r:embed="rId3"/>
          <a:srcRect/>
          <a:stretch>
            <a:fillRect/>
          </a:stretch>
        </p:blipFill>
        <p:spPr bwMode="auto">
          <a:xfrm>
            <a:off x="1254125" y="3028950"/>
            <a:ext cx="6553200" cy="1482329"/>
          </a:xfrm>
          <a:prstGeom prst="rect">
            <a:avLst/>
          </a:prstGeom>
          <a:noFill/>
          <a:ln w="9525">
            <a:noFill/>
            <a:miter lim="800000"/>
            <a:headEnd/>
            <a:tailEnd/>
          </a:ln>
        </p:spPr>
      </p:pic>
      <p:sp>
        <p:nvSpPr>
          <p:cNvPr id="6" name="Text Placeholder 1"/>
          <p:cNvSpPr txBox="1">
            <a:spLocks/>
          </p:cNvSpPr>
          <p:nvPr/>
        </p:nvSpPr>
        <p:spPr>
          <a:xfrm>
            <a:off x="0" y="483518"/>
            <a:ext cx="9144000" cy="576064"/>
          </a:xfrm>
          <a:prstGeom prst="rect">
            <a:avLst/>
          </a:prstGeom>
        </p:spPr>
        <p:txBody>
          <a:bodyPr/>
          <a:lstStyle/>
          <a:p>
            <a:pPr lvl="0" algn="ctr"/>
            <a:r>
              <a:rPr lang="en-US" sz="3600" spc="-10" dirty="0" smtClean="0">
                <a:solidFill>
                  <a:schemeClr val="tx1">
                    <a:lumMod val="75000"/>
                    <a:lumOff val="25000"/>
                  </a:schemeClr>
                </a:solidFill>
              </a:rPr>
              <a:t>Pattern Matching Based on NFA 's</a:t>
            </a:r>
            <a:endParaRPr kumimoji="0" lang="en-US" sz="3600" b="0" i="0" u="none" strike="noStrike" kern="1200" cap="none" spc="0" normalizeH="0" baseline="0" noProof="0" dirty="0">
              <a:ln>
                <a:noFill/>
              </a:ln>
              <a:solidFill>
                <a:schemeClr val="tx1">
                  <a:lumMod val="75000"/>
                  <a:lumOff val="25000"/>
                </a:schemeClr>
              </a:solidFill>
              <a:effectLst/>
              <a:uLnTx/>
              <a:uFillTx/>
              <a:latin typeface="+mn-lt"/>
              <a:ea typeface="+mn-ea"/>
              <a:cs typeface="+mn-cs"/>
            </a:endParaRPr>
          </a:p>
        </p:txBody>
      </p:sp>
    </p:spTree>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859" name="Content Placeholder 2"/>
          <p:cNvSpPr>
            <a:spLocks noGrp="1"/>
          </p:cNvSpPr>
          <p:nvPr>
            <p:ph idx="1"/>
          </p:nvPr>
        </p:nvSpPr>
        <p:spPr>
          <a:xfrm>
            <a:off x="295275" y="914400"/>
            <a:ext cx="8553450" cy="3771900"/>
          </a:xfrm>
        </p:spPr>
        <p:txBody>
          <a:bodyPr/>
          <a:lstStyle/>
          <a:p>
            <a:endParaRPr lang="en-US" altLang="en-US" sz="2000" dirty="0" smtClean="0"/>
          </a:p>
          <a:p>
            <a:r>
              <a:rPr lang="en-US" altLang="en-US" sz="2000" dirty="0" smtClean="0"/>
              <a:t>In this section we see an architecture to convert the NFA for all the patterns into an equivalent DFA, using the subset construction mechanism of DFA from NFA.</a:t>
            </a:r>
          </a:p>
          <a:p>
            <a:endParaRPr lang="en-US" altLang="en-US" sz="2000" dirty="0" smtClean="0"/>
          </a:p>
          <a:p>
            <a:pPr lvl="1">
              <a:buFont typeface="Arial" pitchFamily="34" charset="0"/>
              <a:buChar char="•"/>
            </a:pPr>
            <a:r>
              <a:rPr lang="en-US" altLang="en-US" sz="1800" dirty="0" smtClean="0"/>
              <a:t>Within each DFA state, if there are one or more accepting NFA states, determine the first pattern whose accepting state is represented, and make that pattern the output of the DFA state.</a:t>
            </a:r>
          </a:p>
        </p:txBody>
      </p:sp>
      <p:sp>
        <p:nvSpPr>
          <p:cNvPr id="5" name="Text Placeholder 1"/>
          <p:cNvSpPr txBox="1">
            <a:spLocks/>
          </p:cNvSpPr>
          <p:nvPr/>
        </p:nvSpPr>
        <p:spPr>
          <a:xfrm>
            <a:off x="0" y="483518"/>
            <a:ext cx="9144000" cy="576064"/>
          </a:xfrm>
          <a:prstGeom prst="rect">
            <a:avLst/>
          </a:prstGeom>
        </p:spPr>
        <p:txBody>
          <a:bodyPr/>
          <a:lstStyle/>
          <a:p>
            <a:pPr lvl="0" algn="ctr"/>
            <a:r>
              <a:rPr lang="en-US" sz="3600" spc="-10" dirty="0" smtClean="0">
                <a:solidFill>
                  <a:schemeClr val="tx1">
                    <a:lumMod val="75000"/>
                    <a:lumOff val="25000"/>
                  </a:schemeClr>
                </a:solidFill>
              </a:rPr>
              <a:t>Pattern Matching Based on NFA 's</a:t>
            </a:r>
            <a:endParaRPr kumimoji="0" lang="en-US" sz="3600" b="0" i="0" u="none" strike="noStrike" kern="1200" cap="none" spc="0" normalizeH="0" baseline="0" noProof="0" dirty="0">
              <a:ln>
                <a:noFill/>
              </a:ln>
              <a:solidFill>
                <a:schemeClr val="tx1">
                  <a:lumMod val="75000"/>
                  <a:lumOff val="25000"/>
                </a:schemeClr>
              </a:solidFill>
              <a:effectLst/>
              <a:uLnTx/>
              <a:uFillTx/>
              <a:latin typeface="+mn-lt"/>
              <a:ea typeface="+mn-ea"/>
              <a:cs typeface="+mn-cs"/>
            </a:endParaRPr>
          </a:p>
        </p:txBody>
      </p:sp>
    </p:spTree>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90550" y="171450"/>
            <a:ext cx="7962900" cy="685800"/>
          </a:xfrm>
        </p:spPr>
        <p:txBody>
          <a:bodyPr>
            <a:normAutofit/>
          </a:bodyPr>
          <a:lstStyle/>
          <a:p>
            <a:pPr>
              <a:defRPr/>
            </a:pPr>
            <a:r>
              <a:rPr lang="en-US" sz="3871" spc="-10" dirty="0"/>
              <a:t>DFA for Lexical Analyzer..</a:t>
            </a:r>
          </a:p>
        </p:txBody>
      </p:sp>
      <p:sp>
        <p:nvSpPr>
          <p:cNvPr id="123907" name="Content Placeholder 2"/>
          <p:cNvSpPr>
            <a:spLocks noGrp="1"/>
          </p:cNvSpPr>
          <p:nvPr>
            <p:ph idx="1"/>
          </p:nvPr>
        </p:nvSpPr>
        <p:spPr>
          <a:xfrm>
            <a:off x="295275" y="914400"/>
            <a:ext cx="8553450" cy="3771900"/>
          </a:xfrm>
        </p:spPr>
        <p:txBody>
          <a:bodyPr/>
          <a:lstStyle/>
          <a:p>
            <a:endParaRPr lang="en-US" altLang="en-US" sz="2000" dirty="0" smtClean="0"/>
          </a:p>
          <a:p>
            <a:r>
              <a:rPr lang="en-US" altLang="en-US" sz="2000" dirty="0" smtClean="0"/>
              <a:t>A transition graph for the DFA handling the patterns </a:t>
            </a:r>
            <a:r>
              <a:rPr lang="en-US" altLang="en-US" sz="2000" dirty="0" smtClean="0">
                <a:solidFill>
                  <a:srgbClr val="FF0000"/>
                </a:solidFill>
              </a:rPr>
              <a:t>a, </a:t>
            </a:r>
            <a:r>
              <a:rPr lang="en-US" altLang="en-US" sz="2000" dirty="0" err="1" smtClean="0">
                <a:solidFill>
                  <a:srgbClr val="FF0000"/>
                </a:solidFill>
              </a:rPr>
              <a:t>abb</a:t>
            </a:r>
            <a:r>
              <a:rPr lang="en-US" altLang="en-US" sz="2000" dirty="0" smtClean="0">
                <a:solidFill>
                  <a:srgbClr val="FF0000"/>
                </a:solidFill>
              </a:rPr>
              <a:t> </a:t>
            </a:r>
            <a:r>
              <a:rPr lang="en-US" altLang="en-US" sz="2000" dirty="0" smtClean="0"/>
              <a:t>and </a:t>
            </a:r>
            <a:r>
              <a:rPr lang="en-US" altLang="en-US" sz="2000" dirty="0" smtClean="0">
                <a:solidFill>
                  <a:srgbClr val="FF0000"/>
                </a:solidFill>
              </a:rPr>
              <a:t>a*b</a:t>
            </a:r>
            <a:r>
              <a:rPr lang="en-US" altLang="en-US" sz="2000" baseline="30000" dirty="0" smtClean="0">
                <a:solidFill>
                  <a:srgbClr val="FF0000"/>
                </a:solidFill>
              </a:rPr>
              <a:t>+</a:t>
            </a:r>
            <a:r>
              <a:rPr lang="en-US" altLang="en-US" sz="2000" dirty="0" smtClean="0">
                <a:solidFill>
                  <a:srgbClr val="FF0000"/>
                </a:solidFill>
              </a:rPr>
              <a:t> </a:t>
            </a:r>
            <a:r>
              <a:rPr lang="en-US" altLang="en-US" sz="2000" dirty="0" smtClean="0"/>
              <a:t>that is constructed by the subset construction from the NFA.</a:t>
            </a:r>
          </a:p>
        </p:txBody>
      </p:sp>
      <p:pic>
        <p:nvPicPr>
          <p:cNvPr id="123909" name="Picture 2"/>
          <p:cNvPicPr>
            <a:picLocks noChangeAspect="1" noChangeArrowheads="1"/>
          </p:cNvPicPr>
          <p:nvPr/>
        </p:nvPicPr>
        <p:blipFill>
          <a:blip r:embed="rId3"/>
          <a:srcRect/>
          <a:stretch>
            <a:fillRect/>
          </a:stretch>
        </p:blipFill>
        <p:spPr bwMode="auto">
          <a:xfrm>
            <a:off x="1401763" y="2171700"/>
            <a:ext cx="6119812" cy="245745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955" name="Content Placeholder 2"/>
          <p:cNvSpPr>
            <a:spLocks noGrp="1"/>
          </p:cNvSpPr>
          <p:nvPr>
            <p:ph idx="1"/>
          </p:nvPr>
        </p:nvSpPr>
        <p:spPr>
          <a:xfrm>
            <a:off x="295275" y="914400"/>
            <a:ext cx="8553450" cy="3771900"/>
          </a:xfrm>
        </p:spPr>
        <p:txBody>
          <a:bodyPr/>
          <a:lstStyle/>
          <a:p>
            <a:endParaRPr lang="en-US" altLang="en-US" sz="2000" dirty="0" smtClean="0"/>
          </a:p>
          <a:p>
            <a:r>
              <a:rPr lang="en-US" altLang="en-US" sz="2000" dirty="0" smtClean="0"/>
              <a:t>The accepting states are labeled by the pattern that is matched by that state. </a:t>
            </a:r>
          </a:p>
          <a:p>
            <a:pPr lvl="1">
              <a:buFont typeface="Arial" pitchFamily="34" charset="0"/>
              <a:buChar char="•"/>
            </a:pPr>
            <a:endParaRPr lang="en-US" altLang="en-US" sz="1800" dirty="0" smtClean="0"/>
          </a:p>
          <a:p>
            <a:pPr lvl="1">
              <a:buFont typeface="Arial" pitchFamily="34" charset="0"/>
              <a:buChar char="•"/>
            </a:pPr>
            <a:r>
              <a:rPr lang="en-US" altLang="en-US" sz="1800" dirty="0" smtClean="0"/>
              <a:t>For instance, the state {6, 8 } has two accepting states, corresponding to patterns </a:t>
            </a:r>
            <a:r>
              <a:rPr lang="en-US" altLang="en-US" sz="1800" dirty="0" err="1" smtClean="0"/>
              <a:t>abb</a:t>
            </a:r>
            <a:r>
              <a:rPr lang="en-US" altLang="en-US" sz="1800" dirty="0" smtClean="0"/>
              <a:t> and a*b</a:t>
            </a:r>
            <a:r>
              <a:rPr lang="en-US" altLang="en-US" sz="1800" baseline="30000" dirty="0" smtClean="0"/>
              <a:t>+</a:t>
            </a:r>
            <a:r>
              <a:rPr lang="en-US" altLang="en-US" sz="1800" dirty="0" smtClean="0"/>
              <a:t>. </a:t>
            </a:r>
          </a:p>
          <a:p>
            <a:pPr lvl="1">
              <a:buFont typeface="Arial" pitchFamily="34" charset="0"/>
              <a:buChar char="•"/>
            </a:pPr>
            <a:endParaRPr lang="en-US" altLang="en-US" sz="1800" dirty="0" smtClean="0"/>
          </a:p>
          <a:p>
            <a:pPr lvl="1">
              <a:buFont typeface="Arial" pitchFamily="34" charset="0"/>
              <a:buChar char="•"/>
            </a:pPr>
            <a:r>
              <a:rPr lang="en-US" altLang="en-US" sz="1800" dirty="0" smtClean="0"/>
              <a:t>Since the former is listed first, that is the pattern associated with state {6,8}.</a:t>
            </a:r>
          </a:p>
        </p:txBody>
      </p:sp>
      <p:sp>
        <p:nvSpPr>
          <p:cNvPr id="5" name="Text Placeholder 1"/>
          <p:cNvSpPr txBox="1">
            <a:spLocks/>
          </p:cNvSpPr>
          <p:nvPr/>
        </p:nvSpPr>
        <p:spPr>
          <a:xfrm>
            <a:off x="0" y="483518"/>
            <a:ext cx="9144000" cy="576064"/>
          </a:xfrm>
          <a:prstGeom prst="rect">
            <a:avLst/>
          </a:prstGeom>
        </p:spPr>
        <p:txBody>
          <a:bodyPr/>
          <a:lstStyle/>
          <a:p>
            <a:pPr lvl="0" algn="ctr"/>
            <a:r>
              <a:rPr lang="en-US" sz="3600" spc="-10" dirty="0" smtClean="0">
                <a:solidFill>
                  <a:schemeClr val="tx1">
                    <a:lumMod val="75000"/>
                    <a:lumOff val="25000"/>
                  </a:schemeClr>
                </a:solidFill>
              </a:rPr>
              <a:t>DFA for Lexical Analyzer…</a:t>
            </a:r>
            <a:endParaRPr kumimoji="0" lang="en-US" sz="3600" b="0" i="0" u="none" strike="noStrike" kern="1200" cap="none" spc="0" normalizeH="0" baseline="0" noProof="0" dirty="0">
              <a:ln>
                <a:noFill/>
              </a:ln>
              <a:solidFill>
                <a:schemeClr val="tx1">
                  <a:lumMod val="75000"/>
                  <a:lumOff val="25000"/>
                </a:schemeClr>
              </a:solidFill>
              <a:effectLst/>
              <a:uLnTx/>
              <a:uFillTx/>
              <a:latin typeface="+mn-lt"/>
              <a:ea typeface="+mn-ea"/>
              <a:cs typeface="+mn-cs"/>
            </a:endParaRPr>
          </a:p>
        </p:txBody>
      </p:sp>
    </p:spTree>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003" name="Content Placeholder 2"/>
          <p:cNvSpPr>
            <a:spLocks noGrp="1"/>
          </p:cNvSpPr>
          <p:nvPr>
            <p:ph idx="1"/>
          </p:nvPr>
        </p:nvSpPr>
        <p:spPr>
          <a:xfrm>
            <a:off x="295275" y="914400"/>
            <a:ext cx="8553450" cy="3771900"/>
          </a:xfrm>
        </p:spPr>
        <p:txBody>
          <a:bodyPr/>
          <a:lstStyle/>
          <a:p>
            <a:endParaRPr lang="en-US" altLang="en-US" sz="2400" dirty="0" smtClean="0"/>
          </a:p>
          <a:p>
            <a:r>
              <a:rPr lang="en-US" altLang="en-US" sz="2400" dirty="0" smtClean="0"/>
              <a:t> In the diagram, when there is no NFA state possible, we do not show the edge. </a:t>
            </a:r>
          </a:p>
          <a:p>
            <a:endParaRPr lang="en-US" altLang="en-US" sz="2400" dirty="0" smtClean="0"/>
          </a:p>
          <a:p>
            <a:r>
              <a:rPr lang="en-US" altLang="en-US" sz="2400" dirty="0" smtClean="0"/>
              <a:t>Technically we should show these edges, all of which lead to the same </a:t>
            </a:r>
            <a:r>
              <a:rPr lang="en-US" altLang="en-US" sz="2400" dirty="0" smtClean="0">
                <a:solidFill>
                  <a:srgbClr val="FF0000"/>
                </a:solidFill>
              </a:rPr>
              <a:t>D-state</a:t>
            </a:r>
            <a:r>
              <a:rPr lang="en-US" altLang="en-US" sz="2400" dirty="0" smtClean="0"/>
              <a:t>, called the </a:t>
            </a:r>
            <a:r>
              <a:rPr lang="en-US" altLang="en-US" sz="2400" dirty="0" smtClean="0">
                <a:solidFill>
                  <a:srgbClr val="FF0000"/>
                </a:solidFill>
              </a:rPr>
              <a:t>dead state</a:t>
            </a:r>
            <a:r>
              <a:rPr lang="en-US" altLang="en-US" sz="2400" dirty="0" smtClean="0"/>
              <a:t>, and corresponds to the empty </a:t>
            </a:r>
            <a:r>
              <a:rPr lang="en-US" altLang="en-US" sz="2400" dirty="0" smtClean="0">
                <a:solidFill>
                  <a:srgbClr val="FF0000"/>
                </a:solidFill>
              </a:rPr>
              <a:t>subset of N-states</a:t>
            </a:r>
            <a:r>
              <a:rPr lang="en-US" altLang="en-US" sz="2400" dirty="0" smtClean="0"/>
              <a:t>.</a:t>
            </a:r>
          </a:p>
        </p:txBody>
      </p:sp>
      <p:sp>
        <p:nvSpPr>
          <p:cNvPr id="5" name="Text Placeholder 1"/>
          <p:cNvSpPr txBox="1">
            <a:spLocks/>
          </p:cNvSpPr>
          <p:nvPr/>
        </p:nvSpPr>
        <p:spPr>
          <a:xfrm>
            <a:off x="0" y="483518"/>
            <a:ext cx="9144000" cy="576064"/>
          </a:xfrm>
          <a:prstGeom prst="rect">
            <a:avLst/>
          </a:prstGeom>
        </p:spPr>
        <p:txBody>
          <a:bodyPr/>
          <a:lstStyle/>
          <a:p>
            <a:pPr lvl="0" algn="ctr"/>
            <a:r>
              <a:rPr lang="en-US" sz="3600" spc="-10" dirty="0" smtClean="0">
                <a:solidFill>
                  <a:schemeClr val="tx1">
                    <a:lumMod val="75000"/>
                    <a:lumOff val="25000"/>
                  </a:schemeClr>
                </a:solidFill>
              </a:rPr>
              <a:t>DFA for Lexical Analyzer…</a:t>
            </a:r>
            <a:endParaRPr kumimoji="0" lang="en-US" sz="3600" b="0" i="0" u="none" strike="noStrike" kern="1200" cap="none" spc="0" normalizeH="0" baseline="0" noProof="0" dirty="0">
              <a:ln>
                <a:noFill/>
              </a:ln>
              <a:solidFill>
                <a:schemeClr val="tx1">
                  <a:lumMod val="75000"/>
                  <a:lumOff val="25000"/>
                </a:schemeClr>
              </a:solidFill>
              <a:effectLst/>
              <a:uLnTx/>
              <a:uFillTx/>
              <a:latin typeface="+mn-lt"/>
              <a:ea typeface="+mn-ea"/>
              <a:cs typeface="+mn-cs"/>
            </a:endParaRPr>
          </a:p>
        </p:txBody>
      </p:sp>
    </p:spTree>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Exercises</a:t>
            </a:r>
            <a:endParaRPr lang="en-US" dirty="0"/>
          </a:p>
        </p:txBody>
      </p:sp>
      <p:sp>
        <p:nvSpPr>
          <p:cNvPr id="4" name="Slide Number Placeholder 3"/>
          <p:cNvSpPr>
            <a:spLocks noGrp="1"/>
          </p:cNvSpPr>
          <p:nvPr>
            <p:ph type="sldNum" sz="quarter" idx="12"/>
          </p:nvPr>
        </p:nvSpPr>
        <p:spPr/>
        <p:txBody>
          <a:bodyPr/>
          <a:lstStyle/>
          <a:p>
            <a:fld id="{E1C5FCBF-C22F-4AC5-95DC-FCA83A132A7C}" type="slidenum">
              <a:rPr lang="en-US" smtClean="0"/>
              <a:pPr/>
              <a:t>38</a:t>
            </a:fld>
            <a:endParaRPr lang="en-US"/>
          </a:p>
        </p:txBody>
      </p:sp>
      <p:pic>
        <p:nvPicPr>
          <p:cNvPr id="5" name="Picture 4"/>
          <p:cNvPicPr/>
          <p:nvPr/>
        </p:nvPicPr>
        <p:blipFill>
          <a:blip r:embed="rId2"/>
          <a:srcRect/>
          <a:stretch>
            <a:fillRect/>
          </a:stretch>
        </p:blipFill>
        <p:spPr bwMode="auto">
          <a:xfrm>
            <a:off x="1295400" y="1294060"/>
            <a:ext cx="6400800" cy="2954089"/>
          </a:xfrm>
          <a:prstGeom prst="rect">
            <a:avLst/>
          </a:prstGeom>
          <a:noFill/>
          <a:ln w="9525">
            <a:noFill/>
            <a:miter lim="800000"/>
            <a:headEnd/>
            <a:tailEnd/>
          </a:ln>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Exercises</a:t>
            </a:r>
            <a:endParaRPr lang="en-US" dirty="0"/>
          </a:p>
        </p:txBody>
      </p:sp>
      <p:sp>
        <p:nvSpPr>
          <p:cNvPr id="4" name="Slide Number Placeholder 3"/>
          <p:cNvSpPr>
            <a:spLocks noGrp="1"/>
          </p:cNvSpPr>
          <p:nvPr>
            <p:ph type="sldNum" sz="quarter" idx="12"/>
          </p:nvPr>
        </p:nvSpPr>
        <p:spPr/>
        <p:txBody>
          <a:bodyPr/>
          <a:lstStyle/>
          <a:p>
            <a:fld id="{E1C5FCBF-C22F-4AC5-95DC-FCA83A132A7C}" type="slidenum">
              <a:rPr lang="en-US" smtClean="0"/>
              <a:pPr/>
              <a:t>39</a:t>
            </a:fld>
            <a:endParaRPr lang="en-US"/>
          </a:p>
        </p:txBody>
      </p:sp>
      <p:pic>
        <p:nvPicPr>
          <p:cNvPr id="6" name="Picture 5"/>
          <p:cNvPicPr/>
          <p:nvPr/>
        </p:nvPicPr>
        <p:blipFill>
          <a:blip r:embed="rId2"/>
          <a:srcRect/>
          <a:stretch>
            <a:fillRect/>
          </a:stretch>
        </p:blipFill>
        <p:spPr bwMode="auto">
          <a:xfrm>
            <a:off x="1143000" y="1873901"/>
            <a:ext cx="6781800" cy="1612249"/>
          </a:xfrm>
          <a:prstGeom prst="rect">
            <a:avLst/>
          </a:prstGeom>
          <a:noFill/>
          <a:ln w="9525">
            <a:noFill/>
            <a:miter lim="800000"/>
            <a:headEnd/>
            <a:tailEnd/>
          </a:ln>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p:txBody>
          <a:bodyPr/>
          <a:lstStyle/>
          <a:p>
            <a:r>
              <a:rPr lang="en-US" altLang="ko-KR"/>
              <a:t>Thank you</a:t>
            </a:r>
            <a:endParaRPr lang="ko-KR" altLang="en-US"/>
          </a:p>
        </p:txBody>
      </p:sp>
    </p:spTree>
    <p:extLst>
      <p:ext uri="{BB962C8B-B14F-4D97-AF65-F5344CB8AC3E}">
        <p14:creationId xmlns:p14="http://schemas.microsoft.com/office/powerpoint/2010/main" val="401306127"/>
      </p:ext>
    </p:extLst>
  </p:cSld>
  <p:clrMapOvr>
    <a:masterClrMapping/>
  </p:clrMapOvr>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p:txBody>
          <a:bodyPr/>
          <a:lstStyle/>
          <a:p>
            <a:r>
              <a:rPr lang="en-US" dirty="0" smtClean="0"/>
              <a:t>Content Taken From</a:t>
            </a:r>
            <a:endParaRPr lang="en-US" dirty="0"/>
          </a:p>
        </p:txBody>
      </p:sp>
      <p:sp>
        <p:nvSpPr>
          <p:cNvPr id="4" name="TextBox 3"/>
          <p:cNvSpPr txBox="1"/>
          <p:nvPr/>
        </p:nvSpPr>
        <p:spPr>
          <a:xfrm>
            <a:off x="0" y="1315819"/>
            <a:ext cx="9144000" cy="2092881"/>
          </a:xfrm>
          <a:prstGeom prst="rect">
            <a:avLst/>
          </a:prstGeom>
          <a:noFill/>
        </p:spPr>
        <p:txBody>
          <a:bodyPr wrap="square" rtlCol="0">
            <a:spAutoFit/>
          </a:bodyPr>
          <a:lstStyle/>
          <a:p>
            <a:pPr>
              <a:buFont typeface="Arial" pitchFamily="34" charset="0"/>
              <a:buChar char="•"/>
            </a:pPr>
            <a:r>
              <a:rPr lang="en-US" sz="1600" i="1" dirty="0" smtClean="0">
                <a:solidFill>
                  <a:schemeClr val="tx1">
                    <a:lumMod val="75000"/>
                    <a:lumOff val="25000"/>
                  </a:schemeClr>
                </a:solidFill>
              </a:rPr>
              <a:t> Compilers Principles, Techniques and Tools by Alfred V. </a:t>
            </a:r>
            <a:r>
              <a:rPr lang="en-US" sz="1600" i="1" dirty="0" err="1" smtClean="0">
                <a:solidFill>
                  <a:schemeClr val="tx1">
                    <a:lumMod val="75000"/>
                    <a:lumOff val="25000"/>
                  </a:schemeClr>
                </a:solidFill>
              </a:rPr>
              <a:t>Aho</a:t>
            </a:r>
            <a:r>
              <a:rPr lang="en-US" sz="1600" i="1" dirty="0" smtClean="0">
                <a:solidFill>
                  <a:schemeClr val="tx1">
                    <a:lumMod val="75000"/>
                    <a:lumOff val="25000"/>
                  </a:schemeClr>
                </a:solidFill>
              </a:rPr>
              <a:t>, Ravi </a:t>
            </a:r>
            <a:r>
              <a:rPr lang="en-US" sz="1600" i="1" dirty="0" err="1" smtClean="0">
                <a:solidFill>
                  <a:schemeClr val="tx1">
                    <a:lumMod val="75000"/>
                    <a:lumOff val="25000"/>
                  </a:schemeClr>
                </a:solidFill>
              </a:rPr>
              <a:t>Sethi</a:t>
            </a:r>
            <a:r>
              <a:rPr lang="en-US" sz="1600" i="1" dirty="0" smtClean="0">
                <a:solidFill>
                  <a:schemeClr val="tx1">
                    <a:lumMod val="75000"/>
                    <a:lumOff val="25000"/>
                  </a:schemeClr>
                </a:solidFill>
              </a:rPr>
              <a:t> and Jeffry D. </a:t>
            </a:r>
            <a:r>
              <a:rPr lang="en-US" sz="1600" i="1" dirty="0" err="1" smtClean="0">
                <a:solidFill>
                  <a:schemeClr val="tx1">
                    <a:lumMod val="75000"/>
                    <a:lumOff val="25000"/>
                  </a:schemeClr>
                </a:solidFill>
              </a:rPr>
              <a:t>Ulman</a:t>
            </a:r>
            <a:endParaRPr lang="en-US" sz="1600" i="1" dirty="0" smtClean="0">
              <a:solidFill>
                <a:schemeClr val="tx1">
                  <a:lumMod val="75000"/>
                  <a:lumOff val="25000"/>
                </a:schemeClr>
              </a:solidFill>
            </a:endParaRPr>
          </a:p>
          <a:p>
            <a:endParaRPr lang="en-US" altLang="en-US" sz="1600" i="1" dirty="0" smtClean="0">
              <a:solidFill>
                <a:schemeClr val="tx1">
                  <a:lumMod val="75000"/>
                  <a:lumOff val="25000"/>
                </a:schemeClr>
              </a:solidFill>
              <a:ea typeface="Times" pitchFamily="18" charset="0"/>
              <a:cs typeface="Times" pitchFamily="18" charset="0"/>
            </a:endParaRPr>
          </a:p>
          <a:p>
            <a:r>
              <a:rPr lang="en-US" altLang="en-US" sz="1600" i="1" dirty="0" smtClean="0">
                <a:solidFill>
                  <a:schemeClr val="tx1">
                    <a:lumMod val="75000"/>
                    <a:lumOff val="25000"/>
                  </a:schemeClr>
                </a:solidFill>
                <a:ea typeface="Times" pitchFamily="18" charset="0"/>
                <a:cs typeface="Times" pitchFamily="18" charset="0"/>
              </a:rPr>
              <a:t>Web URL:</a:t>
            </a:r>
          </a:p>
          <a:p>
            <a:r>
              <a:rPr lang="en-US" altLang="en-US" sz="1600" dirty="0" smtClean="0">
                <a:hlinkClick r:id="rId2"/>
              </a:rPr>
              <a:t>https://www.thecrazyprogrammer.com/2017/02/lexical-analyzer-in-c.html</a:t>
            </a:r>
            <a:endParaRPr lang="en-US" altLang="en-US" sz="1600" dirty="0" smtClean="0"/>
          </a:p>
          <a:p>
            <a:r>
              <a:rPr lang="en-US" sz="1600" dirty="0" smtClean="0">
                <a:hlinkClick r:id="rId3"/>
              </a:rPr>
              <a:t>https://slideplayer.com/slide/8459297/</a:t>
            </a:r>
            <a:endParaRPr lang="en-US" sz="1600" dirty="0" smtClean="0"/>
          </a:p>
          <a:p>
            <a:r>
              <a:rPr lang="en-US" sz="1600" dirty="0" smtClean="0">
                <a:hlinkClick r:id="rId4"/>
              </a:rPr>
              <a:t>https://www.coursehero.com/file/50240138/Lec-6pptx/</a:t>
            </a:r>
            <a:endParaRPr lang="en-US" altLang="en-US" sz="1600" dirty="0" smtClean="0"/>
          </a:p>
          <a:p>
            <a:pPr>
              <a:buFont typeface="Arial" pitchFamily="34" charset="0"/>
              <a:buChar char="•"/>
            </a:pPr>
            <a:endParaRPr lang="en-GB" altLang="en-US" sz="1600" i="1" dirty="0" smtClean="0">
              <a:solidFill>
                <a:schemeClr val="tx1">
                  <a:lumMod val="75000"/>
                  <a:lumOff val="25000"/>
                </a:schemeClr>
              </a:solidFill>
              <a:ea typeface="Times" pitchFamily="18" charset="0"/>
              <a:cs typeface="Times" pitchFamily="18" charset="0"/>
            </a:endParaRPr>
          </a:p>
          <a:p>
            <a:endParaRPr lang="en-US" sz="1600" dirty="0">
              <a:solidFill>
                <a:schemeClr val="tx1">
                  <a:lumMod val="75000"/>
                  <a:lumOff val="25000"/>
                </a:schemeClr>
              </a:solidFill>
            </a:endParaRPr>
          </a:p>
        </p:txBody>
      </p:sp>
    </p:spTree>
  </p:cSld>
  <p:clrMapOvr>
    <a:masterClrMapping/>
  </p:clrMapOvr>
  <p:transition/>
</p:sld>
</file>

<file path=ppt/tags/tag1.xml><?xml version="1.0" encoding="utf-8"?>
<p:tagLst xmlns:a="http://schemas.openxmlformats.org/drawingml/2006/main" xmlns:r="http://schemas.openxmlformats.org/officeDocument/2006/relationships" xmlns:p="http://schemas.openxmlformats.org/presentationml/2006/main">
  <p:tag name="AS_NET" val="4.0.30319.42000"/>
  <p:tag name="AS_OS" val="Microsoft Windows NT 6.2.9200.0"/>
  <p:tag name="AS_RELEASE_DATE" val="2017.01.13"/>
  <p:tag name="AS_TITLE" val="Aspose.Slides for .NET 4.0"/>
  <p:tag name="AS_VERSION" val="16.12.1.0"/>
</p:tagLst>
</file>

<file path=ppt/theme/theme1.xml><?xml version="1.0" encoding="utf-8"?>
<a:theme xmlns:a="http://schemas.openxmlformats.org/drawingml/2006/main" name="Cover and End Slide Master">
  <a:themeElements>
    <a:clrScheme name="ALLPPT-COLOR-A30">
      <a:dk1>
        <a:sysClr val="windowText" lastClr="000000"/>
      </a:dk1>
      <a:lt1>
        <a:sysClr val="window" lastClr="FFFFFF"/>
      </a:lt1>
      <a:dk2>
        <a:srgbClr val="1F497D"/>
      </a:dk2>
      <a:lt2>
        <a:srgbClr val="EEECE1"/>
      </a:lt2>
      <a:accent1>
        <a:srgbClr val="85D8DE"/>
      </a:accent1>
      <a:accent2>
        <a:srgbClr val="85D8DE"/>
      </a:accent2>
      <a:accent3>
        <a:srgbClr val="85D8DE"/>
      </a:accent3>
      <a:accent4>
        <a:srgbClr val="85D8DE"/>
      </a:accent4>
      <a:accent5>
        <a:srgbClr val="85D8DE"/>
      </a:accent5>
      <a:accent6>
        <a:srgbClr val="85D8DE"/>
      </a:accent6>
      <a:hlink>
        <a:srgbClr val="0000FF"/>
      </a:hlink>
      <a:folHlink>
        <a:srgbClr val="800080"/>
      </a:folHlink>
    </a:clrScheme>
    <a:fontScheme name="ALLPPT FONT">
      <a:majorFont>
        <a:latin typeface="Arial"/>
        <a:ea typeface="Arial Unicode MS"/>
        <a:cs typeface="Arial"/>
      </a:majorFont>
      <a:minorFont>
        <a:latin typeface="Arial"/>
        <a:ea typeface="Arial Unicode MS"/>
        <a:cs typeface="Arial"/>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Contents Slide Master">
  <a:themeElements>
    <a:clrScheme name="ALLPPT-COLOR-A30">
      <a:dk1>
        <a:sysClr val="windowText" lastClr="000000"/>
      </a:dk1>
      <a:lt1>
        <a:sysClr val="window" lastClr="FFFFFF"/>
      </a:lt1>
      <a:dk2>
        <a:srgbClr val="1F497D"/>
      </a:dk2>
      <a:lt2>
        <a:srgbClr val="EEECE1"/>
      </a:lt2>
      <a:accent1>
        <a:srgbClr val="85D8DE"/>
      </a:accent1>
      <a:accent2>
        <a:srgbClr val="85D8DE"/>
      </a:accent2>
      <a:accent3>
        <a:srgbClr val="85D8DE"/>
      </a:accent3>
      <a:accent4>
        <a:srgbClr val="85D8DE"/>
      </a:accent4>
      <a:accent5>
        <a:srgbClr val="85D8DE"/>
      </a:accent5>
      <a:accent6>
        <a:srgbClr val="85D8DE"/>
      </a:accent6>
      <a:hlink>
        <a:srgbClr val="0000FF"/>
      </a:hlink>
      <a:folHlink>
        <a:srgbClr val="800080"/>
      </a:folHlink>
    </a:clrScheme>
    <a:fontScheme name="ALLPPT FONT">
      <a:majorFont>
        <a:latin typeface="Arial"/>
        <a:ea typeface="Arial Unicode MS"/>
        <a:cs typeface="Arial"/>
      </a:majorFont>
      <a:minorFont>
        <a:latin typeface="Arial"/>
        <a:ea typeface="Arial Unicode MS"/>
        <a:cs typeface="Arial"/>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1825</TotalTime>
  <Words>1278</Words>
  <Application>Microsoft Office PowerPoint</Application>
  <PresentationFormat>On-screen Show (16:9)</PresentationFormat>
  <Paragraphs>221</Paragraphs>
  <Slides>41</Slides>
  <Notes>16</Notes>
  <HiddenSlides>0</HiddenSlides>
  <MMClips>0</MMClips>
  <ScaleCrop>false</ScaleCrop>
  <HeadingPairs>
    <vt:vector size="6" baseType="variant">
      <vt:variant>
        <vt:lpstr>Fonts Used</vt:lpstr>
      </vt:variant>
      <vt:variant>
        <vt:i4>8</vt:i4>
      </vt:variant>
      <vt:variant>
        <vt:lpstr>Theme</vt:lpstr>
      </vt:variant>
      <vt:variant>
        <vt:i4>2</vt:i4>
      </vt:variant>
      <vt:variant>
        <vt:lpstr>Slide Titles</vt:lpstr>
      </vt:variant>
      <vt:variant>
        <vt:i4>41</vt:i4>
      </vt:variant>
    </vt:vector>
  </HeadingPairs>
  <TitlesOfParts>
    <vt:vector size="51" baseType="lpstr">
      <vt:lpstr>Arial Unicode MS</vt:lpstr>
      <vt:lpstr>맑은 고딕</vt:lpstr>
      <vt:lpstr>Arial</vt:lpstr>
      <vt:lpstr>Calibri</vt:lpstr>
      <vt:lpstr>Courier New</vt:lpstr>
      <vt:lpstr>Symbol</vt:lpstr>
      <vt:lpstr>Times</vt:lpstr>
      <vt:lpstr>Wingdings</vt:lpstr>
      <vt:lpstr>Cover and End Slide Master</vt:lpstr>
      <vt:lpstr>Contents Slide Master</vt:lpstr>
      <vt:lpstr>PowerPoint Presentation</vt:lpstr>
      <vt:lpstr>PowerPoint Presentation</vt:lpstr>
      <vt:lpstr>Objectives</vt:lpstr>
      <vt:lpstr>UNIT 5.1</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UNIT 5.2</vt:lpstr>
      <vt:lpstr>PowerPoint Presentation</vt:lpstr>
      <vt:lpstr>PowerPoint Presentation</vt:lpstr>
      <vt:lpstr>PowerPoint Presentation</vt:lpstr>
      <vt:lpstr>PowerPoint Presentation</vt:lpstr>
      <vt:lpstr>PowerPoint Presentation</vt:lpstr>
      <vt:lpstr>UNIT 5.3</vt:lpstr>
      <vt:lpstr>PowerPoint Presentation</vt:lpstr>
      <vt:lpstr>PowerPoint Presentation</vt:lpstr>
      <vt:lpstr>PowerPoint Presentation</vt:lpstr>
      <vt:lpstr>PowerPoint Presentation</vt:lpstr>
      <vt:lpstr>PowerPoint Presentation</vt:lpstr>
      <vt:lpstr>PowerPoint Presentation</vt:lpstr>
      <vt:lpstr>UNIT 5.4</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DFA for Lexical Analyzer..</vt:lpstr>
      <vt:lpstr>PowerPoint Presentation</vt:lpstr>
      <vt:lpstr>PowerPoint Presentation</vt:lpstr>
      <vt:lpstr>Exercises</vt:lpstr>
      <vt:lpstr>Exercises</vt:lpstr>
      <vt:lpstr>PowerPoint Presentation</vt:lpstr>
      <vt:lpstr>PowerPoint Presentation</vt:lpstr>
    </vt:vector>
  </TitlesOfParts>
  <Company>Microsoft</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GoogleSlidesPPT.com;Allppt.com</dc:creator>
  <cp:lastModifiedBy>c2d</cp:lastModifiedBy>
  <cp:revision>288</cp:revision>
  <dcterms:created xsi:type="dcterms:W3CDTF">2016-12-05T23:26:54Z</dcterms:created>
  <dcterms:modified xsi:type="dcterms:W3CDTF">2020-11-12T09:39:22Z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XPowerLiteLastOptimized">
    <vt:lpwstr>3556737</vt:lpwstr>
  </property>
  <property fmtid="{D5CDD505-2E9C-101B-9397-08002B2CF9AE}" pid="3" name="NXPowerLiteSettings">
    <vt:lpwstr>C7000400038000</vt:lpwstr>
  </property>
  <property fmtid="{D5CDD505-2E9C-101B-9397-08002B2CF9AE}" pid="4" name="NXPowerLiteVersion">
    <vt:lpwstr>S8.2.1</vt:lpwstr>
  </property>
</Properties>
</file>