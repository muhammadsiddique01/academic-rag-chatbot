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1" r:id="rId2"/>
  </p:sldMasterIdLst>
  <p:notesMasterIdLst>
    <p:notesMasterId r:id="rId48"/>
  </p:notesMasterIdLst>
  <p:sldIdLst>
    <p:sldId id="256" r:id="rId3"/>
    <p:sldId id="262" r:id="rId4"/>
    <p:sldId id="414" r:id="rId5"/>
    <p:sldId id="415" r:id="rId6"/>
    <p:sldId id="376" r:id="rId7"/>
    <p:sldId id="377" r:id="rId8"/>
    <p:sldId id="416" r:id="rId9"/>
    <p:sldId id="378" r:id="rId10"/>
    <p:sldId id="379" r:id="rId11"/>
    <p:sldId id="380" r:id="rId12"/>
    <p:sldId id="381" r:id="rId13"/>
    <p:sldId id="382" r:id="rId14"/>
    <p:sldId id="383" r:id="rId15"/>
    <p:sldId id="384" r:id="rId16"/>
    <p:sldId id="385" r:id="rId17"/>
    <p:sldId id="386" r:id="rId18"/>
    <p:sldId id="387" r:id="rId19"/>
    <p:sldId id="388" r:id="rId20"/>
    <p:sldId id="389" r:id="rId21"/>
    <p:sldId id="418" r:id="rId22"/>
    <p:sldId id="391" r:id="rId23"/>
    <p:sldId id="392" r:id="rId24"/>
    <p:sldId id="393" r:id="rId25"/>
    <p:sldId id="394" r:id="rId26"/>
    <p:sldId id="398" r:id="rId27"/>
    <p:sldId id="396" r:id="rId28"/>
    <p:sldId id="397" r:id="rId29"/>
    <p:sldId id="399" r:id="rId30"/>
    <p:sldId id="400" r:id="rId31"/>
    <p:sldId id="401" r:id="rId32"/>
    <p:sldId id="402" r:id="rId33"/>
    <p:sldId id="403" r:id="rId34"/>
    <p:sldId id="404" r:id="rId35"/>
    <p:sldId id="419" r:id="rId36"/>
    <p:sldId id="407" r:id="rId37"/>
    <p:sldId id="408" r:id="rId38"/>
    <p:sldId id="409" r:id="rId39"/>
    <p:sldId id="410" r:id="rId40"/>
    <p:sldId id="411" r:id="rId41"/>
    <p:sldId id="405" r:id="rId42"/>
    <p:sldId id="406" r:id="rId43"/>
    <p:sldId id="412" r:id="rId44"/>
    <p:sldId id="413" r:id="rId45"/>
    <p:sldId id="271" r:id="rId46"/>
    <p:sldId id="375" r:id="rId47"/>
  </p:sldIdLst>
  <p:sldSz cx="9144000" cy="5143500" type="screen16x9"/>
  <p:notesSz cx="6858000" cy="9144000"/>
  <p:custDataLst>
    <p:tags r:id="rId49"/>
  </p:custData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D8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15347" autoAdjust="0"/>
    <p:restoredTop sz="94660"/>
  </p:normalViewPr>
  <p:slideViewPr>
    <p:cSldViewPr>
      <p:cViewPr varScale="1">
        <p:scale>
          <a:sx n="85" d="100"/>
          <a:sy n="85" d="100"/>
        </p:scale>
        <p:origin x="60" y="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presProps" Target="pres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51" Type="http://schemas.openxmlformats.org/officeDocument/2006/relationships/viewProps" Target="view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C2D849-E909-4C84-8539-67B30D4A74F3}" type="datetimeFigureOut">
              <a:rPr lang="en-US" smtClean="0"/>
              <a:pPr/>
              <a:t>7/1/2020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C6905C-8B7C-407C-8604-CA03A324E4A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6932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defTabSz="937804"/>
            <a:fld id="{CB3B108A-EA42-45C5-92E9-18449A485B53}" type="slidenum">
              <a:rPr lang="en-US" altLang="en-US">
                <a:latin typeface="Times New Roman" pitchFamily="18" charset="0"/>
              </a:rPr>
              <a:pPr defTabSz="937804"/>
              <a:t>5</a:t>
            </a:fld>
            <a:endParaRPr lang="en-US" altLang="en-US" dirty="0">
              <a:latin typeface="Times New Roman" pitchFamily="18" charset="0"/>
            </a:endParaRPr>
          </a:p>
        </p:txBody>
      </p:sp>
      <p:sp>
        <p:nvSpPr>
          <p:cNvPr id="8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2588" y="687388"/>
            <a:ext cx="6092825" cy="3427412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8655506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defTabSz="937804"/>
            <a:fld id="{C2D9FD9B-793C-4DF3-BB11-77EBAE58F5A7}" type="slidenum">
              <a:rPr lang="en-US" altLang="en-US">
                <a:latin typeface="Times New Roman" pitchFamily="18" charset="0"/>
              </a:rPr>
              <a:pPr defTabSz="937804"/>
              <a:t>15</a:t>
            </a:fld>
            <a:endParaRPr lang="en-US" altLang="en-US" dirty="0">
              <a:latin typeface="Times New Roman" pitchFamily="18" charset="0"/>
            </a:endParaRPr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2588" y="687388"/>
            <a:ext cx="6092825" cy="3427412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648134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defTabSz="937804"/>
            <a:fld id="{60736E86-85FE-40A5-9D37-F944F195453D}" type="slidenum">
              <a:rPr lang="en-US" altLang="en-US">
                <a:latin typeface="Times New Roman" pitchFamily="18" charset="0"/>
              </a:rPr>
              <a:pPr defTabSz="937804"/>
              <a:t>16</a:t>
            </a:fld>
            <a:endParaRPr lang="en-US" altLang="en-US" dirty="0">
              <a:latin typeface="Times New Roman" pitchFamily="18" charset="0"/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2588" y="687388"/>
            <a:ext cx="6092825" cy="3427412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8193570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3705210"/>
            <a:ext cx="9144000" cy="5227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smtClean="0">
                <a:ea typeface="맑은 고딕" pitchFamily="50" charset="-127"/>
              </a:rPr>
              <a:t>title</a:t>
            </a:r>
            <a:endParaRPr lang="en-US" altLang="ko-KR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-148" y="4227934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4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INSTERT THE TITLE OF YOUR PRESENTATION HERE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2736505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Layout">
    <p:bg>
      <p:bgPr>
        <a:blipFill dpi="0" rotWithShape="1">
          <a:blip r:embed="rId2">
            <a:lum/>
          </a:blip>
          <a:stretch>
            <a:fillRect t="-18000" b="-1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 userDrawn="1"/>
        </p:nvSpPr>
        <p:spPr>
          <a:xfrm>
            <a:off x="2699644" y="699542"/>
            <a:ext cx="3744416" cy="3744416"/>
          </a:xfrm>
          <a:prstGeom prst="ellipse">
            <a:avLst/>
          </a:prstGeom>
          <a:solidFill>
            <a:schemeClr val="tx2">
              <a:lumMod val="75000"/>
              <a:alpha val="77000"/>
            </a:schemeClr>
          </a:solidFill>
          <a:ln w="857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699792" y="2181230"/>
            <a:ext cx="3744416" cy="57606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1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Thank you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699644" y="2757294"/>
            <a:ext cx="3744416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922477153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4350"/>
            <a:ext cx="8229600" cy="548879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2700">
                <a:solidFill>
                  <a:srgbClr val="003366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11BE2C0-B263-409E-B462-D229454C6A81}" type="datetime1">
              <a:rPr lang="en-US" smtClean="0"/>
              <a:pPr/>
              <a:t>7/1/2020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r>
              <a:rPr lang="en-US"/>
              <a:t>Obejct Oriented Programming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4192AEF6-A042-4DA6-A3E1-F04AAE1E394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2071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5712077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48351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5958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312904482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179512" y="555526"/>
            <a:ext cx="8424936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179512" y="1203598"/>
            <a:ext cx="8424936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1457713910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179512" y="483518"/>
            <a:ext cx="4248472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179512" y="1131590"/>
            <a:ext cx="4248472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3927735883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9144000" cy="10595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-42902" y="455940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887988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Insert the title of your subtitle Here</a:t>
            </a:r>
          </a:p>
        </p:txBody>
      </p:sp>
      <p:sp>
        <p:nvSpPr>
          <p:cNvPr id="5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649246" y="1275606"/>
            <a:ext cx="1648869" cy="1648869"/>
          </a:xfrm>
          <a:prstGeom prst="ellipse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tx2">
                <a:lumMod val="60000"/>
                <a:lumOff val="40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  <p:sp>
        <p:nvSpPr>
          <p:cNvPr id="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2720790" y="1275606"/>
            <a:ext cx="1648869" cy="1648869"/>
          </a:xfrm>
          <a:prstGeom prst="ellipse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tx2">
                <a:lumMod val="60000"/>
                <a:lumOff val="40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  <p:sp>
        <p:nvSpPr>
          <p:cNvPr id="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4792334" y="1275606"/>
            <a:ext cx="1648869" cy="1648869"/>
          </a:xfrm>
          <a:prstGeom prst="ellipse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tx2">
                <a:lumMod val="60000"/>
                <a:lumOff val="40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  <p:sp>
        <p:nvSpPr>
          <p:cNvPr id="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6863879" y="1275606"/>
            <a:ext cx="1648869" cy="1648869"/>
          </a:xfrm>
          <a:prstGeom prst="ellipse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tx2">
                <a:lumMod val="60000"/>
                <a:lumOff val="40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0241133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</p:spPr>
        <p:txBody>
          <a:bodyPr lIns="720000" anchor="ctr"/>
          <a:lstStyle>
            <a:lvl1pPr marL="0" indent="0" algn="l">
              <a:buNone/>
              <a:defRPr sz="18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5967038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6313931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3347864" y="627534"/>
            <a:ext cx="5796136" cy="105200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  <p:sp>
        <p:nvSpPr>
          <p:cNvPr id="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104000" y="1798321"/>
            <a:ext cx="5040000" cy="154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  <p:sp>
        <p:nvSpPr>
          <p:cNvPr id="9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4824000" y="3465106"/>
            <a:ext cx="4320000" cy="105086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5812156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asic Layout">
    <p:bg>
      <p:bgPr>
        <a:blipFill dpi="0" rotWithShape="1"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3937417" y="627534"/>
            <a:ext cx="1872000" cy="381642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/>
              <a:t>Insert Your Image</a:t>
            </a:r>
            <a:endParaRPr lang="ko-KR" altLang="en-US"/>
          </a:p>
        </p:txBody>
      </p:sp>
      <p:sp>
        <p:nvSpPr>
          <p:cNvPr id="5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1968708" y="627534"/>
            <a:ext cx="1872000" cy="381642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/>
              <a:t>Insert Your Image</a:t>
            </a:r>
            <a:endParaRPr lang="ko-KR" altLang="en-US"/>
          </a:p>
        </p:txBody>
      </p:sp>
      <p:sp>
        <p:nvSpPr>
          <p:cNvPr id="6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0" y="627534"/>
            <a:ext cx="1872000" cy="381642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/>
              <a:t>Insert Your Image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6533728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3795621" y="627533"/>
            <a:ext cx="3294112" cy="111555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  <p:sp>
        <p:nvSpPr>
          <p:cNvPr id="6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5613166" y="3399271"/>
            <a:ext cx="3293944" cy="111669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  <p:sp>
        <p:nvSpPr>
          <p:cNvPr id="7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3795621" y="1815095"/>
            <a:ext cx="1728192" cy="270087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  <p:sp>
        <p:nvSpPr>
          <p:cNvPr id="8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5621504" y="1814524"/>
            <a:ext cx="1468228" cy="151216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  <p:sp>
        <p:nvSpPr>
          <p:cNvPr id="12" name="Picture Placeholder 2"/>
          <p:cNvSpPr>
            <a:spLocks noGrp="1"/>
          </p:cNvSpPr>
          <p:nvPr>
            <p:ph type="pic" idx="18" hasCustomPrompt="1"/>
          </p:nvPr>
        </p:nvSpPr>
        <p:spPr>
          <a:xfrm>
            <a:off x="7178918" y="627533"/>
            <a:ext cx="1728192" cy="269973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7589142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411510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87574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Insert the title of your subtitle Here</a:t>
            </a:r>
          </a:p>
        </p:txBody>
      </p:sp>
      <p:pic>
        <p:nvPicPr>
          <p:cNvPr id="4" name="Picture 3" descr="D:\Fullppt\005-PNG이미지\노트북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-757041" y="1313860"/>
            <a:ext cx="6438182" cy="3274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81898" y="1731279"/>
            <a:ext cx="3085597" cy="228186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607751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475603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354008" y="1131589"/>
            <a:ext cx="2849840" cy="3384377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bg1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38182204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58220B-4026-4B26-A3B3-754553532B70}" type="datetime1">
              <a:rPr lang="de-DE"/>
              <a:pPr>
                <a:defRPr/>
              </a:pPr>
              <a:t>01.07.2020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E6C70F64-B46E-4549-A700-5D86A5C8A9D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E8EB8B-A9D5-4A26-9DD1-85D00FF9662A}" type="datetime1">
              <a:rPr lang="de-DE"/>
              <a:pPr>
                <a:defRPr/>
              </a:pPr>
              <a:t>01.07.2020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E1C5FCBF-C22F-4AC5-95DC-FCA83A132A7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eg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6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5.xml"/><Relationship Id="rId17" Type="http://schemas.openxmlformats.org/officeDocument/2006/relationships/image" Target="../media/image2.jpeg"/><Relationship Id="rId2" Type="http://schemas.openxmlformats.org/officeDocument/2006/relationships/slideLayout" Target="../slideLayouts/slideLayout5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070850" y="0"/>
            <a:ext cx="6088050" cy="5512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 rot="10800000">
            <a:off x="-23339" y="4592250"/>
            <a:ext cx="6088050" cy="551250"/>
          </a:xfrm>
          <a:prstGeom prst="rect">
            <a:avLst/>
          </a:prstGeom>
        </p:spPr>
      </p:pic>
      <p:sp>
        <p:nvSpPr>
          <p:cNvPr id="4" name="TextBox 3"/>
          <p:cNvSpPr txBox="1"/>
          <p:nvPr userDrawn="1"/>
        </p:nvSpPr>
        <p:spPr>
          <a:xfrm>
            <a:off x="179512" y="123478"/>
            <a:ext cx="1440160" cy="338554"/>
          </a:xfrm>
          <a:prstGeom prst="rect">
            <a:avLst/>
          </a:prstGeom>
          <a:blipFill>
            <a:blip r:embed="rId6"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pPr algn="ctr"/>
            <a:endParaRPr lang="ko-KR" altLang="en-US" sz="160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6683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</p:sldLayoutIdLst>
  <p:transition/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3070850" y="0"/>
            <a:ext cx="6088050" cy="5512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 rot="10800000">
            <a:off x="-36511" y="4592250"/>
            <a:ext cx="6088050" cy="551250"/>
          </a:xfrm>
          <a:prstGeom prst="rect">
            <a:avLst/>
          </a:prstGeom>
        </p:spPr>
      </p:pic>
      <p:sp>
        <p:nvSpPr>
          <p:cNvPr id="4" name="TextBox 3"/>
          <p:cNvSpPr txBox="1"/>
          <p:nvPr userDrawn="1"/>
        </p:nvSpPr>
        <p:spPr>
          <a:xfrm>
            <a:off x="179512" y="123478"/>
            <a:ext cx="1440160" cy="338554"/>
          </a:xfrm>
          <a:prstGeom prst="rect">
            <a:avLst/>
          </a:prstGeom>
          <a:blipFill>
            <a:blip r:embed="rId17"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pPr algn="ctr"/>
            <a:endParaRPr lang="ko-KR" altLang="en-US" sz="160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7555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2" r:id="rId2"/>
    <p:sldLayoutId id="2147483661" r:id="rId3"/>
    <p:sldLayoutId id="2147483660" r:id="rId4"/>
    <p:sldLayoutId id="2147483662" r:id="rId5"/>
    <p:sldLayoutId id="2147483655" r:id="rId6"/>
    <p:sldLayoutId id="2147483663" r:id="rId7"/>
    <p:sldLayoutId id="2147483664" r:id="rId8"/>
    <p:sldLayoutId id="2147483668" r:id="rId9"/>
    <p:sldLayoutId id="2147483665" r:id="rId10"/>
    <p:sldLayoutId id="2147483670" r:id="rId11"/>
    <p:sldLayoutId id="2147483656" r:id="rId12"/>
    <p:sldLayoutId id="2147483671" r:id="rId13"/>
    <p:sldLayoutId id="2147483672" r:id="rId14"/>
  </p:sldLayoutIdLst>
  <p:transition/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slide" Target="slide5.xml"/><Relationship Id="rId1" Type="http://schemas.openxmlformats.org/officeDocument/2006/relationships/slideLayout" Target="../slideLayouts/slideLayout3.xml"/><Relationship Id="rId5" Type="http://schemas.openxmlformats.org/officeDocument/2006/relationships/slide" Target="slide13.xml"/><Relationship Id="rId4" Type="http://schemas.openxmlformats.org/officeDocument/2006/relationships/slide" Target="slide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s://slideplayer.com/slide/8459297/" TargetMode="External"/><Relationship Id="rId2" Type="http://schemas.openxmlformats.org/officeDocument/2006/relationships/hyperlink" Target="https://www.thecrazyprogrammer.com/2017/02/lexical-analyzer-in-c.html" TargetMode="Externa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www.coursehero.com/file/50240138/Lec-6pptx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3000"/>
            <a:lum/>
          </a:blip>
          <a:stretch>
            <a:fillRect t="-18000" b="-1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4014" y="3291830"/>
            <a:ext cx="9144000" cy="522725"/>
          </a:xfrm>
        </p:spPr>
        <p:txBody>
          <a:bodyPr/>
          <a:lstStyle/>
          <a:p>
            <a:pPr lvl="0"/>
            <a:r>
              <a:rPr lang="en-US" altLang="ko-KR" sz="3600" smtClean="0">
                <a:ea typeface="맑은 고딕" pitchFamily="50" charset="-127"/>
              </a:rPr>
              <a:t>Lecture </a:t>
            </a:r>
            <a:r>
              <a:rPr lang="en-US" altLang="ko-KR" sz="3600" dirty="0" smtClean="0">
                <a:ea typeface="맑은 고딕" pitchFamily="50" charset="-127"/>
              </a:rPr>
              <a:t>04</a:t>
            </a:r>
            <a:endParaRPr lang="en-US" altLang="ko-KR" sz="3600" dirty="0"/>
          </a:p>
        </p:txBody>
      </p:sp>
      <p:sp>
        <p:nvSpPr>
          <p:cNvPr id="5" name="TextBox 4"/>
          <p:cNvSpPr txBox="1"/>
          <p:nvPr/>
        </p:nvSpPr>
        <p:spPr>
          <a:xfrm>
            <a:off x="179512" y="123478"/>
            <a:ext cx="1440160" cy="338554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pPr algn="ctr"/>
            <a:endParaRPr lang="ko-KR" altLang="en-US" sz="160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905000" y="1885950"/>
            <a:ext cx="526137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Compiler Construction</a:t>
            </a:r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1841378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 smtClean="0"/>
              <a:t>Chapter 03</a:t>
            </a:r>
            <a:endParaRPr lang="ko-KR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2699644" y="2757294"/>
            <a:ext cx="3744416" cy="288032"/>
          </a:xfrm>
        </p:spPr>
        <p:txBody>
          <a:bodyPr/>
          <a:lstStyle/>
          <a:p>
            <a:r>
              <a:rPr lang="en-US" dirty="0" smtClean="0"/>
              <a:t>Lexical Analyzer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455909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5900" y="1200151"/>
            <a:ext cx="6172200" cy="33718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350" dirty="0"/>
              <a:t>You will learn about;</a:t>
            </a:r>
          </a:p>
          <a:p>
            <a:pPr>
              <a:buFont typeface="+mj-lt"/>
              <a:buAutoNum type="arabicPeriod"/>
            </a:pPr>
            <a:r>
              <a:rPr lang="en-US" sz="1350" b="1" dirty="0">
                <a:hlinkClick r:id="rId2" action="ppaction://hlinksldjump"/>
              </a:rPr>
              <a:t>Unit </a:t>
            </a:r>
            <a:r>
              <a:rPr lang="en-US" sz="1350" b="1" dirty="0" smtClean="0">
                <a:hlinkClick r:id="rId2" action="ppaction://hlinksldjump"/>
              </a:rPr>
              <a:t>4.1 </a:t>
            </a:r>
            <a:r>
              <a:rPr lang="en-US" sz="1350" b="1" dirty="0">
                <a:hlinkClick r:id="rId2" action="ppaction://hlinksldjump"/>
              </a:rPr>
              <a:t>:</a:t>
            </a:r>
            <a:endParaRPr lang="en-US" sz="1350" b="1" dirty="0"/>
          </a:p>
          <a:p>
            <a:pPr lvl="1">
              <a:defRPr/>
            </a:pPr>
            <a:r>
              <a:rPr lang="en-US" sz="1350" dirty="0" smtClean="0"/>
              <a:t>Lexical </a:t>
            </a:r>
            <a:r>
              <a:rPr lang="en-US" sz="1350" dirty="0"/>
              <a:t>Analyzer</a:t>
            </a:r>
            <a:endParaRPr lang="en-US" altLang="ko-KR" sz="1350" dirty="0" smtClean="0"/>
          </a:p>
          <a:p>
            <a:pPr>
              <a:buFont typeface="+mj-lt"/>
              <a:buAutoNum type="arabicPeriod"/>
            </a:pPr>
            <a:r>
              <a:rPr lang="en-US" sz="1350" b="1" dirty="0" smtClean="0">
                <a:hlinkClick r:id="rId3" action="ppaction://hlinksldjump"/>
              </a:rPr>
              <a:t>Unit </a:t>
            </a:r>
            <a:r>
              <a:rPr lang="en-US" sz="1350" b="1" dirty="0" smtClean="0">
                <a:hlinkClick r:id="rId3" action="ppaction://hlinksldjump"/>
              </a:rPr>
              <a:t>4.2 </a:t>
            </a:r>
            <a:r>
              <a:rPr lang="en-US" sz="1350" b="1" dirty="0" smtClean="0">
                <a:hlinkClick r:id="rId3" action="ppaction://hlinksldjump"/>
              </a:rPr>
              <a:t>:</a:t>
            </a:r>
            <a:endParaRPr lang="en-US" sz="1350" b="1" dirty="0" smtClean="0"/>
          </a:p>
          <a:p>
            <a:pPr lvl="1"/>
            <a:r>
              <a:rPr lang="en-US" sz="1350" dirty="0" smtClean="0"/>
              <a:t> </a:t>
            </a:r>
            <a:r>
              <a:rPr lang="en-US" sz="1350" dirty="0"/>
              <a:t>Role of Lexical Analyzer</a:t>
            </a:r>
            <a:endParaRPr lang="en-US" sz="1350" dirty="0"/>
          </a:p>
          <a:p>
            <a:pPr>
              <a:buFont typeface="+mj-lt"/>
              <a:buAutoNum type="arabicPeriod"/>
            </a:pPr>
            <a:r>
              <a:rPr lang="en-US" sz="1350" b="1" dirty="0">
                <a:hlinkClick r:id="rId4" action="ppaction://hlinksldjump"/>
              </a:rPr>
              <a:t>Unit </a:t>
            </a:r>
            <a:r>
              <a:rPr lang="en-US" sz="1350" b="1" dirty="0" smtClean="0">
                <a:hlinkClick r:id="rId4" action="ppaction://hlinksldjump"/>
              </a:rPr>
              <a:t>4.3 :</a:t>
            </a:r>
            <a:endParaRPr lang="en-US" sz="1350" b="1" dirty="0" smtClean="0"/>
          </a:p>
          <a:p>
            <a:pPr lvl="1"/>
            <a:r>
              <a:rPr lang="en-GB" sz="1350" dirty="0" smtClean="0"/>
              <a:t>Regular </a:t>
            </a:r>
            <a:r>
              <a:rPr lang="en-GB" sz="1350" dirty="0"/>
              <a:t>Expressions</a:t>
            </a:r>
          </a:p>
          <a:p>
            <a:pPr lvl="1"/>
            <a:endParaRPr lang="en-GB" sz="1350" b="1" dirty="0" smtClean="0"/>
          </a:p>
          <a:p>
            <a:pPr>
              <a:buFont typeface="+mj-lt"/>
              <a:buAutoNum type="arabicPeriod"/>
            </a:pPr>
            <a:r>
              <a:rPr lang="en-US" sz="1350" b="1" dirty="0">
                <a:hlinkClick r:id="rId5" action="ppaction://hlinksldjump"/>
              </a:rPr>
              <a:t>Unit </a:t>
            </a:r>
            <a:r>
              <a:rPr lang="en-US" sz="1350" b="1" dirty="0" smtClean="0">
                <a:hlinkClick r:id="rId5" action="ppaction://hlinksldjump"/>
              </a:rPr>
              <a:t>4.4 :</a:t>
            </a:r>
            <a:endParaRPr lang="en-US" sz="1350" b="1" dirty="0"/>
          </a:p>
          <a:p>
            <a:pPr lvl="1"/>
            <a:r>
              <a:rPr lang="en-GB" sz="1350" dirty="0" smtClean="0"/>
              <a:t>Recognition </a:t>
            </a:r>
            <a:r>
              <a:rPr lang="en-GB" sz="1350" dirty="0"/>
              <a:t>of Tokens </a:t>
            </a:r>
            <a:endParaRPr lang="en-GB" sz="1350" dirty="0" smtClean="0"/>
          </a:p>
          <a:p>
            <a:pPr marL="457200" lvl="1" indent="0">
              <a:buNone/>
            </a:pPr>
            <a:endParaRPr lang="en-GB" sz="1350" dirty="0"/>
          </a:p>
          <a:p>
            <a:pPr marL="457200" lvl="1" indent="0">
              <a:buNone/>
            </a:pPr>
            <a:endParaRPr lang="en-US" sz="1350" dirty="0"/>
          </a:p>
          <a:p>
            <a:pPr marL="342900" lvl="1" indent="0">
              <a:buNone/>
            </a:pPr>
            <a:endParaRPr lang="en-US" sz="1350" dirty="0"/>
          </a:p>
          <a:p>
            <a:pPr lvl="1"/>
            <a:endParaRPr lang="en-US" sz="1350" dirty="0"/>
          </a:p>
          <a:p>
            <a:pPr marL="342900" lvl="1" indent="0">
              <a:buNone/>
            </a:pPr>
            <a:endParaRPr lang="en-US" sz="1350" dirty="0"/>
          </a:p>
          <a:p>
            <a:pPr>
              <a:buFont typeface="Wingdings" pitchFamily="2" charset="2"/>
              <a:buChar char="Ø"/>
            </a:pPr>
            <a:endParaRPr lang="en-US" sz="1350" dirty="0"/>
          </a:p>
          <a:p>
            <a:pPr>
              <a:buFont typeface="Wingdings" pitchFamily="2" charset="2"/>
              <a:buChar char="Ø"/>
            </a:pPr>
            <a:endParaRPr lang="en-US" sz="1350" dirty="0"/>
          </a:p>
          <a:p>
            <a:pPr lvl="1">
              <a:buFont typeface="Courier New" pitchFamily="49" charset="0"/>
              <a:buChar char="o"/>
            </a:pPr>
            <a:endParaRPr lang="en-US" sz="1350" b="1" dirty="0"/>
          </a:p>
          <a:p>
            <a:pPr marL="300038" lvl="2" indent="0">
              <a:buNone/>
            </a:pPr>
            <a:endParaRPr lang="en-US" sz="135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 smtClean="0"/>
          </a:p>
          <a:p>
            <a:fld id="{4192AEF6-A042-4DA6-A3E1-F04AAE1E3944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423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038350"/>
            <a:ext cx="6172200" cy="548879"/>
          </a:xfrm>
        </p:spPr>
        <p:txBody>
          <a:bodyPr/>
          <a:lstStyle/>
          <a:p>
            <a:pPr algn="ctr"/>
            <a:r>
              <a:rPr lang="en-US" dirty="0" smtClean="0"/>
              <a:t>UNIT </a:t>
            </a:r>
            <a:r>
              <a:rPr lang="en-US" dirty="0" smtClean="0"/>
              <a:t>4.1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2AEF6-A042-4DA6-A3E1-F04AAE1E3944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857500" y="2678596"/>
            <a:ext cx="3829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defRPr/>
            </a:pPr>
            <a:r>
              <a:rPr lang="en-US" dirty="0"/>
              <a:t>Lexical Analyzer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6972300" y="1"/>
            <a:ext cx="1543050" cy="219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25" b="1" dirty="0">
                <a:solidFill>
                  <a:schemeClr val="bg1"/>
                </a:solidFill>
                <a:hlinkClick r:id="rId2" action="ppaction://hlinksldjump"/>
              </a:rPr>
              <a:t>Home</a:t>
            </a:r>
            <a:endParaRPr lang="en-US" sz="825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4861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685800" y="1428750"/>
            <a:ext cx="7543800" cy="2057400"/>
            <a:chOff x="144" y="1104"/>
            <a:chExt cx="3936" cy="1728"/>
          </a:xfrm>
        </p:grpSpPr>
        <p:grpSp>
          <p:nvGrpSpPr>
            <p:cNvPr id="3" name="Group 4"/>
            <p:cNvGrpSpPr>
              <a:grpSpLocks/>
            </p:cNvGrpSpPr>
            <p:nvPr/>
          </p:nvGrpSpPr>
          <p:grpSpPr bwMode="auto">
            <a:xfrm>
              <a:off x="1152" y="1248"/>
              <a:ext cx="2544" cy="1584"/>
              <a:chOff x="768" y="1248"/>
              <a:chExt cx="2544" cy="1584"/>
            </a:xfrm>
          </p:grpSpPr>
          <p:grpSp>
            <p:nvGrpSpPr>
              <p:cNvPr id="4" name="Group 5"/>
              <p:cNvGrpSpPr>
                <a:grpSpLocks/>
              </p:cNvGrpSpPr>
              <p:nvPr/>
            </p:nvGrpSpPr>
            <p:grpSpPr bwMode="auto">
              <a:xfrm>
                <a:off x="768" y="1248"/>
                <a:ext cx="864" cy="576"/>
                <a:chOff x="720" y="1920"/>
                <a:chExt cx="864" cy="576"/>
              </a:xfrm>
            </p:grpSpPr>
            <p:sp>
              <p:nvSpPr>
                <p:cNvPr id="7190" name="Rectangle 6"/>
                <p:cNvSpPr>
                  <a:spLocks noChangeArrowheads="1"/>
                </p:cNvSpPr>
                <p:nvPr/>
              </p:nvSpPr>
              <p:spPr bwMode="auto">
                <a:xfrm>
                  <a:off x="720" y="1920"/>
                  <a:ext cx="864" cy="57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1" hangingPunct="1"/>
                  <a:endParaRPr lang="en-US" altLang="en-US" sz="1200" b="1">
                    <a:latin typeface="Times New Roman" pitchFamily="18" charset="0"/>
                  </a:endParaRPr>
                </a:p>
              </p:txBody>
            </p:sp>
            <p:sp>
              <p:nvSpPr>
                <p:cNvPr id="7191" name="Text Box 7"/>
                <p:cNvSpPr txBox="1">
                  <a:spLocks noChangeArrowheads="1"/>
                </p:cNvSpPr>
                <p:nvPr/>
              </p:nvSpPr>
              <p:spPr bwMode="auto">
                <a:xfrm>
                  <a:off x="720" y="1920"/>
                  <a:ext cx="864" cy="23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en-US" sz="1200" b="1" i="1">
                      <a:latin typeface="Times New Roman" pitchFamily="18" charset="0"/>
                    </a:rPr>
                    <a:t>lexical analyzer</a:t>
                  </a:r>
                </a:p>
              </p:txBody>
            </p:sp>
          </p:grpSp>
          <p:grpSp>
            <p:nvGrpSpPr>
              <p:cNvPr id="5" name="Group 8"/>
              <p:cNvGrpSpPr>
                <a:grpSpLocks/>
              </p:cNvGrpSpPr>
              <p:nvPr/>
            </p:nvGrpSpPr>
            <p:grpSpPr bwMode="auto">
              <a:xfrm>
                <a:off x="2448" y="1248"/>
                <a:ext cx="864" cy="576"/>
                <a:chOff x="1728" y="1920"/>
                <a:chExt cx="864" cy="576"/>
              </a:xfrm>
            </p:grpSpPr>
            <p:sp>
              <p:nvSpPr>
                <p:cNvPr id="7188" name="Rectangle 9"/>
                <p:cNvSpPr>
                  <a:spLocks noChangeArrowheads="1"/>
                </p:cNvSpPr>
                <p:nvPr/>
              </p:nvSpPr>
              <p:spPr bwMode="auto">
                <a:xfrm>
                  <a:off x="1728" y="1920"/>
                  <a:ext cx="864" cy="57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1" hangingPunct="1"/>
                  <a:endParaRPr lang="en-US" altLang="en-US" sz="1200" b="1">
                    <a:latin typeface="Times New Roman" pitchFamily="18" charset="0"/>
                  </a:endParaRPr>
                </a:p>
              </p:txBody>
            </p:sp>
            <p:sp>
              <p:nvSpPr>
                <p:cNvPr id="7189" name="Text Box 10"/>
                <p:cNvSpPr txBox="1">
                  <a:spLocks noChangeArrowheads="1"/>
                </p:cNvSpPr>
                <p:nvPr/>
              </p:nvSpPr>
              <p:spPr bwMode="auto">
                <a:xfrm>
                  <a:off x="1728" y="2064"/>
                  <a:ext cx="864" cy="23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en-US" sz="1200" b="1">
                      <a:latin typeface="Times New Roman" pitchFamily="18" charset="0"/>
                    </a:rPr>
                    <a:t>parser</a:t>
                  </a:r>
                </a:p>
              </p:txBody>
            </p:sp>
          </p:grpSp>
          <p:grpSp>
            <p:nvGrpSpPr>
              <p:cNvPr id="6" name="Group 11"/>
              <p:cNvGrpSpPr>
                <a:grpSpLocks/>
              </p:cNvGrpSpPr>
              <p:nvPr/>
            </p:nvGrpSpPr>
            <p:grpSpPr bwMode="auto">
              <a:xfrm>
                <a:off x="1584" y="2256"/>
                <a:ext cx="864" cy="576"/>
                <a:chOff x="720" y="1920"/>
                <a:chExt cx="864" cy="576"/>
              </a:xfrm>
            </p:grpSpPr>
            <p:sp>
              <p:nvSpPr>
                <p:cNvPr id="7186" name="Rectangle 12"/>
                <p:cNvSpPr>
                  <a:spLocks noChangeArrowheads="1"/>
                </p:cNvSpPr>
                <p:nvPr/>
              </p:nvSpPr>
              <p:spPr bwMode="auto">
                <a:xfrm>
                  <a:off x="720" y="1920"/>
                  <a:ext cx="864" cy="57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1" hangingPunct="1"/>
                  <a:endParaRPr lang="en-US" altLang="en-US" sz="1200" b="1">
                    <a:latin typeface="Times New Roman" pitchFamily="18" charset="0"/>
                  </a:endParaRPr>
                </a:p>
              </p:txBody>
            </p:sp>
            <p:sp>
              <p:nvSpPr>
                <p:cNvPr id="7187" name="Text Box 13"/>
                <p:cNvSpPr txBox="1">
                  <a:spLocks noChangeArrowheads="1"/>
                </p:cNvSpPr>
                <p:nvPr/>
              </p:nvSpPr>
              <p:spPr bwMode="auto">
                <a:xfrm>
                  <a:off x="720" y="1920"/>
                  <a:ext cx="864" cy="23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en-US" sz="1200" b="1">
                      <a:latin typeface="Times New Roman" pitchFamily="18" charset="0"/>
                    </a:rPr>
                    <a:t>symbol table</a:t>
                  </a:r>
                </a:p>
              </p:txBody>
            </p:sp>
          </p:grpSp>
          <p:sp>
            <p:nvSpPr>
              <p:cNvPr id="7182" name="Line 14"/>
              <p:cNvSpPr>
                <a:spLocks noChangeShapeType="1"/>
              </p:cNvSpPr>
              <p:nvPr/>
            </p:nvSpPr>
            <p:spPr bwMode="auto">
              <a:xfrm>
                <a:off x="1632" y="1344"/>
                <a:ext cx="81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050"/>
              </a:p>
            </p:txBody>
          </p:sp>
          <p:sp>
            <p:nvSpPr>
              <p:cNvPr id="7183" name="Line 15"/>
              <p:cNvSpPr>
                <a:spLocks noChangeShapeType="1"/>
              </p:cNvSpPr>
              <p:nvPr/>
            </p:nvSpPr>
            <p:spPr bwMode="auto">
              <a:xfrm flipH="1">
                <a:off x="1632" y="1680"/>
                <a:ext cx="81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050"/>
              </a:p>
            </p:txBody>
          </p:sp>
          <p:sp>
            <p:nvSpPr>
              <p:cNvPr id="7184" name="Line 16"/>
              <p:cNvSpPr>
                <a:spLocks noChangeShapeType="1"/>
              </p:cNvSpPr>
              <p:nvPr/>
            </p:nvSpPr>
            <p:spPr bwMode="auto">
              <a:xfrm flipV="1">
                <a:off x="2448" y="1824"/>
                <a:ext cx="432" cy="4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050"/>
              </a:p>
            </p:txBody>
          </p:sp>
          <p:sp>
            <p:nvSpPr>
              <p:cNvPr id="7185" name="Line 17"/>
              <p:cNvSpPr>
                <a:spLocks noChangeShapeType="1"/>
              </p:cNvSpPr>
              <p:nvPr/>
            </p:nvSpPr>
            <p:spPr bwMode="auto">
              <a:xfrm flipH="1" flipV="1">
                <a:off x="1200" y="1824"/>
                <a:ext cx="384" cy="4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050"/>
              </a:p>
            </p:txBody>
          </p:sp>
        </p:grpSp>
        <p:sp>
          <p:nvSpPr>
            <p:cNvPr id="7174" name="Text Box 18"/>
            <p:cNvSpPr txBox="1">
              <a:spLocks noChangeArrowheads="1"/>
            </p:cNvSpPr>
            <p:nvPr/>
          </p:nvSpPr>
          <p:spPr bwMode="auto">
            <a:xfrm>
              <a:off x="144" y="1296"/>
              <a:ext cx="816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1200" b="1" dirty="0">
                  <a:latin typeface="Times New Roman" pitchFamily="18" charset="0"/>
                </a:rPr>
                <a:t>source program</a:t>
              </a:r>
            </a:p>
          </p:txBody>
        </p:sp>
        <p:sp>
          <p:nvSpPr>
            <p:cNvPr id="7175" name="Line 19"/>
            <p:cNvSpPr>
              <a:spLocks noChangeShapeType="1"/>
            </p:cNvSpPr>
            <p:nvPr/>
          </p:nvSpPr>
          <p:spPr bwMode="auto">
            <a:xfrm>
              <a:off x="768" y="1536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050"/>
            </a:p>
          </p:txBody>
        </p:sp>
        <p:sp>
          <p:nvSpPr>
            <p:cNvPr id="7176" name="Line 20"/>
            <p:cNvSpPr>
              <a:spLocks noChangeShapeType="1"/>
            </p:cNvSpPr>
            <p:nvPr/>
          </p:nvSpPr>
          <p:spPr bwMode="auto">
            <a:xfrm>
              <a:off x="3696" y="1488"/>
              <a:ext cx="384" cy="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050"/>
            </a:p>
          </p:txBody>
        </p:sp>
        <p:sp>
          <p:nvSpPr>
            <p:cNvPr id="7177" name="Text Box 21"/>
            <p:cNvSpPr txBox="1">
              <a:spLocks noChangeArrowheads="1"/>
            </p:cNvSpPr>
            <p:nvPr/>
          </p:nvSpPr>
          <p:spPr bwMode="auto">
            <a:xfrm>
              <a:off x="2160" y="1104"/>
              <a:ext cx="48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1200" b="1">
                  <a:latin typeface="Times New Roman" pitchFamily="18" charset="0"/>
                </a:rPr>
                <a:t>token</a:t>
              </a:r>
            </a:p>
          </p:txBody>
        </p:sp>
        <p:sp>
          <p:nvSpPr>
            <p:cNvPr id="7178" name="Text Box 22"/>
            <p:cNvSpPr txBox="1">
              <a:spLocks noChangeArrowheads="1"/>
            </p:cNvSpPr>
            <p:nvPr/>
          </p:nvSpPr>
          <p:spPr bwMode="auto">
            <a:xfrm>
              <a:off x="2160" y="1632"/>
              <a:ext cx="624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1200" b="1" i="1">
                  <a:latin typeface="Times New Roman" pitchFamily="18" charset="0"/>
                </a:rPr>
                <a:t>get next token</a:t>
              </a:r>
            </a:p>
          </p:txBody>
        </p:sp>
      </p:grpSp>
      <p:sp>
        <p:nvSpPr>
          <p:cNvPr id="7172" name="Text Box 23"/>
          <p:cNvSpPr txBox="1">
            <a:spLocks noChangeArrowheads="1"/>
          </p:cNvSpPr>
          <p:nvPr/>
        </p:nvSpPr>
        <p:spPr bwMode="auto">
          <a:xfrm>
            <a:off x="1371600" y="3657600"/>
            <a:ext cx="6934200" cy="929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altLang="en-US" sz="16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itchFamily="18" charset="0"/>
              </a:rPr>
              <a:t>Important Issue:  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itchFamily="18" charset="0"/>
              </a:rPr>
              <a:t>  What are Responsibilities of each Box ?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itchFamily="18" charset="0"/>
              </a:rPr>
              <a:t>  Focus on Lexical Analyzer and Parser</a:t>
            </a:r>
            <a:endParaRPr lang="en-US" altLang="en-US" sz="1600" b="1" u="sng" dirty="0">
              <a:solidFill>
                <a:schemeClr val="tx1">
                  <a:lumMod val="75000"/>
                  <a:lumOff val="25000"/>
                </a:schemeClr>
              </a:solidFill>
              <a:latin typeface="Times New Roman" pitchFamily="18" charset="0"/>
            </a:endParaRPr>
          </a:p>
        </p:txBody>
      </p:sp>
      <p:sp>
        <p:nvSpPr>
          <p:cNvPr id="25" name="Text Placeholder 1"/>
          <p:cNvSpPr txBox="1">
            <a:spLocks/>
          </p:cNvSpPr>
          <p:nvPr/>
        </p:nvSpPr>
        <p:spPr>
          <a:xfrm>
            <a:off x="0" y="483518"/>
            <a:ext cx="9144000" cy="576064"/>
          </a:xfrm>
          <a:prstGeom prst="rect">
            <a:avLst/>
          </a:prstGeom>
        </p:spPr>
        <p:txBody>
          <a:bodyPr/>
          <a:lstStyle/>
          <a:p>
            <a:pPr lvl="0" algn="ctr"/>
            <a:r>
              <a:rPr lang="en-US" altLang="en-US" sz="3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 heading"/>
              </a:rPr>
              <a:t>Lexical Analyzer in Perspective</a:t>
            </a:r>
            <a:endParaRPr kumimoji="0" lang="en-US" altLang="ko-KR" sz="3600" i="0" u="none" strike="noStrike" kern="1200" cap="none" spc="0" normalizeH="0" baseline="0" noProof="0" dirty="0" smtClean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Arial heading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Font typeface="Arial" pitchFamily="34" charset="0"/>
              <a:buNone/>
            </a:pPr>
            <a:r>
              <a:rPr lang="en-US" altLang="en-US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Definition:</a:t>
            </a:r>
          </a:p>
          <a:p>
            <a:pPr marL="0" indent="0">
              <a:buFont typeface="Arial" pitchFamily="34" charset="0"/>
              <a:buNone/>
            </a:pPr>
            <a:r>
              <a:rPr lang="en-US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- Lexical analysis is the first phase of a compiler. It takes the modified source code from language preprocessors that are written in the form of sentences.</a:t>
            </a:r>
          </a:p>
          <a:p>
            <a:pPr marL="0" indent="0">
              <a:buFont typeface="Arial" pitchFamily="34" charset="0"/>
              <a:buNone/>
            </a:pPr>
            <a:r>
              <a:rPr lang="en-US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- Lexical analysis breaks these syntaxes into a series of tokens, by removing any white spaces or comments in the source code.</a:t>
            </a:r>
          </a:p>
          <a:p>
            <a:pPr marL="0" indent="0">
              <a:buFont typeface="Arial" pitchFamily="34" charset="0"/>
              <a:buNone/>
            </a:pPr>
            <a:endParaRPr lang="en-US" altLang="en-US" sz="20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09600" y="3657600"/>
            <a:ext cx="1752600" cy="8001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600" dirty="0"/>
              <a:t>Source Code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3124200" y="3657600"/>
            <a:ext cx="1752600" cy="8001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600" dirty="0"/>
              <a:t>Lexical Analyzer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324600" y="3657600"/>
            <a:ext cx="1752600" cy="8001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600" dirty="0"/>
              <a:t>Syntax Analyzer</a:t>
            </a:r>
          </a:p>
        </p:txBody>
      </p:sp>
      <p:cxnSp>
        <p:nvCxnSpPr>
          <p:cNvPr id="9" name="Straight Arrow Connector 8"/>
          <p:cNvCxnSpPr>
            <a:endCxn id="6" idx="1"/>
          </p:cNvCxnSpPr>
          <p:nvPr/>
        </p:nvCxnSpPr>
        <p:spPr>
          <a:xfrm>
            <a:off x="2438400" y="4057650"/>
            <a:ext cx="685800" cy="0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4876800" y="3886200"/>
            <a:ext cx="1447800" cy="0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H="1">
            <a:off x="4876800" y="4229100"/>
            <a:ext cx="1447800" cy="0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27" name="TextBox 18"/>
          <p:cNvSpPr txBox="1">
            <a:spLocks noChangeArrowheads="1"/>
          </p:cNvSpPr>
          <p:nvPr/>
        </p:nvSpPr>
        <p:spPr bwMode="auto">
          <a:xfrm>
            <a:off x="5105400" y="3665935"/>
            <a:ext cx="1066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en-US" sz="1600" dirty="0"/>
              <a:t>Tokens</a:t>
            </a:r>
          </a:p>
        </p:txBody>
      </p:sp>
      <p:sp>
        <p:nvSpPr>
          <p:cNvPr id="9228" name="TextBox 19"/>
          <p:cNvSpPr txBox="1">
            <a:spLocks noChangeArrowheads="1"/>
          </p:cNvSpPr>
          <p:nvPr/>
        </p:nvSpPr>
        <p:spPr bwMode="auto">
          <a:xfrm>
            <a:off x="5105400" y="4180285"/>
            <a:ext cx="10668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en-US" sz="1600" dirty="0"/>
              <a:t>Req. for Tokens</a:t>
            </a:r>
          </a:p>
        </p:txBody>
      </p:sp>
      <p:sp>
        <p:nvSpPr>
          <p:cNvPr id="9229" name="TextBox 20"/>
          <p:cNvSpPr txBox="1">
            <a:spLocks noChangeArrowheads="1"/>
          </p:cNvSpPr>
          <p:nvPr/>
        </p:nvSpPr>
        <p:spPr bwMode="auto">
          <a:xfrm>
            <a:off x="2286000" y="3780235"/>
            <a:ext cx="1066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en-US" sz="1600" dirty="0" err="1"/>
              <a:t>Lexers</a:t>
            </a:r>
            <a:endParaRPr lang="en-US" altLang="en-US" sz="1600" dirty="0"/>
          </a:p>
        </p:txBody>
      </p:sp>
      <p:sp>
        <p:nvSpPr>
          <p:cNvPr id="14" name="Text Placeholder 1"/>
          <p:cNvSpPr txBox="1">
            <a:spLocks/>
          </p:cNvSpPr>
          <p:nvPr/>
        </p:nvSpPr>
        <p:spPr>
          <a:xfrm>
            <a:off x="0" y="483518"/>
            <a:ext cx="9144000" cy="576064"/>
          </a:xfrm>
          <a:prstGeom prst="rect">
            <a:avLst/>
          </a:prstGeom>
        </p:spPr>
        <p:txBody>
          <a:bodyPr/>
          <a:lstStyle/>
          <a:p>
            <a:pPr lvl="0" algn="ctr"/>
            <a:r>
              <a:rPr lang="en-US" altLang="en-US" sz="3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Lexical Analyzer</a:t>
            </a:r>
            <a:endParaRPr kumimoji="0" lang="en-US" altLang="ko-KR" sz="3600" i="0" u="none" strike="noStrike" kern="1200" cap="none" spc="0" normalizeH="0" baseline="0" noProof="0" dirty="0" smtClean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Arial heading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038350"/>
            <a:ext cx="6172200" cy="548879"/>
          </a:xfrm>
        </p:spPr>
        <p:txBody>
          <a:bodyPr/>
          <a:lstStyle/>
          <a:p>
            <a:r>
              <a:rPr lang="en-US" sz="2700" dirty="0">
                <a:solidFill>
                  <a:srgbClr val="003366"/>
                </a:solidFill>
              </a:rPr>
              <a:t>UNIT 4.2</a:t>
            </a:r>
            <a:endParaRPr lang="en-US" sz="2700" dirty="0">
              <a:solidFill>
                <a:srgbClr val="003366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2AEF6-A042-4DA6-A3E1-F04AAE1E3944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590800" y="2724150"/>
            <a:ext cx="3829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defRPr/>
            </a:pPr>
            <a:r>
              <a:rPr lang="en-US" dirty="0"/>
              <a:t>Role of Lexical Analyzer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6972300" y="1"/>
            <a:ext cx="1543050" cy="219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25" b="1" dirty="0">
                <a:solidFill>
                  <a:schemeClr val="bg1"/>
                </a:solidFill>
                <a:hlinkClick r:id="rId2" action="ppaction://hlinksldjump"/>
              </a:rPr>
              <a:t>Home</a:t>
            </a:r>
            <a:endParaRPr lang="en-US" sz="825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4864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Basic Concepts &amp; Regular Expressions</a:t>
            </a:r>
          </a:p>
          <a:p>
            <a:pPr lvl="1">
              <a:defRPr/>
            </a:pPr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What does a Lexical Analyzer do? </a:t>
            </a:r>
          </a:p>
          <a:p>
            <a:pPr lvl="1">
              <a:defRPr/>
            </a:pPr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How does it Work? </a:t>
            </a:r>
          </a:p>
          <a:p>
            <a:pPr lvl="1">
              <a:defRPr/>
            </a:pPr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Formalizing Token Definition &amp; Recognition</a:t>
            </a:r>
          </a:p>
          <a:p>
            <a:pPr lvl="1">
              <a:buFont typeface="Wingdings" pitchFamily="2" charset="2"/>
              <a:buNone/>
              <a:defRPr/>
            </a:pPr>
            <a:endParaRPr lang="en-US" sz="24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defRPr/>
            </a:pPr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Reviewing Finite Automata Concepts</a:t>
            </a:r>
          </a:p>
          <a:p>
            <a:pPr lvl="1">
              <a:defRPr/>
            </a:pPr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Non-Deterministic and Deterministic FA</a:t>
            </a:r>
          </a:p>
          <a:p>
            <a:pPr lvl="1">
              <a:defRPr/>
            </a:pPr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Conversion Process</a:t>
            </a:r>
          </a:p>
          <a:p>
            <a:pPr lvl="2">
              <a:lnSpc>
                <a:spcPct val="90000"/>
              </a:lnSpc>
              <a:defRPr/>
            </a:pP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Regular Expressions to NFA</a:t>
            </a:r>
          </a:p>
          <a:p>
            <a:pPr lvl="2">
              <a:lnSpc>
                <a:spcPct val="90000"/>
              </a:lnSpc>
              <a:defRPr/>
            </a:pP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NFA to DFA</a:t>
            </a:r>
          </a:p>
          <a:p>
            <a:pPr lvl="2">
              <a:lnSpc>
                <a:spcPct val="90000"/>
              </a:lnSpc>
              <a:buFont typeface="Wingdings" pitchFamily="2" charset="2"/>
              <a:buNone/>
              <a:defRPr/>
            </a:pPr>
            <a:endParaRPr lang="en-US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defRPr/>
            </a:pPr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Relating NFAs/DFAs /Conversion to Lexical Analysis</a:t>
            </a:r>
          </a:p>
        </p:txBody>
      </p:sp>
      <p:sp>
        <p:nvSpPr>
          <p:cNvPr id="5" name="Text Placeholder 1"/>
          <p:cNvSpPr txBox="1">
            <a:spLocks/>
          </p:cNvSpPr>
          <p:nvPr/>
        </p:nvSpPr>
        <p:spPr>
          <a:xfrm>
            <a:off x="0" y="483518"/>
            <a:ext cx="9144000" cy="576064"/>
          </a:xfrm>
          <a:prstGeom prst="rect">
            <a:avLst/>
          </a:prstGeom>
        </p:spPr>
        <p:txBody>
          <a:bodyPr/>
          <a:lstStyle/>
          <a:p>
            <a:pPr lvl="0" algn="ctr"/>
            <a:r>
              <a:rPr lang="en-US" altLang="en-US" sz="3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Lexical Analysis</a:t>
            </a:r>
            <a:endParaRPr kumimoji="0" lang="en-US" altLang="ko-KR" sz="3600" i="0" u="none" strike="noStrike" kern="1200" cap="none" spc="0" normalizeH="0" baseline="0" noProof="0" dirty="0" smtClean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Arial heading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en-US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Scanner are divided into two phases:</a:t>
            </a:r>
          </a:p>
          <a:p>
            <a:pPr>
              <a:buFontTx/>
              <a:buChar char="-"/>
            </a:pPr>
            <a:r>
              <a:rPr lang="en-US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Scanning consists of the simple processes that do not require tokenization of the input, such as deletion of comments and compaction of consecutive whitespace and characters into one.</a:t>
            </a:r>
          </a:p>
          <a:p>
            <a:pPr>
              <a:buFontTx/>
              <a:buChar char="-"/>
            </a:pPr>
            <a:r>
              <a:rPr lang="en-US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Lexical analysis proper is the more complex portion, where the scanner produces the sequences of tokens as output.</a:t>
            </a:r>
          </a:p>
          <a:p>
            <a:pPr>
              <a:buFont typeface="Arial" pitchFamily="34" charset="0"/>
              <a:buNone/>
            </a:pPr>
            <a:endParaRPr lang="en-US" altLang="en-US" sz="28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Text Placeholder 1"/>
          <p:cNvSpPr txBox="1">
            <a:spLocks/>
          </p:cNvSpPr>
          <p:nvPr/>
        </p:nvSpPr>
        <p:spPr>
          <a:xfrm>
            <a:off x="0" y="483518"/>
            <a:ext cx="9144000" cy="576064"/>
          </a:xfrm>
          <a:prstGeom prst="rect">
            <a:avLst/>
          </a:prstGeom>
        </p:spPr>
        <p:txBody>
          <a:bodyPr/>
          <a:lstStyle/>
          <a:p>
            <a:pPr lvl="0" algn="ctr"/>
            <a:r>
              <a:rPr lang="en-US" altLang="en-US" sz="3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Lexical Analyzer</a:t>
            </a:r>
            <a:endParaRPr kumimoji="0" lang="en-US" altLang="ko-KR" sz="3600" i="0" u="none" strike="noStrike" kern="1200" cap="none" spc="0" normalizeH="0" baseline="0" noProof="0" dirty="0" smtClean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Arial heading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Separation of Lexical Analysis From Parsing Presents a </a:t>
            </a:r>
            <a:r>
              <a:rPr lang="en-US" sz="2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Simpler Conceptual Model</a:t>
            </a:r>
          </a:p>
          <a:p>
            <a:pPr>
              <a:buNone/>
              <a:defRPr/>
            </a:pPr>
            <a:endParaRPr lang="en-US" sz="28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lvl="1">
              <a:defRPr/>
            </a:pPr>
            <a:r>
              <a:rPr 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A parser embodying the conventions for comments and white space is significantly more complex that one that can assume comments and white space have already been removed by lexical analyzer.</a:t>
            </a:r>
          </a:p>
          <a:p>
            <a:pPr lvl="1">
              <a:buNone/>
              <a:defRPr/>
            </a:pPr>
            <a:endParaRPr lang="en-US" sz="20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lvl="1" eaLnBrk="1" hangingPunct="1">
              <a:defRPr/>
            </a:pP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From a Software Engineering Perspective   Division Emphasizes</a:t>
            </a:r>
          </a:p>
          <a:p>
            <a:pPr lvl="2" eaLnBrk="1" hangingPunct="1">
              <a:defRPr/>
            </a:pP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High Cohesion and   Low Coupling</a:t>
            </a:r>
          </a:p>
          <a:p>
            <a:pPr lvl="2" eaLnBrk="1" hangingPunct="1">
              <a:defRPr/>
            </a:pP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Implies </a:t>
            </a: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Well Specified  Parallel Implementation</a:t>
            </a:r>
            <a:endParaRPr lang="en-US" sz="20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lvl="1">
              <a:defRPr/>
            </a:pPr>
            <a:endParaRPr lang="en-US" sz="20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  <a:sym typeface="Symbol" pitchFamily="18" charset="2"/>
              </a:rPr>
              <a:t>Separation Increases </a:t>
            </a:r>
            <a:r>
              <a:rPr lang="en-US" sz="2600" dirty="0" smtClean="0">
                <a:solidFill>
                  <a:schemeClr val="tx1">
                    <a:lumMod val="75000"/>
                    <a:lumOff val="25000"/>
                  </a:schemeClr>
                </a:solidFill>
                <a:sym typeface="Symbol" pitchFamily="18" charset="2"/>
              </a:rPr>
              <a:t>Compiler Efficiency </a:t>
            </a:r>
            <a:endParaRPr lang="en-US" sz="2800" dirty="0" smtClean="0">
              <a:solidFill>
                <a:schemeClr val="tx1">
                  <a:lumMod val="75000"/>
                  <a:lumOff val="25000"/>
                </a:schemeClr>
              </a:solidFill>
              <a:sym typeface="Symbol" pitchFamily="18" charset="2"/>
            </a:endParaRPr>
          </a:p>
          <a:p>
            <a:pPr lvl="1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sym typeface="Symbol" pitchFamily="18" charset="2"/>
              </a:rPr>
              <a:t>Specialized buffering techniques for reading input characters and processing tokens… </a:t>
            </a:r>
          </a:p>
          <a:p>
            <a:pPr lvl="1">
              <a:lnSpc>
                <a:spcPct val="90000"/>
              </a:lnSpc>
              <a:spcBef>
                <a:spcPct val="50000"/>
              </a:spcBef>
              <a:defRPr/>
            </a:pPr>
            <a:endParaRPr lang="en-US" sz="2000" dirty="0" smtClean="0">
              <a:solidFill>
                <a:schemeClr val="tx1">
                  <a:lumMod val="75000"/>
                  <a:lumOff val="25000"/>
                </a:schemeClr>
              </a:solidFill>
              <a:sym typeface="Symbol" pitchFamily="18" charset="2"/>
            </a:endParaRPr>
          </a:p>
          <a:p>
            <a:pPr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  <a:sym typeface="Symbol" pitchFamily="18" charset="2"/>
              </a:rPr>
              <a:t>Separation Promotes </a:t>
            </a:r>
            <a:r>
              <a:rPr lang="en-US" sz="2600" dirty="0" smtClean="0">
                <a:solidFill>
                  <a:schemeClr val="tx1">
                    <a:lumMod val="75000"/>
                    <a:lumOff val="25000"/>
                  </a:schemeClr>
                </a:solidFill>
                <a:sym typeface="Symbol" pitchFamily="18" charset="2"/>
              </a:rPr>
              <a:t>Portability</a:t>
            </a:r>
            <a:endParaRPr lang="en-US" sz="2800" dirty="0" smtClean="0">
              <a:solidFill>
                <a:schemeClr val="tx1">
                  <a:lumMod val="75000"/>
                  <a:lumOff val="25000"/>
                </a:schemeClr>
              </a:solidFill>
              <a:sym typeface="Symbol" pitchFamily="18" charset="2"/>
            </a:endParaRPr>
          </a:p>
          <a:p>
            <a:pPr lvl="1">
              <a:spcBef>
                <a:spcPct val="50000"/>
              </a:spcBef>
              <a:defRPr/>
            </a:pPr>
            <a:r>
              <a:rPr 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sym typeface="Symbol" pitchFamily="18" charset="2"/>
              </a:rPr>
              <a:t>Input alphabet peculiarities and other device-specific anomalies can be restricted to the lexical analyzer.</a:t>
            </a:r>
          </a:p>
          <a:p>
            <a:pPr lvl="1" eaLnBrk="1" hangingPunct="1">
              <a:spcBef>
                <a:spcPct val="50000"/>
              </a:spcBef>
              <a:defRPr/>
            </a:pPr>
            <a:r>
              <a:rPr 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sym typeface="Symbol" pitchFamily="18" charset="2"/>
              </a:rPr>
              <a:t>This is critical today, when platforms (OSs and Hardware) are numerous and varied!</a:t>
            </a:r>
          </a:p>
          <a:p>
            <a:pPr lvl="1" eaLnBrk="1" hangingPunct="1">
              <a:lnSpc>
                <a:spcPct val="50000"/>
              </a:lnSpc>
              <a:spcBef>
                <a:spcPct val="50000"/>
              </a:spcBef>
              <a:defRPr/>
            </a:pPr>
            <a:r>
              <a:rPr 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sym typeface="Symbol" pitchFamily="18" charset="2"/>
              </a:rPr>
              <a:t>Emergence of Platform Independence - Java</a:t>
            </a:r>
          </a:p>
          <a:p>
            <a:pPr>
              <a:defRPr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Text Placeholder 1"/>
          <p:cNvSpPr txBox="1">
            <a:spLocks/>
          </p:cNvSpPr>
          <p:nvPr/>
        </p:nvSpPr>
        <p:spPr>
          <a:xfrm>
            <a:off x="0" y="483518"/>
            <a:ext cx="9144000" cy="576064"/>
          </a:xfrm>
          <a:prstGeom prst="rect">
            <a:avLst/>
          </a:prstGeom>
        </p:spPr>
        <p:txBody>
          <a:bodyPr/>
          <a:lstStyle/>
          <a:p>
            <a:pPr lvl="0" algn="ctr"/>
            <a:r>
              <a:rPr lang="en-US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What Factors Have Influenced the Functional Division of Labor ?</a:t>
            </a:r>
            <a:endParaRPr kumimoji="0" lang="en-US" altLang="ko-KR" sz="2400" i="0" u="none" strike="noStrike" kern="1200" cap="none" spc="0" normalizeH="0" baseline="0" noProof="0" dirty="0" smtClean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Arial heading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What are Major Terms for Lexical Analysis?</a:t>
            </a:r>
          </a:p>
          <a:p>
            <a:pPr lvl="1">
              <a:defRPr/>
            </a:pPr>
            <a:r>
              <a:rPr lang="en-US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TOKEN</a:t>
            </a:r>
          </a:p>
          <a:p>
            <a:pPr lvl="2">
              <a:defRPr/>
            </a:pP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A pair consisting of a token name and an optional attribute value.</a:t>
            </a:r>
          </a:p>
          <a:p>
            <a:pPr lvl="2">
              <a:defRPr/>
            </a:pPr>
            <a:r>
              <a:rPr lang="en-US" sz="21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A particular keyword, or a sequence of input characters denoting identifier.</a:t>
            </a:r>
          </a:p>
          <a:p>
            <a:pPr lvl="2">
              <a:buFont typeface="Wingdings" pitchFamily="2" charset="2"/>
              <a:buNone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Examples Include Identifier, Integer, Float, Assign,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LParen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RParen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etc</a:t>
            </a: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  <a:p>
            <a:pPr lvl="2">
              <a:buFont typeface="Wingdings" pitchFamily="2" charset="2"/>
              <a:buNone/>
              <a:defRPr/>
            </a:pPr>
            <a:endParaRPr lang="en-US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lvl="1">
              <a:defRPr/>
            </a:pPr>
            <a:r>
              <a:rPr lang="en-US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PATTERN</a:t>
            </a:r>
          </a:p>
          <a:p>
            <a:pPr lvl="2">
              <a:defRPr/>
            </a:pP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A description of a form that the lexemes of a token may take.</a:t>
            </a:r>
          </a:p>
          <a:p>
            <a:pPr lvl="2">
              <a:defRPr/>
            </a:pPr>
            <a:r>
              <a:rPr lang="en-US" sz="21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For keywords, the pattern is just a sequence of characters that form keywords.</a:t>
            </a:r>
          </a:p>
          <a:p>
            <a:pPr lvl="2">
              <a:defRPr/>
            </a:pPr>
            <a:r>
              <a:rPr lang="en-US" sz="2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Example: The rules which characterize the set of strings for a token – integers [0-9]+</a:t>
            </a:r>
          </a:p>
          <a:p>
            <a:pPr lvl="2">
              <a:buFont typeface="Wingdings" pitchFamily="2" charset="2"/>
              <a:buNone/>
              <a:defRPr/>
            </a:pPr>
            <a:endParaRPr lang="en-US" sz="2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lvl="1">
              <a:defRPr/>
            </a:pPr>
            <a:r>
              <a:rPr lang="en-US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LEXEME</a:t>
            </a:r>
          </a:p>
          <a:p>
            <a:pPr lvl="2">
              <a:defRPr/>
            </a:pP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Actual sequence of characters that matches pattern and is classified by a token. Examples include:</a:t>
            </a:r>
          </a:p>
          <a:p>
            <a:pPr lvl="2" eaLnBrk="1" hangingPunct="1">
              <a:defRPr/>
            </a:pP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Identifiers: x, count, name, etc…</a:t>
            </a:r>
            <a:r>
              <a:rPr lang="en-US" sz="3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</a:p>
          <a:p>
            <a:pPr lvl="2" eaLnBrk="1" hangingPunct="1">
              <a:defRPr/>
            </a:pP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Integers: 345, 20 -12, etc.</a:t>
            </a:r>
          </a:p>
          <a:p>
            <a:pPr lvl="2">
              <a:defRPr/>
            </a:pPr>
            <a:endParaRPr lang="en-US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defRPr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Text Placeholder 1"/>
          <p:cNvSpPr txBox="1">
            <a:spLocks/>
          </p:cNvSpPr>
          <p:nvPr/>
        </p:nvSpPr>
        <p:spPr>
          <a:xfrm>
            <a:off x="0" y="483518"/>
            <a:ext cx="9144000" cy="576064"/>
          </a:xfrm>
          <a:prstGeom prst="rect">
            <a:avLst/>
          </a:prstGeom>
        </p:spPr>
        <p:txBody>
          <a:bodyPr/>
          <a:lstStyle/>
          <a:p>
            <a:pPr lvl="0" algn="ctr"/>
            <a:r>
              <a:rPr lang="en-US" altLang="en-US" sz="3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Basic Terminology</a:t>
            </a:r>
            <a:endParaRPr kumimoji="0" lang="en-US" altLang="ko-KR" sz="3600" i="0" u="none" strike="noStrike" kern="1200" cap="none" spc="0" normalizeH="0" baseline="0" noProof="0" dirty="0" smtClean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Arial heading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5"/>
          <p:cNvGrpSpPr>
            <a:grpSpLocks/>
          </p:cNvGrpSpPr>
          <p:nvPr/>
        </p:nvGrpSpPr>
        <p:grpSpPr bwMode="auto">
          <a:xfrm>
            <a:off x="673100" y="1291828"/>
            <a:ext cx="7480300" cy="3380184"/>
            <a:chOff x="812" y="912"/>
            <a:chExt cx="4712" cy="2839"/>
          </a:xfrm>
        </p:grpSpPr>
        <p:sp>
          <p:nvSpPr>
            <p:cNvPr id="15365" name="Line 4"/>
            <p:cNvSpPr>
              <a:spLocks noChangeShapeType="1"/>
            </p:cNvSpPr>
            <p:nvPr/>
          </p:nvSpPr>
          <p:spPr bwMode="auto">
            <a:xfrm>
              <a:off x="816" y="912"/>
              <a:ext cx="45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4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5366" name="Line 5"/>
            <p:cNvSpPr>
              <a:spLocks noChangeShapeType="1"/>
            </p:cNvSpPr>
            <p:nvPr/>
          </p:nvSpPr>
          <p:spPr bwMode="auto">
            <a:xfrm>
              <a:off x="815" y="948"/>
              <a:ext cx="4552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4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5367" name="Line 6"/>
            <p:cNvSpPr>
              <a:spLocks noChangeShapeType="1"/>
            </p:cNvSpPr>
            <p:nvPr/>
          </p:nvSpPr>
          <p:spPr bwMode="auto">
            <a:xfrm>
              <a:off x="815" y="1188"/>
              <a:ext cx="4552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4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5368" name="Line 7"/>
            <p:cNvSpPr>
              <a:spLocks noChangeShapeType="1"/>
            </p:cNvSpPr>
            <p:nvPr/>
          </p:nvSpPr>
          <p:spPr bwMode="auto">
            <a:xfrm>
              <a:off x="844" y="2885"/>
              <a:ext cx="4552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4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5369" name="Text Box 8"/>
            <p:cNvSpPr txBox="1">
              <a:spLocks noChangeArrowheads="1"/>
            </p:cNvSpPr>
            <p:nvPr/>
          </p:nvSpPr>
          <p:spPr bwMode="auto">
            <a:xfrm>
              <a:off x="816" y="951"/>
              <a:ext cx="777" cy="2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Token</a:t>
              </a:r>
            </a:p>
          </p:txBody>
        </p:sp>
        <p:sp>
          <p:nvSpPr>
            <p:cNvPr id="15370" name="Text Box 9"/>
            <p:cNvSpPr txBox="1">
              <a:spLocks noChangeArrowheads="1"/>
            </p:cNvSpPr>
            <p:nvPr/>
          </p:nvSpPr>
          <p:spPr bwMode="auto">
            <a:xfrm>
              <a:off x="1625" y="948"/>
              <a:ext cx="1499" cy="2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1600" b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Sample Lexemes</a:t>
              </a:r>
            </a:p>
          </p:txBody>
        </p:sp>
        <p:sp>
          <p:nvSpPr>
            <p:cNvPr id="15371" name="Text Box 10"/>
            <p:cNvSpPr txBox="1">
              <a:spLocks noChangeArrowheads="1"/>
            </p:cNvSpPr>
            <p:nvPr/>
          </p:nvSpPr>
          <p:spPr bwMode="auto">
            <a:xfrm>
              <a:off x="3137" y="948"/>
              <a:ext cx="2387" cy="2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1600" b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Informal Description of Pattern</a:t>
              </a:r>
            </a:p>
          </p:txBody>
        </p:sp>
        <p:sp>
          <p:nvSpPr>
            <p:cNvPr id="15372" name="Line 11"/>
            <p:cNvSpPr>
              <a:spLocks noChangeShapeType="1"/>
            </p:cNvSpPr>
            <p:nvPr/>
          </p:nvSpPr>
          <p:spPr bwMode="auto">
            <a:xfrm flipH="1">
              <a:off x="1648" y="948"/>
              <a:ext cx="0" cy="19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4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5373" name="Line 12"/>
            <p:cNvSpPr>
              <a:spLocks noChangeShapeType="1"/>
            </p:cNvSpPr>
            <p:nvPr/>
          </p:nvSpPr>
          <p:spPr bwMode="auto">
            <a:xfrm>
              <a:off x="3091" y="948"/>
              <a:ext cx="5" cy="19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4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5374" name="Text Box 13"/>
            <p:cNvSpPr txBox="1">
              <a:spLocks noChangeArrowheads="1"/>
            </p:cNvSpPr>
            <p:nvPr/>
          </p:nvSpPr>
          <p:spPr bwMode="auto">
            <a:xfrm>
              <a:off x="812" y="1188"/>
              <a:ext cx="833" cy="16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const</a:t>
              </a:r>
            </a:p>
            <a:p>
              <a:pPr>
                <a:spcBef>
                  <a:spcPct val="50000"/>
                </a:spcBef>
              </a:pPr>
              <a:r>
                <a:rPr lang="en-US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if</a:t>
              </a:r>
            </a:p>
            <a:p>
              <a:pPr>
                <a:spcBef>
                  <a:spcPct val="50000"/>
                </a:spcBef>
              </a:pPr>
              <a:r>
                <a:rPr lang="en-US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relation</a:t>
              </a:r>
            </a:p>
            <a:p>
              <a:pPr>
                <a:spcBef>
                  <a:spcPct val="50000"/>
                </a:spcBef>
              </a:pPr>
              <a:r>
                <a:rPr lang="en-US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id</a:t>
              </a:r>
            </a:p>
            <a:p>
              <a:pPr>
                <a:spcBef>
                  <a:spcPct val="50000"/>
                </a:spcBef>
              </a:pPr>
              <a:r>
                <a:rPr lang="en-US" altLang="en-US" sz="1400" u="sng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num</a:t>
              </a:r>
              <a:endParaRPr lang="en-US" altLang="en-US" sz="14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>
                <a:spcBef>
                  <a:spcPct val="50000"/>
                </a:spcBef>
              </a:pPr>
              <a:r>
                <a:rPr lang="en-US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literal</a:t>
              </a:r>
            </a:p>
          </p:txBody>
        </p:sp>
        <p:sp>
          <p:nvSpPr>
            <p:cNvPr id="15375" name="Text Box 14"/>
            <p:cNvSpPr txBox="1">
              <a:spLocks noChangeArrowheads="1"/>
            </p:cNvSpPr>
            <p:nvPr/>
          </p:nvSpPr>
          <p:spPr bwMode="auto">
            <a:xfrm>
              <a:off x="1648" y="1188"/>
              <a:ext cx="1443" cy="16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const</a:t>
              </a:r>
            </a:p>
            <a:p>
              <a:pPr>
                <a:spcBef>
                  <a:spcPct val="50000"/>
                </a:spcBef>
              </a:pPr>
              <a:r>
                <a:rPr lang="en-US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if</a:t>
              </a:r>
            </a:p>
            <a:p>
              <a:pPr>
                <a:spcBef>
                  <a:spcPct val="50000"/>
                </a:spcBef>
              </a:pPr>
              <a:r>
                <a:rPr lang="en-US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&lt;, &lt;=, =, &lt; &gt;, &gt;, &gt;=</a:t>
              </a:r>
            </a:p>
            <a:p>
              <a:pPr>
                <a:spcBef>
                  <a:spcPct val="50000"/>
                </a:spcBef>
              </a:pPr>
              <a:r>
                <a:rPr lang="en-US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pi, </a:t>
              </a:r>
              <a:r>
                <a:rPr lang="en-US" altLang="en-US" sz="1400" u="sng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count</a:t>
              </a:r>
              <a:r>
                <a:rPr lang="en-US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, </a:t>
              </a:r>
              <a:r>
                <a:rPr lang="en-US" altLang="en-US" sz="1400" u="sng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D2</a:t>
              </a:r>
            </a:p>
            <a:p>
              <a:pPr>
                <a:spcBef>
                  <a:spcPct val="50000"/>
                </a:spcBef>
              </a:pPr>
              <a:r>
                <a:rPr lang="en-US" altLang="en-US" sz="1400" u="sng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3.1416,  0,  6.02E23</a:t>
              </a:r>
            </a:p>
            <a:p>
              <a:pPr>
                <a:spcBef>
                  <a:spcPct val="50000"/>
                </a:spcBef>
              </a:pPr>
              <a:r>
                <a:rPr lang="en-US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“core dumped”</a:t>
              </a:r>
            </a:p>
          </p:txBody>
        </p:sp>
        <p:sp>
          <p:nvSpPr>
            <p:cNvPr id="15376" name="Text Box 15"/>
            <p:cNvSpPr txBox="1">
              <a:spLocks noChangeArrowheads="1"/>
            </p:cNvSpPr>
            <p:nvPr/>
          </p:nvSpPr>
          <p:spPr bwMode="auto">
            <a:xfrm>
              <a:off x="3091" y="1188"/>
              <a:ext cx="2332" cy="16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const</a:t>
              </a:r>
            </a:p>
            <a:p>
              <a:pPr>
                <a:spcBef>
                  <a:spcPct val="50000"/>
                </a:spcBef>
              </a:pPr>
              <a:r>
                <a:rPr lang="en-US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characters of i, f</a:t>
              </a:r>
            </a:p>
            <a:p>
              <a:pPr>
                <a:spcBef>
                  <a:spcPct val="50000"/>
                </a:spcBef>
              </a:pPr>
              <a:r>
                <a:rPr lang="en-US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&lt; or &lt;= or = or &lt; &gt; or &gt;= or &gt;</a:t>
              </a:r>
            </a:p>
            <a:p>
              <a:pPr>
                <a:spcBef>
                  <a:spcPct val="50000"/>
                </a:spcBef>
              </a:pPr>
              <a:r>
                <a:rPr lang="en-US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letter followed by letters and digits</a:t>
              </a:r>
            </a:p>
            <a:p>
              <a:pPr>
                <a:spcBef>
                  <a:spcPct val="50000"/>
                </a:spcBef>
              </a:pPr>
              <a:r>
                <a:rPr lang="en-US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any numeric constant</a:t>
              </a:r>
            </a:p>
            <a:p>
              <a:pPr>
                <a:spcBef>
                  <a:spcPct val="50000"/>
                </a:spcBef>
              </a:pPr>
              <a:r>
                <a:rPr lang="en-US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any characters between “ and “ except “</a:t>
              </a:r>
            </a:p>
          </p:txBody>
        </p:sp>
        <p:sp>
          <p:nvSpPr>
            <p:cNvPr id="15377" name="Text Box 16"/>
            <p:cNvSpPr txBox="1">
              <a:spLocks noChangeArrowheads="1"/>
            </p:cNvSpPr>
            <p:nvPr/>
          </p:nvSpPr>
          <p:spPr bwMode="auto">
            <a:xfrm>
              <a:off x="871" y="3108"/>
              <a:ext cx="943" cy="4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Classifies Pattern</a:t>
              </a:r>
            </a:p>
          </p:txBody>
        </p:sp>
        <p:sp>
          <p:nvSpPr>
            <p:cNvPr id="15378" name="Rectangle 17"/>
            <p:cNvSpPr>
              <a:spLocks noChangeArrowheads="1"/>
            </p:cNvSpPr>
            <p:nvPr/>
          </p:nvSpPr>
          <p:spPr bwMode="auto">
            <a:xfrm>
              <a:off x="815" y="2148"/>
              <a:ext cx="444" cy="1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en-US" sz="14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cxnSp>
          <p:nvCxnSpPr>
            <p:cNvPr id="15379" name="AutoShape 18"/>
            <p:cNvCxnSpPr>
              <a:cxnSpLocks noChangeShapeType="1"/>
            </p:cNvCxnSpPr>
            <p:nvPr/>
          </p:nvCxnSpPr>
          <p:spPr bwMode="auto">
            <a:xfrm rot="10800000">
              <a:off x="815" y="2131"/>
              <a:ext cx="56" cy="1101"/>
            </a:xfrm>
            <a:prstGeom prst="curvedConnector3">
              <a:avLst>
                <a:gd name="adj1" fmla="val 497403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15380" name="Text Box 19"/>
            <p:cNvSpPr txBox="1">
              <a:spLocks noChangeArrowheads="1"/>
            </p:cNvSpPr>
            <p:nvPr/>
          </p:nvSpPr>
          <p:spPr bwMode="auto">
            <a:xfrm>
              <a:off x="2425" y="3012"/>
              <a:ext cx="2665" cy="7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Actual values are critical.  Info is :</a:t>
              </a:r>
            </a:p>
            <a:p>
              <a:pPr lvl="1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1. Stored in symbol table</a:t>
              </a:r>
            </a:p>
            <a:p>
              <a:pPr lvl="1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2. Returned to parser</a:t>
              </a:r>
            </a:p>
          </p:txBody>
        </p:sp>
        <p:sp>
          <p:nvSpPr>
            <p:cNvPr id="15381" name="Line 20"/>
            <p:cNvSpPr>
              <a:spLocks noChangeShapeType="1"/>
            </p:cNvSpPr>
            <p:nvPr/>
          </p:nvSpPr>
          <p:spPr bwMode="auto">
            <a:xfrm flipH="1" flipV="1">
              <a:off x="2592" y="2460"/>
              <a:ext cx="444" cy="5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 sz="14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5382" name="Rectangle 21"/>
            <p:cNvSpPr>
              <a:spLocks noChangeArrowheads="1"/>
            </p:cNvSpPr>
            <p:nvPr/>
          </p:nvSpPr>
          <p:spPr bwMode="auto">
            <a:xfrm>
              <a:off x="2304" y="2016"/>
              <a:ext cx="288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en-US" sz="14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cxnSp>
          <p:nvCxnSpPr>
            <p:cNvPr id="15383" name="AutoShape 22"/>
            <p:cNvCxnSpPr>
              <a:cxnSpLocks noChangeShapeType="1"/>
              <a:stCxn id="15381" idx="0"/>
              <a:endCxn id="15382" idx="3"/>
            </p:cNvCxnSpPr>
            <p:nvPr/>
          </p:nvCxnSpPr>
          <p:spPr bwMode="auto">
            <a:xfrm rot="16200000" flipV="1">
              <a:off x="2352" y="2328"/>
              <a:ext cx="924" cy="444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</p:grpSp>
      <p:sp>
        <p:nvSpPr>
          <p:cNvPr id="24" name="Text Placeholder 1"/>
          <p:cNvSpPr txBox="1">
            <a:spLocks/>
          </p:cNvSpPr>
          <p:nvPr/>
        </p:nvSpPr>
        <p:spPr>
          <a:xfrm>
            <a:off x="0" y="483518"/>
            <a:ext cx="9144000" cy="576064"/>
          </a:xfrm>
          <a:prstGeom prst="rect">
            <a:avLst/>
          </a:prstGeom>
        </p:spPr>
        <p:txBody>
          <a:bodyPr/>
          <a:lstStyle/>
          <a:p>
            <a:pPr lvl="0" algn="ctr"/>
            <a:r>
              <a:rPr lang="en-US" altLang="en-US" sz="3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Basic Terminology</a:t>
            </a:r>
            <a:endParaRPr kumimoji="0" lang="en-US" altLang="ko-KR" sz="3600" i="0" u="none" strike="noStrike" kern="1200" cap="none" spc="0" normalizeH="0" baseline="0" noProof="0" dirty="0" smtClean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Arial heading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spcBef>
                <a:spcPct val="50000"/>
              </a:spcBef>
              <a:defRPr/>
            </a:pPr>
            <a:r>
              <a:rPr 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Its hard for lexical analyzer without the aid of other components, that there is a source-code error.</a:t>
            </a:r>
          </a:p>
          <a:p>
            <a:pPr lvl="1">
              <a:spcBef>
                <a:spcPct val="50000"/>
              </a:spcBef>
              <a:defRPr/>
            </a:pP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If the statement </a:t>
            </a:r>
            <a:r>
              <a:rPr lang="en-US" sz="16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fi</a:t>
            </a:r>
            <a:r>
              <a:rPr 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is encountered for the first time in a C program it can not tell whether</a:t>
            </a:r>
            <a:r>
              <a:rPr 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6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fi</a:t>
            </a:r>
            <a:r>
              <a:rPr 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is misspelling of </a:t>
            </a:r>
            <a:r>
              <a:rPr 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if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statement or a undeclared literal.</a:t>
            </a:r>
          </a:p>
          <a:p>
            <a:pPr lvl="1">
              <a:spcBef>
                <a:spcPct val="50000"/>
              </a:spcBef>
              <a:defRPr/>
            </a:pP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Probably the parser in this case will be able to handle this.</a:t>
            </a:r>
          </a:p>
          <a:p>
            <a:pPr marL="411480" lvl="1" indent="0">
              <a:spcBef>
                <a:spcPct val="50000"/>
              </a:spcBef>
              <a:buFont typeface="Arial" pitchFamily="34" charset="0"/>
              <a:buNone/>
              <a:defRPr/>
            </a:pPr>
            <a:endParaRPr lang="en-US" sz="18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spcBef>
                <a:spcPct val="50000"/>
              </a:spcBef>
              <a:defRPr/>
            </a:pPr>
            <a:r>
              <a:rPr 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Error Handling is very localized, with Respect  to Input Source </a:t>
            </a:r>
          </a:p>
          <a:p>
            <a:pPr>
              <a:spcBef>
                <a:spcPct val="50000"/>
              </a:spcBef>
              <a:defRPr/>
            </a:pPr>
            <a:r>
              <a:rPr 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For example: </a:t>
            </a:r>
            <a:r>
              <a:rPr lang="en-US" sz="20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whil</a:t>
            </a:r>
            <a:r>
              <a:rPr 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 ( x = 0 ) do  </a:t>
            </a:r>
            <a:br>
              <a:rPr 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generates </a:t>
            </a:r>
            <a:r>
              <a:rPr lang="en-US" sz="2000" b="1" u="sng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no</a:t>
            </a:r>
            <a:r>
              <a:rPr 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lexical errors in language</a:t>
            </a:r>
          </a:p>
        </p:txBody>
      </p:sp>
      <p:sp>
        <p:nvSpPr>
          <p:cNvPr id="5" name="Text Placeholder 1"/>
          <p:cNvSpPr txBox="1">
            <a:spLocks/>
          </p:cNvSpPr>
          <p:nvPr/>
        </p:nvSpPr>
        <p:spPr>
          <a:xfrm>
            <a:off x="0" y="483518"/>
            <a:ext cx="9144000" cy="576064"/>
          </a:xfrm>
          <a:prstGeom prst="rect">
            <a:avLst/>
          </a:prstGeom>
        </p:spPr>
        <p:txBody>
          <a:bodyPr/>
          <a:lstStyle/>
          <a:p>
            <a:pPr lvl="0" algn="ctr"/>
            <a:r>
              <a:rPr lang="en-US" altLang="en-US" sz="3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Handling Lexical Errors</a:t>
            </a:r>
            <a:endParaRPr kumimoji="0" lang="en-US" altLang="ko-KR" sz="3600" i="0" u="none" strike="noStrike" kern="1200" cap="none" spc="0" normalizeH="0" baseline="0" noProof="0" dirty="0" smtClean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Arial heading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79000"/>
              </a:lnSpc>
              <a:spcBef>
                <a:spcPct val="50000"/>
              </a:spcBef>
            </a:pPr>
            <a:r>
              <a:rPr lang="en-US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Error Handling is very localized, with Respect  to Input Source </a:t>
            </a:r>
          </a:p>
          <a:p>
            <a:pPr eaLnBrk="1" hangingPunct="1">
              <a:lnSpc>
                <a:spcPct val="79000"/>
              </a:lnSpc>
              <a:spcBef>
                <a:spcPct val="50000"/>
              </a:spcBef>
            </a:pPr>
            <a:r>
              <a:rPr lang="en-US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For example: </a:t>
            </a:r>
            <a:r>
              <a:rPr lang="en-US" altLang="en-US" sz="20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whil</a:t>
            </a:r>
            <a:r>
              <a:rPr lang="en-US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 ( x := 0 ) do  </a:t>
            </a:r>
            <a:br>
              <a:rPr lang="en-US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generates </a:t>
            </a:r>
            <a:r>
              <a:rPr lang="en-US" altLang="en-US" sz="2000" b="1" u="sng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no</a:t>
            </a:r>
            <a:r>
              <a:rPr lang="en-US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lexical errors in PASCAL</a:t>
            </a:r>
          </a:p>
          <a:p>
            <a:pPr eaLnBrk="1" hangingPunct="1">
              <a:lnSpc>
                <a:spcPct val="79000"/>
              </a:lnSpc>
              <a:spcBef>
                <a:spcPct val="50000"/>
              </a:spcBef>
            </a:pPr>
            <a:r>
              <a:rPr lang="en-US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In what Situations do Errors Occur?</a:t>
            </a:r>
          </a:p>
          <a:p>
            <a:pPr lvl="1" eaLnBrk="1" hangingPunct="1">
              <a:lnSpc>
                <a:spcPct val="79000"/>
              </a:lnSpc>
              <a:spcBef>
                <a:spcPct val="50000"/>
              </a:spcBef>
            </a:pPr>
            <a:r>
              <a:rPr lang="en-US" alt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Prefix of remaining input doesn’t match any defined token</a:t>
            </a:r>
          </a:p>
          <a:p>
            <a:pPr eaLnBrk="1" hangingPunct="1">
              <a:lnSpc>
                <a:spcPct val="79000"/>
              </a:lnSpc>
              <a:spcBef>
                <a:spcPct val="50000"/>
              </a:spcBef>
            </a:pPr>
            <a:r>
              <a:rPr lang="en-US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Possible error recovery actions:</a:t>
            </a:r>
          </a:p>
          <a:p>
            <a:pPr lvl="1" eaLnBrk="1" hangingPunct="1">
              <a:lnSpc>
                <a:spcPct val="60000"/>
              </a:lnSpc>
              <a:spcBef>
                <a:spcPct val="50000"/>
              </a:spcBef>
            </a:pPr>
            <a:r>
              <a:rPr lang="en-US" alt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Deleting or Inserting Input Characters</a:t>
            </a:r>
          </a:p>
          <a:p>
            <a:pPr lvl="1" eaLnBrk="1" hangingPunct="1">
              <a:lnSpc>
                <a:spcPct val="60000"/>
              </a:lnSpc>
              <a:spcBef>
                <a:spcPct val="50000"/>
              </a:spcBef>
            </a:pPr>
            <a:r>
              <a:rPr lang="en-US" alt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Replacing or Transposing Characters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Or, skip over to next separator to “ignore” problem</a:t>
            </a:r>
          </a:p>
          <a:p>
            <a:endParaRPr lang="en-US" altLang="en-US" sz="20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0" y="483518"/>
            <a:ext cx="9144000" cy="576064"/>
          </a:xfrm>
          <a:prstGeom prst="rect">
            <a:avLst/>
          </a:prstGeom>
        </p:spPr>
        <p:txBody>
          <a:bodyPr/>
          <a:lstStyle/>
          <a:p>
            <a:pPr lvl="0" algn="ctr"/>
            <a:r>
              <a:rPr lang="en-US" altLang="en-US" sz="3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Handling Lexical Errors</a:t>
            </a:r>
            <a:endParaRPr kumimoji="0" lang="en-US" altLang="ko-KR" sz="3600" i="0" u="none" strike="noStrike" kern="1200" cap="none" spc="0" normalizeH="0" baseline="0" noProof="0" dirty="0" smtClean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Arial heading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1066800" y="1066800"/>
            <a:ext cx="8077200" cy="2800350"/>
          </a:xfrm>
        </p:spPr>
        <p:txBody>
          <a:bodyPr/>
          <a:lstStyle/>
          <a:p>
            <a:pPr eaLnBrk="1" hangingPunct="1"/>
            <a:r>
              <a:rPr lang="en-US" alt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Character-at-a-time I/O </a:t>
            </a:r>
          </a:p>
          <a:p>
            <a:pPr eaLnBrk="1" hangingPunct="1"/>
            <a:r>
              <a:rPr lang="en-US" alt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Block / Buffered I/O</a:t>
            </a:r>
          </a:p>
          <a:p>
            <a:pPr eaLnBrk="1" hangingPunct="1">
              <a:lnSpc>
                <a:spcPct val="39000"/>
              </a:lnSpc>
            </a:pPr>
            <a:endParaRPr lang="en-US" altLang="en-US" sz="18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eaLnBrk="1" hangingPunct="1"/>
            <a:r>
              <a:rPr lang="en-US" alt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Block/Buffered I/O</a:t>
            </a:r>
          </a:p>
          <a:p>
            <a:pPr lvl="1" eaLnBrk="1" hangingPunct="1"/>
            <a:r>
              <a:rPr lang="en-US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Utilize Block of memory </a:t>
            </a:r>
          </a:p>
          <a:p>
            <a:pPr lvl="1" eaLnBrk="1" hangingPunct="1"/>
            <a:r>
              <a:rPr lang="en-US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Stage data from source to buffer block at a time </a:t>
            </a:r>
          </a:p>
          <a:p>
            <a:pPr lvl="1" eaLnBrk="1" hangingPunct="1"/>
            <a:r>
              <a:rPr lang="en-US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Maintain two blocks  -  Why (Recall OS)?</a:t>
            </a:r>
          </a:p>
          <a:p>
            <a:pPr lvl="2" eaLnBrk="1" hangingPunct="1"/>
            <a:r>
              <a:rPr lang="en-US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Asynchronous I/O - for 1 block </a:t>
            </a:r>
          </a:p>
          <a:p>
            <a:pPr lvl="2" eaLnBrk="1" hangingPunct="1"/>
            <a:r>
              <a:rPr lang="en-US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While Lexical Analysis on 2nd block</a:t>
            </a:r>
            <a:endParaRPr lang="en-US" altLang="en-US" sz="12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8436" name="AutoShape 4"/>
          <p:cNvSpPr>
            <a:spLocks/>
          </p:cNvSpPr>
          <p:nvPr/>
        </p:nvSpPr>
        <p:spPr bwMode="auto">
          <a:xfrm>
            <a:off x="4648200" y="1123950"/>
            <a:ext cx="490538" cy="628650"/>
          </a:xfrm>
          <a:prstGeom prst="rightBrace">
            <a:avLst>
              <a:gd name="adj1" fmla="val 14239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lang="en-US" altLang="en-US" sz="1600" b="1">
              <a:latin typeface="Times New Roman" pitchFamily="18" charset="0"/>
            </a:endParaRPr>
          </a:p>
        </p:txBody>
      </p:sp>
      <p:sp>
        <p:nvSpPr>
          <p:cNvPr id="18437" name="Text Box 5"/>
          <p:cNvSpPr txBox="1">
            <a:spLocks noChangeArrowheads="1"/>
          </p:cNvSpPr>
          <p:nvPr/>
        </p:nvSpPr>
        <p:spPr bwMode="auto">
          <a:xfrm>
            <a:off x="5410200" y="1238251"/>
            <a:ext cx="2057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b="1">
                <a:solidFill>
                  <a:srgbClr val="FF5050"/>
                </a:solidFill>
                <a:latin typeface="Times New Roman" pitchFamily="18" charset="0"/>
              </a:rPr>
              <a:t>Tradeoffs ?</a:t>
            </a:r>
          </a:p>
        </p:txBody>
      </p:sp>
      <p:sp>
        <p:nvSpPr>
          <p:cNvPr id="18438" name="Rectangle 17"/>
          <p:cNvSpPr>
            <a:spLocks noChangeArrowheads="1"/>
          </p:cNvSpPr>
          <p:nvPr/>
        </p:nvSpPr>
        <p:spPr bwMode="auto">
          <a:xfrm>
            <a:off x="3048000" y="3638550"/>
            <a:ext cx="1524000" cy="3429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lang="en-US" altLang="en-US" sz="1600" b="1">
              <a:latin typeface="Times New Roman" pitchFamily="18" charset="0"/>
            </a:endParaRPr>
          </a:p>
        </p:txBody>
      </p:sp>
      <p:sp>
        <p:nvSpPr>
          <p:cNvPr id="18439" name="Rectangle 18"/>
          <p:cNvSpPr>
            <a:spLocks noChangeArrowheads="1"/>
          </p:cNvSpPr>
          <p:nvPr/>
        </p:nvSpPr>
        <p:spPr bwMode="auto">
          <a:xfrm>
            <a:off x="4572000" y="3638550"/>
            <a:ext cx="1524000" cy="3429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lang="en-US" altLang="en-US" sz="1600" b="1">
              <a:latin typeface="Times New Roman" pitchFamily="18" charset="0"/>
            </a:endParaRPr>
          </a:p>
        </p:txBody>
      </p:sp>
      <p:sp>
        <p:nvSpPr>
          <p:cNvPr id="18440" name="Text Box 19"/>
          <p:cNvSpPr txBox="1">
            <a:spLocks noChangeArrowheads="1"/>
          </p:cNvSpPr>
          <p:nvPr/>
        </p:nvSpPr>
        <p:spPr bwMode="auto">
          <a:xfrm>
            <a:off x="3048000" y="3638551"/>
            <a:ext cx="144780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1400" b="1">
                <a:latin typeface="Times New Roman" pitchFamily="18" charset="0"/>
              </a:rPr>
              <a:t>Block 1</a:t>
            </a:r>
          </a:p>
        </p:txBody>
      </p:sp>
      <p:sp>
        <p:nvSpPr>
          <p:cNvPr id="18441" name="Text Box 20"/>
          <p:cNvSpPr txBox="1">
            <a:spLocks noChangeArrowheads="1"/>
          </p:cNvSpPr>
          <p:nvPr/>
        </p:nvSpPr>
        <p:spPr bwMode="auto">
          <a:xfrm>
            <a:off x="4572000" y="3638551"/>
            <a:ext cx="144780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1400" b="1" dirty="0">
                <a:latin typeface="Times New Roman" pitchFamily="18" charset="0"/>
              </a:rPr>
              <a:t>Block 2</a:t>
            </a:r>
          </a:p>
        </p:txBody>
      </p:sp>
      <p:sp>
        <p:nvSpPr>
          <p:cNvPr id="18442" name="Text Box 21"/>
          <p:cNvSpPr txBox="1">
            <a:spLocks noChangeArrowheads="1"/>
          </p:cNvSpPr>
          <p:nvPr/>
        </p:nvSpPr>
        <p:spPr bwMode="auto">
          <a:xfrm>
            <a:off x="4724400" y="4267201"/>
            <a:ext cx="83820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400" b="1">
                <a:latin typeface="Times New Roman" pitchFamily="18" charset="0"/>
              </a:rPr>
              <a:t>ptr...</a:t>
            </a:r>
          </a:p>
        </p:txBody>
      </p:sp>
      <p:sp>
        <p:nvSpPr>
          <p:cNvPr id="18443" name="Line 22"/>
          <p:cNvSpPr>
            <a:spLocks noChangeShapeType="1"/>
          </p:cNvSpPr>
          <p:nvPr/>
        </p:nvSpPr>
        <p:spPr bwMode="auto">
          <a:xfrm flipV="1">
            <a:off x="4876800" y="4038600"/>
            <a:ext cx="0" cy="285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444" name="AutoShape 23"/>
          <p:cNvSpPr>
            <a:spLocks/>
          </p:cNvSpPr>
          <p:nvPr/>
        </p:nvSpPr>
        <p:spPr bwMode="auto">
          <a:xfrm rot="-5400000">
            <a:off x="5295900" y="3981450"/>
            <a:ext cx="228600" cy="1371600"/>
          </a:xfrm>
          <a:prstGeom prst="leftBrace">
            <a:avLst>
              <a:gd name="adj1" fmla="val 375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lang="en-US" altLang="en-US" sz="1600" b="1">
              <a:latin typeface="Times New Roman" pitchFamily="18" charset="0"/>
            </a:endParaRPr>
          </a:p>
        </p:txBody>
      </p:sp>
      <p:sp>
        <p:nvSpPr>
          <p:cNvPr id="18445" name="AutoShape 24"/>
          <p:cNvSpPr>
            <a:spLocks/>
          </p:cNvSpPr>
          <p:nvPr/>
        </p:nvSpPr>
        <p:spPr bwMode="auto">
          <a:xfrm rot="-5400000">
            <a:off x="3657600" y="3429000"/>
            <a:ext cx="228600" cy="1447800"/>
          </a:xfrm>
          <a:prstGeom prst="leftBrace">
            <a:avLst>
              <a:gd name="adj1" fmla="val 3958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lang="en-US" altLang="en-US" sz="1600" b="1">
              <a:latin typeface="Times New Roman" pitchFamily="18" charset="0"/>
            </a:endParaRPr>
          </a:p>
        </p:txBody>
      </p:sp>
      <p:sp>
        <p:nvSpPr>
          <p:cNvPr id="18446" name="Line 25"/>
          <p:cNvSpPr>
            <a:spLocks noChangeShapeType="1"/>
          </p:cNvSpPr>
          <p:nvPr/>
        </p:nvSpPr>
        <p:spPr bwMode="auto">
          <a:xfrm flipV="1">
            <a:off x="2819400" y="4324350"/>
            <a:ext cx="914400" cy="114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447" name="Text Box 35"/>
          <p:cNvSpPr txBox="1">
            <a:spLocks noChangeArrowheads="1"/>
          </p:cNvSpPr>
          <p:nvPr/>
        </p:nvSpPr>
        <p:spPr bwMode="auto">
          <a:xfrm>
            <a:off x="1143000" y="4210051"/>
            <a:ext cx="16002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400" b="1">
                <a:latin typeface="Times New Roman" pitchFamily="18" charset="0"/>
              </a:rPr>
              <a:t>When done, issue I/O</a:t>
            </a:r>
          </a:p>
        </p:txBody>
      </p:sp>
      <p:sp>
        <p:nvSpPr>
          <p:cNvPr id="18448" name="Text Box 36"/>
          <p:cNvSpPr txBox="1">
            <a:spLocks noChangeArrowheads="1"/>
          </p:cNvSpPr>
          <p:nvPr/>
        </p:nvSpPr>
        <p:spPr bwMode="auto">
          <a:xfrm>
            <a:off x="6172200" y="4324351"/>
            <a:ext cx="22098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400" b="1">
                <a:latin typeface="Times New Roman" pitchFamily="18" charset="0"/>
              </a:rPr>
              <a:t>Still Process token in 2nd block</a:t>
            </a:r>
          </a:p>
        </p:txBody>
      </p:sp>
      <p:sp>
        <p:nvSpPr>
          <p:cNvPr id="17" name="Text Placeholder 1"/>
          <p:cNvSpPr txBox="1">
            <a:spLocks/>
          </p:cNvSpPr>
          <p:nvPr/>
        </p:nvSpPr>
        <p:spPr>
          <a:xfrm>
            <a:off x="0" y="483518"/>
            <a:ext cx="9144000" cy="576064"/>
          </a:xfrm>
          <a:prstGeom prst="rect">
            <a:avLst/>
          </a:prstGeom>
        </p:spPr>
        <p:txBody>
          <a:bodyPr/>
          <a:lstStyle/>
          <a:p>
            <a:pPr lvl="0" algn="ctr"/>
            <a:r>
              <a:rPr lang="en-US" altLang="en-US" sz="3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I/O - Key For Successful Lexical Analysis</a:t>
            </a:r>
            <a:br>
              <a:rPr lang="en-US" altLang="en-US" sz="3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kumimoji="0" lang="en-US" altLang="ko-KR" sz="3600" i="0" strike="noStrike" kern="1200" cap="none" spc="0" normalizeH="0" baseline="0" noProof="0" dirty="0" smtClean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Arial heading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5467350"/>
            <a:ext cx="8229600" cy="857250"/>
          </a:xfrm>
        </p:spPr>
        <p:txBody>
          <a:bodyPr/>
          <a:lstStyle/>
          <a:p>
            <a:pPr eaLnBrk="1" hangingPunct="1"/>
            <a:r>
              <a:rPr lang="en-US" altLang="en-US" b="1" dirty="0" smtClean="0"/>
              <a:t>Algorithm: Buffered I/O with Sentinels</a:t>
            </a:r>
            <a:endParaRPr lang="en-US" altLang="en-US" dirty="0" smtClean="0">
              <a:solidFill>
                <a:srgbClr val="0066FF"/>
              </a:solidFill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1752600" y="1175145"/>
            <a:ext cx="6858000" cy="308371"/>
            <a:chOff x="144" y="1344"/>
            <a:chExt cx="3936" cy="259"/>
          </a:xfrm>
        </p:grpSpPr>
        <p:grpSp>
          <p:nvGrpSpPr>
            <p:cNvPr id="3" name="Group 5"/>
            <p:cNvGrpSpPr>
              <a:grpSpLocks/>
            </p:cNvGrpSpPr>
            <p:nvPr/>
          </p:nvGrpSpPr>
          <p:grpSpPr bwMode="auto">
            <a:xfrm>
              <a:off x="1872" y="1344"/>
              <a:ext cx="288" cy="233"/>
              <a:chOff x="624" y="1776"/>
              <a:chExt cx="288" cy="233"/>
            </a:xfrm>
          </p:grpSpPr>
          <p:sp>
            <p:nvSpPr>
              <p:cNvPr id="20558" name="Rectangle 6"/>
              <p:cNvSpPr>
                <a:spLocks noChangeArrowheads="1"/>
              </p:cNvSpPr>
              <p:nvPr/>
            </p:nvSpPr>
            <p:spPr bwMode="auto">
              <a:xfrm>
                <a:off x="624" y="1776"/>
                <a:ext cx="192" cy="192"/>
              </a:xfrm>
              <a:prstGeom prst="rect">
                <a:avLst/>
              </a:prstGeom>
              <a:noFill/>
              <a:ln w="9525" cap="rnd">
                <a:solidFill>
                  <a:schemeClr val="tx1"/>
                </a:solidFill>
                <a:prstDash val="sysDot"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1" hangingPunct="1"/>
                <a:endParaRPr lang="en-US" altLang="en-US" b="1">
                  <a:latin typeface="Times New Roman" pitchFamily="18" charset="0"/>
                </a:endParaRPr>
              </a:p>
            </p:txBody>
          </p:sp>
          <p:sp>
            <p:nvSpPr>
              <p:cNvPr id="20559" name="Text Box 7"/>
              <p:cNvSpPr txBox="1">
                <a:spLocks noChangeArrowheads="1"/>
              </p:cNvSpPr>
              <p:nvPr/>
            </p:nvSpPr>
            <p:spPr bwMode="auto">
              <a:xfrm>
                <a:off x="624" y="1776"/>
                <a:ext cx="288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en-US" sz="1200" b="1" dirty="0" err="1">
                    <a:latin typeface="Times New Roman" pitchFamily="18" charset="0"/>
                  </a:rPr>
                  <a:t>eof</a:t>
                </a:r>
                <a:endParaRPr lang="en-US" altLang="en-US" sz="1400" b="1" dirty="0">
                  <a:latin typeface="Times New Roman" pitchFamily="18" charset="0"/>
                </a:endParaRPr>
              </a:p>
            </p:txBody>
          </p:sp>
        </p:grpSp>
        <p:grpSp>
          <p:nvGrpSpPr>
            <p:cNvPr id="4" name="Group 8"/>
            <p:cNvGrpSpPr>
              <a:grpSpLocks/>
            </p:cNvGrpSpPr>
            <p:nvPr/>
          </p:nvGrpSpPr>
          <p:grpSpPr bwMode="auto">
            <a:xfrm>
              <a:off x="1680" y="1344"/>
              <a:ext cx="288" cy="233"/>
              <a:chOff x="624" y="1776"/>
              <a:chExt cx="288" cy="233"/>
            </a:xfrm>
          </p:grpSpPr>
          <p:sp>
            <p:nvSpPr>
              <p:cNvPr id="20556" name="Rectangle 9"/>
              <p:cNvSpPr>
                <a:spLocks noChangeArrowheads="1"/>
              </p:cNvSpPr>
              <p:nvPr/>
            </p:nvSpPr>
            <p:spPr bwMode="auto">
              <a:xfrm>
                <a:off x="624" y="1776"/>
                <a:ext cx="192" cy="192"/>
              </a:xfrm>
              <a:prstGeom prst="rect">
                <a:avLst/>
              </a:prstGeom>
              <a:noFill/>
              <a:ln w="9525" cap="rnd">
                <a:solidFill>
                  <a:schemeClr val="tx1"/>
                </a:solidFill>
                <a:prstDash val="sysDot"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1" hangingPunct="1"/>
                <a:endParaRPr lang="en-US" altLang="en-US" b="1">
                  <a:latin typeface="Times New Roman" pitchFamily="18" charset="0"/>
                </a:endParaRPr>
              </a:p>
            </p:txBody>
          </p:sp>
          <p:sp>
            <p:nvSpPr>
              <p:cNvPr id="20557" name="Text Box 10"/>
              <p:cNvSpPr txBox="1">
                <a:spLocks noChangeArrowheads="1"/>
              </p:cNvSpPr>
              <p:nvPr/>
            </p:nvSpPr>
            <p:spPr bwMode="auto">
              <a:xfrm>
                <a:off x="624" y="1776"/>
                <a:ext cx="288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en-US" sz="1200" b="1">
                    <a:latin typeface="Times New Roman" pitchFamily="18" charset="0"/>
                  </a:rPr>
                  <a:t>*</a:t>
                </a:r>
                <a:endParaRPr lang="en-US" altLang="en-US" sz="1400" b="1">
                  <a:latin typeface="Times New Roman" pitchFamily="18" charset="0"/>
                </a:endParaRPr>
              </a:p>
            </p:txBody>
          </p:sp>
        </p:grpSp>
        <p:grpSp>
          <p:nvGrpSpPr>
            <p:cNvPr id="5" name="Group 11"/>
            <p:cNvGrpSpPr>
              <a:grpSpLocks/>
            </p:cNvGrpSpPr>
            <p:nvPr/>
          </p:nvGrpSpPr>
          <p:grpSpPr bwMode="auto">
            <a:xfrm>
              <a:off x="1488" y="1344"/>
              <a:ext cx="288" cy="259"/>
              <a:chOff x="624" y="1776"/>
              <a:chExt cx="288" cy="259"/>
            </a:xfrm>
          </p:grpSpPr>
          <p:sp>
            <p:nvSpPr>
              <p:cNvPr id="20554" name="Rectangle 12"/>
              <p:cNvSpPr>
                <a:spLocks noChangeArrowheads="1"/>
              </p:cNvSpPr>
              <p:nvPr/>
            </p:nvSpPr>
            <p:spPr bwMode="auto">
              <a:xfrm>
                <a:off x="624" y="1776"/>
                <a:ext cx="192" cy="192"/>
              </a:xfrm>
              <a:prstGeom prst="rect">
                <a:avLst/>
              </a:prstGeom>
              <a:noFill/>
              <a:ln w="9525" cap="rnd">
                <a:solidFill>
                  <a:schemeClr val="tx1"/>
                </a:solidFill>
                <a:prstDash val="sysDot"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1" hangingPunct="1"/>
                <a:endParaRPr lang="en-US" altLang="en-US" b="1">
                  <a:latin typeface="Times New Roman" pitchFamily="18" charset="0"/>
                </a:endParaRPr>
              </a:p>
            </p:txBody>
          </p:sp>
          <p:sp>
            <p:nvSpPr>
              <p:cNvPr id="20555" name="Text Box 13"/>
              <p:cNvSpPr txBox="1">
                <a:spLocks noChangeArrowheads="1"/>
              </p:cNvSpPr>
              <p:nvPr/>
            </p:nvSpPr>
            <p:spPr bwMode="auto">
              <a:xfrm>
                <a:off x="624" y="1776"/>
                <a:ext cx="288" cy="25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en-US" sz="1400" b="1">
                    <a:latin typeface="Times New Roman" pitchFamily="18" charset="0"/>
                  </a:rPr>
                  <a:t>M</a:t>
                </a:r>
              </a:p>
            </p:txBody>
          </p:sp>
        </p:grpSp>
        <p:grpSp>
          <p:nvGrpSpPr>
            <p:cNvPr id="6" name="Group 14"/>
            <p:cNvGrpSpPr>
              <a:grpSpLocks/>
            </p:cNvGrpSpPr>
            <p:nvPr/>
          </p:nvGrpSpPr>
          <p:grpSpPr bwMode="auto">
            <a:xfrm>
              <a:off x="1296" y="1344"/>
              <a:ext cx="288" cy="259"/>
              <a:chOff x="624" y="1776"/>
              <a:chExt cx="288" cy="259"/>
            </a:xfrm>
          </p:grpSpPr>
          <p:sp>
            <p:nvSpPr>
              <p:cNvPr id="20552" name="Rectangle 15"/>
              <p:cNvSpPr>
                <a:spLocks noChangeArrowheads="1"/>
              </p:cNvSpPr>
              <p:nvPr/>
            </p:nvSpPr>
            <p:spPr bwMode="auto">
              <a:xfrm>
                <a:off x="624" y="1776"/>
                <a:ext cx="192" cy="192"/>
              </a:xfrm>
              <a:prstGeom prst="rect">
                <a:avLst/>
              </a:prstGeom>
              <a:noFill/>
              <a:ln w="9525" cap="rnd">
                <a:solidFill>
                  <a:schemeClr val="tx1"/>
                </a:solidFill>
                <a:prstDash val="sysDot"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1" hangingPunct="1"/>
                <a:endParaRPr lang="en-US" altLang="en-US" b="1">
                  <a:latin typeface="Times New Roman" pitchFamily="18" charset="0"/>
                </a:endParaRPr>
              </a:p>
            </p:txBody>
          </p:sp>
          <p:sp>
            <p:nvSpPr>
              <p:cNvPr id="20553" name="Text Box 16"/>
              <p:cNvSpPr txBox="1">
                <a:spLocks noChangeArrowheads="1"/>
              </p:cNvSpPr>
              <p:nvPr/>
            </p:nvSpPr>
            <p:spPr bwMode="auto">
              <a:xfrm>
                <a:off x="624" y="1776"/>
                <a:ext cx="288" cy="25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endParaRPr lang="en-US" altLang="en-US" sz="1400" b="1">
                  <a:latin typeface="Times New Roman" pitchFamily="18" charset="0"/>
                </a:endParaRPr>
              </a:p>
            </p:txBody>
          </p:sp>
        </p:grpSp>
        <p:grpSp>
          <p:nvGrpSpPr>
            <p:cNvPr id="7" name="Group 17"/>
            <p:cNvGrpSpPr>
              <a:grpSpLocks/>
            </p:cNvGrpSpPr>
            <p:nvPr/>
          </p:nvGrpSpPr>
          <p:grpSpPr bwMode="auto">
            <a:xfrm>
              <a:off x="1104" y="1344"/>
              <a:ext cx="288" cy="259"/>
              <a:chOff x="624" y="1776"/>
              <a:chExt cx="288" cy="259"/>
            </a:xfrm>
          </p:grpSpPr>
          <p:sp>
            <p:nvSpPr>
              <p:cNvPr id="20550" name="Rectangle 18"/>
              <p:cNvSpPr>
                <a:spLocks noChangeArrowheads="1"/>
              </p:cNvSpPr>
              <p:nvPr/>
            </p:nvSpPr>
            <p:spPr bwMode="auto">
              <a:xfrm>
                <a:off x="624" y="1776"/>
                <a:ext cx="192" cy="192"/>
              </a:xfrm>
              <a:prstGeom prst="rect">
                <a:avLst/>
              </a:prstGeom>
              <a:noFill/>
              <a:ln w="9525" cap="rnd">
                <a:solidFill>
                  <a:schemeClr val="tx1"/>
                </a:solidFill>
                <a:prstDash val="sysDot"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1" hangingPunct="1"/>
                <a:endParaRPr lang="en-US" altLang="en-US" b="1">
                  <a:latin typeface="Times New Roman" pitchFamily="18" charset="0"/>
                </a:endParaRPr>
              </a:p>
            </p:txBody>
          </p:sp>
          <p:sp>
            <p:nvSpPr>
              <p:cNvPr id="20551" name="Text Box 19"/>
              <p:cNvSpPr txBox="1">
                <a:spLocks noChangeArrowheads="1"/>
              </p:cNvSpPr>
              <p:nvPr/>
            </p:nvSpPr>
            <p:spPr bwMode="auto">
              <a:xfrm>
                <a:off x="624" y="1776"/>
                <a:ext cx="288" cy="25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en-US" sz="1400" b="1">
                    <a:latin typeface="Times New Roman" pitchFamily="18" charset="0"/>
                  </a:rPr>
                  <a:t>=</a:t>
                </a:r>
              </a:p>
            </p:txBody>
          </p:sp>
        </p:grpSp>
        <p:grpSp>
          <p:nvGrpSpPr>
            <p:cNvPr id="8" name="Group 20"/>
            <p:cNvGrpSpPr>
              <a:grpSpLocks/>
            </p:cNvGrpSpPr>
            <p:nvPr/>
          </p:nvGrpSpPr>
          <p:grpSpPr bwMode="auto">
            <a:xfrm>
              <a:off x="912" y="1344"/>
              <a:ext cx="288" cy="259"/>
              <a:chOff x="624" y="1776"/>
              <a:chExt cx="288" cy="259"/>
            </a:xfrm>
          </p:grpSpPr>
          <p:sp>
            <p:nvSpPr>
              <p:cNvPr id="20548" name="Rectangle 21"/>
              <p:cNvSpPr>
                <a:spLocks noChangeArrowheads="1"/>
              </p:cNvSpPr>
              <p:nvPr/>
            </p:nvSpPr>
            <p:spPr bwMode="auto">
              <a:xfrm>
                <a:off x="624" y="1776"/>
                <a:ext cx="192" cy="192"/>
              </a:xfrm>
              <a:prstGeom prst="rect">
                <a:avLst/>
              </a:prstGeom>
              <a:noFill/>
              <a:ln w="9525" cap="rnd">
                <a:solidFill>
                  <a:schemeClr val="tx1"/>
                </a:solidFill>
                <a:prstDash val="sysDot"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1" hangingPunct="1"/>
                <a:endParaRPr lang="en-US" altLang="en-US" b="1">
                  <a:latin typeface="Times New Roman" pitchFamily="18" charset="0"/>
                </a:endParaRPr>
              </a:p>
            </p:txBody>
          </p:sp>
          <p:sp>
            <p:nvSpPr>
              <p:cNvPr id="20549" name="Text Box 22"/>
              <p:cNvSpPr txBox="1">
                <a:spLocks noChangeArrowheads="1"/>
              </p:cNvSpPr>
              <p:nvPr/>
            </p:nvSpPr>
            <p:spPr bwMode="auto">
              <a:xfrm>
                <a:off x="624" y="1776"/>
                <a:ext cx="288" cy="25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endParaRPr lang="en-US" altLang="en-US" sz="1400" b="1">
                  <a:latin typeface="Times New Roman" pitchFamily="18" charset="0"/>
                </a:endParaRPr>
              </a:p>
            </p:txBody>
          </p:sp>
        </p:grpSp>
        <p:grpSp>
          <p:nvGrpSpPr>
            <p:cNvPr id="9" name="Group 23"/>
            <p:cNvGrpSpPr>
              <a:grpSpLocks/>
            </p:cNvGrpSpPr>
            <p:nvPr/>
          </p:nvGrpSpPr>
          <p:grpSpPr bwMode="auto">
            <a:xfrm>
              <a:off x="720" y="1344"/>
              <a:ext cx="288" cy="259"/>
              <a:chOff x="624" y="1776"/>
              <a:chExt cx="288" cy="259"/>
            </a:xfrm>
          </p:grpSpPr>
          <p:sp>
            <p:nvSpPr>
              <p:cNvPr id="20546" name="Rectangle 24"/>
              <p:cNvSpPr>
                <a:spLocks noChangeArrowheads="1"/>
              </p:cNvSpPr>
              <p:nvPr/>
            </p:nvSpPr>
            <p:spPr bwMode="auto">
              <a:xfrm>
                <a:off x="624" y="1776"/>
                <a:ext cx="192" cy="192"/>
              </a:xfrm>
              <a:prstGeom prst="rect">
                <a:avLst/>
              </a:prstGeom>
              <a:noFill/>
              <a:ln w="9525" cap="rnd">
                <a:solidFill>
                  <a:schemeClr val="tx1"/>
                </a:solidFill>
                <a:prstDash val="sysDot"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1" hangingPunct="1"/>
                <a:endParaRPr lang="en-US" altLang="en-US" b="1">
                  <a:latin typeface="Times New Roman" pitchFamily="18" charset="0"/>
                </a:endParaRPr>
              </a:p>
            </p:txBody>
          </p:sp>
          <p:sp>
            <p:nvSpPr>
              <p:cNvPr id="20547" name="Text Box 25"/>
              <p:cNvSpPr txBox="1">
                <a:spLocks noChangeArrowheads="1"/>
              </p:cNvSpPr>
              <p:nvPr/>
            </p:nvSpPr>
            <p:spPr bwMode="auto">
              <a:xfrm>
                <a:off x="624" y="1776"/>
                <a:ext cx="288" cy="25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en-US" sz="1400" b="1" dirty="0">
                    <a:latin typeface="Times New Roman" pitchFamily="18" charset="0"/>
                  </a:rPr>
                  <a:t>E</a:t>
                </a:r>
              </a:p>
            </p:txBody>
          </p:sp>
        </p:grpSp>
        <p:grpSp>
          <p:nvGrpSpPr>
            <p:cNvPr id="10" name="Group 26"/>
            <p:cNvGrpSpPr>
              <a:grpSpLocks/>
            </p:cNvGrpSpPr>
            <p:nvPr/>
          </p:nvGrpSpPr>
          <p:grpSpPr bwMode="auto">
            <a:xfrm>
              <a:off x="528" y="1344"/>
              <a:ext cx="288" cy="259"/>
              <a:chOff x="624" y="1776"/>
              <a:chExt cx="288" cy="259"/>
            </a:xfrm>
          </p:grpSpPr>
          <p:sp>
            <p:nvSpPr>
              <p:cNvPr id="20544" name="Rectangle 27"/>
              <p:cNvSpPr>
                <a:spLocks noChangeArrowheads="1"/>
              </p:cNvSpPr>
              <p:nvPr/>
            </p:nvSpPr>
            <p:spPr bwMode="auto">
              <a:xfrm>
                <a:off x="624" y="1776"/>
                <a:ext cx="192" cy="192"/>
              </a:xfrm>
              <a:prstGeom prst="rect">
                <a:avLst/>
              </a:prstGeom>
              <a:noFill/>
              <a:ln w="9525" cap="rnd">
                <a:solidFill>
                  <a:schemeClr val="tx1"/>
                </a:solidFill>
                <a:prstDash val="sysDot"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1" hangingPunct="1"/>
                <a:endParaRPr lang="en-US" altLang="en-US" b="1">
                  <a:latin typeface="Times New Roman" pitchFamily="18" charset="0"/>
                </a:endParaRPr>
              </a:p>
            </p:txBody>
          </p:sp>
          <p:sp>
            <p:nvSpPr>
              <p:cNvPr id="20545" name="Text Box 28"/>
              <p:cNvSpPr txBox="1">
                <a:spLocks noChangeArrowheads="1"/>
              </p:cNvSpPr>
              <p:nvPr/>
            </p:nvSpPr>
            <p:spPr bwMode="auto">
              <a:xfrm>
                <a:off x="624" y="1776"/>
                <a:ext cx="288" cy="25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endParaRPr lang="en-US" altLang="en-US" sz="1400" b="1">
                  <a:latin typeface="Times New Roman" pitchFamily="18" charset="0"/>
                </a:endParaRPr>
              </a:p>
            </p:txBody>
          </p:sp>
        </p:grpSp>
        <p:grpSp>
          <p:nvGrpSpPr>
            <p:cNvPr id="11" name="Group 29"/>
            <p:cNvGrpSpPr>
              <a:grpSpLocks/>
            </p:cNvGrpSpPr>
            <p:nvPr/>
          </p:nvGrpSpPr>
          <p:grpSpPr bwMode="auto">
            <a:xfrm>
              <a:off x="336" y="1344"/>
              <a:ext cx="288" cy="259"/>
              <a:chOff x="624" y="1776"/>
              <a:chExt cx="288" cy="259"/>
            </a:xfrm>
          </p:grpSpPr>
          <p:sp>
            <p:nvSpPr>
              <p:cNvPr id="20542" name="Rectangle 30"/>
              <p:cNvSpPr>
                <a:spLocks noChangeArrowheads="1"/>
              </p:cNvSpPr>
              <p:nvPr/>
            </p:nvSpPr>
            <p:spPr bwMode="auto">
              <a:xfrm>
                <a:off x="624" y="1776"/>
                <a:ext cx="192" cy="192"/>
              </a:xfrm>
              <a:prstGeom prst="rect">
                <a:avLst/>
              </a:prstGeom>
              <a:noFill/>
              <a:ln w="9525" cap="rnd">
                <a:solidFill>
                  <a:schemeClr val="tx1"/>
                </a:solidFill>
                <a:prstDash val="sysDot"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1" hangingPunct="1"/>
                <a:endParaRPr lang="en-US" altLang="en-US" b="1">
                  <a:latin typeface="Times New Roman" pitchFamily="18" charset="0"/>
                </a:endParaRPr>
              </a:p>
            </p:txBody>
          </p:sp>
          <p:sp>
            <p:nvSpPr>
              <p:cNvPr id="20543" name="Text Box 31"/>
              <p:cNvSpPr txBox="1">
                <a:spLocks noChangeArrowheads="1"/>
              </p:cNvSpPr>
              <p:nvPr/>
            </p:nvSpPr>
            <p:spPr bwMode="auto">
              <a:xfrm>
                <a:off x="624" y="1776"/>
                <a:ext cx="288" cy="25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endParaRPr lang="en-US" altLang="en-US" sz="1400" b="1">
                  <a:latin typeface="Times New Roman" pitchFamily="18" charset="0"/>
                </a:endParaRPr>
              </a:p>
            </p:txBody>
          </p:sp>
        </p:grpSp>
        <p:grpSp>
          <p:nvGrpSpPr>
            <p:cNvPr id="12" name="Group 32"/>
            <p:cNvGrpSpPr>
              <a:grpSpLocks/>
            </p:cNvGrpSpPr>
            <p:nvPr/>
          </p:nvGrpSpPr>
          <p:grpSpPr bwMode="auto">
            <a:xfrm>
              <a:off x="144" y="1344"/>
              <a:ext cx="288" cy="259"/>
              <a:chOff x="624" y="1776"/>
              <a:chExt cx="288" cy="259"/>
            </a:xfrm>
          </p:grpSpPr>
          <p:sp>
            <p:nvSpPr>
              <p:cNvPr id="20540" name="Rectangle 33"/>
              <p:cNvSpPr>
                <a:spLocks noChangeArrowheads="1"/>
              </p:cNvSpPr>
              <p:nvPr/>
            </p:nvSpPr>
            <p:spPr bwMode="auto">
              <a:xfrm>
                <a:off x="624" y="1776"/>
                <a:ext cx="192" cy="192"/>
              </a:xfrm>
              <a:prstGeom prst="rect">
                <a:avLst/>
              </a:prstGeom>
              <a:noFill/>
              <a:ln w="9525" cap="rnd">
                <a:solidFill>
                  <a:schemeClr val="tx1"/>
                </a:solidFill>
                <a:prstDash val="sysDot"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1" hangingPunct="1"/>
                <a:endParaRPr lang="en-US" altLang="en-US" b="1">
                  <a:latin typeface="Times New Roman" pitchFamily="18" charset="0"/>
                </a:endParaRPr>
              </a:p>
            </p:txBody>
          </p:sp>
          <p:sp>
            <p:nvSpPr>
              <p:cNvPr id="20541" name="Text Box 34"/>
              <p:cNvSpPr txBox="1">
                <a:spLocks noChangeArrowheads="1"/>
              </p:cNvSpPr>
              <p:nvPr/>
            </p:nvSpPr>
            <p:spPr bwMode="auto">
              <a:xfrm>
                <a:off x="624" y="1776"/>
                <a:ext cx="288" cy="25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endParaRPr lang="en-US" altLang="en-US" sz="1400" b="1">
                  <a:latin typeface="Times New Roman" pitchFamily="18" charset="0"/>
                </a:endParaRPr>
              </a:p>
            </p:txBody>
          </p:sp>
        </p:grpSp>
        <p:sp>
          <p:nvSpPr>
            <p:cNvPr id="20508" name="Rectangle 35"/>
            <p:cNvSpPr>
              <a:spLocks noChangeArrowheads="1"/>
            </p:cNvSpPr>
            <p:nvPr/>
          </p:nvSpPr>
          <p:spPr bwMode="auto">
            <a:xfrm>
              <a:off x="144" y="1344"/>
              <a:ext cx="1920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/>
              <a:endParaRPr lang="en-US" altLang="en-US" b="1">
                <a:latin typeface="Times New Roman" pitchFamily="18" charset="0"/>
              </a:endParaRPr>
            </a:p>
          </p:txBody>
        </p:sp>
        <p:grpSp>
          <p:nvGrpSpPr>
            <p:cNvPr id="13" name="Group 36"/>
            <p:cNvGrpSpPr>
              <a:grpSpLocks/>
            </p:cNvGrpSpPr>
            <p:nvPr/>
          </p:nvGrpSpPr>
          <p:grpSpPr bwMode="auto">
            <a:xfrm>
              <a:off x="3792" y="1344"/>
              <a:ext cx="288" cy="233"/>
              <a:chOff x="624" y="1776"/>
              <a:chExt cx="288" cy="233"/>
            </a:xfrm>
          </p:grpSpPr>
          <p:sp>
            <p:nvSpPr>
              <p:cNvPr id="20538" name="Rectangle 37"/>
              <p:cNvSpPr>
                <a:spLocks noChangeArrowheads="1"/>
              </p:cNvSpPr>
              <p:nvPr/>
            </p:nvSpPr>
            <p:spPr bwMode="auto">
              <a:xfrm>
                <a:off x="624" y="1776"/>
                <a:ext cx="192" cy="192"/>
              </a:xfrm>
              <a:prstGeom prst="rect">
                <a:avLst/>
              </a:prstGeom>
              <a:noFill/>
              <a:ln w="9525" cap="rnd">
                <a:solidFill>
                  <a:schemeClr val="tx1"/>
                </a:solidFill>
                <a:prstDash val="sysDot"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1" hangingPunct="1"/>
                <a:endParaRPr lang="en-US" altLang="en-US" b="1">
                  <a:latin typeface="Times New Roman" pitchFamily="18" charset="0"/>
                </a:endParaRPr>
              </a:p>
            </p:txBody>
          </p:sp>
          <p:sp>
            <p:nvSpPr>
              <p:cNvPr id="20539" name="Text Box 38"/>
              <p:cNvSpPr txBox="1">
                <a:spLocks noChangeArrowheads="1"/>
              </p:cNvSpPr>
              <p:nvPr/>
            </p:nvSpPr>
            <p:spPr bwMode="auto">
              <a:xfrm>
                <a:off x="624" y="1776"/>
                <a:ext cx="288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en-US" sz="1200" b="1">
                    <a:latin typeface="Times New Roman" pitchFamily="18" charset="0"/>
                  </a:rPr>
                  <a:t>eof</a:t>
                </a:r>
                <a:endParaRPr lang="en-US" altLang="en-US" sz="1400" b="1">
                  <a:latin typeface="Times New Roman" pitchFamily="18" charset="0"/>
                </a:endParaRPr>
              </a:p>
            </p:txBody>
          </p:sp>
        </p:grpSp>
        <p:grpSp>
          <p:nvGrpSpPr>
            <p:cNvPr id="14" name="Group 39"/>
            <p:cNvGrpSpPr>
              <a:grpSpLocks/>
            </p:cNvGrpSpPr>
            <p:nvPr/>
          </p:nvGrpSpPr>
          <p:grpSpPr bwMode="auto">
            <a:xfrm>
              <a:off x="3600" y="1344"/>
              <a:ext cx="288" cy="259"/>
              <a:chOff x="624" y="1776"/>
              <a:chExt cx="288" cy="259"/>
            </a:xfrm>
          </p:grpSpPr>
          <p:sp>
            <p:nvSpPr>
              <p:cNvPr id="20536" name="Rectangle 40"/>
              <p:cNvSpPr>
                <a:spLocks noChangeArrowheads="1"/>
              </p:cNvSpPr>
              <p:nvPr/>
            </p:nvSpPr>
            <p:spPr bwMode="auto">
              <a:xfrm>
                <a:off x="624" y="1776"/>
                <a:ext cx="192" cy="192"/>
              </a:xfrm>
              <a:prstGeom prst="rect">
                <a:avLst/>
              </a:prstGeom>
              <a:noFill/>
              <a:ln w="9525" cap="rnd">
                <a:solidFill>
                  <a:schemeClr val="tx1"/>
                </a:solidFill>
                <a:prstDash val="sysDot"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1" hangingPunct="1"/>
                <a:endParaRPr lang="en-US" altLang="en-US" b="1">
                  <a:latin typeface="Times New Roman" pitchFamily="18" charset="0"/>
                </a:endParaRPr>
              </a:p>
            </p:txBody>
          </p:sp>
          <p:sp>
            <p:nvSpPr>
              <p:cNvPr id="20537" name="Text Box 41"/>
              <p:cNvSpPr txBox="1">
                <a:spLocks noChangeArrowheads="1"/>
              </p:cNvSpPr>
              <p:nvPr/>
            </p:nvSpPr>
            <p:spPr bwMode="auto">
              <a:xfrm>
                <a:off x="624" y="1776"/>
                <a:ext cx="288" cy="25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endParaRPr lang="en-US" altLang="en-US" sz="1400" b="1">
                  <a:latin typeface="Times New Roman" pitchFamily="18" charset="0"/>
                </a:endParaRPr>
              </a:p>
            </p:txBody>
          </p:sp>
        </p:grpSp>
        <p:grpSp>
          <p:nvGrpSpPr>
            <p:cNvPr id="15" name="Group 42"/>
            <p:cNvGrpSpPr>
              <a:grpSpLocks/>
            </p:cNvGrpSpPr>
            <p:nvPr/>
          </p:nvGrpSpPr>
          <p:grpSpPr bwMode="auto">
            <a:xfrm>
              <a:off x="3408" y="1344"/>
              <a:ext cx="288" cy="259"/>
              <a:chOff x="624" y="1776"/>
              <a:chExt cx="288" cy="259"/>
            </a:xfrm>
          </p:grpSpPr>
          <p:sp>
            <p:nvSpPr>
              <p:cNvPr id="20534" name="Rectangle 43"/>
              <p:cNvSpPr>
                <a:spLocks noChangeArrowheads="1"/>
              </p:cNvSpPr>
              <p:nvPr/>
            </p:nvSpPr>
            <p:spPr bwMode="auto">
              <a:xfrm>
                <a:off x="624" y="1776"/>
                <a:ext cx="192" cy="192"/>
              </a:xfrm>
              <a:prstGeom prst="rect">
                <a:avLst/>
              </a:prstGeom>
              <a:noFill/>
              <a:ln w="9525" cap="rnd">
                <a:solidFill>
                  <a:schemeClr val="tx1"/>
                </a:solidFill>
                <a:prstDash val="sysDot"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1" hangingPunct="1"/>
                <a:endParaRPr lang="en-US" altLang="en-US" b="1">
                  <a:latin typeface="Times New Roman" pitchFamily="18" charset="0"/>
                </a:endParaRPr>
              </a:p>
            </p:txBody>
          </p:sp>
          <p:sp>
            <p:nvSpPr>
              <p:cNvPr id="20535" name="Text Box 44"/>
              <p:cNvSpPr txBox="1">
                <a:spLocks noChangeArrowheads="1"/>
              </p:cNvSpPr>
              <p:nvPr/>
            </p:nvSpPr>
            <p:spPr bwMode="auto">
              <a:xfrm>
                <a:off x="624" y="1776"/>
                <a:ext cx="288" cy="25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endParaRPr lang="en-US" altLang="en-US" sz="1400" b="1">
                  <a:latin typeface="Times New Roman" pitchFamily="18" charset="0"/>
                </a:endParaRPr>
              </a:p>
            </p:txBody>
          </p:sp>
        </p:grpSp>
        <p:grpSp>
          <p:nvGrpSpPr>
            <p:cNvPr id="16" name="Group 45"/>
            <p:cNvGrpSpPr>
              <a:grpSpLocks/>
            </p:cNvGrpSpPr>
            <p:nvPr/>
          </p:nvGrpSpPr>
          <p:grpSpPr bwMode="auto">
            <a:xfrm>
              <a:off x="3216" y="1344"/>
              <a:ext cx="288" cy="259"/>
              <a:chOff x="624" y="1776"/>
              <a:chExt cx="288" cy="259"/>
            </a:xfrm>
          </p:grpSpPr>
          <p:sp>
            <p:nvSpPr>
              <p:cNvPr id="20532" name="Rectangle 46"/>
              <p:cNvSpPr>
                <a:spLocks noChangeArrowheads="1"/>
              </p:cNvSpPr>
              <p:nvPr/>
            </p:nvSpPr>
            <p:spPr bwMode="auto">
              <a:xfrm>
                <a:off x="624" y="1776"/>
                <a:ext cx="192" cy="192"/>
              </a:xfrm>
              <a:prstGeom prst="rect">
                <a:avLst/>
              </a:prstGeom>
              <a:noFill/>
              <a:ln w="9525" cap="rnd">
                <a:solidFill>
                  <a:schemeClr val="tx1"/>
                </a:solidFill>
                <a:prstDash val="sysDot"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1" hangingPunct="1"/>
                <a:endParaRPr lang="en-US" altLang="en-US" b="1">
                  <a:latin typeface="Times New Roman" pitchFamily="18" charset="0"/>
                </a:endParaRPr>
              </a:p>
            </p:txBody>
          </p:sp>
          <p:sp>
            <p:nvSpPr>
              <p:cNvPr id="20533" name="Text Box 47"/>
              <p:cNvSpPr txBox="1">
                <a:spLocks noChangeArrowheads="1"/>
              </p:cNvSpPr>
              <p:nvPr/>
            </p:nvSpPr>
            <p:spPr bwMode="auto">
              <a:xfrm>
                <a:off x="624" y="1776"/>
                <a:ext cx="288" cy="25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endParaRPr lang="en-US" altLang="en-US" sz="1400" b="1">
                  <a:latin typeface="Times New Roman" pitchFamily="18" charset="0"/>
                </a:endParaRPr>
              </a:p>
            </p:txBody>
          </p:sp>
        </p:grpSp>
        <p:grpSp>
          <p:nvGrpSpPr>
            <p:cNvPr id="17" name="Group 48"/>
            <p:cNvGrpSpPr>
              <a:grpSpLocks/>
            </p:cNvGrpSpPr>
            <p:nvPr/>
          </p:nvGrpSpPr>
          <p:grpSpPr bwMode="auto">
            <a:xfrm>
              <a:off x="3024" y="1344"/>
              <a:ext cx="288" cy="259"/>
              <a:chOff x="624" y="1776"/>
              <a:chExt cx="288" cy="259"/>
            </a:xfrm>
          </p:grpSpPr>
          <p:sp>
            <p:nvSpPr>
              <p:cNvPr id="20530" name="Rectangle 49"/>
              <p:cNvSpPr>
                <a:spLocks noChangeArrowheads="1"/>
              </p:cNvSpPr>
              <p:nvPr/>
            </p:nvSpPr>
            <p:spPr bwMode="auto">
              <a:xfrm>
                <a:off x="624" y="1776"/>
                <a:ext cx="192" cy="192"/>
              </a:xfrm>
              <a:prstGeom prst="rect">
                <a:avLst/>
              </a:prstGeom>
              <a:noFill/>
              <a:ln w="9525" cap="rnd">
                <a:solidFill>
                  <a:schemeClr val="tx1"/>
                </a:solidFill>
                <a:prstDash val="sysDot"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1" hangingPunct="1"/>
                <a:endParaRPr lang="en-US" altLang="en-US" b="1">
                  <a:latin typeface="Times New Roman" pitchFamily="18" charset="0"/>
                </a:endParaRPr>
              </a:p>
            </p:txBody>
          </p:sp>
          <p:sp>
            <p:nvSpPr>
              <p:cNvPr id="20531" name="Text Box 50"/>
              <p:cNvSpPr txBox="1">
                <a:spLocks noChangeArrowheads="1"/>
              </p:cNvSpPr>
              <p:nvPr/>
            </p:nvSpPr>
            <p:spPr bwMode="auto">
              <a:xfrm>
                <a:off x="624" y="1776"/>
                <a:ext cx="288" cy="25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endParaRPr lang="en-US" altLang="en-US" sz="1400" b="1">
                  <a:latin typeface="Times New Roman" pitchFamily="18" charset="0"/>
                </a:endParaRPr>
              </a:p>
            </p:txBody>
          </p:sp>
        </p:grpSp>
        <p:grpSp>
          <p:nvGrpSpPr>
            <p:cNvPr id="18" name="Group 51"/>
            <p:cNvGrpSpPr>
              <a:grpSpLocks/>
            </p:cNvGrpSpPr>
            <p:nvPr/>
          </p:nvGrpSpPr>
          <p:grpSpPr bwMode="auto">
            <a:xfrm>
              <a:off x="2832" y="1344"/>
              <a:ext cx="288" cy="233"/>
              <a:chOff x="624" y="1776"/>
              <a:chExt cx="288" cy="233"/>
            </a:xfrm>
          </p:grpSpPr>
          <p:sp>
            <p:nvSpPr>
              <p:cNvPr id="20528" name="Rectangle 52"/>
              <p:cNvSpPr>
                <a:spLocks noChangeArrowheads="1"/>
              </p:cNvSpPr>
              <p:nvPr/>
            </p:nvSpPr>
            <p:spPr bwMode="auto">
              <a:xfrm>
                <a:off x="624" y="1776"/>
                <a:ext cx="192" cy="192"/>
              </a:xfrm>
              <a:prstGeom prst="rect">
                <a:avLst/>
              </a:prstGeom>
              <a:noFill/>
              <a:ln w="9525" cap="rnd">
                <a:solidFill>
                  <a:schemeClr val="tx1"/>
                </a:solidFill>
                <a:prstDash val="sysDot"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1" hangingPunct="1"/>
                <a:endParaRPr lang="en-US" altLang="en-US" b="1">
                  <a:latin typeface="Times New Roman" pitchFamily="18" charset="0"/>
                </a:endParaRPr>
              </a:p>
            </p:txBody>
          </p:sp>
          <p:sp>
            <p:nvSpPr>
              <p:cNvPr id="20529" name="Text Box 53"/>
              <p:cNvSpPr txBox="1">
                <a:spLocks noChangeArrowheads="1"/>
              </p:cNvSpPr>
              <p:nvPr/>
            </p:nvSpPr>
            <p:spPr bwMode="auto">
              <a:xfrm>
                <a:off x="624" y="1776"/>
                <a:ext cx="288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en-US" sz="1200" b="1">
                    <a:latin typeface="Times New Roman" pitchFamily="18" charset="0"/>
                  </a:rPr>
                  <a:t>eof</a:t>
                </a:r>
                <a:endParaRPr lang="en-US" altLang="en-US" sz="1400" b="1">
                  <a:latin typeface="Times New Roman" pitchFamily="18" charset="0"/>
                </a:endParaRPr>
              </a:p>
            </p:txBody>
          </p:sp>
        </p:grpSp>
        <p:grpSp>
          <p:nvGrpSpPr>
            <p:cNvPr id="19" name="Group 54"/>
            <p:cNvGrpSpPr>
              <a:grpSpLocks/>
            </p:cNvGrpSpPr>
            <p:nvPr/>
          </p:nvGrpSpPr>
          <p:grpSpPr bwMode="auto">
            <a:xfrm>
              <a:off x="2640" y="1344"/>
              <a:ext cx="288" cy="259"/>
              <a:chOff x="624" y="1776"/>
              <a:chExt cx="288" cy="259"/>
            </a:xfrm>
          </p:grpSpPr>
          <p:sp>
            <p:nvSpPr>
              <p:cNvPr id="20526" name="Rectangle 55"/>
              <p:cNvSpPr>
                <a:spLocks noChangeArrowheads="1"/>
              </p:cNvSpPr>
              <p:nvPr/>
            </p:nvSpPr>
            <p:spPr bwMode="auto">
              <a:xfrm>
                <a:off x="624" y="1776"/>
                <a:ext cx="192" cy="192"/>
              </a:xfrm>
              <a:prstGeom prst="rect">
                <a:avLst/>
              </a:prstGeom>
              <a:noFill/>
              <a:ln w="9525" cap="rnd">
                <a:solidFill>
                  <a:schemeClr val="tx1"/>
                </a:solidFill>
                <a:prstDash val="sysDot"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1" hangingPunct="1"/>
                <a:endParaRPr lang="en-US" altLang="en-US" b="1">
                  <a:latin typeface="Times New Roman" pitchFamily="18" charset="0"/>
                </a:endParaRPr>
              </a:p>
            </p:txBody>
          </p:sp>
          <p:sp>
            <p:nvSpPr>
              <p:cNvPr id="20527" name="Text Box 56"/>
              <p:cNvSpPr txBox="1">
                <a:spLocks noChangeArrowheads="1"/>
              </p:cNvSpPr>
              <p:nvPr/>
            </p:nvSpPr>
            <p:spPr bwMode="auto">
              <a:xfrm>
                <a:off x="624" y="1776"/>
                <a:ext cx="288" cy="25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en-US" sz="1400" b="1">
                    <a:latin typeface="Times New Roman" pitchFamily="18" charset="0"/>
                  </a:rPr>
                  <a:t>2</a:t>
                </a:r>
              </a:p>
            </p:txBody>
          </p:sp>
        </p:grpSp>
        <p:grpSp>
          <p:nvGrpSpPr>
            <p:cNvPr id="20" name="Group 57"/>
            <p:cNvGrpSpPr>
              <a:grpSpLocks/>
            </p:cNvGrpSpPr>
            <p:nvPr/>
          </p:nvGrpSpPr>
          <p:grpSpPr bwMode="auto">
            <a:xfrm>
              <a:off x="2448" y="1344"/>
              <a:ext cx="288" cy="259"/>
              <a:chOff x="624" y="1776"/>
              <a:chExt cx="288" cy="259"/>
            </a:xfrm>
          </p:grpSpPr>
          <p:sp>
            <p:nvSpPr>
              <p:cNvPr id="20524" name="Rectangle 58"/>
              <p:cNvSpPr>
                <a:spLocks noChangeArrowheads="1"/>
              </p:cNvSpPr>
              <p:nvPr/>
            </p:nvSpPr>
            <p:spPr bwMode="auto">
              <a:xfrm>
                <a:off x="624" y="1776"/>
                <a:ext cx="192" cy="192"/>
              </a:xfrm>
              <a:prstGeom prst="rect">
                <a:avLst/>
              </a:prstGeom>
              <a:noFill/>
              <a:ln w="9525" cap="rnd">
                <a:solidFill>
                  <a:schemeClr val="tx1"/>
                </a:solidFill>
                <a:prstDash val="sysDot"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1" hangingPunct="1"/>
                <a:endParaRPr lang="en-US" altLang="en-US" b="1">
                  <a:latin typeface="Times New Roman" pitchFamily="18" charset="0"/>
                </a:endParaRPr>
              </a:p>
            </p:txBody>
          </p:sp>
          <p:sp>
            <p:nvSpPr>
              <p:cNvPr id="20525" name="Text Box 59"/>
              <p:cNvSpPr txBox="1">
                <a:spLocks noChangeArrowheads="1"/>
              </p:cNvSpPr>
              <p:nvPr/>
            </p:nvSpPr>
            <p:spPr bwMode="auto">
              <a:xfrm>
                <a:off x="624" y="1776"/>
                <a:ext cx="288" cy="25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en-US" sz="1400" b="1">
                    <a:latin typeface="Times New Roman" pitchFamily="18" charset="0"/>
                  </a:rPr>
                  <a:t>*</a:t>
                </a:r>
              </a:p>
            </p:txBody>
          </p:sp>
        </p:grpSp>
        <p:grpSp>
          <p:nvGrpSpPr>
            <p:cNvPr id="21" name="Group 60"/>
            <p:cNvGrpSpPr>
              <a:grpSpLocks/>
            </p:cNvGrpSpPr>
            <p:nvPr/>
          </p:nvGrpSpPr>
          <p:grpSpPr bwMode="auto">
            <a:xfrm>
              <a:off x="2256" y="1344"/>
              <a:ext cx="288" cy="259"/>
              <a:chOff x="624" y="1776"/>
              <a:chExt cx="288" cy="259"/>
            </a:xfrm>
          </p:grpSpPr>
          <p:sp>
            <p:nvSpPr>
              <p:cNvPr id="20522" name="Rectangle 61"/>
              <p:cNvSpPr>
                <a:spLocks noChangeArrowheads="1"/>
              </p:cNvSpPr>
              <p:nvPr/>
            </p:nvSpPr>
            <p:spPr bwMode="auto">
              <a:xfrm>
                <a:off x="624" y="1776"/>
                <a:ext cx="192" cy="192"/>
              </a:xfrm>
              <a:prstGeom prst="rect">
                <a:avLst/>
              </a:prstGeom>
              <a:noFill/>
              <a:ln w="9525" cap="rnd">
                <a:solidFill>
                  <a:schemeClr val="tx1"/>
                </a:solidFill>
                <a:prstDash val="sysDot"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1" hangingPunct="1"/>
                <a:endParaRPr lang="en-US" altLang="en-US" b="1">
                  <a:latin typeface="Times New Roman" pitchFamily="18" charset="0"/>
                </a:endParaRPr>
              </a:p>
            </p:txBody>
          </p:sp>
          <p:sp>
            <p:nvSpPr>
              <p:cNvPr id="20523" name="Text Box 62"/>
              <p:cNvSpPr txBox="1">
                <a:spLocks noChangeArrowheads="1"/>
              </p:cNvSpPr>
              <p:nvPr/>
            </p:nvSpPr>
            <p:spPr bwMode="auto">
              <a:xfrm>
                <a:off x="624" y="1776"/>
                <a:ext cx="288" cy="25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en-US" sz="1400" b="1">
                    <a:latin typeface="Times New Roman" pitchFamily="18" charset="0"/>
                  </a:rPr>
                  <a:t>*</a:t>
                </a:r>
              </a:p>
            </p:txBody>
          </p:sp>
        </p:grpSp>
        <p:grpSp>
          <p:nvGrpSpPr>
            <p:cNvPr id="22" name="Group 63"/>
            <p:cNvGrpSpPr>
              <a:grpSpLocks/>
            </p:cNvGrpSpPr>
            <p:nvPr/>
          </p:nvGrpSpPr>
          <p:grpSpPr bwMode="auto">
            <a:xfrm>
              <a:off x="2064" y="1344"/>
              <a:ext cx="288" cy="259"/>
              <a:chOff x="624" y="1776"/>
              <a:chExt cx="288" cy="259"/>
            </a:xfrm>
          </p:grpSpPr>
          <p:sp>
            <p:nvSpPr>
              <p:cNvPr id="20520" name="Rectangle 64"/>
              <p:cNvSpPr>
                <a:spLocks noChangeArrowheads="1"/>
              </p:cNvSpPr>
              <p:nvPr/>
            </p:nvSpPr>
            <p:spPr bwMode="auto">
              <a:xfrm>
                <a:off x="624" y="1776"/>
                <a:ext cx="192" cy="192"/>
              </a:xfrm>
              <a:prstGeom prst="rect">
                <a:avLst/>
              </a:prstGeom>
              <a:noFill/>
              <a:ln w="9525" cap="rnd">
                <a:solidFill>
                  <a:schemeClr val="tx1"/>
                </a:solidFill>
                <a:prstDash val="sysDot"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1" hangingPunct="1"/>
                <a:endParaRPr lang="en-US" altLang="en-US" b="1">
                  <a:latin typeface="Times New Roman" pitchFamily="18" charset="0"/>
                </a:endParaRPr>
              </a:p>
            </p:txBody>
          </p:sp>
          <p:sp>
            <p:nvSpPr>
              <p:cNvPr id="20521" name="Text Box 65"/>
              <p:cNvSpPr txBox="1">
                <a:spLocks noChangeArrowheads="1"/>
              </p:cNvSpPr>
              <p:nvPr/>
            </p:nvSpPr>
            <p:spPr bwMode="auto">
              <a:xfrm>
                <a:off x="624" y="1776"/>
                <a:ext cx="288" cy="25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en-US" sz="1400" b="1">
                    <a:latin typeface="Times New Roman" pitchFamily="18" charset="0"/>
                  </a:rPr>
                  <a:t>C</a:t>
                </a:r>
              </a:p>
            </p:txBody>
          </p:sp>
        </p:grpSp>
        <p:sp>
          <p:nvSpPr>
            <p:cNvPr id="20519" name="Rectangle 66"/>
            <p:cNvSpPr>
              <a:spLocks noChangeArrowheads="1"/>
            </p:cNvSpPr>
            <p:nvPr/>
          </p:nvSpPr>
          <p:spPr bwMode="auto">
            <a:xfrm>
              <a:off x="2064" y="1344"/>
              <a:ext cx="1920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/>
              <a:endParaRPr lang="en-US" altLang="en-US" b="1">
                <a:latin typeface="Times New Roman" pitchFamily="18" charset="0"/>
              </a:endParaRPr>
            </a:p>
          </p:txBody>
        </p:sp>
      </p:grpSp>
      <p:sp>
        <p:nvSpPr>
          <p:cNvPr id="20484" name="AutoShape 67"/>
          <p:cNvSpPr>
            <a:spLocks/>
          </p:cNvSpPr>
          <p:nvPr/>
        </p:nvSpPr>
        <p:spPr bwMode="auto">
          <a:xfrm rot="5400000">
            <a:off x="5676900" y="603646"/>
            <a:ext cx="228600" cy="914400"/>
          </a:xfrm>
          <a:prstGeom prst="leftBrace">
            <a:avLst>
              <a:gd name="adj1" fmla="val 25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lang="en-US" altLang="en-US" sz="2400" b="1">
              <a:latin typeface="Times New Roman" pitchFamily="18" charset="0"/>
            </a:endParaRPr>
          </a:p>
        </p:txBody>
      </p:sp>
      <p:sp>
        <p:nvSpPr>
          <p:cNvPr id="20485" name="Text Box 68"/>
          <p:cNvSpPr txBox="1">
            <a:spLocks noChangeArrowheads="1"/>
          </p:cNvSpPr>
          <p:nvPr/>
        </p:nvSpPr>
        <p:spPr bwMode="auto">
          <a:xfrm>
            <a:off x="6172200" y="895350"/>
            <a:ext cx="213360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400" b="1" dirty="0">
                <a:latin typeface="Times New Roman" pitchFamily="18" charset="0"/>
              </a:rPr>
              <a:t>Current token</a:t>
            </a:r>
          </a:p>
        </p:txBody>
      </p:sp>
      <p:sp>
        <p:nvSpPr>
          <p:cNvPr id="20486" name="Text Box 69"/>
          <p:cNvSpPr txBox="1">
            <a:spLocks noChangeArrowheads="1"/>
          </p:cNvSpPr>
          <p:nvPr/>
        </p:nvSpPr>
        <p:spPr bwMode="auto">
          <a:xfrm>
            <a:off x="2819400" y="1598592"/>
            <a:ext cx="2286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600" b="1" dirty="0">
                <a:latin typeface="Times New Roman" pitchFamily="18" charset="0"/>
              </a:rPr>
              <a:t>lexeme beginning</a:t>
            </a:r>
          </a:p>
        </p:txBody>
      </p:sp>
      <p:sp>
        <p:nvSpPr>
          <p:cNvPr id="20487" name="Line 70"/>
          <p:cNvSpPr>
            <a:spLocks noChangeShapeType="1"/>
          </p:cNvSpPr>
          <p:nvPr/>
        </p:nvSpPr>
        <p:spPr bwMode="auto">
          <a:xfrm flipV="1">
            <a:off x="4800600" y="1445418"/>
            <a:ext cx="609600" cy="171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488" name="Text Box 71"/>
          <p:cNvSpPr txBox="1">
            <a:spLocks noChangeArrowheads="1"/>
          </p:cNvSpPr>
          <p:nvPr/>
        </p:nvSpPr>
        <p:spPr bwMode="auto">
          <a:xfrm>
            <a:off x="6477000" y="1502569"/>
            <a:ext cx="20574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600" b="1" dirty="0">
                <a:latin typeface="Times New Roman" pitchFamily="18" charset="0"/>
              </a:rPr>
              <a:t>forward (scans ahead to find pattern match)</a:t>
            </a:r>
          </a:p>
        </p:txBody>
      </p:sp>
      <p:sp>
        <p:nvSpPr>
          <p:cNvPr id="20489" name="Line 72"/>
          <p:cNvSpPr>
            <a:spLocks noChangeShapeType="1"/>
          </p:cNvSpPr>
          <p:nvPr/>
        </p:nvSpPr>
        <p:spPr bwMode="auto">
          <a:xfrm flipH="1" flipV="1">
            <a:off x="6019800" y="1445418"/>
            <a:ext cx="304800" cy="171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3" name="Group 154"/>
          <p:cNvGrpSpPr>
            <a:grpSpLocks/>
          </p:cNvGrpSpPr>
          <p:nvPr/>
        </p:nvGrpSpPr>
        <p:grpSpPr bwMode="auto">
          <a:xfrm>
            <a:off x="1143000" y="1896664"/>
            <a:ext cx="5334000" cy="2884886"/>
            <a:chOff x="1200" y="1536"/>
            <a:chExt cx="3360" cy="2423"/>
          </a:xfrm>
        </p:grpSpPr>
        <p:sp>
          <p:nvSpPr>
            <p:cNvPr id="20492" name="Text Box 147"/>
            <p:cNvSpPr txBox="1">
              <a:spLocks noChangeArrowheads="1"/>
            </p:cNvSpPr>
            <p:nvPr/>
          </p:nvSpPr>
          <p:spPr bwMode="auto">
            <a:xfrm>
              <a:off x="1200" y="1536"/>
              <a:ext cx="3360" cy="2423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70000"/>
                </a:lnSpc>
                <a:spcBef>
                  <a:spcPct val="50000"/>
                </a:spcBef>
              </a:pPr>
              <a:r>
                <a:rPr lang="en-US" altLang="en-US" sz="1200" i="1" dirty="0">
                  <a:latin typeface="Times New Roman" pitchFamily="18" charset="0"/>
                </a:rPr>
                <a:t>forward </a:t>
              </a:r>
              <a:r>
                <a:rPr lang="en-US" altLang="en-US" sz="1200" dirty="0">
                  <a:latin typeface="Times New Roman" pitchFamily="18" charset="0"/>
                </a:rPr>
                <a:t>: =  </a:t>
              </a:r>
              <a:r>
                <a:rPr lang="en-US" altLang="en-US" sz="1200" i="1" dirty="0">
                  <a:latin typeface="Times New Roman" pitchFamily="18" charset="0"/>
                </a:rPr>
                <a:t>forward + </a:t>
              </a:r>
              <a:r>
                <a:rPr lang="en-US" altLang="en-US" sz="1200" dirty="0">
                  <a:latin typeface="Times New Roman" pitchFamily="18" charset="0"/>
                </a:rPr>
                <a:t>1 ;</a:t>
              </a:r>
            </a:p>
            <a:p>
              <a:pPr>
                <a:lnSpc>
                  <a:spcPct val="70000"/>
                </a:lnSpc>
                <a:spcBef>
                  <a:spcPct val="50000"/>
                </a:spcBef>
              </a:pPr>
              <a:r>
                <a:rPr lang="en-US" altLang="en-US" sz="1200" b="1" dirty="0">
                  <a:latin typeface="Times New Roman" pitchFamily="18" charset="0"/>
                </a:rPr>
                <a:t>if </a:t>
              </a:r>
              <a:r>
                <a:rPr lang="en-US" altLang="en-US" sz="1200" i="1" dirty="0">
                  <a:latin typeface="Times New Roman" pitchFamily="18" charset="0"/>
                </a:rPr>
                <a:t> forward </a:t>
              </a:r>
              <a:r>
                <a:rPr lang="en-US" altLang="en-US" sz="1200" dirty="0">
                  <a:latin typeface="Times New Roman" pitchFamily="18" charset="0"/>
                  <a:sym typeface="Symbol" pitchFamily="18" charset="2"/>
                </a:rPr>
                <a:t> = </a:t>
              </a:r>
              <a:r>
                <a:rPr lang="en-US" altLang="en-US" sz="1200" b="1" dirty="0" err="1">
                  <a:latin typeface="Times New Roman" pitchFamily="18" charset="0"/>
                  <a:sym typeface="Symbol" pitchFamily="18" charset="2"/>
                </a:rPr>
                <a:t>eof</a:t>
              </a:r>
              <a:r>
                <a:rPr lang="en-US" altLang="en-US" sz="1200" b="1" dirty="0">
                  <a:latin typeface="Times New Roman" pitchFamily="18" charset="0"/>
                  <a:sym typeface="Symbol" pitchFamily="18" charset="2"/>
                </a:rPr>
                <a:t>  then  begin</a:t>
              </a:r>
            </a:p>
            <a:p>
              <a:pPr>
                <a:lnSpc>
                  <a:spcPct val="70000"/>
                </a:lnSpc>
                <a:spcBef>
                  <a:spcPct val="50000"/>
                </a:spcBef>
              </a:pPr>
              <a:r>
                <a:rPr lang="en-US" altLang="en-US" sz="1200" b="1" dirty="0">
                  <a:latin typeface="Times New Roman" pitchFamily="18" charset="0"/>
                  <a:sym typeface="Symbol" pitchFamily="18" charset="2"/>
                </a:rPr>
                <a:t>    if </a:t>
              </a:r>
              <a:r>
                <a:rPr lang="en-US" altLang="en-US" sz="1200" dirty="0">
                  <a:latin typeface="Times New Roman" pitchFamily="18" charset="0"/>
                  <a:sym typeface="Symbol" pitchFamily="18" charset="2"/>
                </a:rPr>
                <a:t> </a:t>
              </a:r>
              <a:r>
                <a:rPr lang="en-US" altLang="en-US" sz="1200" i="1" dirty="0">
                  <a:latin typeface="Times New Roman" pitchFamily="18" charset="0"/>
                  <a:sym typeface="Symbol" pitchFamily="18" charset="2"/>
                </a:rPr>
                <a:t>forward </a:t>
              </a:r>
              <a:r>
                <a:rPr lang="en-US" altLang="en-US" sz="1200" dirty="0">
                  <a:latin typeface="Times New Roman" pitchFamily="18" charset="0"/>
                  <a:sym typeface="Symbol" pitchFamily="18" charset="2"/>
                </a:rPr>
                <a:t> at end of first half  </a:t>
              </a:r>
              <a:r>
                <a:rPr lang="en-US" altLang="en-US" sz="1200" b="1" dirty="0">
                  <a:latin typeface="Times New Roman" pitchFamily="18" charset="0"/>
                  <a:sym typeface="Symbol" pitchFamily="18" charset="2"/>
                </a:rPr>
                <a:t>then  begin</a:t>
              </a:r>
            </a:p>
            <a:p>
              <a:pPr>
                <a:lnSpc>
                  <a:spcPct val="70000"/>
                </a:lnSpc>
                <a:spcBef>
                  <a:spcPct val="50000"/>
                </a:spcBef>
              </a:pPr>
              <a:r>
                <a:rPr lang="en-US" altLang="en-US" sz="1200" dirty="0">
                  <a:latin typeface="Times New Roman" pitchFamily="18" charset="0"/>
                  <a:sym typeface="Symbol" pitchFamily="18" charset="2"/>
                </a:rPr>
                <a:t>          reload second half ;</a:t>
              </a:r>
            </a:p>
            <a:p>
              <a:pPr>
                <a:lnSpc>
                  <a:spcPct val="70000"/>
                </a:lnSpc>
                <a:spcBef>
                  <a:spcPct val="50000"/>
                </a:spcBef>
              </a:pPr>
              <a:r>
                <a:rPr lang="en-US" altLang="en-US" sz="1200" dirty="0">
                  <a:latin typeface="Times New Roman" pitchFamily="18" charset="0"/>
                  <a:sym typeface="Symbol" pitchFamily="18" charset="2"/>
                </a:rPr>
                <a:t>          </a:t>
              </a:r>
              <a:r>
                <a:rPr lang="en-US" altLang="en-US" sz="1200" i="1" dirty="0">
                  <a:latin typeface="Times New Roman" pitchFamily="18" charset="0"/>
                  <a:sym typeface="Symbol" pitchFamily="18" charset="2"/>
                </a:rPr>
                <a:t>forward  </a:t>
              </a:r>
              <a:r>
                <a:rPr lang="en-US" altLang="en-US" sz="1200" dirty="0">
                  <a:latin typeface="Times New Roman" pitchFamily="18" charset="0"/>
                  <a:sym typeface="Symbol" pitchFamily="18" charset="2"/>
                </a:rPr>
                <a:t>: =  </a:t>
              </a:r>
              <a:r>
                <a:rPr lang="en-US" altLang="en-US" sz="1200" i="1" dirty="0">
                  <a:latin typeface="Times New Roman" pitchFamily="18" charset="0"/>
                  <a:sym typeface="Symbol" pitchFamily="18" charset="2"/>
                </a:rPr>
                <a:t>forward  </a:t>
              </a:r>
              <a:r>
                <a:rPr lang="en-US" altLang="en-US" sz="1200" dirty="0">
                  <a:latin typeface="Times New Roman" pitchFamily="18" charset="0"/>
                  <a:sym typeface="Symbol" pitchFamily="18" charset="2"/>
                </a:rPr>
                <a:t>+ 1</a:t>
              </a:r>
            </a:p>
            <a:p>
              <a:pPr>
                <a:lnSpc>
                  <a:spcPct val="70000"/>
                </a:lnSpc>
                <a:spcBef>
                  <a:spcPct val="50000"/>
                </a:spcBef>
              </a:pPr>
              <a:r>
                <a:rPr lang="en-US" altLang="en-US" sz="1200" dirty="0">
                  <a:latin typeface="Times New Roman" pitchFamily="18" charset="0"/>
                  <a:sym typeface="Symbol" pitchFamily="18" charset="2"/>
                </a:rPr>
                <a:t>    </a:t>
              </a:r>
              <a:r>
                <a:rPr lang="en-US" altLang="en-US" sz="1200" b="1" dirty="0">
                  <a:latin typeface="Times New Roman" pitchFamily="18" charset="0"/>
                  <a:sym typeface="Symbol" pitchFamily="18" charset="2"/>
                </a:rPr>
                <a:t>end</a:t>
              </a:r>
            </a:p>
            <a:p>
              <a:pPr>
                <a:lnSpc>
                  <a:spcPct val="70000"/>
                </a:lnSpc>
                <a:spcBef>
                  <a:spcPct val="50000"/>
                </a:spcBef>
              </a:pPr>
              <a:r>
                <a:rPr lang="en-US" altLang="en-US" sz="1200" b="1" dirty="0">
                  <a:latin typeface="Times New Roman" pitchFamily="18" charset="0"/>
                  <a:sym typeface="Symbol" pitchFamily="18" charset="2"/>
                </a:rPr>
                <a:t>    else if  </a:t>
              </a:r>
              <a:r>
                <a:rPr lang="en-US" altLang="en-US" sz="1200" i="1" dirty="0">
                  <a:latin typeface="Times New Roman" pitchFamily="18" charset="0"/>
                  <a:sym typeface="Symbol" pitchFamily="18" charset="2"/>
                </a:rPr>
                <a:t>forward  </a:t>
              </a:r>
              <a:r>
                <a:rPr lang="en-US" altLang="en-US" sz="1200" dirty="0">
                  <a:latin typeface="Times New Roman" pitchFamily="18" charset="0"/>
                  <a:sym typeface="Symbol" pitchFamily="18" charset="2"/>
                </a:rPr>
                <a:t>at end of second half  </a:t>
              </a:r>
              <a:r>
                <a:rPr lang="en-US" altLang="en-US" sz="1200" b="1" dirty="0">
                  <a:latin typeface="Times New Roman" pitchFamily="18" charset="0"/>
                  <a:sym typeface="Symbol" pitchFamily="18" charset="2"/>
                </a:rPr>
                <a:t>then  begin</a:t>
              </a:r>
            </a:p>
            <a:p>
              <a:pPr>
                <a:lnSpc>
                  <a:spcPct val="70000"/>
                </a:lnSpc>
                <a:spcBef>
                  <a:spcPct val="50000"/>
                </a:spcBef>
              </a:pPr>
              <a:r>
                <a:rPr lang="en-US" altLang="en-US" sz="1200" b="1" dirty="0">
                  <a:latin typeface="Times New Roman" pitchFamily="18" charset="0"/>
                  <a:sym typeface="Symbol" pitchFamily="18" charset="2"/>
                </a:rPr>
                <a:t>          </a:t>
              </a:r>
              <a:r>
                <a:rPr lang="en-US" altLang="en-US" sz="1200" dirty="0">
                  <a:latin typeface="Times New Roman" pitchFamily="18" charset="0"/>
                  <a:sym typeface="Symbol" pitchFamily="18" charset="2"/>
                </a:rPr>
                <a:t>reload first half ;</a:t>
              </a:r>
            </a:p>
            <a:p>
              <a:pPr>
                <a:lnSpc>
                  <a:spcPct val="70000"/>
                </a:lnSpc>
                <a:spcBef>
                  <a:spcPct val="50000"/>
                </a:spcBef>
              </a:pPr>
              <a:r>
                <a:rPr lang="en-US" altLang="en-US" sz="1200" dirty="0">
                  <a:latin typeface="Times New Roman" pitchFamily="18" charset="0"/>
                  <a:sym typeface="Symbol" pitchFamily="18" charset="2"/>
                </a:rPr>
                <a:t>          move  </a:t>
              </a:r>
              <a:r>
                <a:rPr lang="en-US" altLang="en-US" sz="1200" i="1" dirty="0">
                  <a:latin typeface="Times New Roman" pitchFamily="18" charset="0"/>
                  <a:sym typeface="Symbol" pitchFamily="18" charset="2"/>
                </a:rPr>
                <a:t>forward  </a:t>
              </a:r>
              <a:r>
                <a:rPr lang="en-US" altLang="en-US" sz="1200" dirty="0">
                  <a:latin typeface="Times New Roman" pitchFamily="18" charset="0"/>
                  <a:sym typeface="Symbol" pitchFamily="18" charset="2"/>
                </a:rPr>
                <a:t>to beginning of first half</a:t>
              </a:r>
            </a:p>
            <a:p>
              <a:pPr>
                <a:lnSpc>
                  <a:spcPct val="70000"/>
                </a:lnSpc>
                <a:spcBef>
                  <a:spcPct val="50000"/>
                </a:spcBef>
              </a:pPr>
              <a:r>
                <a:rPr lang="en-US" altLang="en-US" sz="1200" dirty="0">
                  <a:latin typeface="Times New Roman" pitchFamily="18" charset="0"/>
                  <a:sym typeface="Symbol" pitchFamily="18" charset="2"/>
                </a:rPr>
                <a:t>    </a:t>
              </a:r>
              <a:r>
                <a:rPr lang="en-US" altLang="en-US" sz="1200" b="1" dirty="0">
                  <a:latin typeface="Times New Roman" pitchFamily="18" charset="0"/>
                  <a:sym typeface="Symbol" pitchFamily="18" charset="2"/>
                </a:rPr>
                <a:t>end</a:t>
              </a:r>
            </a:p>
            <a:p>
              <a:pPr>
                <a:lnSpc>
                  <a:spcPct val="70000"/>
                </a:lnSpc>
                <a:spcBef>
                  <a:spcPct val="50000"/>
                </a:spcBef>
              </a:pPr>
              <a:r>
                <a:rPr lang="en-US" altLang="en-US" sz="1200" b="1" dirty="0">
                  <a:latin typeface="Times New Roman" pitchFamily="18" charset="0"/>
                  <a:sym typeface="Symbol" pitchFamily="18" charset="2"/>
                </a:rPr>
                <a:t>    else  </a:t>
              </a:r>
              <a:r>
                <a:rPr lang="en-US" altLang="en-US" sz="1200" dirty="0">
                  <a:latin typeface="Times New Roman" pitchFamily="18" charset="0"/>
                  <a:sym typeface="Symbol" pitchFamily="18" charset="2"/>
                </a:rPr>
                <a:t>/ * </a:t>
              </a:r>
              <a:r>
                <a:rPr lang="en-US" altLang="en-US" sz="1200" b="1" dirty="0" err="1">
                  <a:latin typeface="Times New Roman" pitchFamily="18" charset="0"/>
                  <a:sym typeface="Symbol" pitchFamily="18" charset="2"/>
                </a:rPr>
                <a:t>eof</a:t>
              </a:r>
              <a:r>
                <a:rPr lang="en-US" altLang="en-US" sz="1200" dirty="0">
                  <a:latin typeface="Times New Roman" pitchFamily="18" charset="0"/>
                  <a:sym typeface="Symbol" pitchFamily="18" charset="2"/>
                </a:rPr>
                <a:t> within buffer signifying end of input  * /</a:t>
              </a:r>
            </a:p>
            <a:p>
              <a:pPr>
                <a:lnSpc>
                  <a:spcPct val="70000"/>
                </a:lnSpc>
                <a:spcBef>
                  <a:spcPct val="50000"/>
                </a:spcBef>
              </a:pPr>
              <a:r>
                <a:rPr lang="en-US" altLang="en-US" sz="1200" dirty="0">
                  <a:latin typeface="Times New Roman" pitchFamily="18" charset="0"/>
                  <a:sym typeface="Symbol" pitchFamily="18" charset="2"/>
                </a:rPr>
                <a:t>         terminate lexical analysis</a:t>
              </a:r>
            </a:p>
            <a:p>
              <a:pPr>
                <a:lnSpc>
                  <a:spcPct val="70000"/>
                </a:lnSpc>
                <a:spcBef>
                  <a:spcPct val="50000"/>
                </a:spcBef>
              </a:pPr>
              <a:r>
                <a:rPr lang="en-US" altLang="en-US" sz="1200" b="1" dirty="0">
                  <a:latin typeface="Times New Roman" pitchFamily="18" charset="0"/>
                  <a:sym typeface="Symbol" pitchFamily="18" charset="2"/>
                </a:rPr>
                <a:t>end</a:t>
              </a:r>
              <a:endParaRPr lang="en-US" altLang="en-US" sz="1200" i="1" dirty="0">
                <a:latin typeface="Times New Roman" pitchFamily="18" charset="0"/>
              </a:endParaRPr>
            </a:p>
          </p:txBody>
        </p:sp>
        <p:sp>
          <p:nvSpPr>
            <p:cNvPr id="20493" name="Text Box 148"/>
            <p:cNvSpPr txBox="1">
              <a:spLocks noChangeArrowheads="1"/>
            </p:cNvSpPr>
            <p:nvPr/>
          </p:nvSpPr>
          <p:spPr bwMode="auto">
            <a:xfrm>
              <a:off x="2544" y="3554"/>
              <a:ext cx="1968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1200" dirty="0">
                  <a:solidFill>
                    <a:srgbClr val="FF5050"/>
                  </a:solidFill>
                  <a:latin typeface="Times New Roman" pitchFamily="18" charset="0"/>
                </a:rPr>
                <a:t>2nd </a:t>
              </a:r>
              <a:r>
                <a:rPr lang="en-US" altLang="en-US" sz="1200" b="1" dirty="0" err="1">
                  <a:solidFill>
                    <a:srgbClr val="FF5050"/>
                  </a:solidFill>
                  <a:latin typeface="Times New Roman" pitchFamily="18" charset="0"/>
                </a:rPr>
                <a:t>eof</a:t>
              </a:r>
              <a:r>
                <a:rPr lang="en-US" altLang="en-US" sz="1200" dirty="0">
                  <a:solidFill>
                    <a:srgbClr val="FF5050"/>
                  </a:solidFill>
                  <a:latin typeface="Times New Roman" pitchFamily="18" charset="0"/>
                </a:rPr>
                <a:t> </a:t>
              </a:r>
              <a:r>
                <a:rPr lang="en-US" altLang="en-US" sz="1200" dirty="0">
                  <a:solidFill>
                    <a:srgbClr val="FF5050"/>
                  </a:solidFill>
                  <a:latin typeface="Times New Roman" pitchFamily="18" charset="0"/>
                  <a:sym typeface="Symbol" pitchFamily="18" charset="2"/>
                </a:rPr>
                <a:t> no more input !</a:t>
              </a:r>
              <a:endParaRPr lang="en-US" altLang="en-US" sz="1200" dirty="0">
                <a:solidFill>
                  <a:srgbClr val="FF5050"/>
                </a:solidFill>
                <a:latin typeface="Times New Roman" pitchFamily="18" charset="0"/>
              </a:endParaRPr>
            </a:p>
          </p:txBody>
        </p:sp>
        <p:sp>
          <p:nvSpPr>
            <p:cNvPr id="20494" name="Text Box 149"/>
            <p:cNvSpPr txBox="1">
              <a:spLocks noChangeArrowheads="1"/>
            </p:cNvSpPr>
            <p:nvPr/>
          </p:nvSpPr>
          <p:spPr bwMode="auto">
            <a:xfrm>
              <a:off x="2928" y="2160"/>
              <a:ext cx="1296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1200">
                  <a:solidFill>
                    <a:srgbClr val="FF5050"/>
                  </a:solidFill>
                  <a:latin typeface="Times New Roman" pitchFamily="18" charset="0"/>
                </a:rPr>
                <a:t>Block I/O</a:t>
              </a:r>
            </a:p>
          </p:txBody>
        </p:sp>
        <p:sp>
          <p:nvSpPr>
            <p:cNvPr id="20495" name="Text Box 150"/>
            <p:cNvSpPr txBox="1">
              <a:spLocks noChangeArrowheads="1"/>
            </p:cNvSpPr>
            <p:nvPr/>
          </p:nvSpPr>
          <p:spPr bwMode="auto">
            <a:xfrm>
              <a:off x="2688" y="2786"/>
              <a:ext cx="1296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1200" dirty="0">
                  <a:solidFill>
                    <a:srgbClr val="FF5050"/>
                  </a:solidFill>
                  <a:latin typeface="Times New Roman" pitchFamily="18" charset="0"/>
                </a:rPr>
                <a:t>Block I/O</a:t>
              </a:r>
            </a:p>
          </p:txBody>
        </p:sp>
        <p:sp>
          <p:nvSpPr>
            <p:cNvPr id="20496" name="Line 151"/>
            <p:cNvSpPr>
              <a:spLocks noChangeShapeType="1"/>
            </p:cNvSpPr>
            <p:nvPr/>
          </p:nvSpPr>
          <p:spPr bwMode="auto">
            <a:xfrm flipH="1">
              <a:off x="2544" y="2914"/>
              <a:ext cx="144" cy="0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200"/>
            </a:p>
          </p:txBody>
        </p:sp>
        <p:sp>
          <p:nvSpPr>
            <p:cNvPr id="20497" name="Line 152"/>
            <p:cNvSpPr>
              <a:spLocks noChangeShapeType="1"/>
            </p:cNvSpPr>
            <p:nvPr/>
          </p:nvSpPr>
          <p:spPr bwMode="auto">
            <a:xfrm flipH="1">
              <a:off x="2736" y="2256"/>
              <a:ext cx="144" cy="0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200"/>
            </a:p>
          </p:txBody>
        </p:sp>
      </p:grpSp>
      <p:sp>
        <p:nvSpPr>
          <p:cNvPr id="20491" name="Text Box 157"/>
          <p:cNvSpPr txBox="1">
            <a:spLocks noChangeArrowheads="1"/>
          </p:cNvSpPr>
          <p:nvPr/>
        </p:nvSpPr>
        <p:spPr bwMode="auto">
          <a:xfrm>
            <a:off x="6096000" y="2588419"/>
            <a:ext cx="30480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en-US" sz="1600" b="1" dirty="0">
                <a:solidFill>
                  <a:srgbClr val="0066FF"/>
                </a:solidFill>
                <a:latin typeface="Times New Roman" pitchFamily="18" charset="0"/>
              </a:rPr>
              <a:t>Algorithm performs </a:t>
            </a:r>
          </a:p>
          <a:p>
            <a:pPr algn="r">
              <a:spcBef>
                <a:spcPct val="50000"/>
              </a:spcBef>
            </a:pPr>
            <a:r>
              <a:rPr lang="en-US" altLang="en-US" sz="1600" b="1" dirty="0">
                <a:solidFill>
                  <a:srgbClr val="0066FF"/>
                </a:solidFill>
                <a:latin typeface="Times New Roman" pitchFamily="18" charset="0"/>
              </a:rPr>
              <a:t>I/O’s. We can still </a:t>
            </a:r>
          </a:p>
          <a:p>
            <a:pPr algn="r">
              <a:spcBef>
                <a:spcPct val="50000"/>
              </a:spcBef>
            </a:pPr>
            <a:r>
              <a:rPr lang="en-US" altLang="en-US" sz="1600" b="1" dirty="0">
                <a:solidFill>
                  <a:srgbClr val="0066FF"/>
                </a:solidFill>
                <a:latin typeface="Times New Roman" pitchFamily="18" charset="0"/>
              </a:rPr>
              <a:t>have get &amp; un </a:t>
            </a:r>
            <a:r>
              <a:rPr lang="en-US" altLang="en-US" sz="1600" b="1" dirty="0" err="1">
                <a:solidFill>
                  <a:srgbClr val="0066FF"/>
                </a:solidFill>
                <a:latin typeface="Times New Roman" pitchFamily="18" charset="0"/>
              </a:rPr>
              <a:t>getchar</a:t>
            </a:r>
            <a:endParaRPr lang="en-US" altLang="en-US" sz="1600" b="1" dirty="0">
              <a:solidFill>
                <a:srgbClr val="0066FF"/>
              </a:solidFill>
              <a:latin typeface="Times New Roman" pitchFamily="18" charset="0"/>
              <a:sym typeface="Symbol" pitchFamily="18" charset="2"/>
            </a:endParaRPr>
          </a:p>
          <a:p>
            <a:pPr algn="r">
              <a:spcBef>
                <a:spcPct val="50000"/>
              </a:spcBef>
            </a:pPr>
            <a:r>
              <a:rPr lang="en-US" altLang="en-US" sz="1600" b="1" dirty="0">
                <a:solidFill>
                  <a:srgbClr val="0066FF"/>
                </a:solidFill>
                <a:latin typeface="Times New Roman" pitchFamily="18" charset="0"/>
                <a:sym typeface="Symbol" pitchFamily="18" charset="2"/>
              </a:rPr>
              <a:t>Now these work on</a:t>
            </a:r>
          </a:p>
          <a:p>
            <a:pPr algn="r">
              <a:spcBef>
                <a:spcPct val="50000"/>
              </a:spcBef>
            </a:pPr>
            <a:r>
              <a:rPr lang="en-US" altLang="en-US" sz="1600" b="1" dirty="0">
                <a:solidFill>
                  <a:srgbClr val="0066FF"/>
                </a:solidFill>
                <a:latin typeface="Times New Roman" pitchFamily="18" charset="0"/>
                <a:sym typeface="Symbol" pitchFamily="18" charset="2"/>
              </a:rPr>
              <a:t> real memory buffers !</a:t>
            </a:r>
            <a:endParaRPr lang="en-US" altLang="en-US" sz="1600" b="1" dirty="0">
              <a:solidFill>
                <a:srgbClr val="0066FF"/>
              </a:solidFill>
              <a:latin typeface="Times New Roman" pitchFamily="18" charset="0"/>
            </a:endParaRPr>
          </a:p>
        </p:txBody>
      </p:sp>
      <p:sp>
        <p:nvSpPr>
          <p:cNvPr id="80" name="Text Placeholder 1"/>
          <p:cNvSpPr txBox="1">
            <a:spLocks/>
          </p:cNvSpPr>
          <p:nvPr/>
        </p:nvSpPr>
        <p:spPr>
          <a:xfrm>
            <a:off x="0" y="483518"/>
            <a:ext cx="9144000" cy="576064"/>
          </a:xfrm>
          <a:prstGeom prst="rect">
            <a:avLst/>
          </a:prstGeom>
        </p:spPr>
        <p:txBody>
          <a:bodyPr/>
          <a:lstStyle/>
          <a:p>
            <a:pPr lvl="0" algn="ctr"/>
            <a:r>
              <a:rPr lang="en-US" altLang="en-US" sz="3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 heading"/>
              </a:rPr>
              <a:t>Lexical Analyzer in Perspective</a:t>
            </a:r>
            <a:endParaRPr kumimoji="0" lang="en-US" altLang="ko-KR" sz="3600" i="0" u="none" strike="noStrike" kern="1200" cap="none" spc="0" normalizeH="0" baseline="0" noProof="0" dirty="0" smtClean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Arial heading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spcBef>
                <a:spcPct val="50000"/>
              </a:spcBef>
            </a:pPr>
            <a:r>
              <a:rPr lang="en-US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When more than one lexeme can match a pattern, a lexical analyzer must provide the compiler additional information about that lexeme matched.</a:t>
            </a:r>
          </a:p>
          <a:p>
            <a:pPr>
              <a:spcBef>
                <a:spcPct val="50000"/>
              </a:spcBef>
            </a:pPr>
            <a:endParaRPr lang="en-US" altLang="en-US" sz="20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spcBef>
                <a:spcPct val="50000"/>
              </a:spcBef>
            </a:pPr>
            <a:r>
              <a:rPr lang="en-US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Information about identifiers, its lexeme, type and location at which it was first found is kept in symbol table.</a:t>
            </a:r>
          </a:p>
          <a:p>
            <a:pPr>
              <a:spcBef>
                <a:spcPct val="50000"/>
              </a:spcBef>
            </a:pPr>
            <a:endParaRPr lang="en-US" altLang="en-US" sz="20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spcBef>
                <a:spcPct val="50000"/>
              </a:spcBef>
            </a:pPr>
            <a:r>
              <a:rPr lang="en-US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The appropriate attribute value for an identifier is a pointer to the symbol table entry for that identifier.</a:t>
            </a:r>
          </a:p>
          <a:p>
            <a:endParaRPr lang="en-US" altLang="en-US" sz="20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Text Placeholder 1"/>
          <p:cNvSpPr txBox="1">
            <a:spLocks/>
          </p:cNvSpPr>
          <p:nvPr/>
        </p:nvSpPr>
        <p:spPr>
          <a:xfrm>
            <a:off x="0" y="483518"/>
            <a:ext cx="9144000" cy="576064"/>
          </a:xfrm>
          <a:prstGeom prst="rect">
            <a:avLst/>
          </a:prstGeom>
        </p:spPr>
        <p:txBody>
          <a:bodyPr/>
          <a:lstStyle/>
          <a:p>
            <a:pPr lvl="0" algn="ctr"/>
            <a:r>
              <a:rPr lang="en-US" altLang="en-US" sz="3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Attributes for Tokens</a:t>
            </a:r>
            <a:endParaRPr kumimoji="0" lang="en-US" altLang="ko-KR" sz="3600" i="0" u="none" strike="noStrike" kern="1200" cap="none" spc="0" normalizeH="0" baseline="0" noProof="0" dirty="0" smtClean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Arial heading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1027"/>
          <p:cNvSpPr txBox="1">
            <a:spLocks noChangeArrowheads="1"/>
          </p:cNvSpPr>
          <p:nvPr/>
        </p:nvSpPr>
        <p:spPr bwMode="auto">
          <a:xfrm>
            <a:off x="533400" y="1123950"/>
            <a:ext cx="7924800" cy="784830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dirty="0"/>
              <a:t>Tokens influence </a:t>
            </a:r>
            <a:r>
              <a:rPr lang="en-US" dirty="0">
                <a:solidFill>
                  <a:srgbClr val="FF0000"/>
                </a:solidFill>
              </a:rPr>
              <a:t>parsing decision</a:t>
            </a:r>
            <a:r>
              <a:rPr lang="en-US" dirty="0"/>
              <a:t>; </a:t>
            </a:r>
          </a:p>
          <a:p>
            <a:pPr>
              <a:spcBef>
                <a:spcPct val="50000"/>
              </a:spcBef>
              <a:defRPr/>
            </a:pPr>
            <a:r>
              <a:rPr lang="en-US" dirty="0"/>
              <a:t>The attributes influence the </a:t>
            </a:r>
            <a:r>
              <a:rPr lang="en-US" dirty="0">
                <a:solidFill>
                  <a:srgbClr val="FF0000"/>
                </a:solidFill>
              </a:rPr>
              <a:t>translation of tokens</a:t>
            </a:r>
            <a:r>
              <a:rPr lang="en-US" dirty="0"/>
              <a:t>.</a:t>
            </a:r>
          </a:p>
        </p:txBody>
      </p:sp>
      <p:sp>
        <p:nvSpPr>
          <p:cNvPr id="6" name="Text Box 1028"/>
          <p:cNvSpPr txBox="1">
            <a:spLocks noChangeArrowheads="1"/>
          </p:cNvSpPr>
          <p:nvPr/>
        </p:nvSpPr>
        <p:spPr bwMode="auto">
          <a:xfrm>
            <a:off x="533400" y="2057400"/>
            <a:ext cx="7239000" cy="400110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000" dirty="0">
                <a:solidFill>
                  <a:srgbClr val="FF0000"/>
                </a:solidFill>
              </a:rPr>
              <a:t>Example:</a:t>
            </a:r>
            <a:r>
              <a:rPr lang="en-US" sz="2000" dirty="0">
                <a:solidFill>
                  <a:schemeClr val="accent2"/>
                </a:solidFill>
              </a:rPr>
              <a:t>	</a:t>
            </a:r>
            <a:r>
              <a:rPr lang="en-US" sz="2000" dirty="0"/>
              <a:t>E = M * C ** 2</a:t>
            </a:r>
          </a:p>
        </p:txBody>
      </p:sp>
      <p:sp>
        <p:nvSpPr>
          <p:cNvPr id="7" name="Text Box 1029"/>
          <p:cNvSpPr txBox="1">
            <a:spLocks noChangeArrowheads="1"/>
          </p:cNvSpPr>
          <p:nvPr/>
        </p:nvSpPr>
        <p:spPr bwMode="auto">
          <a:xfrm>
            <a:off x="533400" y="2590800"/>
            <a:ext cx="6397625" cy="1938992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&lt;id, pointer to symbol-table entry for E&gt;</a:t>
            </a:r>
          </a:p>
          <a:p>
            <a:pPr>
              <a:spcBef>
                <a:spcPct val="50000"/>
              </a:spcBef>
              <a:defRPr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&lt;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assign_op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&gt;</a:t>
            </a:r>
          </a:p>
          <a:p>
            <a:pPr>
              <a:spcBef>
                <a:spcPct val="50000"/>
              </a:spcBef>
              <a:defRPr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&lt;id, pointer to symbol-table entry for M&gt;</a:t>
            </a:r>
          </a:p>
          <a:p>
            <a:pPr>
              <a:spcBef>
                <a:spcPct val="50000"/>
              </a:spcBef>
              <a:defRPr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&lt;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mult_op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&gt;</a:t>
            </a:r>
          </a:p>
          <a:p>
            <a:pPr>
              <a:spcBef>
                <a:spcPct val="50000"/>
              </a:spcBef>
              <a:defRPr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&lt;id, pointer to symbol-table entry for C&gt;</a:t>
            </a:r>
          </a:p>
          <a:p>
            <a:pPr>
              <a:spcBef>
                <a:spcPct val="50000"/>
              </a:spcBef>
              <a:defRPr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&lt;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exp_op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&gt;</a:t>
            </a:r>
          </a:p>
          <a:p>
            <a:pPr>
              <a:spcBef>
                <a:spcPct val="50000"/>
              </a:spcBef>
              <a:defRPr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&lt;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num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integer value 2&gt;</a:t>
            </a:r>
          </a:p>
        </p:txBody>
      </p:sp>
      <p:sp>
        <p:nvSpPr>
          <p:cNvPr id="8" name="Text Placeholder 1"/>
          <p:cNvSpPr txBox="1">
            <a:spLocks/>
          </p:cNvSpPr>
          <p:nvPr/>
        </p:nvSpPr>
        <p:spPr>
          <a:xfrm>
            <a:off x="0" y="483518"/>
            <a:ext cx="9144000" cy="576064"/>
          </a:xfrm>
          <a:prstGeom prst="rect">
            <a:avLst/>
          </a:prstGeom>
        </p:spPr>
        <p:txBody>
          <a:bodyPr/>
          <a:lstStyle/>
          <a:p>
            <a:pPr lvl="0" algn="ctr"/>
            <a:r>
              <a:rPr lang="en-US" altLang="en-US" sz="3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Attributes for Tokens</a:t>
            </a:r>
            <a:endParaRPr kumimoji="0" lang="en-US" altLang="ko-KR" sz="3600" i="0" u="none" strike="noStrike" kern="1200" cap="none" spc="0" normalizeH="0" baseline="0" noProof="0" dirty="0" smtClean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Arial heading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0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We begin the study of lexical analyzer generators by introducing </a:t>
            </a:r>
            <a:r>
              <a:rPr lang="en-US" alt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regular languages </a:t>
            </a:r>
            <a:r>
              <a:rPr lang="en-US" alt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and expressions, a convenient notation for specifying lexeme patterns.</a:t>
            </a:r>
          </a:p>
          <a:p>
            <a:r>
              <a:rPr lang="en-US" alt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The stream of tokens is sent to the parser for syntax analysis.</a:t>
            </a:r>
          </a:p>
          <a:p>
            <a:endParaRPr lang="en-US" altLang="en-US" sz="28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Text Placeholder 1"/>
          <p:cNvSpPr txBox="1">
            <a:spLocks/>
          </p:cNvSpPr>
          <p:nvPr/>
        </p:nvSpPr>
        <p:spPr>
          <a:xfrm>
            <a:off x="0" y="483518"/>
            <a:ext cx="9144000" cy="576064"/>
          </a:xfrm>
          <a:prstGeom prst="rect">
            <a:avLst/>
          </a:prstGeom>
        </p:spPr>
        <p:txBody>
          <a:bodyPr/>
          <a:lstStyle/>
          <a:p>
            <a:pPr lvl="0" algn="ctr"/>
            <a:r>
              <a:rPr lang="en-US" altLang="en-US" sz="3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Lexical Analyzer</a:t>
            </a:r>
            <a:endParaRPr kumimoji="0" lang="en-US" altLang="ko-KR" sz="3600" i="0" u="none" strike="noStrike" kern="1200" cap="none" spc="0" normalizeH="0" baseline="0" noProof="0" dirty="0" smtClean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Arial heading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038350"/>
            <a:ext cx="6172200" cy="548879"/>
          </a:xfrm>
        </p:spPr>
        <p:txBody>
          <a:bodyPr/>
          <a:lstStyle/>
          <a:p>
            <a:r>
              <a:rPr lang="en-US" sz="2700" dirty="0">
                <a:solidFill>
                  <a:srgbClr val="003366"/>
                </a:solidFill>
              </a:rPr>
              <a:t>UNIT </a:t>
            </a:r>
            <a:r>
              <a:rPr lang="en-US" sz="2700" dirty="0" smtClean="0">
                <a:solidFill>
                  <a:srgbClr val="003366"/>
                </a:solidFill>
              </a:rPr>
              <a:t>4.3</a:t>
            </a:r>
            <a:endParaRPr lang="en-US" sz="2700" dirty="0">
              <a:solidFill>
                <a:srgbClr val="003366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2AEF6-A042-4DA6-A3E1-F04AAE1E3944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590800" y="2724150"/>
            <a:ext cx="3829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defRPr/>
            </a:pPr>
            <a:r>
              <a:rPr lang="en-US" dirty="0"/>
              <a:t>Regular Expressions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6972300" y="1"/>
            <a:ext cx="1543050" cy="219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25" b="1" dirty="0">
                <a:solidFill>
                  <a:schemeClr val="bg1"/>
                </a:solidFill>
                <a:hlinkClick r:id="rId2" action="ppaction://hlinksldjump"/>
              </a:rPr>
              <a:t>Home</a:t>
            </a:r>
            <a:endParaRPr lang="en-US" sz="825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8079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Regular Expressions</a:t>
            </a:r>
            <a:endParaRPr lang="en-US" altLang="ko-KR" b="1" dirty="0" smtClean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276350"/>
            <a:ext cx="8534400" cy="3111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dirty="0" smtClean="0"/>
              <a:t>A regular expression is a notation to represent languages, i.e. a set of strings, where the set is either finite or contains strings that are generated using </a:t>
            </a:r>
            <a:r>
              <a:rPr lang="en-US" altLang="en-US" i="1" dirty="0" smtClean="0"/>
              <a:t>simple </a:t>
            </a:r>
            <a:r>
              <a:rPr lang="en-US" altLang="en-US" dirty="0" smtClean="0"/>
              <a:t>recursive rules.  </a:t>
            </a:r>
          </a:p>
          <a:p>
            <a:pPr>
              <a:spcBef>
                <a:spcPct val="50000"/>
              </a:spcBef>
            </a:pPr>
            <a:r>
              <a:rPr lang="en-US" altLang="en-US" dirty="0" smtClean="0"/>
              <a:t>The languages represented by regular expressions are called regular languages. 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altLang="en-US" dirty="0" smtClean="0"/>
              <a:t>Example. The set of </a:t>
            </a:r>
            <a:r>
              <a:rPr lang="en-US" altLang="en-US" i="1" dirty="0" smtClean="0"/>
              <a:t>integer constants </a:t>
            </a:r>
            <a:r>
              <a:rPr lang="en-US" altLang="en-US" dirty="0" smtClean="0"/>
              <a:t>used in a typical programming language: an integer constant contains a sequence of one or more decimal digits, up to some system-dependent maximum length.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altLang="en-US" dirty="0" smtClean="0"/>
              <a:t>Example. </a:t>
            </a:r>
            <a:r>
              <a:rPr lang="en-US" altLang="en-US" i="1" dirty="0" smtClean="0"/>
              <a:t>variable name</a:t>
            </a:r>
            <a:r>
              <a:rPr lang="en-US" altLang="en-US" dirty="0" smtClean="0"/>
              <a:t>: starting with a letter, followed by zero or more letter of digit 	characters, or certain punctuation symbols (such as the underscore “_”, dash “-”), up to certain maximum length.</a:t>
            </a:r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Regular Expressions</a:t>
            </a:r>
            <a:endParaRPr lang="en-US" altLang="ko-KR" b="1" dirty="0" smtClean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276350"/>
            <a:ext cx="8534400" cy="3554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dirty="0" smtClean="0"/>
              <a:t>More precisely, let </a:t>
            </a:r>
            <a:r>
              <a:rPr lang="en-US" i="1" dirty="0" smtClean="0"/>
              <a:t>A</a:t>
            </a:r>
            <a:r>
              <a:rPr lang="en-US" dirty="0" smtClean="0"/>
              <a:t> be an alphabet (i.e., a finite, non-empty set of symbols).  The collection of </a:t>
            </a:r>
            <a:r>
              <a:rPr lang="en-US" i="1" dirty="0" smtClean="0"/>
              <a:t>regular languages </a:t>
            </a:r>
            <a:r>
              <a:rPr lang="en-US" dirty="0" smtClean="0"/>
              <a:t>over </a:t>
            </a:r>
            <a:r>
              <a:rPr lang="en-US" i="1" dirty="0" smtClean="0"/>
              <a:t>A</a:t>
            </a:r>
            <a:r>
              <a:rPr lang="en-US" dirty="0" smtClean="0"/>
              <a:t> is defined by the following (recursive) rules:</a:t>
            </a:r>
          </a:p>
          <a:p>
            <a:pPr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b="1" dirty="0" smtClean="0"/>
              <a:t>Base step: </a:t>
            </a:r>
            <a:r>
              <a:rPr lang="en-US" dirty="0" smtClean="0"/>
              <a:t>The empty set </a:t>
            </a:r>
            <a:r>
              <a:rPr lang="en-US" dirty="0" smtClean="0">
                <a:sym typeface="Symbol" panose="05050102010706020507" pitchFamily="18" charset="2"/>
              </a:rPr>
              <a:t>, {</a:t>
            </a:r>
            <a:r>
              <a:rPr lang="en-US" i="1" dirty="0" smtClean="0">
                <a:sym typeface="Symbol" panose="05050102010706020507" pitchFamily="18" charset="2"/>
              </a:rPr>
              <a:t></a:t>
            </a:r>
            <a:r>
              <a:rPr lang="en-US" dirty="0" smtClean="0">
                <a:sym typeface="Symbol" panose="05050102010706020507" pitchFamily="18" charset="2"/>
              </a:rPr>
              <a:t>}, and {</a:t>
            </a:r>
            <a:r>
              <a:rPr lang="en-US" i="1" dirty="0" smtClean="0">
                <a:sym typeface="Symbol" panose="05050102010706020507" pitchFamily="18" charset="2"/>
              </a:rPr>
              <a:t>a</a:t>
            </a:r>
            <a:r>
              <a:rPr lang="en-US" dirty="0" smtClean="0">
                <a:sym typeface="Symbol" panose="05050102010706020507" pitchFamily="18" charset="2"/>
              </a:rPr>
              <a:t>} for every </a:t>
            </a:r>
            <a:r>
              <a:rPr lang="en-US" i="1" dirty="0" smtClean="0">
                <a:sym typeface="Symbol" panose="05050102010706020507" pitchFamily="18" charset="2"/>
              </a:rPr>
              <a:t>a</a:t>
            </a:r>
            <a:r>
              <a:rPr lang="en-US" dirty="0" smtClean="0">
                <a:sym typeface="Symbol" panose="05050102010706020507" pitchFamily="18" charset="2"/>
              </a:rPr>
              <a:t> </a:t>
            </a:r>
            <a:r>
              <a:rPr lang="en-US" i="1" dirty="0" smtClean="0">
                <a:sym typeface="Symbol" panose="05050102010706020507" pitchFamily="18" charset="2"/>
              </a:rPr>
              <a:t>A</a:t>
            </a:r>
            <a:r>
              <a:rPr lang="en-US" dirty="0" smtClean="0">
                <a:sym typeface="Symbol" panose="05050102010706020507" pitchFamily="18" charset="2"/>
              </a:rPr>
              <a:t> are regular languages;</a:t>
            </a:r>
          </a:p>
          <a:p>
            <a:pPr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b="1" dirty="0" smtClean="0">
                <a:sym typeface="Symbol" panose="05050102010706020507" pitchFamily="18" charset="2"/>
              </a:rPr>
              <a:t>Recursive step: </a:t>
            </a:r>
            <a:r>
              <a:rPr lang="en-US" dirty="0" smtClean="0">
                <a:sym typeface="Symbol" panose="05050102010706020507" pitchFamily="18" charset="2"/>
              </a:rPr>
              <a:t>If </a:t>
            </a:r>
            <a:r>
              <a:rPr lang="en-US" i="1" dirty="0" smtClean="0">
                <a:sym typeface="Symbol" panose="05050102010706020507" pitchFamily="18" charset="2"/>
              </a:rPr>
              <a:t>X</a:t>
            </a:r>
            <a:r>
              <a:rPr lang="en-US" dirty="0" smtClean="0">
                <a:sym typeface="Symbol" panose="05050102010706020507" pitchFamily="18" charset="2"/>
              </a:rPr>
              <a:t> and </a:t>
            </a:r>
            <a:r>
              <a:rPr lang="en-US" i="1" dirty="0" smtClean="0">
                <a:sym typeface="Symbol" panose="05050102010706020507" pitchFamily="18" charset="2"/>
              </a:rPr>
              <a:t>Y</a:t>
            </a:r>
            <a:r>
              <a:rPr lang="en-US" dirty="0" smtClean="0">
                <a:sym typeface="Symbol" panose="05050102010706020507" pitchFamily="18" charset="2"/>
              </a:rPr>
              <a:t> are regular languages, then the sets </a:t>
            </a:r>
            <a:r>
              <a:rPr lang="en-US" i="1" dirty="0" smtClean="0">
                <a:sym typeface="Symbol" panose="05050102010706020507" pitchFamily="18" charset="2"/>
              </a:rPr>
              <a:t>X</a:t>
            </a:r>
            <a:r>
              <a:rPr lang="en-US" dirty="0" smtClean="0">
                <a:sym typeface="Symbol" panose="05050102010706020507" pitchFamily="18" charset="2"/>
              </a:rPr>
              <a:t>  </a:t>
            </a:r>
            <a:r>
              <a:rPr lang="en-US" i="1" dirty="0" smtClean="0">
                <a:sym typeface="Symbol" panose="05050102010706020507" pitchFamily="18" charset="2"/>
              </a:rPr>
              <a:t>Y</a:t>
            </a:r>
            <a:r>
              <a:rPr lang="en-US" dirty="0" smtClean="0">
                <a:sym typeface="Symbol" panose="05050102010706020507" pitchFamily="18" charset="2"/>
              </a:rPr>
              <a:t> (union), </a:t>
            </a:r>
            <a:r>
              <a:rPr lang="en-US" i="1" dirty="0" smtClean="0">
                <a:sym typeface="Symbol" panose="05050102010706020507" pitchFamily="18" charset="2"/>
              </a:rPr>
              <a:t>X</a:t>
            </a:r>
            <a:r>
              <a:rPr lang="en-US" dirty="0" smtClean="0">
                <a:sym typeface="Symbol" panose="05050102010706020507" pitchFamily="18" charset="2"/>
              </a:rPr>
              <a:t> · </a:t>
            </a:r>
            <a:r>
              <a:rPr lang="en-US" i="1" dirty="0" smtClean="0">
                <a:sym typeface="Symbol" panose="05050102010706020507" pitchFamily="18" charset="2"/>
              </a:rPr>
              <a:t>Y</a:t>
            </a:r>
            <a:r>
              <a:rPr lang="en-US" dirty="0" smtClean="0">
                <a:sym typeface="Symbol" panose="05050102010706020507" pitchFamily="18" charset="2"/>
              </a:rPr>
              <a:t> (concatenation), and </a:t>
            </a:r>
            <a:r>
              <a:rPr lang="en-US" i="1" dirty="0" smtClean="0">
                <a:sym typeface="Symbol" panose="05050102010706020507" pitchFamily="18" charset="2"/>
              </a:rPr>
              <a:t>X</a:t>
            </a:r>
            <a:r>
              <a:rPr lang="en-US" dirty="0" smtClean="0">
                <a:sym typeface="Symbol" panose="05050102010706020507" pitchFamily="18" charset="2"/>
              </a:rPr>
              <a:t>* (</a:t>
            </a:r>
            <a:r>
              <a:rPr lang="en-US" dirty="0" err="1" smtClean="0">
                <a:sym typeface="Symbol" panose="05050102010706020507" pitchFamily="18" charset="2"/>
              </a:rPr>
              <a:t>Kleene</a:t>
            </a:r>
            <a:r>
              <a:rPr lang="en-US" dirty="0" smtClean="0">
                <a:sym typeface="Symbol" panose="05050102010706020507" pitchFamily="18" charset="2"/>
              </a:rPr>
              <a:t> star) are regular languages;</a:t>
            </a:r>
          </a:p>
          <a:p>
            <a:pPr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b="1" dirty="0" smtClean="0">
                <a:sym typeface="Symbol" panose="05050102010706020507" pitchFamily="18" charset="2"/>
              </a:rPr>
              <a:t>Closure: </a:t>
            </a:r>
            <a:r>
              <a:rPr lang="en-US" dirty="0" smtClean="0">
                <a:sym typeface="Symbol" panose="05050102010706020507" pitchFamily="18" charset="2"/>
              </a:rPr>
              <a:t>No other sets are a regular language unless they are the results of applying the base step followed by zero or more recursive steps.</a:t>
            </a:r>
          </a:p>
          <a:p>
            <a:pPr>
              <a:spcBef>
                <a:spcPct val="50000"/>
              </a:spcBef>
              <a:defRPr/>
            </a:pPr>
            <a:r>
              <a:rPr lang="en-US" dirty="0" smtClean="0"/>
              <a:t>Note that the above rules define not just one regular language; they define an infinite collection of languages (over an alphabet) and call each a regular language over that alphabet.</a:t>
            </a:r>
          </a:p>
          <a:p>
            <a:pPr marL="463550" indent="-463550">
              <a:buFont typeface="Arial" pitchFamily="34" charset="0"/>
              <a:buNone/>
              <a:defRPr/>
            </a:pPr>
            <a:endParaRPr lang="en-NZ" dirty="0" smtClean="0"/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Regular Expressions</a:t>
            </a:r>
            <a:endParaRPr lang="en-US" altLang="ko-KR" b="1" dirty="0" smtClean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276350"/>
            <a:ext cx="85344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INDUCTION: There are four parts to the induction whereby larger regular expressions are built from smaller ones. </a:t>
            </a:r>
          </a:p>
          <a:p>
            <a:r>
              <a:rPr lang="en-US" dirty="0" smtClean="0"/>
              <a:t>Suppose r and s are regular expressions denoting languages L(r) and L(s), respectively.</a:t>
            </a:r>
          </a:p>
          <a:p>
            <a:endParaRPr lang="en-US" dirty="0" smtClean="0"/>
          </a:p>
          <a:p>
            <a:r>
              <a:rPr lang="en-US" dirty="0" smtClean="0"/>
              <a:t>1. (r) | (s) is a regular expression denoting the language L(r) U L(s).</a:t>
            </a:r>
          </a:p>
          <a:p>
            <a:r>
              <a:rPr lang="en-US" dirty="0" smtClean="0"/>
              <a:t>2. (r) (s) is a regular expression denoting the language L(r) L(s) .</a:t>
            </a:r>
          </a:p>
          <a:p>
            <a:r>
              <a:rPr lang="pt-BR" dirty="0" smtClean="0"/>
              <a:t>3. (r) * is a regular expression denoting (L (r)) * .</a:t>
            </a:r>
          </a:p>
          <a:p>
            <a:r>
              <a:rPr lang="en-US" dirty="0" smtClean="0"/>
              <a:t>4. (r) is a regular expression denoting L(r). This last rule says that we can</a:t>
            </a:r>
          </a:p>
          <a:p>
            <a:r>
              <a:rPr lang="en-US" dirty="0" smtClean="0"/>
              <a:t>add additional pairs of parentheses around expressions without changing</a:t>
            </a:r>
          </a:p>
          <a:p>
            <a:r>
              <a:rPr lang="en-US" dirty="0" smtClean="0"/>
              <a:t>the language they denote.</a:t>
            </a:r>
            <a:endParaRPr lang="en-NZ" dirty="0" smtClean="0"/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Algebraic laws for Regular Expressions</a:t>
            </a:r>
            <a:endParaRPr lang="en-US" altLang="ko-KR" b="1" dirty="0" smtClean="0">
              <a:solidFill>
                <a:schemeClr val="bg1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 l="8706" r="22934"/>
          <a:stretch>
            <a:fillRect/>
          </a:stretch>
        </p:blipFill>
        <p:spPr bwMode="auto">
          <a:xfrm>
            <a:off x="1542495" y="1295400"/>
            <a:ext cx="6077505" cy="295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Regular Languages</a:t>
            </a:r>
            <a:endParaRPr lang="en-US" altLang="ko-KR" b="1" dirty="0" smtClean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276350"/>
            <a:ext cx="85344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63550" indent="-463550">
              <a:lnSpc>
                <a:spcPct val="90000"/>
              </a:lnSpc>
              <a:buFont typeface="Arial" pitchFamily="34" charset="0"/>
              <a:buNone/>
              <a:defRPr/>
            </a:pPr>
            <a:r>
              <a:rPr lang="pt-BR" sz="2000" dirty="0" smtClean="0"/>
              <a:t>R|S	= either R or S</a:t>
            </a:r>
          </a:p>
          <a:p>
            <a:pPr marL="463550" indent="-463550">
              <a:lnSpc>
                <a:spcPct val="90000"/>
              </a:lnSpc>
              <a:buFont typeface="Arial" pitchFamily="34" charset="0"/>
              <a:buNone/>
              <a:defRPr/>
            </a:pPr>
            <a:r>
              <a:rPr lang="pt-BR" sz="2000" dirty="0" smtClean="0"/>
              <a:t>RS		= R followed by S (concatenation)</a:t>
            </a:r>
          </a:p>
          <a:p>
            <a:pPr marL="463550" indent="-463550">
              <a:lnSpc>
                <a:spcPct val="90000"/>
              </a:lnSpc>
              <a:buFont typeface="Arial" pitchFamily="34" charset="0"/>
              <a:buNone/>
              <a:defRPr/>
            </a:pPr>
            <a:r>
              <a:rPr lang="pt-BR" sz="2000" dirty="0" smtClean="0"/>
              <a:t>R*		= concatenation of R zero or more times</a:t>
            </a:r>
          </a:p>
          <a:p>
            <a:pPr marL="463550" indent="-463550">
              <a:lnSpc>
                <a:spcPct val="90000"/>
              </a:lnSpc>
              <a:buFont typeface="Arial" pitchFamily="34" charset="0"/>
              <a:buNone/>
              <a:defRPr/>
            </a:pPr>
            <a:r>
              <a:rPr lang="pt-BR" sz="2000" dirty="0" smtClean="0"/>
              <a:t>			(R*= </a:t>
            </a:r>
            <a:r>
              <a:rPr lang="pt-BR" sz="2000" dirty="0" smtClean="0">
                <a:latin typeface="Symbol" pitchFamily="18" charset="2"/>
              </a:rPr>
              <a:t>e</a:t>
            </a:r>
            <a:r>
              <a:rPr lang="pt-BR" sz="2000" dirty="0" smtClean="0"/>
              <a:t> |R|RR|RRR...)</a:t>
            </a:r>
          </a:p>
          <a:p>
            <a:pPr marL="463550" indent="-463550">
              <a:buFont typeface="Arial" pitchFamily="34" charset="0"/>
              <a:buNone/>
              <a:defRPr/>
            </a:pPr>
            <a:r>
              <a:rPr lang="pt-BR" sz="2000" dirty="0" smtClean="0"/>
              <a:t>R?		= </a:t>
            </a:r>
            <a:r>
              <a:rPr lang="pt-BR" sz="2000" dirty="0" smtClean="0">
                <a:latin typeface="Symbol" pitchFamily="18" charset="2"/>
              </a:rPr>
              <a:t>e</a:t>
            </a:r>
            <a:r>
              <a:rPr lang="pt-BR" sz="2000" dirty="0" smtClean="0"/>
              <a:t> | R (zero or one R)</a:t>
            </a:r>
          </a:p>
          <a:p>
            <a:pPr marL="463550" indent="-463550">
              <a:buFont typeface="Arial" pitchFamily="34" charset="0"/>
              <a:buNone/>
              <a:defRPr/>
            </a:pPr>
            <a:r>
              <a:rPr lang="pt-BR" sz="2000" dirty="0" smtClean="0"/>
              <a:t>R</a:t>
            </a:r>
            <a:r>
              <a:rPr lang="pt-BR" sz="2000" baseline="30000" dirty="0" smtClean="0"/>
              <a:t>+</a:t>
            </a:r>
            <a:r>
              <a:rPr lang="pt-BR" sz="2000" dirty="0" smtClean="0"/>
              <a:t>		= RR* (one or more R)</a:t>
            </a:r>
          </a:p>
          <a:p>
            <a:pPr marL="463550" indent="-463550">
              <a:buFont typeface="Arial" pitchFamily="34" charset="0"/>
              <a:buNone/>
              <a:defRPr/>
            </a:pPr>
            <a:r>
              <a:rPr lang="pt-BR" sz="2000" dirty="0" smtClean="0"/>
              <a:t>(R)		= R     (grouping)</a:t>
            </a:r>
          </a:p>
          <a:p>
            <a:pPr marL="463550" indent="-463550">
              <a:buFont typeface="Arial" pitchFamily="34" charset="0"/>
              <a:buNone/>
              <a:defRPr/>
            </a:pPr>
            <a:r>
              <a:rPr lang="pt-BR" sz="2000" dirty="0" smtClean="0"/>
              <a:t>[abc]	= a|b|c (any of listed)</a:t>
            </a:r>
          </a:p>
          <a:p>
            <a:pPr marL="463550" indent="-463550">
              <a:buFont typeface="Arial" pitchFamily="34" charset="0"/>
              <a:buNone/>
              <a:defRPr/>
            </a:pPr>
            <a:r>
              <a:rPr lang="pt-BR" sz="2000" dirty="0" smtClean="0"/>
              <a:t>[a-z]	= a|b|....|z (range)</a:t>
            </a:r>
          </a:p>
          <a:p>
            <a:pPr marL="463550" indent="-463550">
              <a:buFont typeface="Arial" pitchFamily="34" charset="0"/>
              <a:buNone/>
              <a:defRPr/>
            </a:pPr>
            <a:r>
              <a:rPr lang="pt-BR" sz="2000" dirty="0" smtClean="0"/>
              <a:t>[^ab]	= c|d|... (anything but ‘a’‘b’)</a:t>
            </a:r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C23C39F5-781D-4365-A49E-21B04966B3F8}" type="slidenum">
              <a:rPr lang="en-US" altLang="en-US"/>
              <a:pPr/>
              <a:t>26</a:t>
            </a:fld>
            <a:endParaRPr lang="en-US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301625" y="1145382"/>
            <a:ext cx="8504238" cy="3769519"/>
          </a:xfrm>
        </p:spPr>
        <p:txBody>
          <a:bodyPr>
            <a:normAutofit fontScale="70000" lnSpcReduction="20000"/>
          </a:bodyPr>
          <a:lstStyle/>
          <a:p>
            <a:pPr marL="463550" indent="-463550">
              <a:lnSpc>
                <a:spcPct val="90000"/>
              </a:lnSpc>
              <a:spcBef>
                <a:spcPct val="15000"/>
              </a:spcBef>
              <a:buFont typeface="Arial" pitchFamily="34" charset="0"/>
              <a:buNone/>
              <a:defRPr/>
            </a:pPr>
            <a:r>
              <a:rPr lang="pt-BR" dirty="0"/>
              <a:t>RE		Strings in L(R)</a:t>
            </a:r>
          </a:p>
          <a:p>
            <a:pPr marL="463550" indent="-463550">
              <a:lnSpc>
                <a:spcPct val="90000"/>
              </a:lnSpc>
              <a:spcBef>
                <a:spcPct val="15000"/>
              </a:spcBef>
              <a:buFont typeface="Arial" pitchFamily="34" charset="0"/>
              <a:buNone/>
              <a:defRPr/>
            </a:pPr>
            <a:r>
              <a:rPr lang="pt-BR" dirty="0"/>
              <a:t>a		</a:t>
            </a:r>
            <a:r>
              <a:rPr lang="pt-BR" dirty="0" smtClean="0"/>
              <a:t>  </a:t>
            </a:r>
            <a:r>
              <a:rPr lang="pt-BR" dirty="0"/>
              <a:t>“a”</a:t>
            </a:r>
          </a:p>
          <a:p>
            <a:pPr marL="463550" indent="-463550">
              <a:lnSpc>
                <a:spcPct val="90000"/>
              </a:lnSpc>
              <a:spcBef>
                <a:spcPct val="15000"/>
              </a:spcBef>
              <a:buFont typeface="Arial" pitchFamily="34" charset="0"/>
              <a:buNone/>
              <a:defRPr/>
            </a:pPr>
            <a:r>
              <a:rPr lang="pt-BR" dirty="0"/>
              <a:t>ab		  “ab”</a:t>
            </a:r>
          </a:p>
          <a:p>
            <a:pPr marL="463550" indent="-463550">
              <a:lnSpc>
                <a:spcPct val="90000"/>
              </a:lnSpc>
              <a:spcBef>
                <a:spcPct val="15000"/>
              </a:spcBef>
              <a:buFont typeface="Arial" pitchFamily="34" charset="0"/>
              <a:buNone/>
              <a:defRPr/>
            </a:pPr>
            <a:r>
              <a:rPr lang="pt-BR" dirty="0"/>
              <a:t>a|b		  “a”  “b”</a:t>
            </a:r>
          </a:p>
          <a:p>
            <a:pPr marL="463550" indent="-463550">
              <a:lnSpc>
                <a:spcPct val="90000"/>
              </a:lnSpc>
              <a:spcBef>
                <a:spcPct val="15000"/>
              </a:spcBef>
              <a:buFont typeface="Arial" pitchFamily="34" charset="0"/>
              <a:buNone/>
              <a:defRPr/>
            </a:pPr>
            <a:r>
              <a:rPr lang="pt-BR" dirty="0"/>
              <a:t>(ab)*	  </a:t>
            </a:r>
            <a:r>
              <a:rPr lang="pt-BR" dirty="0" smtClean="0"/>
              <a:t>“ ” </a:t>
            </a:r>
            <a:r>
              <a:rPr lang="pt-BR" dirty="0"/>
              <a:t>“ab”  “abab” ...</a:t>
            </a:r>
          </a:p>
          <a:p>
            <a:pPr marL="463550" indent="-463550">
              <a:lnSpc>
                <a:spcPct val="90000"/>
              </a:lnSpc>
              <a:spcBef>
                <a:spcPct val="15000"/>
              </a:spcBef>
              <a:buFont typeface="Arial" pitchFamily="34" charset="0"/>
              <a:buNone/>
              <a:defRPr/>
            </a:pPr>
            <a:r>
              <a:rPr lang="pt-BR" dirty="0"/>
              <a:t>(a|</a:t>
            </a:r>
            <a:r>
              <a:rPr lang="pt-BR" dirty="0">
                <a:latin typeface="Symbol" pitchFamily="18" charset="2"/>
              </a:rPr>
              <a:t>e</a:t>
            </a:r>
            <a:r>
              <a:rPr lang="pt-BR" dirty="0"/>
              <a:t>)b 	  “ab” “b”</a:t>
            </a:r>
          </a:p>
          <a:p>
            <a:pPr marL="0" indent="0">
              <a:buFont typeface="Arial" pitchFamily="34" charset="0"/>
              <a:buNone/>
              <a:defRPr/>
            </a:pPr>
            <a:endParaRPr lang="en-NZ" dirty="0" smtClean="0"/>
          </a:p>
          <a:p>
            <a:pPr marL="0" indent="0">
              <a:buFont typeface="Arial" pitchFamily="34" charset="0"/>
              <a:buNone/>
              <a:defRPr/>
            </a:pPr>
            <a:r>
              <a:rPr lang="en-NZ" dirty="0" smtClean="0"/>
              <a:t>Example: (Integers)</a:t>
            </a:r>
          </a:p>
          <a:p>
            <a:pPr marL="0" indent="0">
              <a:buFont typeface="Arial" pitchFamily="34" charset="0"/>
              <a:buNone/>
              <a:defRPr/>
            </a:pPr>
            <a:r>
              <a:rPr lang="pt-BR" dirty="0"/>
              <a:t>integer: a non-empty string </a:t>
            </a:r>
            <a:r>
              <a:rPr lang="pt-BR" dirty="0" smtClean="0"/>
              <a:t>of </a:t>
            </a:r>
            <a:r>
              <a:rPr lang="pt-BR" dirty="0"/>
              <a:t>digits</a:t>
            </a:r>
          </a:p>
          <a:p>
            <a:pPr marL="0" indent="0">
              <a:buFont typeface="Arial" pitchFamily="34" charset="0"/>
              <a:buNone/>
              <a:defRPr/>
            </a:pPr>
            <a:r>
              <a:rPr lang="pt-BR" dirty="0"/>
              <a:t>digit </a:t>
            </a:r>
            <a:r>
              <a:rPr lang="pt-BR" dirty="0" smtClean="0"/>
              <a:t>= </a:t>
            </a:r>
            <a:r>
              <a:rPr lang="pt-BR" dirty="0"/>
              <a:t>‘0’|’1’|’2’|’3’|’4</a:t>
            </a:r>
            <a:r>
              <a:rPr lang="pt-BR" dirty="0" smtClean="0"/>
              <a:t>’|’5</a:t>
            </a:r>
            <a:r>
              <a:rPr lang="pt-BR" dirty="0"/>
              <a:t>’|’6’|’7’|’8’|’9’</a:t>
            </a:r>
          </a:p>
          <a:p>
            <a:pPr marL="0" indent="0">
              <a:buFont typeface="Arial" pitchFamily="34" charset="0"/>
              <a:buNone/>
              <a:defRPr/>
            </a:pPr>
            <a:r>
              <a:rPr lang="pt-BR" dirty="0"/>
              <a:t>integer	= digit digit*</a:t>
            </a:r>
          </a:p>
          <a:p>
            <a:pPr marL="0" indent="0">
              <a:buFont typeface="Arial" pitchFamily="34" charset="0"/>
              <a:buNone/>
              <a:defRPr/>
            </a:pPr>
            <a:endParaRPr lang="en-NZ" dirty="0" smtClean="0"/>
          </a:p>
        </p:txBody>
      </p:sp>
      <p:sp>
        <p:nvSpPr>
          <p:cNvPr id="5" name="Text Placeholder 1"/>
          <p:cNvSpPr txBox="1">
            <a:spLocks/>
          </p:cNvSpPr>
          <p:nvPr/>
        </p:nvSpPr>
        <p:spPr>
          <a:xfrm>
            <a:off x="0" y="483518"/>
            <a:ext cx="9144000" cy="576064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Regular Languages</a:t>
            </a:r>
            <a:endParaRPr kumimoji="0" lang="en-US" altLang="ko-KR" sz="3600" b="1" i="0" u="none" strike="noStrike" kern="1200" cap="none" spc="0" normalizeH="0" baseline="0" noProof="0" dirty="0" smtClean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5F0971C7-FE74-46EE-AEF6-7E4B48B56364}" type="slidenum">
              <a:rPr lang="en-US" altLang="en-US"/>
              <a:pPr/>
              <a:t>27</a:t>
            </a:fld>
            <a:endParaRPr lang="en-US" altLang="en-US"/>
          </a:p>
        </p:txBody>
      </p:sp>
      <p:sp>
        <p:nvSpPr>
          <p:cNvPr id="31748" name="Content Placeholder 3"/>
          <p:cNvSpPr>
            <a:spLocks noGrp="1"/>
          </p:cNvSpPr>
          <p:nvPr>
            <p:ph sz="quarter" idx="1"/>
          </p:nvPr>
        </p:nvSpPr>
        <p:spPr>
          <a:xfrm>
            <a:off x="301625" y="1145382"/>
            <a:ext cx="8504238" cy="3769519"/>
          </a:xfrm>
        </p:spPr>
        <p:txBody>
          <a:bodyPr/>
          <a:lstStyle/>
          <a:p>
            <a:pPr marL="0" indent="0">
              <a:buFont typeface="Arial" pitchFamily="34" charset="0"/>
              <a:buNone/>
            </a:pPr>
            <a:r>
              <a:rPr lang="en-NZ" altLang="en-US" sz="2400" dirty="0" smtClean="0"/>
              <a:t>Example: (Identifiers)</a:t>
            </a:r>
          </a:p>
          <a:p>
            <a:pPr marL="0" indent="0">
              <a:buFont typeface="Arial" pitchFamily="34" charset="0"/>
              <a:buNone/>
            </a:pPr>
            <a:r>
              <a:rPr lang="pt-BR" altLang="en-US" sz="2400" dirty="0" smtClean="0"/>
              <a:t>identifier: </a:t>
            </a:r>
            <a:br>
              <a:rPr lang="pt-BR" altLang="en-US" sz="2400" dirty="0" smtClean="0"/>
            </a:br>
            <a:r>
              <a:rPr lang="pt-BR" altLang="en-US" sz="2400" dirty="0" smtClean="0"/>
              <a:t>string or letters or digits starting with a letter</a:t>
            </a:r>
          </a:p>
          <a:p>
            <a:pPr marL="0" indent="0">
              <a:buFont typeface="Arial" pitchFamily="34" charset="0"/>
              <a:buNone/>
            </a:pPr>
            <a:r>
              <a:rPr lang="pt-BR" altLang="en-US" sz="2400" dirty="0" smtClean="0"/>
              <a:t>C identifier: [a-zA-Z_][a-zA-Z0-9_]*</a:t>
            </a:r>
          </a:p>
          <a:p>
            <a:pPr marL="0" indent="0">
              <a:buFont typeface="Arial" pitchFamily="34" charset="0"/>
              <a:buNone/>
            </a:pPr>
            <a:endParaRPr lang="en-NZ" altLang="en-US" sz="2400" dirty="0" smtClean="0"/>
          </a:p>
          <a:p>
            <a:pPr marL="0" indent="0">
              <a:buFont typeface="Arial" pitchFamily="34" charset="0"/>
              <a:buNone/>
            </a:pPr>
            <a:r>
              <a:rPr lang="pt-BR" altLang="en-US" sz="2400" dirty="0" smtClean="0"/>
              <a:t>Language L(R):</a:t>
            </a:r>
            <a:br>
              <a:rPr lang="pt-BR" altLang="en-US" sz="2400" dirty="0" smtClean="0"/>
            </a:br>
            <a:r>
              <a:rPr lang="pt-BR" altLang="en-US" sz="2400" dirty="0" smtClean="0"/>
              <a:t>set of strings represented by a regular expression R. L(R) is the language denoted by regular expression R.</a:t>
            </a:r>
            <a:endParaRPr lang="en-NZ" altLang="en-US" sz="2400" dirty="0" smtClean="0"/>
          </a:p>
        </p:txBody>
      </p:sp>
      <p:sp>
        <p:nvSpPr>
          <p:cNvPr id="5" name="Text Placeholder 1"/>
          <p:cNvSpPr txBox="1">
            <a:spLocks/>
          </p:cNvSpPr>
          <p:nvPr/>
        </p:nvSpPr>
        <p:spPr>
          <a:xfrm>
            <a:off x="0" y="483518"/>
            <a:ext cx="9144000" cy="576064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Regular Languages</a:t>
            </a:r>
            <a:endParaRPr kumimoji="0" lang="en-US" altLang="ko-KR" sz="3600" b="1" i="0" u="none" strike="noStrike" kern="1200" cap="none" spc="0" normalizeH="0" baseline="0" noProof="0" dirty="0" smtClean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Regular Expressions</a:t>
            </a:r>
            <a:endParaRPr lang="en-US" altLang="ko-KR" b="1" dirty="0" smtClean="0">
              <a:solidFill>
                <a:schemeClr val="bg1"/>
              </a:solidFill>
            </a:endParaRPr>
          </a:p>
        </p:txBody>
      </p:sp>
      <p:sp>
        <p:nvSpPr>
          <p:cNvPr id="15" name="Text Box 3"/>
          <p:cNvSpPr txBox="1">
            <a:spLocks noChangeArrowheads="1"/>
          </p:cNvSpPr>
          <p:nvPr/>
        </p:nvSpPr>
        <p:spPr bwMode="auto">
          <a:xfrm>
            <a:off x="1371600" y="1219200"/>
            <a:ext cx="7467600" cy="30777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en-US" sz="1400" b="1" dirty="0">
                <a:latin typeface="Times New Roman" pitchFamily="18" charset="0"/>
              </a:rPr>
              <a:t>How can we use concepts developed so far to assist in recognizing tokens of a source language ?</a:t>
            </a:r>
          </a:p>
        </p:txBody>
      </p:sp>
      <p:sp>
        <p:nvSpPr>
          <p:cNvPr id="16" name="Text Box 5"/>
          <p:cNvSpPr txBox="1">
            <a:spLocks noChangeArrowheads="1"/>
          </p:cNvSpPr>
          <p:nvPr/>
        </p:nvSpPr>
        <p:spPr bwMode="auto">
          <a:xfrm>
            <a:off x="1981200" y="1733550"/>
            <a:ext cx="3962400" cy="55399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en-US" sz="1200" b="1" u="sng" dirty="0">
                <a:latin typeface="Times New Roman" pitchFamily="18" charset="0"/>
              </a:rPr>
              <a:t>Assume Following Tokens: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1200" dirty="0">
                <a:latin typeface="Times New Roman" pitchFamily="18" charset="0"/>
              </a:rPr>
              <a:t>        if,  then,  else,  </a:t>
            </a:r>
            <a:r>
              <a:rPr lang="en-US" altLang="en-US" sz="1200" dirty="0" err="1">
                <a:latin typeface="Times New Roman" pitchFamily="18" charset="0"/>
              </a:rPr>
              <a:t>relop</a:t>
            </a:r>
            <a:r>
              <a:rPr lang="en-US" altLang="en-US" sz="1200" dirty="0">
                <a:latin typeface="Times New Roman" pitchFamily="18" charset="0"/>
              </a:rPr>
              <a:t>,  id,  num</a:t>
            </a:r>
            <a:endParaRPr lang="en-US" altLang="en-US" sz="1200" b="1" u="sng" dirty="0">
              <a:latin typeface="Times New Roman" pitchFamily="18" charset="0"/>
            </a:endParaRPr>
          </a:p>
        </p:txBody>
      </p:sp>
      <p:sp>
        <p:nvSpPr>
          <p:cNvPr id="17" name="Text Box 7"/>
          <p:cNvSpPr txBox="1">
            <a:spLocks noChangeArrowheads="1"/>
          </p:cNvSpPr>
          <p:nvPr/>
        </p:nvSpPr>
        <p:spPr bwMode="auto">
          <a:xfrm>
            <a:off x="1219200" y="2294751"/>
            <a:ext cx="5334000" cy="276999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en-US" sz="1200" b="1" dirty="0">
                <a:solidFill>
                  <a:srgbClr val="FF3300"/>
                </a:solidFill>
                <a:latin typeface="Times New Roman" pitchFamily="18" charset="0"/>
              </a:rPr>
              <a:t>What language construct are they used for ?</a:t>
            </a:r>
          </a:p>
        </p:txBody>
      </p:sp>
      <p:sp>
        <p:nvSpPr>
          <p:cNvPr id="18" name="AutoShape 8"/>
          <p:cNvSpPr>
            <a:spLocks/>
          </p:cNvSpPr>
          <p:nvPr/>
        </p:nvSpPr>
        <p:spPr bwMode="auto">
          <a:xfrm>
            <a:off x="1828801" y="1885950"/>
            <a:ext cx="76200" cy="381000"/>
          </a:xfrm>
          <a:prstGeom prst="leftBrace">
            <a:avLst>
              <a:gd name="adj1" fmla="val 41667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eaLnBrk="1" hangingPunct="1"/>
            <a:endParaRPr lang="en-US" altLang="en-US" sz="1200" b="1">
              <a:solidFill>
                <a:srgbClr val="FF3300"/>
              </a:solidFill>
              <a:latin typeface="Times New Roman" pitchFamily="18" charset="0"/>
            </a:endParaRPr>
          </a:p>
        </p:txBody>
      </p:sp>
      <p:cxnSp>
        <p:nvCxnSpPr>
          <p:cNvPr id="19" name="AutoShape 9"/>
          <p:cNvCxnSpPr>
            <a:cxnSpLocks noChangeShapeType="1"/>
          </p:cNvCxnSpPr>
          <p:nvPr/>
        </p:nvCxnSpPr>
        <p:spPr bwMode="auto">
          <a:xfrm rot="10800000" flipH="1" flipV="1">
            <a:off x="1828801" y="2038350"/>
            <a:ext cx="533400" cy="405200"/>
          </a:xfrm>
          <a:prstGeom prst="curvedConnector3">
            <a:avLst>
              <a:gd name="adj1" fmla="val -42857"/>
            </a:avLst>
          </a:prstGeom>
          <a:noFill/>
          <a:ln w="15875">
            <a:solidFill>
              <a:schemeClr val="tx1"/>
            </a:solidFill>
            <a:round/>
            <a:headEnd type="none" w="sm" len="sm"/>
            <a:tailEnd type="triangle" w="sm" len="sm"/>
          </a:ln>
          <a:effectLst/>
        </p:spPr>
      </p:cxnSp>
      <p:sp>
        <p:nvSpPr>
          <p:cNvPr id="20" name="Text Box 10"/>
          <p:cNvSpPr txBox="1">
            <a:spLocks noChangeArrowheads="1"/>
          </p:cNvSpPr>
          <p:nvPr/>
        </p:nvSpPr>
        <p:spPr bwMode="auto">
          <a:xfrm>
            <a:off x="1524000" y="2571750"/>
            <a:ext cx="4495800" cy="276999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en-US" sz="1200" b="1" u="sng" dirty="0">
                <a:latin typeface="Times New Roman" pitchFamily="18" charset="0"/>
              </a:rPr>
              <a:t>Given Tokens, What are Patterns ?</a:t>
            </a:r>
          </a:p>
        </p:txBody>
      </p:sp>
      <p:sp>
        <p:nvSpPr>
          <p:cNvPr id="21" name="Text Box 11"/>
          <p:cNvSpPr txBox="1">
            <a:spLocks noChangeArrowheads="1"/>
          </p:cNvSpPr>
          <p:nvPr/>
        </p:nvSpPr>
        <p:spPr bwMode="auto">
          <a:xfrm>
            <a:off x="1676400" y="2876550"/>
            <a:ext cx="7010400" cy="13881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en-US" sz="1200" b="1" dirty="0">
                <a:latin typeface="Times New Roman" pitchFamily="18" charset="0"/>
              </a:rPr>
              <a:t>if       </a:t>
            </a:r>
            <a:r>
              <a:rPr lang="en-US" altLang="en-US" sz="1200" b="1" dirty="0">
                <a:latin typeface="Times New Roman" pitchFamily="18" charset="0"/>
                <a:sym typeface="Symbol" pitchFamily="18" charset="2"/>
              </a:rPr>
              <a:t>  </a:t>
            </a:r>
            <a:r>
              <a:rPr lang="en-US" altLang="en-US" sz="1200" b="1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if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en-US" sz="1200" b="1" dirty="0">
                <a:latin typeface="Times New Roman" pitchFamily="18" charset="0"/>
              </a:rPr>
              <a:t>then  </a:t>
            </a:r>
            <a:r>
              <a:rPr lang="en-US" altLang="en-US" sz="1200" b="1" dirty="0">
                <a:latin typeface="Times New Roman" pitchFamily="18" charset="0"/>
                <a:sym typeface="Symbol" pitchFamily="18" charset="2"/>
              </a:rPr>
              <a:t>  </a:t>
            </a:r>
            <a:r>
              <a:rPr lang="en-US" altLang="en-US" sz="1200" b="1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then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en-US" sz="1200" b="1" dirty="0">
                <a:latin typeface="Times New Roman" pitchFamily="18" charset="0"/>
              </a:rPr>
              <a:t>else   </a:t>
            </a:r>
            <a:r>
              <a:rPr lang="en-US" altLang="en-US" sz="1200" b="1" dirty="0">
                <a:latin typeface="Times New Roman" pitchFamily="18" charset="0"/>
                <a:sym typeface="Symbol" pitchFamily="18" charset="2"/>
              </a:rPr>
              <a:t>  </a:t>
            </a:r>
            <a:r>
              <a:rPr lang="en-US" altLang="en-US" sz="1200" b="1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else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en-US" sz="1200" b="1" dirty="0" err="1">
                <a:latin typeface="Times New Roman" pitchFamily="18" charset="0"/>
              </a:rPr>
              <a:t>relop</a:t>
            </a:r>
            <a:r>
              <a:rPr lang="en-US" altLang="en-US" sz="1200" b="1" dirty="0">
                <a:latin typeface="Times New Roman" pitchFamily="18" charset="0"/>
              </a:rPr>
              <a:t> </a:t>
            </a:r>
            <a:r>
              <a:rPr lang="en-US" altLang="en-US" sz="1200" b="1" dirty="0">
                <a:latin typeface="Times New Roman" pitchFamily="18" charset="0"/>
                <a:sym typeface="Symbol" pitchFamily="18" charset="2"/>
              </a:rPr>
              <a:t>  </a:t>
            </a:r>
            <a:r>
              <a:rPr lang="en-US" altLang="en-US" sz="1200" b="1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&lt; | &lt;= | &gt; | &gt;= | = | &lt;&gt;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en-US" sz="1200" b="1" dirty="0">
                <a:latin typeface="Times New Roman" pitchFamily="18" charset="0"/>
                <a:sym typeface="Symbol" pitchFamily="18" charset="2"/>
              </a:rPr>
              <a:t>id        letter </a:t>
            </a:r>
            <a:r>
              <a:rPr lang="en-US" altLang="en-US" sz="1200" b="1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( </a:t>
            </a:r>
            <a:r>
              <a:rPr lang="en-US" altLang="en-US" sz="1200" b="1" dirty="0">
                <a:latin typeface="Times New Roman" pitchFamily="18" charset="0"/>
                <a:sym typeface="Symbol" pitchFamily="18" charset="2"/>
              </a:rPr>
              <a:t>letter </a:t>
            </a:r>
            <a:r>
              <a:rPr lang="en-US" altLang="en-US" sz="1200" b="1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|</a:t>
            </a:r>
            <a:r>
              <a:rPr lang="en-US" altLang="en-US" sz="1200" b="1" dirty="0">
                <a:latin typeface="Times New Roman" pitchFamily="18" charset="0"/>
                <a:sym typeface="Symbol" pitchFamily="18" charset="2"/>
              </a:rPr>
              <a:t> digit</a:t>
            </a:r>
            <a:r>
              <a:rPr lang="en-US" altLang="en-US" sz="1200" b="1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 )*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en-US" sz="1200" b="1" dirty="0">
                <a:latin typeface="Times New Roman" pitchFamily="18" charset="0"/>
                <a:sym typeface="Symbol" pitchFamily="18" charset="2"/>
              </a:rPr>
              <a:t>num</a:t>
            </a:r>
            <a:r>
              <a:rPr lang="en-US" altLang="en-US" sz="1200" b="1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 </a:t>
            </a:r>
            <a:r>
              <a:rPr lang="en-US" altLang="en-US" sz="1200" b="1" dirty="0">
                <a:latin typeface="Times New Roman" pitchFamily="18" charset="0"/>
                <a:sym typeface="Symbol" pitchFamily="18" charset="2"/>
              </a:rPr>
              <a:t>  digit</a:t>
            </a:r>
            <a:r>
              <a:rPr lang="en-US" altLang="en-US" sz="1200" b="1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 </a:t>
            </a:r>
            <a:r>
              <a:rPr lang="en-US" altLang="en-US" sz="1200" b="1" baseline="30000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+ </a:t>
            </a:r>
            <a:r>
              <a:rPr lang="en-US" altLang="en-US" sz="1200" b="1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(. </a:t>
            </a:r>
            <a:r>
              <a:rPr lang="en-US" altLang="en-US" sz="1200" b="1" dirty="0">
                <a:latin typeface="Times New Roman" pitchFamily="18" charset="0"/>
                <a:sym typeface="Symbol" pitchFamily="18" charset="2"/>
              </a:rPr>
              <a:t>digit</a:t>
            </a:r>
            <a:r>
              <a:rPr lang="en-US" altLang="en-US" sz="1200" b="1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 </a:t>
            </a:r>
            <a:r>
              <a:rPr lang="en-US" altLang="en-US" sz="1200" b="1" baseline="30000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+</a:t>
            </a:r>
            <a:r>
              <a:rPr lang="en-US" altLang="en-US" sz="1200" b="1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 ) ? ( E(+ | -) ? </a:t>
            </a:r>
            <a:r>
              <a:rPr lang="en-US" altLang="en-US" sz="1200" b="1" dirty="0">
                <a:latin typeface="Times New Roman" pitchFamily="18" charset="0"/>
                <a:sym typeface="Symbol" pitchFamily="18" charset="2"/>
              </a:rPr>
              <a:t>digit</a:t>
            </a:r>
            <a:r>
              <a:rPr lang="en-US" altLang="en-US" sz="1200" b="1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 </a:t>
            </a:r>
            <a:r>
              <a:rPr lang="en-US" altLang="en-US" sz="1200" b="1" baseline="30000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+</a:t>
            </a:r>
            <a:r>
              <a:rPr lang="en-US" altLang="en-US" sz="1200" b="1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 ) ?</a:t>
            </a:r>
            <a:endParaRPr lang="en-US" altLang="en-US" sz="1200" b="1" dirty="0">
              <a:latin typeface="Times New Roman" pitchFamily="18" charset="0"/>
              <a:sym typeface="Symbol" pitchFamily="18" charset="2"/>
            </a:endParaRPr>
          </a:p>
        </p:txBody>
      </p:sp>
      <p:sp>
        <p:nvSpPr>
          <p:cNvPr id="22" name="Text Box 13"/>
          <p:cNvSpPr txBox="1">
            <a:spLocks noChangeArrowheads="1"/>
          </p:cNvSpPr>
          <p:nvPr/>
        </p:nvSpPr>
        <p:spPr bwMode="auto">
          <a:xfrm>
            <a:off x="1905000" y="4324350"/>
            <a:ext cx="6248400" cy="276999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en-US" sz="1200" b="1" dirty="0">
                <a:solidFill>
                  <a:srgbClr val="FF3300"/>
                </a:solidFill>
                <a:latin typeface="Times New Roman" pitchFamily="18" charset="0"/>
              </a:rPr>
              <a:t>What does this represent ?       What is </a:t>
            </a:r>
            <a:r>
              <a:rPr lang="en-US" altLang="en-US" sz="1200" b="1" dirty="0">
                <a:solidFill>
                  <a:srgbClr val="FF3300"/>
                </a:solidFill>
                <a:latin typeface="Times New Roman" pitchFamily="18" charset="0"/>
                <a:sym typeface="Symbol" pitchFamily="18" charset="2"/>
              </a:rPr>
              <a:t> ?</a:t>
            </a:r>
            <a:endParaRPr lang="en-US" altLang="en-US" sz="1200" b="1" dirty="0">
              <a:solidFill>
                <a:srgbClr val="FF3300"/>
              </a:solidFill>
              <a:latin typeface="Times New Roman" pitchFamily="18" charset="0"/>
            </a:endParaRPr>
          </a:p>
        </p:txBody>
      </p:sp>
      <p:sp>
        <p:nvSpPr>
          <p:cNvPr id="23" name="AutoShape 14"/>
          <p:cNvSpPr>
            <a:spLocks/>
          </p:cNvSpPr>
          <p:nvPr/>
        </p:nvSpPr>
        <p:spPr bwMode="auto">
          <a:xfrm>
            <a:off x="1524000" y="3943350"/>
            <a:ext cx="228600" cy="381000"/>
          </a:xfrm>
          <a:prstGeom prst="leftBrace">
            <a:avLst>
              <a:gd name="adj1" fmla="val 13889"/>
              <a:gd name="adj2" fmla="val 53333"/>
            </a:avLst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eaLnBrk="1" hangingPunct="1"/>
            <a:endParaRPr lang="en-US" altLang="en-US" sz="1400" b="1">
              <a:latin typeface="Times New Roman" pitchFamily="18" charset="0"/>
            </a:endParaRPr>
          </a:p>
        </p:txBody>
      </p:sp>
      <p:cxnSp>
        <p:nvCxnSpPr>
          <p:cNvPr id="24" name="AutoShape 15"/>
          <p:cNvCxnSpPr>
            <a:cxnSpLocks noChangeShapeType="1"/>
            <a:endCxn id="23" idx="1"/>
          </p:cNvCxnSpPr>
          <p:nvPr/>
        </p:nvCxnSpPr>
        <p:spPr bwMode="auto">
          <a:xfrm rot="10800000">
            <a:off x="1524000" y="4146550"/>
            <a:ext cx="76200" cy="316301"/>
          </a:xfrm>
          <a:prstGeom prst="curvedConnector3">
            <a:avLst>
              <a:gd name="adj1" fmla="val 400000"/>
            </a:avLst>
          </a:prstGeom>
          <a:noFill/>
          <a:ln w="15875">
            <a:solidFill>
              <a:schemeClr val="tx1"/>
            </a:solidFill>
            <a:round/>
            <a:headEnd type="none" w="sm" len="sm"/>
            <a:tailEnd type="triangle" w="sm" len="sm"/>
          </a:ln>
          <a:effectLst/>
        </p:spPr>
      </p:cxnSp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en-US" sz="2400" dirty="0" smtClean="0"/>
              <a:t>What Else Does Lexical Analyzer Do?</a:t>
            </a:r>
            <a:br>
              <a:rPr lang="en-US" altLang="en-US" sz="2400" dirty="0" smtClean="0"/>
            </a:br>
            <a:r>
              <a:rPr lang="en-US" altLang="en-US" sz="2400" dirty="0" smtClean="0"/>
              <a:t>Throw Away Tokens</a:t>
            </a:r>
            <a:endParaRPr lang="en-US" altLang="ko-KR" sz="2400" b="1" dirty="0" smtClean="0">
              <a:solidFill>
                <a:schemeClr val="bg1"/>
              </a:solidFill>
            </a:endParaRPr>
          </a:p>
        </p:txBody>
      </p:sp>
      <p:sp>
        <p:nvSpPr>
          <p:cNvPr id="13" name="Text Box 3"/>
          <p:cNvSpPr txBox="1">
            <a:spLocks noChangeArrowheads="1"/>
          </p:cNvSpPr>
          <p:nvPr/>
        </p:nvSpPr>
        <p:spPr bwMode="auto">
          <a:xfrm>
            <a:off x="990600" y="1352550"/>
            <a:ext cx="6629400" cy="1493229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04000"/>
              </a:lnSpc>
              <a:spcBef>
                <a:spcPts val="900"/>
              </a:spcBef>
              <a:buFont typeface="Arial" pitchFamily="34" charset="0"/>
              <a:buChar char="•"/>
            </a:pPr>
            <a:r>
              <a:rPr lang="en-US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" charset="0"/>
                <a:sym typeface="Gill Sans" charset="0"/>
              </a:rPr>
              <a:t>Fact</a:t>
            </a:r>
          </a:p>
          <a:p>
            <a:pPr lvl="1" eaLnBrk="1" hangingPunct="1">
              <a:lnSpc>
                <a:spcPct val="105000"/>
              </a:lnSpc>
              <a:spcBef>
                <a:spcPts val="800"/>
              </a:spcBef>
              <a:buFont typeface="Arial" pitchFamily="34" charset="0"/>
              <a:buChar char="–"/>
            </a:pPr>
            <a:r>
              <a:rPr lang="en-US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" charset="0"/>
                <a:sym typeface="Gill Sans" charset="0"/>
              </a:rPr>
              <a:t>Some languages define tokens as useless</a:t>
            </a:r>
          </a:p>
          <a:p>
            <a:pPr lvl="1" eaLnBrk="1" hangingPunct="1">
              <a:lnSpc>
                <a:spcPct val="106000"/>
              </a:lnSpc>
              <a:spcBef>
                <a:spcPts val="800"/>
              </a:spcBef>
              <a:buFont typeface="Arial" pitchFamily="34" charset="0"/>
              <a:buChar char="–"/>
            </a:pPr>
            <a:r>
              <a:rPr lang="en-US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" charset="0"/>
                <a:sym typeface="Gill Sans" charset="0"/>
              </a:rPr>
              <a:t>Example: C</a:t>
            </a:r>
          </a:p>
          <a:p>
            <a:pPr lvl="2" eaLnBrk="1" hangingPunct="1">
              <a:lnSpc>
                <a:spcPct val="107000"/>
              </a:lnSpc>
              <a:spcBef>
                <a:spcPts val="700"/>
              </a:spcBef>
              <a:buFont typeface="Arial" pitchFamily="34" charset="0"/>
              <a:buChar char="•"/>
            </a:pPr>
            <a:r>
              <a:rPr lang="en-US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" charset="0"/>
                <a:sym typeface="Gill Sans" charset="0"/>
              </a:rPr>
              <a:t>whitespace, tabulations, carriage return, and comments can be discarded without affecting the program’s meaning.</a:t>
            </a:r>
          </a:p>
        </p:txBody>
      </p:sp>
      <p:sp>
        <p:nvSpPr>
          <p:cNvPr id="14" name="Text Box 4"/>
          <p:cNvSpPr txBox="1">
            <a:spLocks noChangeArrowheads="1"/>
          </p:cNvSpPr>
          <p:nvPr/>
        </p:nvSpPr>
        <p:spPr bwMode="auto">
          <a:xfrm>
            <a:off x="1143000" y="2952750"/>
            <a:ext cx="5791200" cy="148348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en-US" sz="1600" b="1" dirty="0">
                <a:latin typeface="Times New Roman" pitchFamily="18" charset="0"/>
              </a:rPr>
              <a:t>blank    </a:t>
            </a:r>
            <a:r>
              <a:rPr lang="en-US" altLang="en-US" sz="1600" b="1" dirty="0">
                <a:latin typeface="Times New Roman" pitchFamily="18" charset="0"/>
                <a:sym typeface="Symbol" pitchFamily="18" charset="2"/>
              </a:rPr>
              <a:t>  </a:t>
            </a:r>
            <a:r>
              <a:rPr lang="en-US" altLang="en-US" sz="1600" b="1" i="1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b</a:t>
            </a:r>
            <a:endParaRPr lang="en-US" altLang="en-US" sz="1600" b="1" dirty="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en-US" sz="1600" b="1" dirty="0">
                <a:latin typeface="Times New Roman" pitchFamily="18" charset="0"/>
                <a:sym typeface="Symbol" pitchFamily="18" charset="2"/>
              </a:rPr>
              <a:t>tab          </a:t>
            </a:r>
            <a:r>
              <a:rPr lang="en-US" altLang="en-US" sz="1600" b="1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^T</a:t>
            </a:r>
            <a:endParaRPr lang="en-US" altLang="en-US" sz="1600" b="1" dirty="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en-US" sz="1600" b="1" dirty="0">
                <a:latin typeface="Times New Roman" pitchFamily="18" charset="0"/>
                <a:sym typeface="Symbol" pitchFamily="18" charset="2"/>
              </a:rPr>
              <a:t>newline   </a:t>
            </a:r>
            <a:r>
              <a:rPr lang="en-US" altLang="en-US" sz="1600" b="1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^M</a:t>
            </a:r>
            <a:endParaRPr lang="en-US" altLang="en-US" sz="1600" b="1" dirty="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en-US" sz="1600" b="1" dirty="0" err="1">
                <a:latin typeface="Times New Roman" pitchFamily="18" charset="0"/>
                <a:sym typeface="Symbol" pitchFamily="18" charset="2"/>
              </a:rPr>
              <a:t>delim</a:t>
            </a:r>
            <a:r>
              <a:rPr lang="en-US" altLang="en-US" sz="1600" b="1" dirty="0">
                <a:latin typeface="Times New Roman" pitchFamily="18" charset="0"/>
                <a:sym typeface="Symbol" pitchFamily="18" charset="2"/>
              </a:rPr>
              <a:t>      blank | tab | newline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en-US" sz="1600" b="1" dirty="0" err="1">
                <a:latin typeface="Times New Roman" pitchFamily="18" charset="0"/>
                <a:sym typeface="Symbol" pitchFamily="18" charset="2"/>
              </a:rPr>
              <a:t>ws</a:t>
            </a:r>
            <a:r>
              <a:rPr lang="en-US" altLang="en-US" sz="1600" b="1" dirty="0">
                <a:latin typeface="Times New Roman" pitchFamily="18" charset="0"/>
                <a:sym typeface="Symbol" pitchFamily="18" charset="2"/>
              </a:rPr>
              <a:t>           </a:t>
            </a:r>
            <a:r>
              <a:rPr lang="en-US" altLang="en-US" sz="1600" b="1" dirty="0" err="1">
                <a:latin typeface="Times New Roman" pitchFamily="18" charset="0"/>
                <a:sym typeface="Symbol" pitchFamily="18" charset="2"/>
              </a:rPr>
              <a:t>delim</a:t>
            </a:r>
            <a:r>
              <a:rPr lang="en-US" altLang="en-US" sz="1600" b="1" baseline="30000" dirty="0">
                <a:latin typeface="Times New Roman" pitchFamily="18" charset="0"/>
                <a:sym typeface="Symbol" pitchFamily="18" charset="2"/>
              </a:rPr>
              <a:t> </a:t>
            </a:r>
            <a:r>
              <a:rPr lang="en-US" altLang="en-US" sz="1600" b="1" baseline="30000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+</a:t>
            </a:r>
            <a:endParaRPr lang="en-US" altLang="en-US" sz="1600" b="1" dirty="0">
              <a:latin typeface="Times New Roman" pitchFamily="18" charset="0"/>
              <a:sym typeface="Symbol" pitchFamily="18" charset="2"/>
            </a:endParaRPr>
          </a:p>
        </p:txBody>
      </p:sp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Pseudo Codes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en-US" dirty="0" smtClean="0"/>
              <a:t>Removal of White Spaces </a:t>
            </a:r>
            <a:r>
              <a:rPr lang="en-US" altLang="en-US" dirty="0" smtClean="0">
                <a:solidFill>
                  <a:srgbClr val="FF0000"/>
                </a:solidFill>
              </a:rPr>
              <a:t>[1]</a:t>
            </a:r>
            <a:endParaRPr lang="en-US" dirty="0"/>
          </a:p>
        </p:txBody>
      </p:sp>
      <p:sp>
        <p:nvSpPr>
          <p:cNvPr id="4" name="TextBox 2"/>
          <p:cNvSpPr txBox="1">
            <a:spLocks noChangeArrowheads="1"/>
          </p:cNvSpPr>
          <p:nvPr/>
        </p:nvSpPr>
        <p:spPr bwMode="auto">
          <a:xfrm>
            <a:off x="473075" y="1828800"/>
            <a:ext cx="8213725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for ( ; ; peek = next input character) {</a:t>
            </a:r>
          </a:p>
          <a:p>
            <a:endParaRPr lang="en-US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if ( peek is a blank or a tab)  do nothing;</a:t>
            </a:r>
          </a:p>
          <a:p>
            <a:endParaRPr lang="en-US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else if ( peek is a new line ) line = line + 1;</a:t>
            </a:r>
          </a:p>
          <a:p>
            <a:endParaRPr lang="en-US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else break;</a:t>
            </a:r>
          </a:p>
          <a:p>
            <a:endParaRPr lang="en-US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}</a:t>
            </a:r>
          </a:p>
        </p:txBody>
      </p:sp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Pseudo Codes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en-US" dirty="0" smtClean="0"/>
              <a:t>Constants </a:t>
            </a:r>
            <a:r>
              <a:rPr lang="en-US" altLang="en-US" dirty="0" smtClean="0">
                <a:solidFill>
                  <a:srgbClr val="FF0000"/>
                </a:solidFill>
              </a:rPr>
              <a:t>[2]</a:t>
            </a:r>
            <a:endParaRPr lang="en-US" dirty="0"/>
          </a:p>
        </p:txBody>
      </p:sp>
      <p:sp>
        <p:nvSpPr>
          <p:cNvPr id="4" name="TextBox 2"/>
          <p:cNvSpPr txBox="1">
            <a:spLocks noChangeArrowheads="1"/>
          </p:cNvSpPr>
          <p:nvPr/>
        </p:nvSpPr>
        <p:spPr bwMode="auto">
          <a:xfrm>
            <a:off x="473075" y="1828800"/>
            <a:ext cx="8213725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If ( peek holds a digit ) {</a:t>
            </a:r>
          </a:p>
          <a:p>
            <a:r>
              <a:rPr lang="en-US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	v = 0;</a:t>
            </a:r>
          </a:p>
          <a:p>
            <a:r>
              <a:rPr lang="en-US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	do {</a:t>
            </a:r>
          </a:p>
          <a:p>
            <a:r>
              <a:rPr lang="en-US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		v = v * 10 + integer value of digit peek;</a:t>
            </a:r>
          </a:p>
          <a:p>
            <a:r>
              <a:rPr lang="en-US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		peek = next input character;</a:t>
            </a:r>
          </a:p>
          <a:p>
            <a:r>
              <a:rPr lang="en-US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	} while ( peek holds a digit );</a:t>
            </a:r>
          </a:p>
          <a:p>
            <a:r>
              <a:rPr lang="en-US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	return token  (</a:t>
            </a:r>
            <a:r>
              <a:rPr lang="en-US" altLang="en-US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num</a:t>
            </a:r>
            <a:r>
              <a:rPr lang="en-US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, v)</a:t>
            </a:r>
          </a:p>
          <a:p>
            <a:endParaRPr lang="en-US" altLang="en-US" sz="20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}</a:t>
            </a:r>
            <a:endParaRPr lang="en-US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Pseudo Codes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en-US" dirty="0" smtClean="0"/>
              <a:t>Recognizing Keywords and Identifiers </a:t>
            </a:r>
            <a:r>
              <a:rPr lang="en-US" altLang="en-US" dirty="0" smtClean="0">
                <a:solidFill>
                  <a:srgbClr val="FF0000"/>
                </a:solidFill>
              </a:rPr>
              <a:t>[3]</a:t>
            </a:r>
            <a:endParaRPr lang="en-US" dirty="0"/>
          </a:p>
        </p:txBody>
      </p:sp>
      <p:sp>
        <p:nvSpPr>
          <p:cNvPr id="4" name="TextBox 2"/>
          <p:cNvSpPr txBox="1">
            <a:spLocks noChangeArrowheads="1"/>
          </p:cNvSpPr>
          <p:nvPr/>
        </p:nvSpPr>
        <p:spPr bwMode="auto">
          <a:xfrm>
            <a:off x="473075" y="1828800"/>
            <a:ext cx="8213725" cy="31085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en-US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Hashtable</a:t>
            </a:r>
            <a:r>
              <a:rPr lang="en-US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words = new </a:t>
            </a:r>
            <a:r>
              <a:rPr lang="en-US" altLang="en-US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Hashtable</a:t>
            </a:r>
            <a:r>
              <a:rPr lang="en-US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(); //in Java class</a:t>
            </a:r>
          </a:p>
          <a:p>
            <a:endParaRPr lang="en-US" altLang="en-US" sz="16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If ( peek holds a letter ) {</a:t>
            </a:r>
          </a:p>
          <a:p>
            <a:r>
              <a:rPr lang="en-US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	collect letters or digits into a buffer b;</a:t>
            </a:r>
          </a:p>
          <a:p>
            <a:r>
              <a:rPr lang="en-US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	s = string formed from the characters in b;</a:t>
            </a:r>
          </a:p>
          <a:p>
            <a:r>
              <a:rPr lang="en-US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	w = token returned by </a:t>
            </a:r>
            <a:r>
              <a:rPr lang="en-US" altLang="en-US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words.get</a:t>
            </a:r>
            <a:r>
              <a:rPr lang="en-US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(s);</a:t>
            </a:r>
          </a:p>
          <a:p>
            <a:r>
              <a:rPr lang="en-US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	if ( w is not null ) return w;</a:t>
            </a:r>
          </a:p>
          <a:p>
            <a:r>
              <a:rPr lang="en-US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	else {</a:t>
            </a:r>
          </a:p>
          <a:p>
            <a:r>
              <a:rPr lang="en-US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		Enter the key-value pair (s, &lt;id, s&gt;) into words</a:t>
            </a:r>
          </a:p>
          <a:p>
            <a:r>
              <a:rPr lang="en-US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		return token&lt;id, s&gt;;</a:t>
            </a:r>
          </a:p>
          <a:p>
            <a:r>
              <a:rPr lang="en-US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	}</a:t>
            </a:r>
          </a:p>
          <a:p>
            <a:r>
              <a:rPr lang="en-US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}</a:t>
            </a:r>
            <a:endParaRPr lang="en-US" alt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Pseudo Codes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 smtClean="0"/>
              <a:t>Lexical Analyzer</a:t>
            </a:r>
            <a:endParaRPr lang="en-US" dirty="0"/>
          </a:p>
        </p:txBody>
      </p:sp>
      <p:sp>
        <p:nvSpPr>
          <p:cNvPr id="4" name="TextBox 2"/>
          <p:cNvSpPr txBox="1">
            <a:spLocks noChangeArrowheads="1"/>
          </p:cNvSpPr>
          <p:nvPr/>
        </p:nvSpPr>
        <p:spPr bwMode="auto">
          <a:xfrm>
            <a:off x="473075" y="1828800"/>
            <a:ext cx="8213725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en-US" sz="1600" dirty="0" smtClean="0"/>
              <a:t>Token scan() {</a:t>
            </a:r>
          </a:p>
          <a:p>
            <a:r>
              <a:rPr lang="en-US" altLang="en-US" sz="1600" dirty="0" smtClean="0"/>
              <a:t>	skip white space, as in [1]</a:t>
            </a:r>
          </a:p>
          <a:p>
            <a:r>
              <a:rPr lang="en-US" altLang="en-US" sz="1600" dirty="0" smtClean="0"/>
              <a:t>	handle numbers, as in [2]</a:t>
            </a:r>
          </a:p>
          <a:p>
            <a:r>
              <a:rPr lang="en-US" altLang="en-US" sz="1600" dirty="0" smtClean="0"/>
              <a:t>	handle reserved words and identifiers [3]</a:t>
            </a:r>
          </a:p>
          <a:p>
            <a:endParaRPr lang="en-US" altLang="en-US" sz="1600" dirty="0" smtClean="0"/>
          </a:p>
          <a:p>
            <a:r>
              <a:rPr lang="en-US" altLang="en-US" sz="1600" dirty="0" smtClean="0"/>
              <a:t>	Token t = new Token(peek);</a:t>
            </a:r>
          </a:p>
          <a:p>
            <a:r>
              <a:rPr lang="en-US" altLang="en-US" sz="1600" dirty="0" smtClean="0"/>
              <a:t>	Peek = blank</a:t>
            </a:r>
          </a:p>
          <a:p>
            <a:r>
              <a:rPr lang="en-US" altLang="en-US" sz="1600" dirty="0" smtClean="0"/>
              <a:t>	return t;</a:t>
            </a:r>
          </a:p>
          <a:p>
            <a:r>
              <a:rPr lang="en-US" altLang="en-US" sz="1600" dirty="0" smtClean="0"/>
              <a:t>}</a:t>
            </a:r>
            <a:endParaRPr lang="en-US" altLang="en-US" sz="1600" dirty="0"/>
          </a:p>
        </p:txBody>
      </p:sp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038350"/>
            <a:ext cx="6172200" cy="548879"/>
          </a:xfrm>
        </p:spPr>
        <p:txBody>
          <a:bodyPr/>
          <a:lstStyle/>
          <a:p>
            <a:r>
              <a:rPr lang="en-US" sz="2700" dirty="0">
                <a:solidFill>
                  <a:srgbClr val="003366"/>
                </a:solidFill>
              </a:rPr>
              <a:t>UNIT </a:t>
            </a:r>
            <a:r>
              <a:rPr lang="en-US" sz="2700" dirty="0" smtClean="0">
                <a:solidFill>
                  <a:srgbClr val="003366"/>
                </a:solidFill>
              </a:rPr>
              <a:t>4.4</a:t>
            </a:r>
            <a:endParaRPr lang="en-US" sz="2700" dirty="0">
              <a:solidFill>
                <a:srgbClr val="003366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2AEF6-A042-4DA6-A3E1-F04AAE1E3944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590800" y="2724150"/>
            <a:ext cx="3829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defRPr/>
            </a:pPr>
            <a:r>
              <a:rPr lang="en-US" dirty="0"/>
              <a:t>Recognition of Tokens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6972300" y="1"/>
            <a:ext cx="1543050" cy="219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25" b="1" dirty="0">
                <a:solidFill>
                  <a:schemeClr val="bg1"/>
                </a:solidFill>
                <a:hlinkClick r:id="rId2" action="ppaction://hlinksldjump"/>
              </a:rPr>
              <a:t>Home</a:t>
            </a:r>
            <a:endParaRPr lang="en-US" sz="825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0044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Recognition of Tokens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2438400" y="1352550"/>
            <a:ext cx="4572000" cy="34163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digit 		</a:t>
            </a:r>
            <a:r>
              <a:rPr lang="en-US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sym typeface="Wingdings" pitchFamily="2" charset="2"/>
              </a:rPr>
              <a:t> [0-9]</a:t>
            </a:r>
          </a:p>
          <a:p>
            <a:r>
              <a:rPr lang="en-US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sym typeface="Wingdings" pitchFamily="2" charset="2"/>
              </a:rPr>
              <a:t>digits 		 digit+</a:t>
            </a:r>
          </a:p>
          <a:p>
            <a:r>
              <a:rPr lang="en-US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sym typeface="Wingdings" pitchFamily="2" charset="2"/>
              </a:rPr>
              <a:t>number 		 digits (. digits)? (E [+-]? digits )?</a:t>
            </a:r>
          </a:p>
          <a:p>
            <a:r>
              <a:rPr lang="en-US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sym typeface="Wingdings" pitchFamily="2" charset="2"/>
              </a:rPr>
              <a:t>letter		 [A-</a:t>
            </a:r>
            <a:r>
              <a:rPr lang="en-US" altLang="en-US" dirty="0" err="1" smtClean="0">
                <a:solidFill>
                  <a:schemeClr val="tx1">
                    <a:lumMod val="75000"/>
                    <a:lumOff val="25000"/>
                  </a:schemeClr>
                </a:solidFill>
                <a:sym typeface="Wingdings" pitchFamily="2" charset="2"/>
              </a:rPr>
              <a:t>Za</a:t>
            </a:r>
            <a:r>
              <a:rPr lang="en-US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sym typeface="Wingdings" pitchFamily="2" charset="2"/>
              </a:rPr>
              <a:t>-z]</a:t>
            </a:r>
          </a:p>
          <a:p>
            <a:r>
              <a:rPr lang="en-US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id		</a:t>
            </a:r>
            <a:r>
              <a:rPr lang="en-US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sym typeface="Wingdings" pitchFamily="2" charset="2"/>
              </a:rPr>
              <a:t> letter (letter | digit)*</a:t>
            </a:r>
          </a:p>
          <a:p>
            <a:r>
              <a:rPr lang="en-US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if		</a:t>
            </a:r>
            <a:r>
              <a:rPr lang="en-US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sym typeface="Wingdings" pitchFamily="2" charset="2"/>
              </a:rPr>
              <a:t> if</a:t>
            </a:r>
          </a:p>
          <a:p>
            <a:r>
              <a:rPr lang="en-US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sym typeface="Wingdings" pitchFamily="2" charset="2"/>
              </a:rPr>
              <a:t>then 		 then</a:t>
            </a:r>
          </a:p>
          <a:p>
            <a:r>
              <a:rPr lang="en-US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sym typeface="Wingdings" pitchFamily="2" charset="2"/>
              </a:rPr>
              <a:t>else 		 else</a:t>
            </a:r>
          </a:p>
          <a:p>
            <a:r>
              <a:rPr lang="en-US" altLang="en-US" dirty="0" err="1" smtClean="0">
                <a:solidFill>
                  <a:schemeClr val="tx1">
                    <a:lumMod val="75000"/>
                    <a:lumOff val="25000"/>
                  </a:schemeClr>
                </a:solidFill>
                <a:sym typeface="Wingdings" pitchFamily="2" charset="2"/>
              </a:rPr>
              <a:t>relop</a:t>
            </a:r>
            <a:r>
              <a:rPr lang="en-US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sym typeface="Wingdings" pitchFamily="2" charset="2"/>
              </a:rPr>
              <a:t>		 &lt; | &gt; | &lt;= | &gt;= | = | &lt;&gt;</a:t>
            </a:r>
          </a:p>
          <a:p>
            <a:r>
              <a:rPr lang="en-US" altLang="en-US" dirty="0" err="1" smtClean="0">
                <a:solidFill>
                  <a:schemeClr val="tx1">
                    <a:lumMod val="75000"/>
                    <a:lumOff val="25000"/>
                  </a:schemeClr>
                </a:solidFill>
                <a:sym typeface="Wingdings" pitchFamily="2" charset="2"/>
              </a:rPr>
              <a:t>ws</a:t>
            </a:r>
            <a:r>
              <a:rPr lang="en-US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sym typeface="Wingdings" pitchFamily="2" charset="2"/>
              </a:rPr>
              <a:t> 		 (blank | tab | newline)+</a:t>
            </a:r>
            <a:endParaRPr lang="en-US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Recognition of Tokens</a:t>
            </a:r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971800" y="1428750"/>
          <a:ext cx="3352800" cy="347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7600">
                  <a:extLst>
                    <a:ext uri="{9D8B030D-6E8A-4147-A177-3AD203B41FA5}">
                      <a16:colId xmlns:a16="http://schemas.microsoft.com/office/drawing/2014/main" xmlns="" val="169950055"/>
                    </a:ext>
                  </a:extLst>
                </a:gridCol>
                <a:gridCol w="1117600">
                  <a:extLst>
                    <a:ext uri="{9D8B030D-6E8A-4147-A177-3AD203B41FA5}">
                      <a16:colId xmlns:a16="http://schemas.microsoft.com/office/drawing/2014/main" xmlns="" val="1979487146"/>
                    </a:ext>
                  </a:extLst>
                </a:gridCol>
                <a:gridCol w="1117600">
                  <a:extLst>
                    <a:ext uri="{9D8B030D-6E8A-4147-A177-3AD203B41FA5}">
                      <a16:colId xmlns:a16="http://schemas.microsoft.com/office/drawing/2014/main" xmlns="" val="3023325069"/>
                    </a:ext>
                  </a:extLst>
                </a:gridCol>
              </a:tblGrid>
              <a:tr h="449733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solidFill>
                            <a:schemeClr val="tx1"/>
                          </a:solidFill>
                        </a:rPr>
                        <a:t>LEXEMES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T="45717" marB="45717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solidFill>
                            <a:schemeClr val="tx1"/>
                          </a:solidFill>
                        </a:rPr>
                        <a:t>TOKEN NAME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T="45717" marB="45717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solidFill>
                            <a:schemeClr val="tx1"/>
                          </a:solidFill>
                        </a:rPr>
                        <a:t>ATTRIBUTE VALUE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T="45717" marB="45717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75164852"/>
                  </a:ext>
                </a:extLst>
              </a:tr>
              <a:tr h="256988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solidFill>
                            <a:schemeClr val="tx1"/>
                          </a:solidFill>
                        </a:rPr>
                        <a:t>Any </a:t>
                      </a:r>
                      <a:r>
                        <a:rPr lang="en-US" sz="1200" dirty="0" err="1" smtClean="0">
                          <a:solidFill>
                            <a:schemeClr val="tx1"/>
                          </a:solidFill>
                        </a:rPr>
                        <a:t>ws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T="45717" marB="45717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T="45717" marB="45717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>
                        <a:solidFill>
                          <a:schemeClr val="tx1"/>
                        </a:solidFill>
                      </a:endParaRPr>
                    </a:p>
                  </a:txBody>
                  <a:tcPr marT="45717" marB="45717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109348370"/>
                  </a:ext>
                </a:extLst>
              </a:tr>
              <a:tr h="256988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solidFill>
                            <a:schemeClr val="tx1"/>
                          </a:solidFill>
                        </a:rPr>
                        <a:t>If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T="45717" marB="45717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solidFill>
                            <a:schemeClr val="tx1"/>
                          </a:solidFill>
                        </a:rPr>
                        <a:t>If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T="45717" marB="45717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>
                        <a:solidFill>
                          <a:schemeClr val="tx1"/>
                        </a:solidFill>
                      </a:endParaRPr>
                    </a:p>
                  </a:txBody>
                  <a:tcPr marT="45717" marB="45717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004570065"/>
                  </a:ext>
                </a:extLst>
              </a:tr>
              <a:tr h="256988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solidFill>
                            <a:schemeClr val="tx1"/>
                          </a:solidFill>
                        </a:rPr>
                        <a:t>Then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T="45717" marB="45717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solidFill>
                            <a:schemeClr val="tx1"/>
                          </a:solidFill>
                        </a:rPr>
                        <a:t>Then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T="45717" marB="45717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>
                        <a:solidFill>
                          <a:schemeClr val="tx1"/>
                        </a:solidFill>
                      </a:endParaRPr>
                    </a:p>
                  </a:txBody>
                  <a:tcPr marT="45717" marB="45717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78669790"/>
                  </a:ext>
                </a:extLst>
              </a:tr>
              <a:tr h="256988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solidFill>
                            <a:schemeClr val="tx1"/>
                          </a:solidFill>
                        </a:rPr>
                        <a:t>Else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T="45717" marB="45717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solidFill>
                            <a:schemeClr val="tx1"/>
                          </a:solidFill>
                        </a:rPr>
                        <a:t>Else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T="45717" marB="45717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>
                        <a:solidFill>
                          <a:schemeClr val="tx1"/>
                        </a:solidFill>
                      </a:endParaRPr>
                    </a:p>
                  </a:txBody>
                  <a:tcPr marT="45717" marB="45717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493005708"/>
                  </a:ext>
                </a:extLst>
              </a:tr>
              <a:tr h="256988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solidFill>
                            <a:schemeClr val="tx1"/>
                          </a:solidFill>
                        </a:rPr>
                        <a:t>Any id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T="45717" marB="45717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solidFill>
                            <a:schemeClr val="tx1"/>
                          </a:solidFill>
                        </a:rPr>
                        <a:t>Number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T="45717" marB="45717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>
                        <a:solidFill>
                          <a:schemeClr val="tx1"/>
                        </a:solidFill>
                      </a:endParaRPr>
                    </a:p>
                  </a:txBody>
                  <a:tcPr marT="45717" marB="45717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085783299"/>
                  </a:ext>
                </a:extLst>
              </a:tr>
              <a:tr h="256988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solidFill>
                            <a:schemeClr val="tx1"/>
                          </a:solidFill>
                        </a:rPr>
                        <a:t>&lt;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T="45717" marB="45717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 smtClean="0">
                          <a:solidFill>
                            <a:schemeClr val="tx1"/>
                          </a:solidFill>
                        </a:rPr>
                        <a:t>Relop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T="45717" marB="45717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solidFill>
                            <a:schemeClr val="tx1"/>
                          </a:solidFill>
                        </a:rPr>
                        <a:t>LT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T="45717" marB="45717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358463093"/>
                  </a:ext>
                </a:extLst>
              </a:tr>
              <a:tr h="256988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solidFill>
                            <a:schemeClr val="tx1"/>
                          </a:solidFill>
                        </a:rPr>
                        <a:t>&lt;=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T="45717" marB="45717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 smtClean="0">
                          <a:solidFill>
                            <a:schemeClr val="tx1"/>
                          </a:solidFill>
                        </a:rPr>
                        <a:t>Relop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T="45717" marB="45717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solidFill>
                            <a:schemeClr val="tx1"/>
                          </a:solidFill>
                        </a:rPr>
                        <a:t>LE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T="45717" marB="45717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36607617"/>
                  </a:ext>
                </a:extLst>
              </a:tr>
              <a:tr h="256988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solidFill>
                            <a:schemeClr val="tx1"/>
                          </a:solidFill>
                        </a:rPr>
                        <a:t>&gt;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T="45717" marB="45717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 smtClean="0">
                          <a:solidFill>
                            <a:schemeClr val="tx1"/>
                          </a:solidFill>
                        </a:rPr>
                        <a:t>Relop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T="45717" marB="45717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solidFill>
                            <a:schemeClr val="tx1"/>
                          </a:solidFill>
                        </a:rPr>
                        <a:t>GT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T="45717" marB="45717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025669544"/>
                  </a:ext>
                </a:extLst>
              </a:tr>
              <a:tr h="256988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solidFill>
                            <a:schemeClr val="tx1"/>
                          </a:solidFill>
                        </a:rPr>
                        <a:t>&gt;=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T="45717" marB="45717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 smtClean="0">
                          <a:solidFill>
                            <a:schemeClr val="tx1"/>
                          </a:solidFill>
                        </a:rPr>
                        <a:t>Relop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T="45717" marB="45717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solidFill>
                            <a:schemeClr val="tx1"/>
                          </a:solidFill>
                        </a:rPr>
                        <a:t>GE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T="45717" marB="45717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803493958"/>
                  </a:ext>
                </a:extLst>
              </a:tr>
              <a:tr h="256988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solidFill>
                            <a:schemeClr val="tx1"/>
                          </a:solidFill>
                        </a:rPr>
                        <a:t>=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T="45717" marB="45717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 smtClean="0">
                          <a:solidFill>
                            <a:schemeClr val="tx1"/>
                          </a:solidFill>
                        </a:rPr>
                        <a:t>Relop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T="45717" marB="45717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solidFill>
                            <a:schemeClr val="tx1"/>
                          </a:solidFill>
                        </a:rPr>
                        <a:t>EQ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T="45717" marB="45717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583711191"/>
                  </a:ext>
                </a:extLst>
              </a:tr>
              <a:tr h="256988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solidFill>
                            <a:schemeClr val="tx1"/>
                          </a:solidFill>
                        </a:rPr>
                        <a:t>&lt;&gt;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T="45717" marB="45717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 smtClean="0">
                          <a:solidFill>
                            <a:schemeClr val="tx1"/>
                          </a:solidFill>
                        </a:rPr>
                        <a:t>Relop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T="45717" marB="45717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solidFill>
                            <a:schemeClr val="tx1"/>
                          </a:solidFill>
                        </a:rPr>
                        <a:t>NE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T="45717" marB="45717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866365430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Transition Diagram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 l="16955"/>
          <a:stretch>
            <a:fillRect/>
          </a:stretch>
        </p:blipFill>
        <p:spPr bwMode="auto">
          <a:xfrm>
            <a:off x="2590800" y="1371600"/>
            <a:ext cx="4621493" cy="318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en-US" sz="2400" dirty="0" smtClean="0"/>
              <a:t>Architecture of a Transition-Diagram-Based Lexical Analyzer</a:t>
            </a:r>
            <a:endParaRPr lang="en-US" sz="2400" dirty="0"/>
          </a:p>
        </p:txBody>
      </p:sp>
      <p:sp>
        <p:nvSpPr>
          <p:cNvPr id="5" name="TextBox 2"/>
          <p:cNvSpPr txBox="1">
            <a:spLocks noChangeArrowheads="1"/>
          </p:cNvSpPr>
          <p:nvPr/>
        </p:nvSpPr>
        <p:spPr bwMode="auto">
          <a:xfrm>
            <a:off x="1524000" y="1357848"/>
            <a:ext cx="57912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en-US" sz="1200" dirty="0"/>
              <a:t>TOKEN </a:t>
            </a:r>
            <a:r>
              <a:rPr lang="en-US" altLang="en-US" sz="1200" dirty="0" err="1"/>
              <a:t>getRelop</a:t>
            </a:r>
            <a:r>
              <a:rPr lang="en-US" altLang="en-US" sz="1200" dirty="0"/>
              <a:t>()				</a:t>
            </a:r>
            <a:r>
              <a:rPr lang="en-US" altLang="en-US" sz="1200" dirty="0">
                <a:solidFill>
                  <a:srgbClr val="002060"/>
                </a:solidFill>
              </a:rPr>
              <a:t>//C++ code</a:t>
            </a:r>
          </a:p>
          <a:p>
            <a:r>
              <a:rPr lang="en-US" altLang="en-US" sz="1200" dirty="0"/>
              <a:t>{</a:t>
            </a:r>
          </a:p>
          <a:p>
            <a:r>
              <a:rPr lang="en-US" altLang="en-US" sz="1200" dirty="0"/>
              <a:t>	TOKEN </a:t>
            </a:r>
            <a:r>
              <a:rPr lang="en-US" altLang="en-US" sz="1200" dirty="0" err="1"/>
              <a:t>retToken</a:t>
            </a:r>
            <a:r>
              <a:rPr lang="en-US" altLang="en-US" sz="1200" dirty="0"/>
              <a:t> = new(RELOP);</a:t>
            </a:r>
          </a:p>
          <a:p>
            <a:r>
              <a:rPr lang="en-US" altLang="en-US" sz="1200" dirty="0"/>
              <a:t>	while(1) { </a:t>
            </a:r>
            <a:r>
              <a:rPr lang="en-US" altLang="en-US" sz="1200" i="1" dirty="0">
                <a:solidFill>
                  <a:srgbClr val="002060"/>
                </a:solidFill>
              </a:rPr>
              <a:t>/* repeat character processing until a return or failure occurs */</a:t>
            </a:r>
          </a:p>
          <a:p>
            <a:r>
              <a:rPr lang="en-US" altLang="en-US" sz="1200" dirty="0"/>
              <a:t>	switch(state) {</a:t>
            </a:r>
          </a:p>
          <a:p>
            <a:r>
              <a:rPr lang="en-US" altLang="en-US" sz="1200" dirty="0"/>
              <a:t>		case 0: c = </a:t>
            </a:r>
            <a:r>
              <a:rPr lang="en-US" altLang="en-US" sz="1200" dirty="0" err="1"/>
              <a:t>nextChar</a:t>
            </a:r>
            <a:r>
              <a:rPr lang="en-US" altLang="en-US" sz="1200" dirty="0"/>
              <a:t>();</a:t>
            </a:r>
          </a:p>
          <a:p>
            <a:r>
              <a:rPr lang="en-US" altLang="en-US" sz="1200" dirty="0"/>
              <a:t>			if(c == ‘&lt;‘) state = 1;</a:t>
            </a:r>
          </a:p>
          <a:p>
            <a:r>
              <a:rPr lang="en-US" altLang="en-US" sz="1200" dirty="0"/>
              <a:t>			else if (c == ‘=‘) state = 5;</a:t>
            </a:r>
          </a:p>
          <a:p>
            <a:r>
              <a:rPr lang="en-US" altLang="en-US" sz="1200" dirty="0"/>
              <a:t>			else if (c == ‘&gt;’) state = 6;</a:t>
            </a:r>
          </a:p>
          <a:p>
            <a:r>
              <a:rPr lang="en-US" altLang="en-US" sz="1200" dirty="0"/>
              <a:t>			else fail(); </a:t>
            </a:r>
          </a:p>
          <a:p>
            <a:r>
              <a:rPr lang="en-US" altLang="en-US" sz="1200" dirty="0"/>
              <a:t>			break; </a:t>
            </a:r>
            <a:r>
              <a:rPr lang="en-US" altLang="en-US" sz="1200" dirty="0">
                <a:solidFill>
                  <a:srgbClr val="002060"/>
                </a:solidFill>
              </a:rPr>
              <a:t>//lexeme is not a </a:t>
            </a:r>
            <a:r>
              <a:rPr lang="en-US" altLang="en-US" sz="1200" dirty="0" err="1">
                <a:solidFill>
                  <a:srgbClr val="002060"/>
                </a:solidFill>
              </a:rPr>
              <a:t>relop</a:t>
            </a:r>
            <a:endParaRPr lang="en-US" altLang="en-US" sz="1200" dirty="0">
              <a:solidFill>
                <a:srgbClr val="002060"/>
              </a:solidFill>
            </a:endParaRPr>
          </a:p>
          <a:p>
            <a:r>
              <a:rPr lang="en-US" altLang="en-US" sz="1200" dirty="0"/>
              <a:t>		}</a:t>
            </a:r>
          </a:p>
          <a:p>
            <a:r>
              <a:rPr lang="en-US" altLang="en-US" sz="1200" dirty="0"/>
              <a:t>		case 1: …</a:t>
            </a:r>
          </a:p>
          <a:p>
            <a:r>
              <a:rPr lang="en-US" altLang="en-US" sz="1200" dirty="0"/>
              <a:t>		…</a:t>
            </a:r>
          </a:p>
          <a:p>
            <a:r>
              <a:rPr lang="en-US" altLang="en-US" sz="1200" dirty="0"/>
              <a:t>		case 8: retract();</a:t>
            </a:r>
          </a:p>
          <a:p>
            <a:r>
              <a:rPr lang="en-US" altLang="en-US" sz="1200" dirty="0"/>
              <a:t>			</a:t>
            </a:r>
            <a:r>
              <a:rPr lang="en-US" altLang="en-US" sz="1200" dirty="0" err="1"/>
              <a:t>retToken.attribute</a:t>
            </a:r>
            <a:r>
              <a:rPr lang="en-US" altLang="en-US" sz="1200" dirty="0"/>
              <a:t> = GT</a:t>
            </a:r>
          </a:p>
          <a:p>
            <a:r>
              <a:rPr lang="en-US" altLang="en-US" sz="1200" dirty="0"/>
              <a:t>			return(</a:t>
            </a:r>
            <a:r>
              <a:rPr lang="en-US" altLang="en-US" sz="1200" dirty="0" err="1"/>
              <a:t>retToken</a:t>
            </a:r>
            <a:r>
              <a:rPr lang="en-US" altLang="en-US" sz="1200" dirty="0"/>
              <a:t>);</a:t>
            </a:r>
          </a:p>
          <a:p>
            <a:r>
              <a:rPr lang="en-US" altLang="en-US" sz="1200" dirty="0"/>
              <a:t>	}</a:t>
            </a:r>
          </a:p>
          <a:p>
            <a:r>
              <a:rPr lang="en-US" altLang="en-US" sz="1200" dirty="0"/>
              <a:t>}</a:t>
            </a:r>
          </a:p>
        </p:txBody>
      </p:sp>
    </p:spTree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Task</a:t>
            </a:r>
            <a:endParaRPr lang="en-US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381000" y="1352550"/>
            <a:ext cx="8229600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sym typeface="Wingdings" pitchFamily="2" charset="2"/>
              </a:rPr>
              <a:t>Draw a TD for a given RE:</a:t>
            </a:r>
          </a:p>
          <a:p>
            <a:endParaRPr lang="en-US" altLang="en-US" sz="2000" dirty="0">
              <a:solidFill>
                <a:schemeClr val="tx1">
                  <a:lumMod val="75000"/>
                  <a:lumOff val="25000"/>
                </a:schemeClr>
              </a:solidFill>
              <a:sym typeface="Wingdings" pitchFamily="2" charset="2"/>
            </a:endParaRPr>
          </a:p>
          <a:p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sym typeface="Wingdings" pitchFamily="2" charset="2"/>
              </a:rPr>
              <a:t>number 	 digits (. digits)? (E [+-]? digits )?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47800" y="2571750"/>
            <a:ext cx="6696075" cy="16997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Tasks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228600" y="1352550"/>
            <a:ext cx="8915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Task01: </a:t>
            </a:r>
            <a:r>
              <a:rPr lang="en-US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Construct a Regular Definition for unsigned numbers (integer for floating point) are strings such as 528, 0.015, 6.33E4, 1.89E-4, etc.</a:t>
            </a:r>
            <a:endParaRPr lang="en-US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457200" y="2028825"/>
            <a:ext cx="8001000" cy="1477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en-US" dirty="0">
                <a:solidFill>
                  <a:srgbClr val="0070C0"/>
                </a:solidFill>
              </a:rPr>
              <a:t>digit 		</a:t>
            </a:r>
            <a:r>
              <a:rPr lang="en-US" altLang="en-US" dirty="0">
                <a:solidFill>
                  <a:srgbClr val="0070C0"/>
                </a:solidFill>
                <a:sym typeface="Wingdings" pitchFamily="2" charset="2"/>
              </a:rPr>
              <a:t> 0 | 1 | . . . | 9</a:t>
            </a:r>
          </a:p>
          <a:p>
            <a:r>
              <a:rPr lang="en-US" altLang="en-US" dirty="0">
                <a:solidFill>
                  <a:srgbClr val="0070C0"/>
                </a:solidFill>
                <a:sym typeface="Wingdings" pitchFamily="2" charset="2"/>
              </a:rPr>
              <a:t>digits 		 digit </a:t>
            </a:r>
            <a:r>
              <a:rPr lang="en-US" altLang="en-US" dirty="0" err="1">
                <a:solidFill>
                  <a:srgbClr val="0070C0"/>
                </a:solidFill>
                <a:sym typeface="Wingdings" pitchFamily="2" charset="2"/>
              </a:rPr>
              <a:t>digit</a:t>
            </a:r>
            <a:r>
              <a:rPr lang="en-US" altLang="en-US" dirty="0">
                <a:solidFill>
                  <a:srgbClr val="0070C0"/>
                </a:solidFill>
                <a:sym typeface="Wingdings" pitchFamily="2" charset="2"/>
              </a:rPr>
              <a:t>*</a:t>
            </a:r>
          </a:p>
          <a:p>
            <a:r>
              <a:rPr lang="en-US" altLang="en-US" dirty="0" err="1">
                <a:solidFill>
                  <a:srgbClr val="0070C0"/>
                </a:solidFill>
                <a:sym typeface="Wingdings" pitchFamily="2" charset="2"/>
              </a:rPr>
              <a:t>optionalFraction</a:t>
            </a:r>
            <a:r>
              <a:rPr lang="en-US" altLang="en-US" dirty="0">
                <a:solidFill>
                  <a:srgbClr val="0070C0"/>
                </a:solidFill>
                <a:sym typeface="Wingdings" pitchFamily="2" charset="2"/>
              </a:rPr>
              <a:t> 	 . digits | empty</a:t>
            </a:r>
          </a:p>
          <a:p>
            <a:r>
              <a:rPr lang="en-US" altLang="en-US" dirty="0" err="1">
                <a:solidFill>
                  <a:srgbClr val="0070C0"/>
                </a:solidFill>
                <a:sym typeface="Wingdings" pitchFamily="2" charset="2"/>
              </a:rPr>
              <a:t>optionalExponent</a:t>
            </a:r>
            <a:r>
              <a:rPr lang="en-US" altLang="en-US" dirty="0">
                <a:solidFill>
                  <a:srgbClr val="0070C0"/>
                </a:solidFill>
                <a:sym typeface="Wingdings" pitchFamily="2" charset="2"/>
              </a:rPr>
              <a:t>  (E ( + | - | empty ) digits ) | empty</a:t>
            </a:r>
          </a:p>
          <a:p>
            <a:r>
              <a:rPr lang="en-US" altLang="en-US" dirty="0">
                <a:solidFill>
                  <a:srgbClr val="0070C0"/>
                </a:solidFill>
                <a:sym typeface="Wingdings" pitchFamily="2" charset="2"/>
              </a:rPr>
              <a:t> number 		 digits </a:t>
            </a:r>
            <a:r>
              <a:rPr lang="en-US" altLang="en-US" dirty="0" err="1">
                <a:solidFill>
                  <a:srgbClr val="0070C0"/>
                </a:solidFill>
                <a:sym typeface="Wingdings" pitchFamily="2" charset="2"/>
              </a:rPr>
              <a:t>optionalFraction</a:t>
            </a:r>
            <a:r>
              <a:rPr lang="en-US" altLang="en-US" dirty="0">
                <a:solidFill>
                  <a:srgbClr val="0070C0"/>
                </a:solidFill>
                <a:sym typeface="Wingdings" pitchFamily="2" charset="2"/>
              </a:rPr>
              <a:t> </a:t>
            </a:r>
            <a:r>
              <a:rPr lang="en-US" altLang="en-US" dirty="0" err="1">
                <a:solidFill>
                  <a:srgbClr val="0070C0"/>
                </a:solidFill>
                <a:sym typeface="Wingdings" pitchFamily="2" charset="2"/>
              </a:rPr>
              <a:t>optionalExponent</a:t>
            </a:r>
            <a:endParaRPr lang="en-US" altLang="en-US" dirty="0">
              <a:solidFill>
                <a:srgbClr val="0070C0"/>
              </a:solidFill>
            </a:endParaRP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571500" y="3705225"/>
            <a:ext cx="8001000" cy="92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en-US">
                <a:solidFill>
                  <a:srgbClr val="002060"/>
                </a:solidFill>
              </a:rPr>
              <a:t>digit 		</a:t>
            </a:r>
            <a:r>
              <a:rPr lang="en-US" altLang="en-US">
                <a:solidFill>
                  <a:srgbClr val="002060"/>
                </a:solidFill>
                <a:sym typeface="Wingdings" pitchFamily="2" charset="2"/>
              </a:rPr>
              <a:t> [0-9]</a:t>
            </a:r>
          </a:p>
          <a:p>
            <a:r>
              <a:rPr lang="en-US" altLang="en-US">
                <a:solidFill>
                  <a:srgbClr val="002060"/>
                </a:solidFill>
                <a:sym typeface="Wingdings" pitchFamily="2" charset="2"/>
              </a:rPr>
              <a:t>digits 		 digit+</a:t>
            </a:r>
          </a:p>
          <a:p>
            <a:r>
              <a:rPr lang="en-US" altLang="en-US">
                <a:solidFill>
                  <a:srgbClr val="002060"/>
                </a:solidFill>
                <a:sym typeface="Wingdings" pitchFamily="2" charset="2"/>
              </a:rPr>
              <a:t>number 		 digits (. digits)? (E [+-]? digits )?</a:t>
            </a:r>
            <a:endParaRPr lang="en-US" altLang="en-US">
              <a:solidFill>
                <a:srgbClr val="00206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Tasks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04800" y="1352550"/>
            <a:ext cx="8686800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Task02: </a:t>
            </a:r>
            <a:r>
              <a:rPr 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Describe the languages denoted by the following regular expressions:</a:t>
            </a:r>
          </a:p>
          <a:p>
            <a:pPr>
              <a:defRPr/>
            </a:pPr>
            <a:endParaRPr lang="en-US" sz="20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457200" indent="-457200">
              <a:buFontTx/>
              <a:buAutoNum type="arabicParenR"/>
              <a:defRPr/>
            </a:pPr>
            <a:r>
              <a:rPr 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((empty | a) b*)*</a:t>
            </a:r>
          </a:p>
          <a:p>
            <a:pPr>
              <a:defRPr/>
            </a:pPr>
            <a:endParaRPr lang="en-US" sz="20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defRPr/>
            </a:pPr>
            <a:r>
              <a:rPr 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2) (</a:t>
            </a:r>
            <a:r>
              <a:rPr lang="en-US" sz="20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aa|bb</a:t>
            </a:r>
            <a:r>
              <a:rPr 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)* ((</a:t>
            </a:r>
            <a:r>
              <a:rPr lang="en-US" sz="20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ab|ba</a:t>
            </a:r>
            <a:r>
              <a:rPr 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)(</a:t>
            </a:r>
            <a:r>
              <a:rPr lang="en-US" sz="20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aa|bb</a:t>
            </a:r>
            <a:r>
              <a:rPr 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)*(</a:t>
            </a:r>
            <a:r>
              <a:rPr lang="en-US" sz="20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ab|ba</a:t>
            </a:r>
            <a:r>
              <a:rPr 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)(</a:t>
            </a:r>
            <a:r>
              <a:rPr lang="en-US" sz="20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aa|bb</a:t>
            </a:r>
            <a:r>
              <a:rPr 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)*)*</a:t>
            </a:r>
          </a:p>
          <a:p>
            <a:pPr>
              <a:defRPr/>
            </a:pPr>
            <a:endParaRPr lang="en-US" altLang="en-US" sz="20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defRPr/>
            </a:pPr>
            <a:r>
              <a:rPr lang="en-US" altLang="en-US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Task03: </a:t>
            </a:r>
            <a:r>
              <a:rPr lang="en-US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Construct a RE for a keyword in a case-</a:t>
            </a:r>
            <a:r>
              <a:rPr lang="en-US" altLang="en-US" sz="20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insentitive</a:t>
            </a:r>
            <a:r>
              <a:rPr lang="en-US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language. Illustrate the idea by writing the expression for “SELECT” keyword. </a:t>
            </a:r>
          </a:p>
          <a:p>
            <a:pPr>
              <a:defRPr/>
            </a:pP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Exercises</a:t>
            </a:r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2"/>
          <a:srcRect b="57237"/>
          <a:stretch>
            <a:fillRect/>
          </a:stretch>
        </p:blipFill>
        <p:spPr bwMode="auto">
          <a:xfrm>
            <a:off x="381000" y="2095500"/>
            <a:ext cx="5943600" cy="1238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Exercises</a:t>
            </a:r>
            <a:endParaRPr lang="en-US" dirty="0"/>
          </a:p>
        </p:txBody>
      </p:sp>
      <p:pic>
        <p:nvPicPr>
          <p:cNvPr id="5" name="Picture 4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00200" y="1123950"/>
            <a:ext cx="5943600" cy="38417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/>
              <a:t>Thank you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306127"/>
      </p:ext>
    </p:extLst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Content Taken From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0" y="1315819"/>
            <a:ext cx="9144000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1600" i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Compilers Principles, Techniques and Tools by Alfred V. </a:t>
            </a:r>
            <a:r>
              <a:rPr lang="en-US" sz="1600" i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Aho</a:t>
            </a:r>
            <a:r>
              <a:rPr lang="en-US" sz="1600" i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, Ravi </a:t>
            </a:r>
            <a:r>
              <a:rPr lang="en-US" sz="1600" i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Sethi</a:t>
            </a:r>
            <a:r>
              <a:rPr lang="en-US" sz="1600" i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and Jeffry D. </a:t>
            </a:r>
            <a:r>
              <a:rPr lang="en-US" sz="1600" i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Ulman</a:t>
            </a:r>
            <a:endParaRPr lang="en-US" sz="1600" i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altLang="en-US" sz="1600" i="1" dirty="0" smtClean="0">
              <a:solidFill>
                <a:schemeClr val="tx1">
                  <a:lumMod val="75000"/>
                  <a:lumOff val="25000"/>
                </a:schemeClr>
              </a:solidFill>
              <a:ea typeface="Times" pitchFamily="18" charset="0"/>
              <a:cs typeface="Times" pitchFamily="18" charset="0"/>
            </a:endParaRPr>
          </a:p>
          <a:p>
            <a:r>
              <a:rPr lang="en-US" altLang="en-US" sz="1600" i="1" dirty="0" smtClean="0">
                <a:solidFill>
                  <a:schemeClr val="tx1">
                    <a:lumMod val="75000"/>
                    <a:lumOff val="25000"/>
                  </a:schemeClr>
                </a:solidFill>
                <a:ea typeface="Times" pitchFamily="18" charset="0"/>
                <a:cs typeface="Times" pitchFamily="18" charset="0"/>
              </a:rPr>
              <a:t>Web URL:</a:t>
            </a:r>
          </a:p>
          <a:p>
            <a:r>
              <a:rPr lang="en-US" altLang="en-US" sz="1600" dirty="0" smtClean="0">
                <a:hlinkClick r:id="rId2"/>
              </a:rPr>
              <a:t>https://www.thecrazyprogrammer.com/2017/02/lexical-analyzer-in-c.html</a:t>
            </a:r>
            <a:endParaRPr lang="en-US" altLang="en-US" sz="1600" dirty="0" smtClean="0"/>
          </a:p>
          <a:p>
            <a:r>
              <a:rPr lang="en-US" sz="1600" dirty="0" smtClean="0">
                <a:hlinkClick r:id="rId3"/>
              </a:rPr>
              <a:t>https://slideplayer.com/slide/8459297/</a:t>
            </a:r>
            <a:endParaRPr lang="en-US" sz="1600" dirty="0" smtClean="0"/>
          </a:p>
          <a:p>
            <a:r>
              <a:rPr lang="en-US" sz="1600" dirty="0" smtClean="0">
                <a:hlinkClick r:id="rId4"/>
              </a:rPr>
              <a:t>https://www.coursehero.com/file/50240138/Lec-6pptx/</a:t>
            </a:r>
            <a:endParaRPr lang="en-US" altLang="en-US" sz="1600" dirty="0" smtClean="0"/>
          </a:p>
          <a:p>
            <a:pPr>
              <a:buFont typeface="Arial" pitchFamily="34" charset="0"/>
              <a:buChar char="•"/>
            </a:pPr>
            <a:endParaRPr lang="en-GB" altLang="en-US" sz="1600" i="1" dirty="0" smtClean="0">
              <a:solidFill>
                <a:schemeClr val="tx1">
                  <a:lumMod val="75000"/>
                  <a:lumOff val="25000"/>
                </a:schemeClr>
              </a:solidFill>
              <a:ea typeface="Times" pitchFamily="18" charset="0"/>
              <a:cs typeface="Times" pitchFamily="18" charset="0"/>
            </a:endParaRPr>
          </a:p>
          <a:p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4.0.30319.42000"/>
  <p:tag name="AS_OS" val="Microsoft Windows NT 6.2.9200.0"/>
  <p:tag name="AS_RELEASE_DATE" val="2017.01.13"/>
  <p:tag name="AS_TITLE" val="Aspose.Slides for .NET 4.0"/>
  <p:tag name="AS_VERSION" val="16.12.1.0"/>
</p:tagLst>
</file>

<file path=ppt/theme/theme1.xml><?xml version="1.0" encoding="utf-8"?>
<a:theme xmlns:a="http://schemas.openxmlformats.org/drawingml/2006/main" name="Cover and End Slide Master">
  <a:themeElements>
    <a:clrScheme name="ALLPPT-COLOR-A3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85D8DE"/>
      </a:accent1>
      <a:accent2>
        <a:srgbClr val="85D8DE"/>
      </a:accent2>
      <a:accent3>
        <a:srgbClr val="85D8DE"/>
      </a:accent3>
      <a:accent4>
        <a:srgbClr val="85D8DE"/>
      </a:accent4>
      <a:accent5>
        <a:srgbClr val="85D8DE"/>
      </a:accent5>
      <a:accent6>
        <a:srgbClr val="85D8DE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Arial"/>
      </a:majorFont>
      <a:minorFont>
        <a:latin typeface="Arial"/>
        <a:ea typeface="Arial Unicode MS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ontents Slide Master">
  <a:themeElements>
    <a:clrScheme name="ALLPPT-COLOR-A3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85D8DE"/>
      </a:accent1>
      <a:accent2>
        <a:srgbClr val="85D8DE"/>
      </a:accent2>
      <a:accent3>
        <a:srgbClr val="85D8DE"/>
      </a:accent3>
      <a:accent4>
        <a:srgbClr val="85D8DE"/>
      </a:accent4>
      <a:accent5>
        <a:srgbClr val="85D8DE"/>
      </a:accent5>
      <a:accent6>
        <a:srgbClr val="85D8DE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Arial"/>
      </a:majorFont>
      <a:minorFont>
        <a:latin typeface="Arial"/>
        <a:ea typeface="Arial Unicode MS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1823</TotalTime>
  <Words>1979</Words>
  <Application>Microsoft Office PowerPoint</Application>
  <PresentationFormat>On-screen Show (16:9)</PresentationFormat>
  <Paragraphs>446</Paragraphs>
  <Slides>45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45</vt:i4>
      </vt:variant>
    </vt:vector>
  </HeadingPairs>
  <TitlesOfParts>
    <vt:vector size="58" baseType="lpstr">
      <vt:lpstr>Arial Unicode MS</vt:lpstr>
      <vt:lpstr>맑은 고딕</vt:lpstr>
      <vt:lpstr>Arial</vt:lpstr>
      <vt:lpstr>Arial heading</vt:lpstr>
      <vt:lpstr>Calibri</vt:lpstr>
      <vt:lpstr>Courier New</vt:lpstr>
      <vt:lpstr>Gill Sans</vt:lpstr>
      <vt:lpstr>Symbol</vt:lpstr>
      <vt:lpstr>Times</vt:lpstr>
      <vt:lpstr>Times New Roman</vt:lpstr>
      <vt:lpstr>Wingdings</vt:lpstr>
      <vt:lpstr>Cover and End Slide Master</vt:lpstr>
      <vt:lpstr>Contents Slide Master</vt:lpstr>
      <vt:lpstr>PowerPoint Presentation</vt:lpstr>
      <vt:lpstr>PowerPoint Presentation</vt:lpstr>
      <vt:lpstr>Objectives</vt:lpstr>
      <vt:lpstr>UNIT 4.1</vt:lpstr>
      <vt:lpstr>PowerPoint Presentation</vt:lpstr>
      <vt:lpstr>PowerPoint Presentation</vt:lpstr>
      <vt:lpstr>UNIT 4.2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Algorithm: Buffered I/O with Sentinels</vt:lpstr>
      <vt:lpstr>PowerPoint Presentation</vt:lpstr>
      <vt:lpstr>PowerPoint Presentation</vt:lpstr>
      <vt:lpstr>PowerPoint Presentation</vt:lpstr>
      <vt:lpstr>UNIT 4.3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UNIT 4.4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GoogleSlidesPPT.com;Allppt.com</dc:creator>
  <cp:lastModifiedBy>Anees</cp:lastModifiedBy>
  <cp:revision>286</cp:revision>
  <dcterms:created xsi:type="dcterms:W3CDTF">2016-12-05T23:26:54Z</dcterms:created>
  <dcterms:modified xsi:type="dcterms:W3CDTF">2020-07-01T08:19:19Z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PowerLiteLastOptimized">
    <vt:lpwstr>3556737</vt:lpwstr>
  </property>
  <property fmtid="{D5CDD505-2E9C-101B-9397-08002B2CF9AE}" pid="3" name="NXPowerLiteSettings">
    <vt:lpwstr>C7000400038000</vt:lpwstr>
  </property>
  <property fmtid="{D5CDD505-2E9C-101B-9397-08002B2CF9AE}" pid="4" name="NXPowerLiteVersion">
    <vt:lpwstr>S8.2.1</vt:lpwstr>
  </property>
</Properties>
</file>