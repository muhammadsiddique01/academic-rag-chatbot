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43"/>
  </p:notesMasterIdLst>
  <p:sldIdLst>
    <p:sldId id="256" r:id="rId3"/>
    <p:sldId id="369" r:id="rId4"/>
    <p:sldId id="262" r:id="rId5"/>
    <p:sldId id="368" r:id="rId6"/>
    <p:sldId id="310" r:id="rId7"/>
    <p:sldId id="313" r:id="rId8"/>
    <p:sldId id="314" r:id="rId9"/>
    <p:sldId id="315" r:id="rId10"/>
    <p:sldId id="316" r:id="rId11"/>
    <p:sldId id="326" r:id="rId12"/>
    <p:sldId id="327" r:id="rId13"/>
    <p:sldId id="328" r:id="rId14"/>
    <p:sldId id="329" r:id="rId15"/>
    <p:sldId id="318" r:id="rId16"/>
    <p:sldId id="324" r:id="rId17"/>
    <p:sldId id="330" r:id="rId18"/>
    <p:sldId id="370" r:id="rId19"/>
    <p:sldId id="350" r:id="rId20"/>
    <p:sldId id="348" r:id="rId21"/>
    <p:sldId id="352" r:id="rId22"/>
    <p:sldId id="353" r:id="rId23"/>
    <p:sldId id="354" r:id="rId24"/>
    <p:sldId id="371" r:id="rId25"/>
    <p:sldId id="351" r:id="rId26"/>
    <p:sldId id="349" r:id="rId27"/>
    <p:sldId id="362" r:id="rId28"/>
    <p:sldId id="363" r:id="rId29"/>
    <p:sldId id="355" r:id="rId30"/>
    <p:sldId id="356" r:id="rId31"/>
    <p:sldId id="357" r:id="rId32"/>
    <p:sldId id="358" r:id="rId33"/>
    <p:sldId id="359" r:id="rId34"/>
    <p:sldId id="361" r:id="rId35"/>
    <p:sldId id="372" r:id="rId36"/>
    <p:sldId id="364" r:id="rId37"/>
    <p:sldId id="373" r:id="rId38"/>
    <p:sldId id="360" r:id="rId39"/>
    <p:sldId id="366" r:id="rId40"/>
    <p:sldId id="271" r:id="rId41"/>
    <p:sldId id="365" r:id="rId42"/>
  </p:sldIdLst>
  <p:sldSz cx="9144000" cy="5143500" type="screen16x9"/>
  <p:notesSz cx="6858000" cy="9144000"/>
  <p:custDataLst>
    <p:tags r:id="rId44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7" autoAdjust="0"/>
    <p:restoredTop sz="94660"/>
  </p:normalViewPr>
  <p:slideViewPr>
    <p:cSldViewPr>
      <p:cViewPr varScale="1">
        <p:scale>
          <a:sx n="88" d="100"/>
          <a:sy n="88" d="100"/>
        </p:scale>
        <p:origin x="648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8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2D849-E909-4C84-8539-67B30D4A74F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6905C-8B7C-407C-8604-CA03A324E4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7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673446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>
                <a:ea typeface="맑은 고딕" pitchFamily="50" charset="-127"/>
              </a:rPr>
              <a:t>title</a:t>
            </a:r>
            <a:endParaRPr lang="en-US" altLang="ko-KR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INSTERT THE TITLE OF YOUR PRESENTATION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chemeClr val="tx2">
              <a:lumMod val="75000"/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4350"/>
            <a:ext cx="8229600" cy="5488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700">
                <a:solidFill>
                  <a:srgbClr val="0033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11BE2C0-B263-409E-B462-D229454C6A81}" type="datetime1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2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5958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-42902" y="45594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88798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lIns="72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1151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8757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5603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6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6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6"/>
            <a:ext cx="2133600" cy="273844"/>
          </a:xfrm>
          <a:prstGeom prst="rect">
            <a:avLst/>
          </a:prstGeom>
        </p:spPr>
        <p:txBody>
          <a:bodyPr/>
          <a:lstStyle/>
          <a:p>
            <a:fld id="{10C48621-F264-4E35-AD0C-46167A97D0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0800000">
            <a:off x="-23339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73" r:id="rId4"/>
  </p:sldLayoutIdLst>
  <p:transition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56" r:id="rId12"/>
    <p:sldLayoutId id="2147483672" r:id="rId13"/>
  </p:sldLayoutIdLst>
  <p:transition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4.xml"/><Relationship Id="rId5" Type="http://schemas.openxmlformats.org/officeDocument/2006/relationships/slide" Target="slide7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ffairscloud.com/compiler-design-questions-set-3/" TargetMode="External"/><Relationship Id="rId2" Type="http://schemas.openxmlformats.org/officeDocument/2006/relationships/hyperlink" Target="https://technology.blurtit.com/605067/what-is-load-and-go-compilers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14" y="3291830"/>
            <a:ext cx="9144000" cy="522725"/>
          </a:xfrm>
        </p:spPr>
        <p:txBody>
          <a:bodyPr/>
          <a:lstStyle/>
          <a:p>
            <a:pPr lvl="0"/>
            <a:r>
              <a:rPr lang="en-US" altLang="ko-KR" sz="3600" smtClean="0">
                <a:ea typeface="맑은 고딕" pitchFamily="50" charset="-127"/>
              </a:rPr>
              <a:t>Lecture 01</a:t>
            </a:r>
            <a:endParaRPr lang="en-US" altLang="ko-KR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5000" y="1885950"/>
            <a:ext cx="52613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Compiler Construction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3371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50" dirty="0"/>
              <a:t>You will learn about;</a:t>
            </a:r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2" action="ppaction://hlinksldjump"/>
              </a:rPr>
              <a:t>Unit </a:t>
            </a:r>
            <a:r>
              <a:rPr lang="en-US" sz="1350" b="1" dirty="0" smtClean="0">
                <a:hlinkClick r:id="rId2" action="ppaction://hlinksldjump"/>
              </a:rPr>
              <a:t>1.1 </a:t>
            </a:r>
            <a:r>
              <a:rPr lang="en-US" sz="1350" b="1" dirty="0">
                <a:hlinkClick r:id="rId2" action="ppaction://hlinksldjump"/>
              </a:rPr>
              <a:t>:</a:t>
            </a:r>
            <a:endParaRPr lang="en-US" sz="1350" b="1" dirty="0"/>
          </a:p>
          <a:p>
            <a:pPr lvl="1">
              <a:defRPr/>
            </a:pPr>
            <a:r>
              <a:rPr lang="en-US" sz="1350" dirty="0"/>
              <a:t>Language Processors</a:t>
            </a:r>
            <a:endParaRPr lang="en-US" altLang="ko-KR" sz="1350" dirty="0"/>
          </a:p>
          <a:p>
            <a:pPr>
              <a:buFont typeface="+mj-lt"/>
              <a:buAutoNum type="arabicPeriod"/>
            </a:pPr>
            <a:r>
              <a:rPr lang="en-US" sz="1350" b="1" dirty="0" smtClean="0">
                <a:hlinkClick r:id="rId3" action="ppaction://hlinksldjump"/>
              </a:rPr>
              <a:t>Unit 1.2 </a:t>
            </a:r>
            <a:r>
              <a:rPr lang="en-US" sz="1350" b="1" dirty="0">
                <a:hlinkClick r:id="rId3" action="ppaction://hlinksldjump"/>
              </a:rPr>
              <a:t>:</a:t>
            </a:r>
            <a:endParaRPr lang="en-US" sz="1350" b="1" dirty="0"/>
          </a:p>
          <a:p>
            <a:pPr lvl="1"/>
            <a:r>
              <a:rPr lang="en-US" sz="1350" dirty="0" smtClean="0"/>
              <a:t>Types </a:t>
            </a:r>
            <a:r>
              <a:rPr lang="en-US" sz="1350" dirty="0"/>
              <a:t>of </a:t>
            </a:r>
            <a:r>
              <a:rPr lang="en-US" sz="1350" dirty="0" smtClean="0"/>
              <a:t>Compiler</a:t>
            </a:r>
            <a:endParaRPr lang="en-US" sz="1350" dirty="0"/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4" action="ppaction://hlinksldjump"/>
              </a:rPr>
              <a:t>Unit </a:t>
            </a:r>
            <a:r>
              <a:rPr lang="en-US" sz="1350" b="1" dirty="0" smtClean="0">
                <a:hlinkClick r:id="rId4" action="ppaction://hlinksldjump"/>
              </a:rPr>
              <a:t>1.3 </a:t>
            </a:r>
            <a:r>
              <a:rPr lang="en-US" sz="1350" b="1" dirty="0">
                <a:hlinkClick r:id="rId4" action="ppaction://hlinksldjump"/>
              </a:rPr>
              <a:t>:</a:t>
            </a:r>
            <a:endParaRPr lang="en-US" sz="1350" b="1" dirty="0"/>
          </a:p>
          <a:p>
            <a:pPr lvl="1"/>
            <a:r>
              <a:rPr lang="en-GB" sz="1350" dirty="0" smtClean="0"/>
              <a:t>The </a:t>
            </a:r>
            <a:r>
              <a:rPr lang="en-GB" sz="1350" dirty="0"/>
              <a:t>Structure of a Compiler</a:t>
            </a:r>
          </a:p>
          <a:p>
            <a:pPr lvl="1"/>
            <a:r>
              <a:rPr lang="en-GB" sz="1350" dirty="0"/>
              <a:t>Phases of Compiler</a:t>
            </a:r>
            <a:endParaRPr lang="en-US" sz="1350" dirty="0"/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3" action="ppaction://hlinksldjump"/>
              </a:rPr>
              <a:t>Unit </a:t>
            </a:r>
            <a:r>
              <a:rPr lang="en-US" sz="1350" b="1" dirty="0" smtClean="0">
                <a:hlinkClick r:id="rId3" action="ppaction://hlinksldjump"/>
              </a:rPr>
              <a:t>1.4 </a:t>
            </a:r>
            <a:r>
              <a:rPr lang="en-US" sz="1350" b="1" dirty="0">
                <a:hlinkClick r:id="rId3" action="ppaction://hlinksldjump"/>
              </a:rPr>
              <a:t>:</a:t>
            </a:r>
            <a:endParaRPr lang="en-US" sz="1350" b="1" dirty="0"/>
          </a:p>
          <a:p>
            <a:pPr lvl="1"/>
            <a:r>
              <a:rPr lang="en-US" sz="1350" dirty="0" smtClean="0"/>
              <a:t>Role </a:t>
            </a:r>
            <a:r>
              <a:rPr lang="en-US" sz="1350" dirty="0"/>
              <a:t>of Runtime System</a:t>
            </a:r>
            <a:endParaRPr lang="en-US" sz="1350" dirty="0"/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5" action="ppaction://hlinksldjump"/>
              </a:rPr>
              <a:t>Unit </a:t>
            </a:r>
            <a:r>
              <a:rPr lang="en-US" sz="1350" b="1" dirty="0">
                <a:hlinkClick r:id="rId5" action="ppaction://hlinksldjump"/>
              </a:rPr>
              <a:t>1</a:t>
            </a:r>
            <a:r>
              <a:rPr lang="en-US" sz="1350" b="1" dirty="0" smtClean="0">
                <a:hlinkClick r:id="rId5" action="ppaction://hlinksldjump"/>
              </a:rPr>
              <a:t>.5 </a:t>
            </a:r>
            <a:r>
              <a:rPr lang="en-US" sz="1350" b="1" dirty="0">
                <a:hlinkClick r:id="rId5" action="ppaction://hlinksldjump"/>
              </a:rPr>
              <a:t>:</a:t>
            </a:r>
            <a:endParaRPr lang="en-US" sz="1350" b="1" dirty="0"/>
          </a:p>
          <a:p>
            <a:pPr lvl="1"/>
            <a:r>
              <a:rPr lang="en-GB" sz="1350" dirty="0"/>
              <a:t>Science of Building a Compiler</a:t>
            </a:r>
          </a:p>
          <a:p>
            <a:pPr marL="457200" lvl="1" indent="0">
              <a:buNone/>
            </a:pPr>
            <a:endParaRPr lang="en-US" sz="1350" dirty="0"/>
          </a:p>
          <a:p>
            <a:pPr marL="342900" lvl="1" indent="0">
              <a:buNone/>
            </a:pPr>
            <a:endParaRPr lang="en-US" sz="1350" dirty="0"/>
          </a:p>
          <a:p>
            <a:pPr marL="342900" lvl="1" indent="0">
              <a:buNone/>
            </a:pPr>
            <a:endParaRPr lang="en-US" sz="1350" dirty="0"/>
          </a:p>
          <a:p>
            <a:pPr lvl="1"/>
            <a:endParaRPr lang="en-US" sz="1350" dirty="0"/>
          </a:p>
          <a:p>
            <a:pPr marL="342900" lvl="1" indent="0">
              <a:buNone/>
            </a:pPr>
            <a:endParaRPr lang="en-US" sz="1350" dirty="0"/>
          </a:p>
          <a:p>
            <a:pPr>
              <a:buFont typeface="Wingdings" pitchFamily="2" charset="2"/>
              <a:buChar char="Ø"/>
            </a:pPr>
            <a:endParaRPr lang="en-US" sz="1350" dirty="0"/>
          </a:p>
          <a:p>
            <a:pPr>
              <a:buFont typeface="Wingdings" pitchFamily="2" charset="2"/>
              <a:buChar char="Ø"/>
            </a:pPr>
            <a:endParaRPr lang="en-US" sz="1350" dirty="0"/>
          </a:p>
          <a:p>
            <a:pPr lvl="1">
              <a:buFont typeface="Courier New" pitchFamily="49" charset="0"/>
              <a:buChar char="o"/>
            </a:pPr>
            <a:endParaRPr lang="en-US" sz="1350" b="1" dirty="0"/>
          </a:p>
          <a:p>
            <a:pPr marL="300038" lvl="2" indent="0">
              <a:buNone/>
            </a:pPr>
            <a:endParaRPr lang="en-US" sz="13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 smtClean="0"/>
          </a:p>
          <a:p>
            <a:fld id="{4192AEF6-A042-4DA6-A3E1-F04AAE1E394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86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Chapter 01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 smtClean="0"/>
              <a:t>Introduction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pPr algn="ctr"/>
            <a:r>
              <a:rPr lang="en-US" dirty="0" smtClean="0"/>
              <a:t>UNIT 1.1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57500" y="2678596"/>
            <a:ext cx="382905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sz="1350" dirty="0"/>
              <a:t>Language Processors</a:t>
            </a:r>
            <a:endParaRPr lang="en-US" altLang="ko-KR" sz="1350" dirty="0"/>
          </a:p>
          <a:p>
            <a:pPr algn="ctr"/>
            <a:endParaRPr lang="en-US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32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Compilers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Programming languages are notations for describing computation to people and to machines. </a:t>
            </a: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All the software running on the computers was written in some programming language.</a:t>
            </a: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Types of Languages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High level languages</a:t>
            </a:r>
          </a:p>
          <a:p>
            <a:pPr lvl="1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Low level languages</a:t>
            </a:r>
          </a:p>
          <a:p>
            <a:pPr lvl="1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Machine level languages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4666967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Content adopted from Compilers 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Principles, Techniques and Tools by Alfred V.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Aho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Ravi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Sethi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Jeffry D.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Ulman</a:t>
            </a:r>
            <a:endParaRPr lang="en-US" sz="7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Compilers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276350"/>
            <a:ext cx="8534400" cy="24006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A program must be translated into a form in which it can be executed by a computer.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The software systems that do this translation are called 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COMPILERS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61758" y="2724150"/>
            <a:ext cx="1944277" cy="6961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>
              <a:solidFill>
                <a:schemeClr val="lt1"/>
              </a:solidFill>
            </a:endParaRPr>
          </a:p>
        </p:txBody>
      </p:sp>
      <p:cxnSp>
        <p:nvCxnSpPr>
          <p:cNvPr id="24" name="Straight Arrow Connector 23"/>
          <p:cNvCxnSpPr>
            <a:endCxn id="23" idx="1"/>
          </p:cNvCxnSpPr>
          <p:nvPr/>
        </p:nvCxnSpPr>
        <p:spPr>
          <a:xfrm flipV="1">
            <a:off x="2736913" y="3072228"/>
            <a:ext cx="824845" cy="20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76400" y="2833532"/>
            <a:ext cx="1001596" cy="646331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r>
              <a:rPr lang="en-US" sz="1200" b="1" dirty="0" smtClean="0"/>
              <a:t>Program in Source Language</a:t>
            </a:r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915262" y="2928903"/>
            <a:ext cx="111943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Compiler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89801" y="2806051"/>
            <a:ext cx="100159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 smtClean="0"/>
              <a:t>Program in Target Language</a:t>
            </a:r>
            <a:endParaRPr lang="en-US" sz="1200" b="1" dirty="0"/>
          </a:p>
        </p:txBody>
      </p:sp>
      <p:cxnSp>
        <p:nvCxnSpPr>
          <p:cNvPr id="28" name="Straight Arrow Connector 27"/>
          <p:cNvCxnSpPr>
            <a:stCxn id="23" idx="3"/>
          </p:cNvCxnSpPr>
          <p:nvPr/>
        </p:nvCxnSpPr>
        <p:spPr>
          <a:xfrm flipV="1">
            <a:off x="5506034" y="3051753"/>
            <a:ext cx="883762" cy="20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4386602" y="3461261"/>
            <a:ext cx="0" cy="4504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92019" y="3911717"/>
            <a:ext cx="1001596" cy="22219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/>
              <a:t>Errors</a:t>
            </a:r>
            <a:endParaRPr lang="en-US" sz="2000" b="1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545929" cy="368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Simply stated, a compiler is a program that can read a program in one language - 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source language - and translate it into an equivalent program in another 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language - the target language;</a:t>
            </a: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</a:pP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</a:pP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</a:pP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</a:pP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</a:pP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Important Role</a:t>
            </a: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5000"/>
              </a:lnSpc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Report errors, if any, found in source program.</a:t>
            </a:r>
          </a:p>
          <a:p>
            <a:pPr lvl="0">
              <a:lnSpc>
                <a:spcPct val="115000"/>
              </a:lnSpc>
              <a:buFont typeface="Wingdings" pitchFamily="2" charset="2"/>
              <a:buChar char="Ø"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 descr="Lec01-0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33800" y="2114550"/>
            <a:ext cx="1524000" cy="167978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 the target program is an executable machine-language program, it can</a:t>
            </a:r>
          </a:p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then be called by the user to process inputs and produce outputs;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9182" y="2223770"/>
            <a:ext cx="4106418" cy="1338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Ex.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b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Java language processors combine compilation and interpretation shown as follows:</a:t>
            </a: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		A Hybrid Compiler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038350"/>
            <a:ext cx="3581400" cy="2012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Java source program may first be compiled into an intermediate form called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bytecodes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bytecodes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are then interpreted by a virtual machine</a:t>
            </a: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benefit of this arrangement is that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bytecodes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compiled on one machine can be interpreted on another machine, perhaps across a network.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order to achieve faster processing of inputs to outputs, some Java compilers use 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just-in-time compilers</a:t>
            </a:r>
          </a:p>
          <a:p>
            <a:endParaRPr lang="en-US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translates the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bytecodes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into machine language immediately before they run the intermediate program to process the input.</a:t>
            </a:r>
          </a:p>
          <a:p>
            <a:pPr lvl="1"/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addition to a compiler, several other programs may be required to create an executable target program.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source program may be divided into modules stored in separate files. 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task of collecting the source program is sometimes entrusted to a separate program, called a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preprocessor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modified source program is then fed to a compiler. 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compiler may produce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 assembly-language program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 its output, because assembly language is easier to produce as output and is easier to debug. 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assembly language is then processed by a program called an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assembler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that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produces </a:t>
            </a:r>
            <a:r>
              <a:rPr 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relocatable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machine code as its output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54026"/>
            <a:ext cx="8458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Large programs are often compiled in pieces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so the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relocatable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machine code may have to be linked together with other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relocatable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object files and library files into the code that actually runs on the machine. 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linker resolves external memory addresses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where the code in one file may refer to a location in another file.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loader then puts together all of the executable object files into memory for execution.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 </a:t>
            </a: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interpreter is another common kind of language processor. Instead of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producing a target program as a translation, an interpreter appears to directly execute the operations specified in the source program on inputs supplied by the user.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machine-language target program produced by a compiler is usually much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faster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than an interpreter at mapping inputs to outputs . </a:t>
            </a: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 interpreter, however, can usually give better error diagnostics than a compiler, because it executes the source program statement by statement.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b="26087"/>
          <a:stretch>
            <a:fillRect/>
          </a:stretch>
        </p:blipFill>
        <p:spPr bwMode="auto">
          <a:xfrm>
            <a:off x="1295400" y="2240930"/>
            <a:ext cx="5562600" cy="1016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865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Language Processing System</a:t>
            </a:r>
            <a:endParaRPr lang="ur-PK" sz="2800" dirty="0">
              <a:solidFill>
                <a:schemeClr val="tx1">
                  <a:lumMod val="75000"/>
                  <a:lumOff val="25000"/>
                </a:schemeClr>
              </a:solidFill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3"/>
            <a:ext cx="8839200" cy="4126706"/>
          </a:xfrm>
        </p:spPr>
        <p:txBody>
          <a:bodyPr>
            <a:normAutofit/>
          </a:bodyPr>
          <a:lstStyle/>
          <a:p>
            <a:pPr algn="l" rtl="0">
              <a:buFont typeface="Wingdings" pitchFamily="2" charset="2"/>
              <a:buChar char="Ø"/>
            </a:pPr>
            <a:endParaRPr lang="en-US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buFont typeface="Wingdings" pitchFamily="2" charset="2"/>
              <a:buChar char="Ø"/>
            </a:pPr>
            <a:endParaRPr lang="en-US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buFont typeface="Wingdings" pitchFamily="2" charset="2"/>
              <a:buChar char="Ø"/>
            </a:pPr>
            <a:endParaRPr lang="en-US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buNone/>
            </a:pPr>
            <a:r>
              <a:rPr lang="en-US" sz="12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</a:p>
          <a:p>
            <a:pPr algn="l" rtl="0">
              <a:buFont typeface="Wingdings" pitchFamily="2" charset="2"/>
              <a:buChar char="Ø"/>
            </a:pPr>
            <a:endParaRPr lang="en-US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buFont typeface="Wingdings" pitchFamily="2" charset="2"/>
              <a:buChar char="Ø"/>
            </a:pPr>
            <a:endParaRPr lang="en-US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buFont typeface="Wingdings" pitchFamily="2" charset="2"/>
              <a:buChar char="Ø"/>
            </a:pPr>
            <a:endParaRPr lang="en-US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buFont typeface="Wingdings" pitchFamily="2" charset="2"/>
              <a:buChar char="Ø"/>
            </a:pPr>
            <a:endParaRPr lang="en-US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algn="l" rtl="0">
              <a:buNone/>
            </a:pPr>
            <a:endParaRPr lang="en-US" sz="12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algn="l" rtl="0">
              <a:buNone/>
            </a:pPr>
            <a:endParaRPr lang="ur-PK" sz="1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29000" y="1154907"/>
            <a:ext cx="2057400" cy="34290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en-US" sz="105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19600" y="926307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05200" y="697707"/>
            <a:ext cx="213360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b="1" dirty="0" smtClean="0"/>
              <a:t>Source  Program </a:t>
            </a:r>
            <a:endParaRPr lang="en-US" sz="11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657600" y="1163466"/>
            <a:ext cx="175260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Interpreter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1712074"/>
            <a:ext cx="312420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b="1" dirty="0" smtClean="0"/>
              <a:t>Modified Source  Program </a:t>
            </a:r>
            <a:endParaRPr lang="en-US" sz="1100" b="1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19600" y="1554957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05200" y="2228851"/>
            <a:ext cx="2057400" cy="34290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en-US" sz="1050"/>
          </a:p>
        </p:txBody>
      </p:sp>
      <p:sp>
        <p:nvSpPr>
          <p:cNvPr id="13" name="TextBox 12"/>
          <p:cNvSpPr txBox="1"/>
          <p:nvPr/>
        </p:nvSpPr>
        <p:spPr>
          <a:xfrm>
            <a:off x="3733800" y="2237411"/>
            <a:ext cx="175260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Compiler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419600" y="1943101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505200" y="3269457"/>
            <a:ext cx="2057400" cy="34290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en-US" sz="105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495800" y="3040857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48000" y="2812257"/>
            <a:ext cx="297180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b="1" dirty="0" smtClean="0"/>
              <a:t>Target Assembly Program </a:t>
            </a:r>
            <a:endParaRPr lang="en-US" sz="11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733800" y="3278016"/>
            <a:ext cx="175260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Assembler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48000" y="3826624"/>
            <a:ext cx="312420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b="1" dirty="0" err="1" smtClean="0"/>
              <a:t>Relocatable</a:t>
            </a:r>
            <a:r>
              <a:rPr lang="en-US" sz="1100" b="1" dirty="0" smtClean="0"/>
              <a:t> Machine Code</a:t>
            </a:r>
            <a:endParaRPr lang="en-US" sz="1100" b="1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495800" y="3669507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352800" y="4343401"/>
            <a:ext cx="2590800" cy="34290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en-US" sz="1050"/>
          </a:p>
        </p:txBody>
      </p:sp>
      <p:sp>
        <p:nvSpPr>
          <p:cNvPr id="22" name="TextBox 21"/>
          <p:cNvSpPr txBox="1"/>
          <p:nvPr/>
        </p:nvSpPr>
        <p:spPr>
          <a:xfrm>
            <a:off x="3657600" y="4355310"/>
            <a:ext cx="213360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Linker / Loader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495800" y="4057651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495800" y="2640807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895600" y="45720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71600" y="4324350"/>
            <a:ext cx="243840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b="1" dirty="0" smtClean="0"/>
              <a:t>Target Machine Code </a:t>
            </a:r>
            <a:endParaRPr lang="en-US" sz="11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248400" y="4000500"/>
            <a:ext cx="2895600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b="1" dirty="0" smtClean="0"/>
              <a:t>Library File</a:t>
            </a:r>
            <a:br>
              <a:rPr lang="en-US" sz="1100" b="1" dirty="0" smtClean="0"/>
            </a:br>
            <a:r>
              <a:rPr lang="en-US" sz="1100" b="1" dirty="0" err="1" smtClean="0"/>
              <a:t>Relocatable</a:t>
            </a:r>
            <a:r>
              <a:rPr lang="en-US" sz="1100" b="1" dirty="0" smtClean="0"/>
              <a:t> Object Files</a:t>
            </a:r>
            <a:endParaRPr lang="en-US" sz="1100" b="1" dirty="0"/>
          </a:p>
        </p:txBody>
      </p:sp>
      <p:cxnSp>
        <p:nvCxnSpPr>
          <p:cNvPr id="29" name="Straight Arrow Connector 28"/>
          <p:cNvCxnSpPr>
            <a:stCxn id="28" idx="1"/>
          </p:cNvCxnSpPr>
          <p:nvPr/>
        </p:nvCxnSpPr>
        <p:spPr>
          <a:xfrm rot="10800000" flipV="1">
            <a:off x="5943600" y="4215943"/>
            <a:ext cx="304800" cy="1846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48621-F264-4E35-AD0C-46167A97D0F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Languages Preprocessors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 </a:t>
            </a: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interpreter is another common kind of language processor. Instead of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producing a target program as a translation, an interpreter appears to directly execute the operations specified in the source program on inputs supplied by the user.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machine-language target program produced by a compiler is usually much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faster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than an interpreter at mapping inputs to outputs . </a:t>
            </a: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 interpreter, however, can usually give better error diagnostics than a compiler, because it executes the source program statement by statement.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b="26087"/>
          <a:stretch>
            <a:fillRect/>
          </a:stretch>
        </p:blipFill>
        <p:spPr bwMode="auto">
          <a:xfrm>
            <a:off x="1295400" y="2240930"/>
            <a:ext cx="5562600" cy="1016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r>
              <a:rPr lang="en-US" sz="2700" dirty="0">
                <a:solidFill>
                  <a:srgbClr val="003366"/>
                </a:solidFill>
              </a:rPr>
              <a:t>UNIT 1.2</a:t>
            </a:r>
            <a:endParaRPr lang="en-US" sz="2700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57500" y="2678596"/>
            <a:ext cx="27813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sz="1600" dirty="0" smtClean="0"/>
              <a:t>Types </a:t>
            </a:r>
            <a:r>
              <a:rPr lang="en-US" sz="1600" dirty="0"/>
              <a:t>of Compilers</a:t>
            </a:r>
          </a:p>
          <a:p>
            <a:pPr lvl="1">
              <a:defRPr/>
            </a:pPr>
            <a:endParaRPr lang="en-US" altLang="ko-KR" sz="1350" dirty="0"/>
          </a:p>
          <a:p>
            <a:pPr algn="ctr"/>
            <a:endParaRPr lang="en-US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9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Types of Compilers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1276350"/>
            <a:ext cx="845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1276350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Compiler can be divided into following four main types. </a:t>
            </a:r>
            <a:b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</a:b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/>
            </a:r>
            <a:b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</a:b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1. One pass compilers </a:t>
            </a:r>
            <a:b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</a:b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2. Multi pass compilers </a:t>
            </a:r>
          </a:p>
          <a:p>
            <a:pPr>
              <a:buNone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3. Optimizing compilers (Three Pass Compilers)</a:t>
            </a:r>
            <a:b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</a:b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4. Load and go compilers  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One Pass Compiler</a:t>
            </a:r>
            <a:endParaRPr lang="en-US" dirty="0"/>
          </a:p>
        </p:txBody>
      </p:sp>
      <p:pic>
        <p:nvPicPr>
          <p:cNvPr id="5" name="Picture 4" descr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3027" y="1752600"/>
            <a:ext cx="5894573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Two Pass Compiler</a:t>
            </a:r>
            <a:endParaRPr lang="en-US" dirty="0"/>
          </a:p>
        </p:txBody>
      </p:sp>
      <p:pic>
        <p:nvPicPr>
          <p:cNvPr id="4" name="Picture 3" descr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752600"/>
            <a:ext cx="6870700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Three Pass Compiler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24" b="53070"/>
          <a:stretch/>
        </p:blipFill>
        <p:spPr>
          <a:xfrm>
            <a:off x="0" y="1562100"/>
            <a:ext cx="9144000" cy="19696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Load &amp; Go Compiler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 A load and go compiler generates machine code and then immediately executes it.</a:t>
            </a:r>
          </a:p>
          <a:p>
            <a:pPr marL="571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 Compilers usually produce either absolute code that is executed immediately upon conclusion of the compilation or object code that is transformed by a linking loader into absolute code.</a:t>
            </a:r>
          </a:p>
          <a:p>
            <a:pPr marL="571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  These compiler organizations will be called Load &amp; Go and Link/Load. </a:t>
            </a:r>
          </a:p>
          <a:p>
            <a:pPr marL="571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 Both Load &amp; Go and Link/Load compilers use a number of passes to translate the source program into absolute code. </a:t>
            </a:r>
          </a:p>
          <a:p>
            <a:pPr marL="571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 A pass reads some form of the source program, transforms it into an another form, and normally outputs this form to an intermediate file which may be the input of a later pass.</a:t>
            </a:r>
          </a:p>
          <a:p>
            <a:pPr marL="57150">
              <a:buFont typeface="Arial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r>
              <a:rPr lang="en-US" sz="2700" dirty="0">
                <a:solidFill>
                  <a:srgbClr val="003366"/>
                </a:solidFill>
              </a:rPr>
              <a:t>UNIT </a:t>
            </a:r>
            <a:r>
              <a:rPr lang="en-US" sz="2700" dirty="0" smtClean="0">
                <a:solidFill>
                  <a:srgbClr val="003366"/>
                </a:solidFill>
              </a:rPr>
              <a:t>1.3</a:t>
            </a:r>
            <a:endParaRPr lang="en-US" sz="2700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67000" y="2647950"/>
            <a:ext cx="3695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1600" dirty="0"/>
              <a:t>The Structure of a </a:t>
            </a:r>
            <a:r>
              <a:rPr lang="en-GB" sz="1600" dirty="0" smtClean="0"/>
              <a:t>Compiler and</a:t>
            </a:r>
          </a:p>
          <a:p>
            <a:pPr lvl="1"/>
            <a:r>
              <a:rPr lang="en-GB" sz="1600" dirty="0" smtClean="0"/>
              <a:t>         Phases </a:t>
            </a:r>
            <a:r>
              <a:rPr lang="en-GB" sz="1600" dirty="0"/>
              <a:t>of Compiler</a:t>
            </a:r>
            <a:endParaRPr lang="en-US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39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Structure of Compiler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2886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If we open the Compiler Box a little, There are two parts to this mapping.</a:t>
            </a:r>
          </a:p>
          <a:p>
            <a:pPr lvl="0">
              <a:lnSpc>
                <a:spcPct val="115000"/>
              </a:lnSpc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Analysis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determines the operations implied by the source program which are recorded in a tree structure.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Synthesis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 takes the tree structure and translates the operations therein into the target program.</a:t>
            </a:r>
          </a:p>
          <a:p>
            <a:pPr lvl="0">
              <a:lnSpc>
                <a:spcPct val="115000"/>
              </a:lnSpc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Phases of Compiler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7"/>
          <a:stretch>
            <a:fillRect/>
          </a:stretch>
        </p:blipFill>
        <p:spPr>
          <a:xfrm>
            <a:off x="762000" y="1047750"/>
            <a:ext cx="6958689" cy="3962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Phases of Compiler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31" t="2352" r="14163" b="50000"/>
          <a:stretch/>
        </p:blipFill>
        <p:spPr>
          <a:xfrm>
            <a:off x="2667000" y="1355834"/>
            <a:ext cx="4256690" cy="33070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Phases of Compiler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945" t="47026" r="15342" b="9722"/>
          <a:stretch/>
        </p:blipFill>
        <p:spPr>
          <a:xfrm>
            <a:off x="3505200" y="1317533"/>
            <a:ext cx="2667000" cy="331161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Front End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5263" indent="-195263"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front end recognizes legal and illegal programs presented to it and it attempts to report errors in a useful way.</a:t>
            </a:r>
          </a:p>
          <a:p>
            <a:pPr marL="195263" indent="-195263"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Helvetica" charset="0"/>
              </a:rPr>
              <a:t>Intermediate representation (IR) </a:t>
            </a:r>
          </a:p>
          <a:p>
            <a:pPr marL="195263" indent="-195263"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Helvetica" charset="0"/>
              </a:rPr>
              <a:t>Maps legal code into IR </a:t>
            </a:r>
          </a:p>
          <a:p>
            <a:pPr marL="195263" indent="-195263"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Helvetica" charset="0"/>
              </a:rPr>
              <a:t>Allows multiple front ends </a:t>
            </a:r>
          </a:p>
          <a:p>
            <a:pPr marL="195263" indent="-195263"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Helvetica" charset="0"/>
              </a:rPr>
              <a:t>multiple passes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Helvetica" charset="0"/>
                <a:sym typeface="Symbol" charset="2"/>
              </a:rPr>
              <a:t>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Helvetica" charset="0"/>
              </a:rPr>
              <a:t> better code </a:t>
            </a:r>
          </a:p>
          <a:p>
            <a:pPr marL="195263" indent="-195263"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preliminary storage map </a:t>
            </a:r>
          </a:p>
          <a:p>
            <a:pPr marL="195263" indent="-195263"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shape code for the back end </a:t>
            </a:r>
          </a:p>
          <a:p>
            <a:pPr marL="195263" indent="-195263">
              <a:buFontTx/>
              <a:buChar char="•"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Helvetica" charset="0"/>
            </a:endParaRPr>
          </a:p>
        </p:txBody>
      </p:sp>
      <p:pic>
        <p:nvPicPr>
          <p:cNvPr id="4" name="Picture 10" descr="1-front-e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2038350"/>
            <a:ext cx="4953000" cy="1125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Front End (Scanner)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scanner takes a program as input and maps the character stream into “words” that are the basic unit of syntax.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95263" indent="-195263">
              <a:buFontTx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cs typeface="Helvetica" charset="0"/>
            </a:endParaRPr>
          </a:p>
        </p:txBody>
      </p:sp>
      <p:pic>
        <p:nvPicPr>
          <p:cNvPr id="5" name="Picture 3" descr="1-front-e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647950"/>
            <a:ext cx="4953000" cy="116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Front End (Parser)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parser takes in the stream of tokens, recognizes context- free syntax and reports errors.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 guides context-sensitive (“semantic”) analysis for tasks like type checking.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parser builds IR for source program.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syntax of most programming languages is specified using Context-Free Grammars (CFG).</a:t>
            </a:r>
          </a:p>
          <a:p>
            <a:pPr marL="285750" indent="-285750">
              <a:buNone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		Parser generators mechanize much of the work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1027" descr="1-front-e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105150"/>
            <a:ext cx="5334000" cy="1254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Backend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Translate IR into target machine code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Choose instructions for each IR operation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Decide what to keep in registers at each point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Ensure conformance with system interfaces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1030" descr="1-back-e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800350"/>
            <a:ext cx="6096000" cy="1308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Backend (Instruction Selection)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Modern processors have multiple functional units. The back end needs to schedule instructions to avoid hardware stalls and interlocks.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Produce compact, fast code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Use available addressing modes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Pattern matching problem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 hoc techniques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tree pattern matching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string pattern matching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dynamic programming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4" descr="1-back-e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2419350"/>
            <a:ext cx="480620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Backend (Register Selection)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Have value in a register when used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Limited resources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Changes instruction choices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Can move loads and stores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Optimal allocation is difficult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3" descr="1-back-e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952750"/>
            <a:ext cx="5272088" cy="1180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r>
              <a:rPr lang="en-US" sz="2700" dirty="0">
                <a:solidFill>
                  <a:srgbClr val="003366"/>
                </a:solidFill>
              </a:rPr>
              <a:t>UNIT </a:t>
            </a:r>
            <a:r>
              <a:rPr lang="en-US" sz="2700" dirty="0" smtClean="0">
                <a:solidFill>
                  <a:srgbClr val="003366"/>
                </a:solidFill>
              </a:rPr>
              <a:t>1.4</a:t>
            </a:r>
            <a:endParaRPr lang="en-US" sz="2700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67000" y="2647950"/>
            <a:ext cx="3695700" cy="546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1600" dirty="0" smtClean="0"/>
              <a:t> </a:t>
            </a:r>
            <a:r>
              <a:rPr lang="en-US" sz="1400" dirty="0"/>
              <a:t>Role of Runtime System</a:t>
            </a:r>
          </a:p>
          <a:p>
            <a:pPr lvl="1"/>
            <a:endParaRPr lang="en-US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95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Role of Runtime System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executable code typically runs as a process in an Operating System (OS) Environment.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Compilers need to have an intimate knowledge of the runtime system to make effective use of the runtime environment and machine resources.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issues in this context are:</a:t>
            </a:r>
          </a:p>
          <a:p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0650" indent="0">
              <a:buNone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Memory management</a:t>
            </a:r>
          </a:p>
          <a:p>
            <a:pPr marL="120650" indent="0"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Allocate and de-allocate memory</a:t>
            </a:r>
          </a:p>
          <a:p>
            <a:pPr marL="120650" indent="0">
              <a:buNone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Garbage collection</a:t>
            </a:r>
          </a:p>
          <a:p>
            <a:pPr marL="120650" indent="0">
              <a:buNone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Run-time type checking</a:t>
            </a:r>
          </a:p>
          <a:p>
            <a:pPr marL="120650" indent="0">
              <a:buNone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Error/exception processing</a:t>
            </a:r>
          </a:p>
          <a:p>
            <a:pPr marL="120650" indent="0">
              <a:buNone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Interface to OS – I/O</a:t>
            </a:r>
          </a:p>
          <a:p>
            <a:pPr marL="120650" indent="0">
              <a:buNone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Support for parallelism</a:t>
            </a:r>
          </a:p>
          <a:p>
            <a:pPr marL="120650" indent="0">
              <a:buNone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Parallel threads</a:t>
            </a:r>
          </a:p>
          <a:p>
            <a:pPr marL="120650" indent="0">
              <a:buNone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· Communication and synchronization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r>
              <a:rPr lang="en-US" sz="2700" dirty="0">
                <a:solidFill>
                  <a:srgbClr val="003366"/>
                </a:solidFill>
              </a:rPr>
              <a:t>UNIT </a:t>
            </a:r>
            <a:r>
              <a:rPr lang="en-US" sz="2700" dirty="0" smtClean="0">
                <a:solidFill>
                  <a:srgbClr val="003366"/>
                </a:solidFill>
              </a:rPr>
              <a:t>1.5</a:t>
            </a:r>
            <a:endParaRPr lang="en-US" sz="2700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67000" y="2647950"/>
            <a:ext cx="369570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/>
              <a:t>Science of Building a Compiler</a:t>
            </a:r>
          </a:p>
          <a:p>
            <a:pPr lvl="1"/>
            <a:endParaRPr lang="en-US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46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Science of Building a Compiler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276350"/>
            <a:ext cx="8458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Modeling in Compiler Design and Implementation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Science of Code Optimization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Optimization for Computer Architecture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- Parallelism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- Memory Hierarchies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- RISC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- Specialized Architecture 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VLIW (Very Long Instruction Word)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SIMD (Single Instruction Multiple Data)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MIMD (Multiple Instruction Multiple Data)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1" y="1581150"/>
            <a:ext cx="8534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+mj-lt"/>
              </a:rPr>
              <a:t>Exercise 1: </a:t>
            </a:r>
            <a:r>
              <a:rPr lang="en-US" dirty="0" smtClean="0">
                <a:latin typeface="+mj-lt"/>
              </a:rPr>
              <a:t>Indicate which of the following terms:</a:t>
            </a:r>
          </a:p>
          <a:p>
            <a:r>
              <a:rPr lang="en-US" dirty="0" smtClean="0">
                <a:latin typeface="+mj-lt"/>
              </a:rPr>
              <a:t>a) imperative b) declarative c) von Neumann d) object-oriented e) functional f) third-generation</a:t>
            </a:r>
          </a:p>
          <a:p>
            <a:r>
              <a:rPr lang="en-US" dirty="0" smtClean="0">
                <a:latin typeface="+mj-lt"/>
              </a:rPr>
              <a:t>g) fourth-generation h) scripting </a:t>
            </a:r>
          </a:p>
          <a:p>
            <a:r>
              <a:rPr lang="en-US" dirty="0" smtClean="0">
                <a:latin typeface="+mj-lt"/>
              </a:rPr>
              <a:t> </a:t>
            </a:r>
          </a:p>
          <a:p>
            <a:r>
              <a:rPr lang="en-US" b="1" dirty="0" smtClean="0">
                <a:latin typeface="+mj-lt"/>
              </a:rPr>
              <a:t>Exercise 2: </a:t>
            </a:r>
            <a:r>
              <a:rPr lang="en-US" dirty="0" smtClean="0">
                <a:latin typeface="+mj-lt"/>
              </a:rPr>
              <a:t>Explain the terms:</a:t>
            </a:r>
          </a:p>
          <a:p>
            <a:r>
              <a:rPr lang="en-US" dirty="0" smtClean="0">
                <a:latin typeface="+mj-lt"/>
              </a:rPr>
              <a:t>Compiler</a:t>
            </a:r>
          </a:p>
          <a:p>
            <a:r>
              <a:rPr lang="en-US" dirty="0" smtClean="0">
                <a:latin typeface="+mj-lt"/>
              </a:rPr>
              <a:t>Machine and Assembly Languages.</a:t>
            </a:r>
          </a:p>
          <a:p>
            <a:r>
              <a:rPr lang="en-US" dirty="0" smtClean="0">
                <a:latin typeface="+mj-lt"/>
              </a:rPr>
              <a:t>Compilers and Computer Architecture.</a:t>
            </a:r>
          </a:p>
          <a:p>
            <a:r>
              <a:rPr lang="en-US" dirty="0" smtClean="0">
                <a:latin typeface="+mj-lt"/>
              </a:rPr>
              <a:t>Software Productivity and Software Security.</a:t>
            </a:r>
          </a:p>
          <a:p>
            <a:endParaRPr lang="en-US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Thank you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79512" y="483518"/>
            <a:ext cx="8354888" cy="576064"/>
          </a:xfrm>
        </p:spPr>
        <p:txBody>
          <a:bodyPr/>
          <a:lstStyle/>
          <a:p>
            <a:pPr algn="ctr"/>
            <a:r>
              <a:rPr lang="en-US" sz="2800" dirty="0" smtClean="0"/>
              <a:t>Content </a:t>
            </a:r>
            <a:r>
              <a:rPr lang="en-US" sz="2800" dirty="0" smtClean="0"/>
              <a:t>Adopted</a:t>
            </a:r>
            <a:r>
              <a:rPr lang="en-US" sz="2800" dirty="0" smtClean="0"/>
              <a:t> </a:t>
            </a:r>
            <a:r>
              <a:rPr lang="en-US" sz="2800" dirty="0" smtClean="0"/>
              <a:t>From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276350"/>
            <a:ext cx="9144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Compilers Principles, Techniques and Tools by Alfred V. </a:t>
            </a:r>
            <a:r>
              <a:rPr lang="en-US" sz="16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Aho</a:t>
            </a: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Ravi </a:t>
            </a:r>
            <a:r>
              <a:rPr lang="en-US" sz="16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Sethi</a:t>
            </a: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and Jeffry D. </a:t>
            </a:r>
            <a:r>
              <a:rPr lang="en-US" sz="16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Ulman</a:t>
            </a:r>
            <a:endParaRPr lang="en-US" sz="1600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Web URL:</a:t>
            </a:r>
          </a:p>
          <a:p>
            <a:pPr>
              <a:buFont typeface="Arial" pitchFamily="34" charset="0"/>
              <a:buChar char="•"/>
            </a:pPr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https://technology.blurtit.com/605067/what-is-load-and-go-compilers</a:t>
            </a:r>
            <a:endParaRPr lang="en-US" sz="1600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hlinkClick r:id="rId3"/>
              </a:rPr>
              <a:t>https://affairscloud.com/compiler-design-questions-set-3/</a:t>
            </a:r>
            <a:endParaRPr lang="en-US" sz="1600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en-US" sz="1600" i="1" dirty="0" smtClean="0">
              <a:solidFill>
                <a:schemeClr val="tx1">
                  <a:lumMod val="75000"/>
                  <a:lumOff val="25000"/>
                </a:schemeClr>
              </a:solidFill>
              <a:ea typeface="Times" pitchFamily="18" charset="0"/>
              <a:cs typeface="Times" pitchFamily="18" charset="0"/>
            </a:endParaRP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13"/>
  <p:tag name="AS_TITLE" val="Aspose.Slides for .NET 4.0"/>
  <p:tag name="AS_VERSION" val="16.12.1.0"/>
</p:tagLst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LLPPT-COLOR-A3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85D8DE"/>
    </a:accent1>
    <a:accent2>
      <a:srgbClr val="85D8DE"/>
    </a:accent2>
    <a:accent3>
      <a:srgbClr val="85D8DE"/>
    </a:accent3>
    <a:accent4>
      <a:srgbClr val="85D8DE"/>
    </a:accent4>
    <a:accent5>
      <a:srgbClr val="85D8DE"/>
    </a:accent5>
    <a:accent6>
      <a:srgbClr val="85D8DE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1377</Words>
  <Application>Microsoft Office PowerPoint</Application>
  <PresentationFormat>On-screen Show (16:9)</PresentationFormat>
  <Paragraphs>257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Arial Unicode MS</vt:lpstr>
      <vt:lpstr>맑은 고딕</vt:lpstr>
      <vt:lpstr>Arial</vt:lpstr>
      <vt:lpstr>Calibri</vt:lpstr>
      <vt:lpstr>Courier New</vt:lpstr>
      <vt:lpstr>Helvetica</vt:lpstr>
      <vt:lpstr>Symbol</vt:lpstr>
      <vt:lpstr>Times</vt:lpstr>
      <vt:lpstr>Times New Roman</vt:lpstr>
      <vt:lpstr>Wingdings</vt:lpstr>
      <vt:lpstr>Cover and End Slide Master</vt:lpstr>
      <vt:lpstr>Contents Slide Master</vt:lpstr>
      <vt:lpstr>PowerPoint Presentation</vt:lpstr>
      <vt:lpstr>Objectives</vt:lpstr>
      <vt:lpstr>PowerPoint Presentation</vt:lpstr>
      <vt:lpstr>UNIT 1.1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Language Processing System</vt:lpstr>
      <vt:lpstr>PowerPoint Presentation</vt:lpstr>
      <vt:lpstr>UNIT 1.2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1.3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1.4</vt:lpstr>
      <vt:lpstr>PowerPoint Presentation</vt:lpstr>
      <vt:lpstr>UNIT 1.5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Anees</cp:lastModifiedBy>
  <cp:revision>202</cp:revision>
  <dcterms:created xsi:type="dcterms:W3CDTF">2016-12-05T23:26:54Z</dcterms:created>
  <dcterms:modified xsi:type="dcterms:W3CDTF">2020-07-01T06:46:47Z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3556737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S8.2.1</vt:lpwstr>
  </property>
</Properties>
</file>