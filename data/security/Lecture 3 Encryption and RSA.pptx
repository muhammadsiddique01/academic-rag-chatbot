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53" r:id="rId3"/>
  </p:sldMasterIdLst>
  <p:sldIdLst>
    <p:sldId id="256" r:id="rId4"/>
    <p:sldId id="262" r:id="rId5"/>
    <p:sldId id="316" r:id="rId6"/>
    <p:sldId id="303" r:id="rId7"/>
    <p:sldId id="304" r:id="rId8"/>
    <p:sldId id="319" r:id="rId9"/>
    <p:sldId id="320" r:id="rId10"/>
    <p:sldId id="321" r:id="rId11"/>
    <p:sldId id="322" r:id="rId12"/>
    <p:sldId id="323" r:id="rId13"/>
    <p:sldId id="324" r:id="rId14"/>
    <p:sldId id="325" r:id="rId15"/>
    <p:sldId id="326" r:id="rId16"/>
    <p:sldId id="327" r:id="rId17"/>
    <p:sldId id="328" r:id="rId18"/>
    <p:sldId id="329" r:id="rId19"/>
    <p:sldId id="330" r:id="rId20"/>
    <p:sldId id="331" r:id="rId21"/>
    <p:sldId id="332" r:id="rId22"/>
    <p:sldId id="333" r:id="rId23"/>
    <p:sldId id="334" r:id="rId24"/>
    <p:sldId id="335" r:id="rId25"/>
    <p:sldId id="336" r:id="rId26"/>
    <p:sldId id="337" r:id="rId27"/>
    <p:sldId id="338" r:id="rId28"/>
    <p:sldId id="339" r:id="rId29"/>
    <p:sldId id="340" r:id="rId30"/>
    <p:sldId id="341" r:id="rId31"/>
    <p:sldId id="342" r:id="rId32"/>
    <p:sldId id="343" r:id="rId33"/>
    <p:sldId id="344" r:id="rId34"/>
    <p:sldId id="348" r:id="rId35"/>
    <p:sldId id="345" r:id="rId36"/>
    <p:sldId id="346" r:id="rId37"/>
    <p:sldId id="305" r:id="rId38"/>
    <p:sldId id="306" r:id="rId39"/>
    <p:sldId id="307" r:id="rId40"/>
    <p:sldId id="308" r:id="rId41"/>
    <p:sldId id="309" r:id="rId42"/>
    <p:sldId id="310" r:id="rId43"/>
    <p:sldId id="311" r:id="rId44"/>
    <p:sldId id="312" r:id="rId45"/>
    <p:sldId id="313" r:id="rId46"/>
    <p:sldId id="314" r:id="rId47"/>
    <p:sldId id="315" r:id="rId48"/>
    <p:sldId id="317" r:id="rId49"/>
    <p:sldId id="271" r:id="rId50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D8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47" autoAdjust="0"/>
    <p:restoredTop sz="94660"/>
  </p:normalViewPr>
  <p:slideViewPr>
    <p:cSldViewPr>
      <p:cViewPr varScale="1">
        <p:scale>
          <a:sx n="92" d="100"/>
          <a:sy n="92" d="100"/>
        </p:scale>
        <p:origin x="76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8" Type="http://schemas.openxmlformats.org/officeDocument/2006/relationships/slide" Target="slides/slide5.xml"/><Relationship Id="rId51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3705210"/>
            <a:ext cx="9144000" cy="5227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 smtClean="0">
                <a:ea typeface="맑은 고딕" pitchFamily="50" charset="-127"/>
              </a:rPr>
              <a:t>title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-148" y="4227934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INSTERT THE TITLE OF YOUR PRESENTATION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27365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 cstate="print">
            <a:lum/>
          </a:blip>
          <a:srcRect/>
          <a:stretch>
            <a:fillRect t="-18000" b="-1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 userDrawn="1"/>
        </p:nvSpPr>
        <p:spPr>
          <a:xfrm>
            <a:off x="2699644" y="699542"/>
            <a:ext cx="3744416" cy="3744416"/>
          </a:xfrm>
          <a:prstGeom prst="ellipse">
            <a:avLst/>
          </a:prstGeom>
          <a:solidFill>
            <a:schemeClr val="tx2">
              <a:lumMod val="75000"/>
              <a:alpha val="77000"/>
            </a:schemeClr>
          </a:solidFill>
          <a:ln w="857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699792" y="2181230"/>
            <a:ext cx="3744416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699644" y="2757294"/>
            <a:ext cx="3744416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9224771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79512" y="483518"/>
            <a:ext cx="4248472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79512" y="1131590"/>
            <a:ext cx="4248472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733208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79512" y="555526"/>
            <a:ext cx="8424936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79512" y="1203598"/>
            <a:ext cx="8424936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505085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48351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5958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79512" y="555526"/>
            <a:ext cx="8424936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79512" y="1203598"/>
            <a:ext cx="8424936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457713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79512" y="483518"/>
            <a:ext cx="4248472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79512" y="1131590"/>
            <a:ext cx="4248472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927735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10595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-42902" y="455940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887988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49246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720790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792334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6863879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50241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 lIns="720000" anchor="ctr"/>
          <a:lstStyle>
            <a:lvl1pPr marL="0" indent="0" algn="l">
              <a:buNone/>
              <a:defRPr sz="18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5967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6313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347864" y="627534"/>
            <a:ext cx="5796136" cy="10520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104000" y="1798321"/>
            <a:ext cx="5040000" cy="154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824000" y="3465106"/>
            <a:ext cx="4320000" cy="10508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58121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937417" y="627534"/>
            <a:ext cx="1872000" cy="38164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1968708" y="627534"/>
            <a:ext cx="1872000" cy="38164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627534"/>
            <a:ext cx="1872000" cy="38164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6533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795621" y="627533"/>
            <a:ext cx="3294112" cy="11155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5613166" y="3399271"/>
            <a:ext cx="3293944" cy="11166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3795621" y="1815095"/>
            <a:ext cx="1728192" cy="27008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5621504" y="1814524"/>
            <a:ext cx="1468228" cy="1512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8" hasCustomPrompt="1"/>
          </p:nvPr>
        </p:nvSpPr>
        <p:spPr>
          <a:xfrm>
            <a:off x="7178918" y="627533"/>
            <a:ext cx="1728192" cy="26997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75891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411510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87574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4" name="Picture 3" descr="D:\Fullppt\005-PNG이미지\노트북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57041" y="1313860"/>
            <a:ext cx="6438182" cy="3274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81898" y="1731279"/>
            <a:ext cx="3085597" cy="22818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6077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475603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354008" y="1131589"/>
            <a:ext cx="2849840" cy="3384377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7A5C852-6AA1-4346-AB75-A97EF1AB13E3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EF90970-9DC7-459F-8F50-2927350C142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11"/>
          <p:cNvSpPr>
            <a:spLocks noChangeShapeType="1"/>
          </p:cNvSpPr>
          <p:nvPr userDrawn="1"/>
        </p:nvSpPr>
        <p:spPr bwMode="auto">
          <a:xfrm>
            <a:off x="152400" y="685800"/>
            <a:ext cx="8839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2189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Layout"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0" y="2253238"/>
            <a:ext cx="4572000" cy="47357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0" y="2726814"/>
            <a:ext cx="45720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738235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7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070850" y="0"/>
            <a:ext cx="6088050" cy="5512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 rot="10800000">
            <a:off x="-23339" y="4592250"/>
            <a:ext cx="6088050" cy="551250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179512" y="123478"/>
            <a:ext cx="1440160" cy="33855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pPr algn="ctr"/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668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2" r:id="rId3"/>
    <p:sldLayoutId id="2147483673" r:id="rId4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3070850" y="0"/>
            <a:ext cx="6088050" cy="5512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 rot="10800000">
            <a:off x="-36511" y="4592250"/>
            <a:ext cx="6088050" cy="551250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179512" y="123478"/>
            <a:ext cx="1440160" cy="33855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pPr algn="ctr"/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2" r:id="rId2"/>
    <p:sldLayoutId id="2147483661" r:id="rId3"/>
    <p:sldLayoutId id="2147483660" r:id="rId4"/>
    <p:sldLayoutId id="2147483662" r:id="rId5"/>
    <p:sldLayoutId id="2147483655" r:id="rId6"/>
    <p:sldLayoutId id="2147483663" r:id="rId7"/>
    <p:sldLayoutId id="2147483664" r:id="rId8"/>
    <p:sldLayoutId id="2147483668" r:id="rId9"/>
    <p:sldLayoutId id="2147483665" r:id="rId10"/>
    <p:sldLayoutId id="2147483670" r:id="rId11"/>
    <p:sldLayoutId id="2147483656" r:id="rId12"/>
    <p:sldLayoutId id="2147483671" r:id="rId13"/>
    <p:sldLayoutId id="2147483674" r:id="rId14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70850" y="0"/>
            <a:ext cx="6088050" cy="5512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0800000">
            <a:off x="-36511" y="4592250"/>
            <a:ext cx="6088050" cy="551250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179512" y="123478"/>
            <a:ext cx="1440160" cy="33855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pPr algn="ctr"/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471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13000"/>
            <a:lum/>
          </a:blip>
          <a:srcRect/>
          <a:stretch>
            <a:fillRect t="-18000" b="-1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014" y="3291830"/>
            <a:ext cx="9144000" cy="522725"/>
          </a:xfrm>
        </p:spPr>
        <p:txBody>
          <a:bodyPr/>
          <a:lstStyle/>
          <a:p>
            <a:pPr lvl="0"/>
            <a:r>
              <a:rPr lang="en-US" altLang="ko-KR" sz="3600" dirty="0" smtClean="0">
                <a:ea typeface="맑은 고딕" pitchFamily="50" charset="-127"/>
              </a:rPr>
              <a:t>Encryption, RSA</a:t>
            </a:r>
            <a:endParaRPr lang="en-US" altLang="ko-KR" sz="3600" dirty="0"/>
          </a:p>
        </p:txBody>
      </p:sp>
      <p:sp>
        <p:nvSpPr>
          <p:cNvPr id="5" name="TextBox 4"/>
          <p:cNvSpPr txBox="1"/>
          <p:nvPr/>
        </p:nvSpPr>
        <p:spPr>
          <a:xfrm>
            <a:off x="179512" y="123478"/>
            <a:ext cx="1440160" cy="33855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pPr algn="ctr"/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69109" y="4171950"/>
            <a:ext cx="532229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 smtClean="0"/>
              <a:t>Slides prepared from the book “Cryptography and Network Security principles and Practices” by William Stallings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971841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Welcome!!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61455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79512" y="700286"/>
            <a:ext cx="4248472" cy="576064"/>
          </a:xfrm>
        </p:spPr>
        <p:txBody>
          <a:bodyPr/>
          <a:lstStyle/>
          <a:p>
            <a:r>
              <a:rPr lang="en-US" dirty="0" smtClean="0"/>
              <a:t>Learning Outcomes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152400" y="1597918"/>
            <a:ext cx="4248472" cy="669032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Understand the concept of Encryption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Differentiate Private and public key algorithm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Understanding of RSA algorithm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Trapdoor functions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51752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418802"/>
            <a:ext cx="7391400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Encryption</a:t>
            </a:r>
            <a:r>
              <a:rPr lang="en-US" sz="2800" b="1" dirty="0"/>
              <a:t> </a:t>
            </a:r>
          </a:p>
          <a:p>
            <a:pPr>
              <a:buFont typeface="Arial" pitchFamily="34" charset="0"/>
              <a:buChar char="•"/>
            </a:pPr>
            <a:endParaRPr lang="en-US" sz="2400" dirty="0" smtClean="0"/>
          </a:p>
          <a:p>
            <a:r>
              <a:rPr lang="en-US" sz="2400" dirty="0" smtClean="0"/>
              <a:t>Keeping </a:t>
            </a:r>
            <a:r>
              <a:rPr lang="en-US" sz="2400" dirty="0"/>
              <a:t>information out of the hands of </a:t>
            </a:r>
            <a:r>
              <a:rPr lang="en-US" sz="2400" dirty="0" smtClean="0"/>
              <a:t>unauthorized </a:t>
            </a:r>
            <a:r>
              <a:rPr lang="en-US" sz="2400" dirty="0"/>
              <a:t>users </a:t>
            </a:r>
          </a:p>
          <a:p>
            <a:pPr>
              <a:buFont typeface="Arial" pitchFamily="34" charset="0"/>
              <a:buChar char="•"/>
            </a:pPr>
            <a:endParaRPr lang="en-US" sz="2400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2114550"/>
            <a:ext cx="6429375" cy="15501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838200" y="3292554"/>
            <a:ext cx="69342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sz="2400" dirty="0" smtClean="0"/>
              <a:t>• Original </a:t>
            </a:r>
            <a:r>
              <a:rPr lang="en-US" sz="2400" dirty="0"/>
              <a:t>text is referred to as “Message” </a:t>
            </a:r>
          </a:p>
          <a:p>
            <a:r>
              <a:rPr lang="en-US" sz="2400" dirty="0" smtClean="0"/>
              <a:t>• Encrypted </a:t>
            </a:r>
            <a:r>
              <a:rPr lang="en-US" sz="2400" dirty="0"/>
              <a:t>text is called “</a:t>
            </a:r>
            <a:r>
              <a:rPr lang="en-US" sz="2400" dirty="0" err="1"/>
              <a:t>Ciphertext</a:t>
            </a:r>
            <a:r>
              <a:rPr lang="en-US" sz="2400" dirty="0"/>
              <a:t>”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666750"/>
            <a:ext cx="4572000" cy="2554545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  <a:p>
            <a:r>
              <a:rPr lang="en-US" sz="2800" b="1" dirty="0" smtClean="0"/>
              <a:t>Encryption Types</a:t>
            </a:r>
          </a:p>
          <a:p>
            <a:endParaRPr lang="en-US" dirty="0" smtClean="0"/>
          </a:p>
          <a:p>
            <a:r>
              <a:rPr lang="en-US" dirty="0" smtClean="0"/>
              <a:t> </a:t>
            </a:r>
            <a:r>
              <a:rPr lang="en-US" sz="2400" dirty="0"/>
              <a:t>Two major types of Encryption </a:t>
            </a:r>
          </a:p>
          <a:p>
            <a:endParaRPr lang="en-US" sz="2400" dirty="0" smtClean="0"/>
          </a:p>
          <a:p>
            <a:r>
              <a:rPr lang="en-US" sz="2400" dirty="0" smtClean="0"/>
              <a:t>• Symmetric </a:t>
            </a:r>
            <a:r>
              <a:rPr lang="en-US" sz="2400" dirty="0"/>
              <a:t>Key Algorithm </a:t>
            </a:r>
          </a:p>
          <a:p>
            <a:r>
              <a:rPr lang="en-US" sz="2400" dirty="0" smtClean="0"/>
              <a:t>• Asymmetric </a:t>
            </a:r>
            <a:r>
              <a:rPr lang="en-US" sz="2400" dirty="0"/>
              <a:t>Key Algorithm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742951"/>
            <a:ext cx="807720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400" b="1" i="1" dirty="0" smtClean="0">
                <a:cs typeface="Times New Roman" panose="02020603050405020304" pitchFamily="18" charset="0"/>
              </a:rPr>
              <a:t>The </a:t>
            </a:r>
            <a:r>
              <a:rPr lang="en-US" sz="2400" b="1" i="1" dirty="0">
                <a:cs typeface="Times New Roman" panose="02020603050405020304" pitchFamily="18" charset="0"/>
              </a:rPr>
              <a:t>type of </a:t>
            </a:r>
            <a:r>
              <a:rPr lang="en-US" sz="2400" b="1" i="1" dirty="0" smtClean="0">
                <a:cs typeface="Times New Roman" panose="02020603050405020304" pitchFamily="18" charset="0"/>
              </a:rPr>
              <a:t>operations</a:t>
            </a:r>
          </a:p>
          <a:p>
            <a:pPr marL="571500" indent="-571500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endParaRPr lang="en-US" sz="2000" dirty="0" smtClean="0">
              <a:cs typeface="Times New Roman" panose="02020603050405020304" pitchFamily="18" charset="0"/>
            </a:endParaRPr>
          </a:p>
          <a:p>
            <a:pPr lvl="1" algn="just">
              <a:buClr>
                <a:srgbClr val="0000CC"/>
              </a:buClr>
            </a:pPr>
            <a:r>
              <a:rPr lang="en-US" sz="2000" dirty="0" smtClean="0">
                <a:cs typeface="Times New Roman" panose="02020603050405020304" pitchFamily="18" charset="0"/>
              </a:rPr>
              <a:t>All encryption </a:t>
            </a:r>
            <a:r>
              <a:rPr lang="en-US" sz="2000" dirty="0">
                <a:cs typeface="Times New Roman" panose="02020603050405020304" pitchFamily="18" charset="0"/>
              </a:rPr>
              <a:t>algorithms are based on </a:t>
            </a:r>
            <a:r>
              <a:rPr lang="en-US" sz="2000" b="1" u="sng" dirty="0">
                <a:cs typeface="Times New Roman" panose="02020603050405020304" pitchFamily="18" charset="0"/>
              </a:rPr>
              <a:t>two general </a:t>
            </a:r>
            <a:r>
              <a:rPr lang="en-US" sz="2000" b="1" u="sng" dirty="0" smtClean="0">
                <a:cs typeface="Times New Roman" panose="02020603050405020304" pitchFamily="18" charset="0"/>
              </a:rPr>
              <a:t>principles</a:t>
            </a:r>
            <a:r>
              <a:rPr lang="en-US" sz="2000" dirty="0" smtClean="0">
                <a:cs typeface="Times New Roman" panose="02020603050405020304" pitchFamily="18" charset="0"/>
              </a:rPr>
              <a:t>:</a:t>
            </a:r>
          </a:p>
          <a:p>
            <a:pPr lvl="1" algn="just">
              <a:buClr>
                <a:srgbClr val="0000CC"/>
              </a:buClr>
            </a:pPr>
            <a:endParaRPr lang="en-US" sz="2000" b="1" i="1" dirty="0" smtClean="0">
              <a:cs typeface="Times New Roman" panose="02020603050405020304" pitchFamily="18" charset="0"/>
            </a:endParaRPr>
          </a:p>
          <a:p>
            <a:pPr lvl="1" algn="just">
              <a:buClr>
                <a:srgbClr val="0000CC"/>
              </a:buClr>
            </a:pPr>
            <a:r>
              <a:rPr lang="en-US" sz="2000" b="1" i="1" dirty="0">
                <a:cs typeface="Times New Roman" panose="02020603050405020304" pitchFamily="18" charset="0"/>
              </a:rPr>
              <a:t>S</a:t>
            </a:r>
            <a:r>
              <a:rPr lang="en-US" sz="2000" b="1" i="1" dirty="0" smtClean="0">
                <a:cs typeface="Times New Roman" panose="02020603050405020304" pitchFamily="18" charset="0"/>
              </a:rPr>
              <a:t>ubstitution</a:t>
            </a:r>
            <a:r>
              <a:rPr lang="en-US" sz="2000" dirty="0">
                <a:cs typeface="Times New Roman" panose="02020603050405020304" pitchFamily="18" charset="0"/>
              </a:rPr>
              <a:t>, </a:t>
            </a:r>
            <a:r>
              <a:rPr lang="en-US" sz="2000" dirty="0" smtClean="0">
                <a:cs typeface="Times New Roman" panose="02020603050405020304" pitchFamily="18" charset="0"/>
              </a:rPr>
              <a:t>in which </a:t>
            </a:r>
            <a:r>
              <a:rPr lang="en-US" sz="2000" dirty="0">
                <a:cs typeface="Times New Roman" panose="02020603050405020304" pitchFamily="18" charset="0"/>
              </a:rPr>
              <a:t>each element in the plaintext (bit, letter, </a:t>
            </a:r>
            <a:r>
              <a:rPr lang="en-US" sz="2000" dirty="0" smtClean="0">
                <a:cs typeface="Times New Roman" panose="02020603050405020304" pitchFamily="18" charset="0"/>
              </a:rPr>
              <a:t>    group </a:t>
            </a:r>
            <a:r>
              <a:rPr lang="en-US" sz="2000" dirty="0">
                <a:cs typeface="Times New Roman" panose="02020603050405020304" pitchFamily="18" charset="0"/>
              </a:rPr>
              <a:t>of bits or letters) </a:t>
            </a:r>
            <a:r>
              <a:rPr lang="en-US" sz="2000" dirty="0" smtClean="0">
                <a:cs typeface="Times New Roman" panose="02020603050405020304" pitchFamily="18" charset="0"/>
              </a:rPr>
              <a:t>is mapped </a:t>
            </a:r>
            <a:r>
              <a:rPr lang="en-US" sz="2000" dirty="0">
                <a:cs typeface="Times New Roman" panose="02020603050405020304" pitchFamily="18" charset="0"/>
              </a:rPr>
              <a:t>into another </a:t>
            </a:r>
            <a:r>
              <a:rPr lang="en-US" sz="2000" dirty="0" smtClean="0">
                <a:cs typeface="Times New Roman" panose="02020603050405020304" pitchFamily="18" charset="0"/>
              </a:rPr>
              <a:t>element,</a:t>
            </a:r>
          </a:p>
          <a:p>
            <a:pPr lvl="1" algn="just">
              <a:buClr>
                <a:srgbClr val="0000CC"/>
              </a:buClr>
            </a:pPr>
            <a:endParaRPr lang="en-US" sz="2000" b="1" i="1" dirty="0" smtClean="0">
              <a:cs typeface="Times New Roman" panose="02020603050405020304" pitchFamily="18" charset="0"/>
            </a:endParaRPr>
          </a:p>
          <a:p>
            <a:pPr lvl="1" algn="just">
              <a:buClr>
                <a:srgbClr val="0000CC"/>
              </a:buClr>
            </a:pPr>
            <a:r>
              <a:rPr lang="en-US" sz="2000" b="1" i="1" dirty="0">
                <a:cs typeface="Times New Roman" panose="02020603050405020304" pitchFamily="18" charset="0"/>
              </a:rPr>
              <a:t>T</a:t>
            </a:r>
            <a:r>
              <a:rPr lang="en-US" sz="2000" b="1" i="1" dirty="0" smtClean="0">
                <a:cs typeface="Times New Roman" panose="02020603050405020304" pitchFamily="18" charset="0"/>
              </a:rPr>
              <a:t>ransposition</a:t>
            </a:r>
            <a:r>
              <a:rPr lang="en-US" sz="2000" dirty="0">
                <a:cs typeface="Times New Roman" panose="02020603050405020304" pitchFamily="18" charset="0"/>
              </a:rPr>
              <a:t>, in which elements in </a:t>
            </a:r>
            <a:r>
              <a:rPr lang="en-US" sz="2000" dirty="0" smtClean="0">
                <a:cs typeface="Times New Roman" panose="02020603050405020304" pitchFamily="18" charset="0"/>
              </a:rPr>
              <a:t>the plaintext </a:t>
            </a:r>
            <a:r>
              <a:rPr lang="en-US" sz="2000" dirty="0">
                <a:cs typeface="Times New Roman" panose="02020603050405020304" pitchFamily="18" charset="0"/>
              </a:rPr>
              <a:t>are </a:t>
            </a:r>
            <a:r>
              <a:rPr lang="en-US" sz="2000" dirty="0" smtClean="0">
                <a:cs typeface="Times New Roman" panose="02020603050405020304" pitchFamily="18" charset="0"/>
              </a:rPr>
              <a:t>rearranged.</a:t>
            </a:r>
          </a:p>
        </p:txBody>
      </p:sp>
      <p:sp>
        <p:nvSpPr>
          <p:cNvPr id="3" name="Rectangle 2"/>
          <p:cNvSpPr/>
          <p:nvPr/>
        </p:nvSpPr>
        <p:spPr>
          <a:xfrm>
            <a:off x="2057400" y="133350"/>
            <a:ext cx="56707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cs typeface="Times New Roman" pitchFamily="18" charset="0"/>
              </a:rPr>
              <a:t>Historic Encryption Techniques </a:t>
            </a:r>
            <a:endParaRPr lang="en-US" sz="2800" b="1" dirty="0"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4115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09600" y="742950"/>
            <a:ext cx="807720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400" b="1" i="1" dirty="0" smtClean="0">
                <a:cs typeface="Times New Roman" panose="02020603050405020304" pitchFamily="18" charset="0"/>
              </a:rPr>
              <a:t>The Substitution Cipher</a:t>
            </a:r>
          </a:p>
          <a:p>
            <a:pPr marL="571500" indent="-571500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endParaRPr lang="en-US" sz="2000" dirty="0" smtClean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marL="1028700" lvl="1" indent="-571500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A 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substitution </a:t>
            </a:r>
            <a:r>
              <a:rPr lang="en-US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cipher 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is one in which the letters of plaintext </a:t>
            </a:r>
            <a:r>
              <a:rPr lang="en-US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  are replaced by 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other letters or by numbers or </a:t>
            </a:r>
            <a:r>
              <a:rPr lang="en-US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symbols.</a:t>
            </a:r>
          </a:p>
          <a:p>
            <a:pPr marL="1028700" lvl="1" indent="-571500">
              <a:buClr>
                <a:srgbClr val="0000CC"/>
              </a:buClr>
              <a:buFont typeface="Wingdings" panose="05000000000000000000" pitchFamily="2" charset="2"/>
              <a:buChar char="q"/>
            </a:pPr>
            <a:endParaRPr lang="en-US" sz="2000" dirty="0" smtClean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marL="1028700" lvl="1" indent="-571500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If 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the plaintext is viewed as a </a:t>
            </a:r>
            <a:r>
              <a:rPr lang="en-US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sequence of 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bits, then </a:t>
            </a:r>
            <a:r>
              <a:rPr lang="en-US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            substitution 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involves replacing plaintext bit patterns with </a:t>
            </a:r>
            <a:r>
              <a:rPr lang="en-US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      cipher text bit patterns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.</a:t>
            </a:r>
            <a:endParaRPr lang="en-US" sz="2000" dirty="0" smtClean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5833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8600" y="12021"/>
            <a:ext cx="8686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5400" b="1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5400" b="1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742951"/>
            <a:ext cx="80772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400" b="1" i="1" dirty="0">
                <a:cs typeface="Times New Roman" panose="02020603050405020304" pitchFamily="18" charset="0"/>
              </a:rPr>
              <a:t>The Caesar Cipher</a:t>
            </a:r>
            <a:endParaRPr lang="en-US" sz="2400" b="1" i="1" dirty="0" smtClean="0">
              <a:cs typeface="Times New Roman" panose="02020603050405020304" pitchFamily="18" charset="0"/>
            </a:endParaRPr>
          </a:p>
          <a:p>
            <a:pPr marL="571500" indent="-571500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endParaRPr lang="en-US" sz="2400" dirty="0" smtClean="0">
              <a:cs typeface="Times New Roman" panose="02020603050405020304" pitchFamily="18" charset="0"/>
            </a:endParaRPr>
          </a:p>
          <a:p>
            <a:pPr lvl="1">
              <a:buClr>
                <a:srgbClr val="0000CC"/>
              </a:buClr>
            </a:pPr>
            <a:r>
              <a:rPr lang="en-US" sz="2400" dirty="0" smtClean="0">
                <a:cs typeface="Times New Roman" panose="02020603050405020304" pitchFamily="18" charset="0"/>
              </a:rPr>
              <a:t>The </a:t>
            </a:r>
            <a:r>
              <a:rPr lang="en-US" sz="2400" dirty="0">
                <a:cs typeface="Times New Roman" panose="02020603050405020304" pitchFamily="18" charset="0"/>
              </a:rPr>
              <a:t>earliest known, and the simplest, use of a </a:t>
            </a:r>
            <a:r>
              <a:rPr lang="en-US" sz="2400" dirty="0" smtClean="0">
                <a:cs typeface="Times New Roman" panose="02020603050405020304" pitchFamily="18" charset="0"/>
              </a:rPr>
              <a:t>            substitution </a:t>
            </a:r>
            <a:r>
              <a:rPr lang="en-US" sz="2400" dirty="0">
                <a:cs typeface="Times New Roman" panose="02020603050405020304" pitchFamily="18" charset="0"/>
              </a:rPr>
              <a:t>cipher was by </a:t>
            </a:r>
            <a:r>
              <a:rPr lang="en-US" sz="2400" b="1" dirty="0" smtClean="0">
                <a:cs typeface="Times New Roman" panose="02020603050405020304" pitchFamily="18" charset="0"/>
              </a:rPr>
              <a:t>Julius Caesar</a:t>
            </a:r>
            <a:r>
              <a:rPr lang="en-US" sz="2400" dirty="0" smtClean="0">
                <a:cs typeface="Times New Roman" panose="02020603050405020304" pitchFamily="18" charset="0"/>
              </a:rPr>
              <a:t>.</a:t>
            </a:r>
          </a:p>
          <a:p>
            <a:pPr lvl="1">
              <a:buClr>
                <a:srgbClr val="0000CC"/>
              </a:buClr>
            </a:pPr>
            <a:endParaRPr lang="en-US" sz="2400" dirty="0" smtClean="0">
              <a:cs typeface="Times New Roman" panose="02020603050405020304" pitchFamily="18" charset="0"/>
            </a:endParaRPr>
          </a:p>
          <a:p>
            <a:pPr lvl="1">
              <a:buClr>
                <a:srgbClr val="0000CC"/>
              </a:buClr>
            </a:pPr>
            <a:r>
              <a:rPr lang="en-US" sz="2400" dirty="0" smtClean="0">
                <a:cs typeface="Times New Roman" panose="02020603050405020304" pitchFamily="18" charset="0"/>
              </a:rPr>
              <a:t>The </a:t>
            </a:r>
            <a:r>
              <a:rPr lang="en-US" sz="2400" dirty="0">
                <a:cs typeface="Times New Roman" panose="02020603050405020304" pitchFamily="18" charset="0"/>
              </a:rPr>
              <a:t>Caesar cipher involves </a:t>
            </a:r>
            <a:r>
              <a:rPr lang="en-US" sz="2400" b="1" dirty="0">
                <a:cs typeface="Times New Roman" panose="02020603050405020304" pitchFamily="18" charset="0"/>
              </a:rPr>
              <a:t>replacing each letter</a:t>
            </a:r>
            <a:r>
              <a:rPr lang="en-US" sz="2400" dirty="0">
                <a:cs typeface="Times New Roman" panose="02020603050405020304" pitchFamily="18" charset="0"/>
              </a:rPr>
              <a:t> of </a:t>
            </a:r>
            <a:r>
              <a:rPr lang="en-US" sz="2400" dirty="0" smtClean="0">
                <a:cs typeface="Times New Roman" panose="02020603050405020304" pitchFamily="18" charset="0"/>
              </a:rPr>
              <a:t>   the </a:t>
            </a:r>
            <a:r>
              <a:rPr lang="en-US" sz="2400" dirty="0">
                <a:cs typeface="Times New Roman" panose="02020603050405020304" pitchFamily="18" charset="0"/>
              </a:rPr>
              <a:t>alphabet with the </a:t>
            </a:r>
            <a:r>
              <a:rPr lang="en-US" sz="2400" dirty="0" smtClean="0">
                <a:cs typeface="Times New Roman" panose="02020603050405020304" pitchFamily="18" charset="0"/>
              </a:rPr>
              <a:t>letter standing few (</a:t>
            </a:r>
            <a:r>
              <a:rPr lang="en-US" sz="2400" b="1" dirty="0" smtClean="0">
                <a:cs typeface="Times New Roman" panose="02020603050405020304" pitchFamily="18" charset="0"/>
              </a:rPr>
              <a:t>typically       three</a:t>
            </a:r>
            <a:r>
              <a:rPr lang="en-US" sz="2400" dirty="0" smtClean="0">
                <a:cs typeface="Times New Roman" panose="02020603050405020304" pitchFamily="18" charset="0"/>
              </a:rPr>
              <a:t>) </a:t>
            </a:r>
            <a:r>
              <a:rPr lang="en-US" sz="2400" b="1" dirty="0" smtClean="0">
                <a:cs typeface="Times New Roman" panose="02020603050405020304" pitchFamily="18" charset="0"/>
              </a:rPr>
              <a:t>places</a:t>
            </a:r>
            <a:r>
              <a:rPr lang="en-US" sz="2400" dirty="0" smtClean="0">
                <a:cs typeface="Times New Roman" panose="02020603050405020304" pitchFamily="18" charset="0"/>
              </a:rPr>
              <a:t> </a:t>
            </a:r>
            <a:r>
              <a:rPr lang="en-US" sz="2400" dirty="0">
                <a:cs typeface="Times New Roman" panose="02020603050405020304" pitchFamily="18" charset="0"/>
              </a:rPr>
              <a:t>further down the alphabet</a:t>
            </a:r>
            <a:r>
              <a:rPr lang="en-US" sz="2400" dirty="0" smtClean="0"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83600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8600" y="12021"/>
            <a:ext cx="8686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5400" b="1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5400" b="1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2400" y="708958"/>
            <a:ext cx="876300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400" b="1" i="1" dirty="0">
                <a:cs typeface="Times New Roman" panose="02020603050405020304" pitchFamily="18" charset="0"/>
              </a:rPr>
              <a:t>The Caesar Cipher</a:t>
            </a:r>
            <a:endParaRPr lang="en-US" sz="2400" b="1" i="1" dirty="0" smtClean="0">
              <a:cs typeface="Times New Roman" panose="02020603050405020304" pitchFamily="18" charset="0"/>
            </a:endParaRPr>
          </a:p>
          <a:p>
            <a:pPr lvl="1" algn="just">
              <a:buClr>
                <a:srgbClr val="0000CC"/>
              </a:buClr>
            </a:pPr>
            <a:r>
              <a:rPr lang="en-US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For example</a:t>
            </a:r>
          </a:p>
          <a:p>
            <a:pPr marL="1028700" lvl="1" indent="-571500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lvl="1" algn="just">
              <a:buClr>
                <a:srgbClr val="0000CC"/>
              </a:buClr>
            </a:pPr>
            <a:r>
              <a:rPr lang="en-US" sz="2000" b="1" i="1" dirty="0" smtClean="0">
                <a:solidFill>
                  <a:srgbClr val="0000FF"/>
                </a:solidFill>
                <a:cs typeface="Times New Roman" panose="02020603050405020304" pitchFamily="18" charset="0"/>
              </a:rPr>
              <a:t>plaintext</a:t>
            </a:r>
            <a:r>
              <a:rPr lang="en-US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:     meet   me     after      the      toga      party </a:t>
            </a:r>
          </a:p>
          <a:p>
            <a:pPr lvl="1" algn="just">
              <a:buClr>
                <a:srgbClr val="0000CC"/>
              </a:buClr>
            </a:pPr>
            <a:r>
              <a:rPr lang="en-US" sz="2000" b="1" i="1" dirty="0" err="1" smtClean="0">
                <a:solidFill>
                  <a:srgbClr val="0000FF"/>
                </a:solidFill>
                <a:cs typeface="Times New Roman" panose="02020603050405020304" pitchFamily="18" charset="0"/>
              </a:rPr>
              <a:t>ciphertext</a:t>
            </a:r>
            <a:r>
              <a:rPr lang="en-US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: PHHW  PH   DIWHU  WKH  WRJD  SDUWB</a:t>
            </a:r>
          </a:p>
        </p:txBody>
      </p:sp>
      <p:pic>
        <p:nvPicPr>
          <p:cNvPr id="2050" name="Picture 2" descr="Image result for caesar ciph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2495550"/>
            <a:ext cx="4495800" cy="1762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0721193"/>
              </p:ext>
            </p:extLst>
          </p:nvPr>
        </p:nvGraphicFramePr>
        <p:xfrm>
          <a:off x="457200" y="4400550"/>
          <a:ext cx="8229601" cy="515772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375389">
                  <a:extLst>
                    <a:ext uri="{9D8B030D-6E8A-4147-A177-3AD203B41FA5}">
                      <a16:colId xmlns:a16="http://schemas.microsoft.com/office/drawing/2014/main" val="938726661"/>
                    </a:ext>
                  </a:extLst>
                </a:gridCol>
                <a:gridCol w="272804">
                  <a:extLst>
                    <a:ext uri="{9D8B030D-6E8A-4147-A177-3AD203B41FA5}">
                      <a16:colId xmlns:a16="http://schemas.microsoft.com/office/drawing/2014/main" val="221439851"/>
                    </a:ext>
                  </a:extLst>
                </a:gridCol>
                <a:gridCol w="250071">
                  <a:extLst>
                    <a:ext uri="{9D8B030D-6E8A-4147-A177-3AD203B41FA5}">
                      <a16:colId xmlns:a16="http://schemas.microsoft.com/office/drawing/2014/main" val="386482086"/>
                    </a:ext>
                  </a:extLst>
                </a:gridCol>
                <a:gridCol w="227337">
                  <a:extLst>
                    <a:ext uri="{9D8B030D-6E8A-4147-A177-3AD203B41FA5}">
                      <a16:colId xmlns:a16="http://schemas.microsoft.com/office/drawing/2014/main" val="4041686774"/>
                    </a:ext>
                  </a:extLst>
                </a:gridCol>
                <a:gridCol w="272804">
                  <a:extLst>
                    <a:ext uri="{9D8B030D-6E8A-4147-A177-3AD203B41FA5}">
                      <a16:colId xmlns:a16="http://schemas.microsoft.com/office/drawing/2014/main" val="3824659304"/>
                    </a:ext>
                  </a:extLst>
                </a:gridCol>
                <a:gridCol w="272804">
                  <a:extLst>
                    <a:ext uri="{9D8B030D-6E8A-4147-A177-3AD203B41FA5}">
                      <a16:colId xmlns:a16="http://schemas.microsoft.com/office/drawing/2014/main" val="421219915"/>
                    </a:ext>
                  </a:extLst>
                </a:gridCol>
                <a:gridCol w="193236">
                  <a:extLst>
                    <a:ext uri="{9D8B030D-6E8A-4147-A177-3AD203B41FA5}">
                      <a16:colId xmlns:a16="http://schemas.microsoft.com/office/drawing/2014/main" val="2641344224"/>
                    </a:ext>
                  </a:extLst>
                </a:gridCol>
                <a:gridCol w="227337">
                  <a:extLst>
                    <a:ext uri="{9D8B030D-6E8A-4147-A177-3AD203B41FA5}">
                      <a16:colId xmlns:a16="http://schemas.microsoft.com/office/drawing/2014/main" val="150415050"/>
                    </a:ext>
                  </a:extLst>
                </a:gridCol>
                <a:gridCol w="250071">
                  <a:extLst>
                    <a:ext uri="{9D8B030D-6E8A-4147-A177-3AD203B41FA5}">
                      <a16:colId xmlns:a16="http://schemas.microsoft.com/office/drawing/2014/main" val="2561613609"/>
                    </a:ext>
                  </a:extLst>
                </a:gridCol>
                <a:gridCol w="215970">
                  <a:extLst>
                    <a:ext uri="{9D8B030D-6E8A-4147-A177-3AD203B41FA5}">
                      <a16:colId xmlns:a16="http://schemas.microsoft.com/office/drawing/2014/main" val="2547119407"/>
                    </a:ext>
                  </a:extLst>
                </a:gridCol>
                <a:gridCol w="341006">
                  <a:extLst>
                    <a:ext uri="{9D8B030D-6E8A-4147-A177-3AD203B41FA5}">
                      <a16:colId xmlns:a16="http://schemas.microsoft.com/office/drawing/2014/main" val="763975364"/>
                    </a:ext>
                  </a:extLst>
                </a:gridCol>
                <a:gridCol w="272804">
                  <a:extLst>
                    <a:ext uri="{9D8B030D-6E8A-4147-A177-3AD203B41FA5}">
                      <a16:colId xmlns:a16="http://schemas.microsoft.com/office/drawing/2014/main" val="3352488562"/>
                    </a:ext>
                  </a:extLst>
                </a:gridCol>
                <a:gridCol w="284171">
                  <a:extLst>
                    <a:ext uri="{9D8B030D-6E8A-4147-A177-3AD203B41FA5}">
                      <a16:colId xmlns:a16="http://schemas.microsoft.com/office/drawing/2014/main" val="3032167356"/>
                    </a:ext>
                  </a:extLst>
                </a:gridCol>
                <a:gridCol w="318272">
                  <a:extLst>
                    <a:ext uri="{9D8B030D-6E8A-4147-A177-3AD203B41FA5}">
                      <a16:colId xmlns:a16="http://schemas.microsoft.com/office/drawing/2014/main" val="1951678252"/>
                    </a:ext>
                  </a:extLst>
                </a:gridCol>
                <a:gridCol w="284171">
                  <a:extLst>
                    <a:ext uri="{9D8B030D-6E8A-4147-A177-3AD203B41FA5}">
                      <a16:colId xmlns:a16="http://schemas.microsoft.com/office/drawing/2014/main" val="3866013404"/>
                    </a:ext>
                  </a:extLst>
                </a:gridCol>
                <a:gridCol w="250071">
                  <a:extLst>
                    <a:ext uri="{9D8B030D-6E8A-4147-A177-3AD203B41FA5}">
                      <a16:colId xmlns:a16="http://schemas.microsoft.com/office/drawing/2014/main" val="985079438"/>
                    </a:ext>
                  </a:extLst>
                </a:gridCol>
                <a:gridCol w="250071">
                  <a:extLst>
                    <a:ext uri="{9D8B030D-6E8A-4147-A177-3AD203B41FA5}">
                      <a16:colId xmlns:a16="http://schemas.microsoft.com/office/drawing/2014/main" val="3236623574"/>
                    </a:ext>
                  </a:extLst>
                </a:gridCol>
                <a:gridCol w="250071">
                  <a:extLst>
                    <a:ext uri="{9D8B030D-6E8A-4147-A177-3AD203B41FA5}">
                      <a16:colId xmlns:a16="http://schemas.microsoft.com/office/drawing/2014/main" val="3253696279"/>
                    </a:ext>
                  </a:extLst>
                </a:gridCol>
                <a:gridCol w="272804">
                  <a:extLst>
                    <a:ext uri="{9D8B030D-6E8A-4147-A177-3AD203B41FA5}">
                      <a16:colId xmlns:a16="http://schemas.microsoft.com/office/drawing/2014/main" val="1474248244"/>
                    </a:ext>
                  </a:extLst>
                </a:gridCol>
                <a:gridCol w="261438">
                  <a:extLst>
                    <a:ext uri="{9D8B030D-6E8A-4147-A177-3AD203B41FA5}">
                      <a16:colId xmlns:a16="http://schemas.microsoft.com/office/drawing/2014/main" val="871012956"/>
                    </a:ext>
                  </a:extLst>
                </a:gridCol>
                <a:gridCol w="341006">
                  <a:extLst>
                    <a:ext uri="{9D8B030D-6E8A-4147-A177-3AD203B41FA5}">
                      <a16:colId xmlns:a16="http://schemas.microsoft.com/office/drawing/2014/main" val="951722278"/>
                    </a:ext>
                  </a:extLst>
                </a:gridCol>
                <a:gridCol w="250071">
                  <a:extLst>
                    <a:ext uri="{9D8B030D-6E8A-4147-A177-3AD203B41FA5}">
                      <a16:colId xmlns:a16="http://schemas.microsoft.com/office/drawing/2014/main" val="128780940"/>
                    </a:ext>
                  </a:extLst>
                </a:gridCol>
                <a:gridCol w="238704">
                  <a:extLst>
                    <a:ext uri="{9D8B030D-6E8A-4147-A177-3AD203B41FA5}">
                      <a16:colId xmlns:a16="http://schemas.microsoft.com/office/drawing/2014/main" val="2749024208"/>
                    </a:ext>
                  </a:extLst>
                </a:gridCol>
                <a:gridCol w="295538">
                  <a:extLst>
                    <a:ext uri="{9D8B030D-6E8A-4147-A177-3AD203B41FA5}">
                      <a16:colId xmlns:a16="http://schemas.microsoft.com/office/drawing/2014/main" val="134453454"/>
                    </a:ext>
                  </a:extLst>
                </a:gridCol>
                <a:gridCol w="261438">
                  <a:extLst>
                    <a:ext uri="{9D8B030D-6E8A-4147-A177-3AD203B41FA5}">
                      <a16:colId xmlns:a16="http://schemas.microsoft.com/office/drawing/2014/main" val="2212646446"/>
                    </a:ext>
                  </a:extLst>
                </a:gridCol>
                <a:gridCol w="250071">
                  <a:extLst>
                    <a:ext uri="{9D8B030D-6E8A-4147-A177-3AD203B41FA5}">
                      <a16:colId xmlns:a16="http://schemas.microsoft.com/office/drawing/2014/main" val="814878099"/>
                    </a:ext>
                  </a:extLst>
                </a:gridCol>
                <a:gridCol w="250071">
                  <a:extLst>
                    <a:ext uri="{9D8B030D-6E8A-4147-A177-3AD203B41FA5}">
                      <a16:colId xmlns:a16="http://schemas.microsoft.com/office/drawing/2014/main" val="1388455619"/>
                    </a:ext>
                  </a:extLst>
                </a:gridCol>
              </a:tblGrid>
              <a:tr h="2557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Plaintext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83" marR="5683" marT="42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1600" b="1" i="0" u="none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83" marR="5683" marT="42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US" sz="1600" b="1" i="0" u="none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83" marR="5683" marT="42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1600" b="1" i="0" u="none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83" marR="5683" marT="42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US" sz="1600" b="1" i="0" u="none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83" marR="5683" marT="42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en-US" sz="1600" b="1" i="0" u="none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83" marR="5683" marT="42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en-US" sz="1600" b="1" i="0" u="none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83" marR="5683" marT="42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en-US" sz="1600" b="1" i="0" u="none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83" marR="5683" marT="42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en-US" sz="1600" b="1" i="0" u="none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83" marR="5683" marT="42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 err="1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1600" b="1" i="0" u="none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83" marR="5683" marT="42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en-US" sz="1600" b="1" i="0" u="none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83" marR="5683" marT="42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endParaRPr lang="en-US" sz="1600" b="1" i="0" u="none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83" marR="5683" marT="42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endParaRPr lang="en-US" sz="1600" b="1" i="0" u="none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83" marR="5683" marT="42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en-US" sz="1600" b="1" i="0" u="none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83" marR="5683" marT="42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 smtClean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sz="1600" b="1" i="0" u="none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83" marR="5683" marT="42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en-US" sz="1600" b="1" i="0" u="none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83" marR="5683" marT="42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US" sz="1600" b="1" i="0" u="none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83" marR="5683" marT="42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en-US" sz="1600" b="1" i="0" u="none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83" marR="5683" marT="42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en-US" sz="1600" b="1" i="0" u="none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83" marR="5683" marT="42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en-US" sz="1600" b="1" i="0" u="none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83" marR="5683" marT="42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US" sz="1600" b="1" i="0" u="none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83" marR="5683" marT="42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</a:t>
                      </a:r>
                      <a:endParaRPr lang="en-US" sz="1600" b="1" i="0" u="none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83" marR="5683" marT="42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83" marR="5683" marT="42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endParaRPr lang="en-US" sz="1600" b="1" i="0" u="none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83" marR="5683" marT="42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600" b="1" i="0" u="none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83" marR="5683" marT="42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US" sz="1600" b="1" i="0" u="none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83" marR="5683" marT="42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US" sz="1600" b="1" i="0" u="none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83" marR="5683" marT="4262" marB="0" anchor="ctr"/>
                </a:tc>
                <a:extLst>
                  <a:ext uri="{0D108BD9-81ED-4DB2-BD59-A6C34878D82A}">
                    <a16:rowId xmlns:a16="http://schemas.microsoft.com/office/drawing/2014/main" val="2175323675"/>
                  </a:ext>
                </a:extLst>
              </a:tr>
              <a:tr h="26001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Ciphertext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83" marR="5683" marT="42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US" sz="1600" b="1" i="0" u="none" strike="noStrike" dirty="0">
                        <a:solidFill>
                          <a:srgbClr val="FF006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83" marR="5683" marT="42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en-US" sz="1600" b="1" i="0" u="none" strike="noStrike" dirty="0">
                        <a:solidFill>
                          <a:srgbClr val="FF006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83" marR="5683" marT="42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en-US" sz="1600" b="1" i="0" u="none" strike="noStrike" dirty="0">
                        <a:solidFill>
                          <a:srgbClr val="FF006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83" marR="5683" marT="42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en-US" sz="1600" b="1" i="0" u="none" strike="noStrike" dirty="0">
                        <a:solidFill>
                          <a:srgbClr val="FF006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83" marR="5683" marT="42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en-US" sz="1600" b="1" i="0" u="none" strike="noStrike" dirty="0">
                        <a:solidFill>
                          <a:srgbClr val="FF006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83" marR="5683" marT="42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1600" b="1" i="0" u="none" strike="noStrike" dirty="0">
                        <a:solidFill>
                          <a:srgbClr val="FF006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83" marR="5683" marT="42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en-US" sz="1600" b="1" i="0" u="none" strike="noStrike" dirty="0">
                        <a:solidFill>
                          <a:srgbClr val="FF006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83" marR="5683" marT="42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endParaRPr lang="en-US" sz="1600" b="1" i="0" u="none" strike="noStrike" dirty="0">
                        <a:solidFill>
                          <a:srgbClr val="FF006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83" marR="5683" marT="42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endParaRPr lang="en-US" sz="1600" b="1" i="0" u="none" strike="noStrike" dirty="0">
                        <a:solidFill>
                          <a:srgbClr val="FF006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83" marR="5683" marT="42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en-US" sz="1600" b="1" i="0" u="none" strike="noStrike" dirty="0">
                        <a:solidFill>
                          <a:srgbClr val="FF006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83" marR="5683" marT="42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sz="1600" b="1" i="0" u="none" strike="noStrike" dirty="0">
                        <a:solidFill>
                          <a:srgbClr val="FF006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83" marR="5683" marT="42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en-US" sz="1600" b="1" i="0" u="none" strike="noStrike" dirty="0">
                        <a:solidFill>
                          <a:srgbClr val="FF006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83" marR="5683" marT="42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US" sz="1600" b="1" i="0" u="none" strike="noStrike" dirty="0">
                        <a:solidFill>
                          <a:srgbClr val="FF006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83" marR="5683" marT="42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en-US" sz="1600" b="1" i="0" u="none" strike="noStrike" dirty="0">
                        <a:solidFill>
                          <a:srgbClr val="FF006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83" marR="5683" marT="42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en-US" sz="1600" b="1" i="0" u="none" strike="noStrike" dirty="0">
                        <a:solidFill>
                          <a:srgbClr val="FF006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83" marR="5683" marT="42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en-US" sz="1600" b="1" i="0" u="none" strike="noStrike" dirty="0">
                        <a:solidFill>
                          <a:srgbClr val="FF006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83" marR="5683" marT="42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US" sz="1600" b="1" i="0" u="none" strike="noStrike" dirty="0">
                        <a:solidFill>
                          <a:srgbClr val="FF006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83" marR="5683" marT="42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</a:t>
                      </a:r>
                      <a:endParaRPr lang="en-US" sz="1600" b="1" i="0" u="none" strike="noStrike" dirty="0">
                        <a:solidFill>
                          <a:srgbClr val="FF006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83" marR="5683" marT="42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rgbClr val="FF006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83" marR="5683" marT="42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endParaRPr lang="en-US" sz="1600" b="1" i="0" u="none" strike="noStrike" dirty="0">
                        <a:solidFill>
                          <a:srgbClr val="FF006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83" marR="5683" marT="42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600" b="1" i="0" u="none" strike="noStrike" dirty="0">
                        <a:solidFill>
                          <a:srgbClr val="FF006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83" marR="5683" marT="42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US" sz="1600" b="1" i="0" u="none" strike="noStrike" dirty="0">
                        <a:solidFill>
                          <a:srgbClr val="FF006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83" marR="5683" marT="42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US" sz="1600" b="1" i="0" u="none" strike="noStrike" dirty="0">
                        <a:solidFill>
                          <a:srgbClr val="FF006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83" marR="5683" marT="42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1600" b="1" i="0" u="none" strike="noStrike" dirty="0">
                        <a:solidFill>
                          <a:srgbClr val="FF006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83" marR="5683" marT="42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US" sz="1600" b="1" i="0" u="none" strike="noStrike" dirty="0">
                        <a:solidFill>
                          <a:srgbClr val="FF006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83" marR="5683" marT="42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1600" b="1" i="0" u="none" strike="noStrike" dirty="0">
                        <a:solidFill>
                          <a:srgbClr val="FF006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83" marR="5683" marT="4262" marB="0" anchor="ctr"/>
                </a:tc>
                <a:extLst>
                  <a:ext uri="{0D108BD9-81ED-4DB2-BD59-A6C34878D82A}">
                    <a16:rowId xmlns:a16="http://schemas.microsoft.com/office/drawing/2014/main" val="18676952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4480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8600" y="12021"/>
            <a:ext cx="8686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5400" b="1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5400" b="1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742950"/>
            <a:ext cx="8077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400" b="1" i="1" dirty="0">
                <a:cs typeface="Times New Roman" panose="02020603050405020304" pitchFamily="18" charset="0"/>
              </a:rPr>
              <a:t>The Caesar </a:t>
            </a:r>
            <a:r>
              <a:rPr lang="en-US" sz="2400" b="1" i="1" dirty="0" smtClean="0">
                <a:cs typeface="Times New Roman" panose="02020603050405020304" pitchFamily="18" charset="0"/>
              </a:rPr>
              <a:t>Cipher - Problem</a:t>
            </a:r>
          </a:p>
          <a:p>
            <a:pPr marL="571500" indent="-571500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endParaRPr lang="en-US" sz="2400" dirty="0" smtClean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marL="1028700" lvl="1" indent="-571500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4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If </a:t>
            </a:r>
            <a:r>
              <a:rPr lang="en-US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it is known that a given ciphertext is a Caesar </a:t>
            </a:r>
            <a:r>
              <a:rPr lang="en-US" sz="24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   cipher</a:t>
            </a:r>
            <a:r>
              <a:rPr lang="en-US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, then a </a:t>
            </a:r>
            <a:r>
              <a:rPr lang="en-US" sz="24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brute-force cryptanalysis </a:t>
            </a:r>
            <a:r>
              <a:rPr lang="en-US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is easily </a:t>
            </a:r>
            <a:r>
              <a:rPr lang="en-US" sz="24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  performed.</a:t>
            </a:r>
          </a:p>
          <a:p>
            <a:pPr marL="1028700" lvl="1" indent="-571500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endParaRPr lang="en-US" sz="2400" dirty="0" smtClean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marL="1028700" lvl="1" indent="-571500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4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Simply </a:t>
            </a:r>
            <a:r>
              <a:rPr lang="en-US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try all the 25 possible keys. </a:t>
            </a:r>
            <a:endParaRPr lang="en-US" sz="2400" dirty="0" smtClean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8099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8600" y="12021"/>
            <a:ext cx="8686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5400" b="1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5400" b="1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742950"/>
            <a:ext cx="8077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400" b="1" i="1" dirty="0">
                <a:cs typeface="Times New Roman" panose="02020603050405020304" pitchFamily="18" charset="0"/>
              </a:rPr>
              <a:t>The </a:t>
            </a:r>
            <a:r>
              <a:rPr lang="en-US" sz="2400" b="1" i="1" dirty="0" smtClean="0">
                <a:cs typeface="Times New Roman" panose="02020603050405020304" pitchFamily="18" charset="0"/>
              </a:rPr>
              <a:t>Mono-alphabetic Cipher</a:t>
            </a:r>
          </a:p>
          <a:p>
            <a:pPr marL="571500" indent="-571500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endParaRPr lang="en-US" sz="2000" dirty="0" smtClean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marL="1028700" lvl="1" indent="-571500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A 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dramatic </a:t>
            </a:r>
            <a:r>
              <a:rPr lang="en-US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increase in 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the key space can be achieved by </a:t>
            </a:r>
            <a:r>
              <a:rPr lang="en-US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   allowing 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an arbitrary substitution.</a:t>
            </a:r>
            <a:endParaRPr lang="en-US" sz="2000" dirty="0" smtClean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2266950"/>
            <a:ext cx="4610100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769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8600" y="12021"/>
            <a:ext cx="8686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5400" b="1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5400" b="1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742951"/>
            <a:ext cx="8077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400" b="1" i="1" dirty="0">
                <a:cs typeface="Times New Roman" panose="02020603050405020304" pitchFamily="18" charset="0"/>
              </a:rPr>
              <a:t>The </a:t>
            </a:r>
            <a:r>
              <a:rPr lang="en-US" sz="2400" b="1" i="1" dirty="0" smtClean="0">
                <a:cs typeface="Times New Roman" panose="02020603050405020304" pitchFamily="18" charset="0"/>
              </a:rPr>
              <a:t>Mono-alphabetic Cipher (with keyword)</a:t>
            </a:r>
          </a:p>
          <a:p>
            <a:pPr marL="571500" indent="-571500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endParaRPr lang="en-US" sz="2400" dirty="0" smtClean="0">
              <a:cs typeface="Times New Roman" panose="02020603050405020304" pitchFamily="18" charset="0"/>
            </a:endParaRPr>
          </a:p>
          <a:p>
            <a:pPr marL="1028700" lvl="1" indent="-571500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400" dirty="0" smtClean="0">
                <a:cs typeface="Times New Roman" panose="02020603050405020304" pitchFamily="18" charset="0"/>
              </a:rPr>
              <a:t>A </a:t>
            </a:r>
            <a:r>
              <a:rPr lang="en-US" sz="2400" dirty="0">
                <a:cs typeface="Times New Roman" panose="02020603050405020304" pitchFamily="18" charset="0"/>
              </a:rPr>
              <a:t>dramatic </a:t>
            </a:r>
            <a:r>
              <a:rPr lang="en-US" sz="2400" dirty="0" smtClean="0">
                <a:cs typeface="Times New Roman" panose="02020603050405020304" pitchFamily="18" charset="0"/>
              </a:rPr>
              <a:t>increase in </a:t>
            </a:r>
            <a:r>
              <a:rPr lang="en-US" sz="2400" dirty="0">
                <a:cs typeface="Times New Roman" panose="02020603050405020304" pitchFamily="18" charset="0"/>
              </a:rPr>
              <a:t>the key space can be </a:t>
            </a:r>
            <a:r>
              <a:rPr lang="en-US" sz="2400" dirty="0" smtClean="0">
                <a:cs typeface="Times New Roman" panose="02020603050405020304" pitchFamily="18" charset="0"/>
              </a:rPr>
              <a:t>        achieved </a:t>
            </a:r>
            <a:r>
              <a:rPr lang="en-US" sz="2400" dirty="0">
                <a:cs typeface="Times New Roman" panose="02020603050405020304" pitchFamily="18" charset="0"/>
              </a:rPr>
              <a:t>by allowing an arbitrary substitution.</a:t>
            </a:r>
            <a:endParaRPr lang="en-US" sz="2400" dirty="0" smtClean="0"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461543"/>
            <a:ext cx="6067425" cy="6572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3286750"/>
            <a:ext cx="4972050" cy="100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355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8600" y="12021"/>
            <a:ext cx="8686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5400" b="1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5400" b="1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742950"/>
            <a:ext cx="807720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400" b="1" i="1" dirty="0">
                <a:cs typeface="Times New Roman" panose="02020603050405020304" pitchFamily="18" charset="0"/>
              </a:rPr>
              <a:t>The Mono-alphabetic </a:t>
            </a:r>
            <a:r>
              <a:rPr lang="en-US" sz="2400" b="1" i="1" dirty="0" smtClean="0">
                <a:cs typeface="Times New Roman" panose="02020603050405020304" pitchFamily="18" charset="0"/>
              </a:rPr>
              <a:t>Cipher - Problem</a:t>
            </a:r>
          </a:p>
          <a:p>
            <a:pPr marL="571500" indent="-571500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endParaRPr lang="en-US" sz="2000" dirty="0" smtClean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marL="1028700" lvl="1" indent="-571500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If 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the cryptanalyst knows </a:t>
            </a:r>
            <a:r>
              <a:rPr lang="en-US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the nature 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of the plaintext (e.g., </a:t>
            </a:r>
            <a:r>
              <a:rPr lang="en-US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non-compressed 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English text), then the analyst </a:t>
            </a:r>
            <a:r>
              <a:rPr lang="en-US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can exploit 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the </a:t>
            </a:r>
            <a:r>
              <a:rPr lang="en-US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  regularities 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of the language</a:t>
            </a:r>
            <a:r>
              <a:rPr lang="en-US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.</a:t>
            </a:r>
            <a:endParaRPr lang="en-US" sz="2000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marL="1028700" lvl="1" indent="-571500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Every language has certain frequency distribution of its          letters, so as English language.</a:t>
            </a:r>
          </a:p>
          <a:p>
            <a:pPr marL="1028700" lvl="1" indent="-571500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The frequency 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distribution of </a:t>
            </a:r>
            <a:r>
              <a:rPr lang="en-US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English language is as follows:</a:t>
            </a:r>
            <a:endParaRPr lang="en-US" sz="2000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marL="1028700" lvl="1" indent="-571500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endParaRPr lang="en-US" sz="2000" dirty="0" smtClean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marL="1028700" lvl="1" indent="-571500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endParaRPr lang="en-US" sz="2000" dirty="0" smtClean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9978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8600" y="12021"/>
            <a:ext cx="8686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5400" b="1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5400" b="1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742951"/>
            <a:ext cx="807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400" b="1" i="1" dirty="0">
                <a:cs typeface="Times New Roman" panose="02020603050405020304" pitchFamily="18" charset="0"/>
              </a:rPr>
              <a:t>The Mono-alphabetic </a:t>
            </a:r>
            <a:r>
              <a:rPr lang="en-US" sz="2400" b="1" i="1" dirty="0" smtClean="0">
                <a:cs typeface="Times New Roman" panose="02020603050405020304" pitchFamily="18" charset="0"/>
              </a:rPr>
              <a:t>Cipher - Problem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1" y="1276350"/>
            <a:ext cx="6476371" cy="357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840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8600" y="12021"/>
            <a:ext cx="8686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5400" b="1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5400" b="1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742950"/>
            <a:ext cx="8077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400" b="1" i="1" dirty="0">
                <a:cs typeface="Times New Roman" panose="02020603050405020304" pitchFamily="18" charset="0"/>
              </a:rPr>
              <a:t>The Mono-alphabetic </a:t>
            </a:r>
            <a:r>
              <a:rPr lang="en-US" sz="2400" b="1" i="1" dirty="0" smtClean="0">
                <a:cs typeface="Times New Roman" panose="02020603050405020304" pitchFamily="18" charset="0"/>
              </a:rPr>
              <a:t>Cipher - Problem</a:t>
            </a:r>
          </a:p>
          <a:p>
            <a:pPr marL="571500" indent="-571500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endParaRPr lang="en-US" sz="2000" dirty="0" smtClean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marL="1028700" lvl="1" indent="-571500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To 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see how such a cryptanalysis might proceed, we give a </a:t>
            </a:r>
            <a:r>
              <a:rPr lang="en-US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 partial 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example here. The ciphertext to be solved is</a:t>
            </a:r>
            <a:endParaRPr lang="en-US" sz="2000" dirty="0" smtClean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752600" y="2343150"/>
            <a:ext cx="5867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UZQSOVUOHXMOPVGPOZPEVSGZWSZOPFPESXUDBMETSXAIZVUEPHZHMDZSHZOWSFPAPPDTSVPQUZWYMXUZUHSXEPYEPOPDZSZUFPOMBZWPFUPZHMDJUDTMOHMQ</a:t>
            </a:r>
            <a:endParaRPr lang="en-US" sz="24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0103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8600" y="12021"/>
            <a:ext cx="8686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5400" b="1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5400" b="1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742951"/>
            <a:ext cx="807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400" b="1" i="1" dirty="0">
                <a:cs typeface="Times New Roman" panose="02020603050405020304" pitchFamily="18" charset="0"/>
              </a:rPr>
              <a:t>The Mono-alphabetic </a:t>
            </a:r>
            <a:r>
              <a:rPr lang="en-US" sz="2400" b="1" i="1" dirty="0" smtClean="0">
                <a:cs typeface="Times New Roman" panose="02020603050405020304" pitchFamily="18" charset="0"/>
              </a:rPr>
              <a:t>Cipher - Problem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74" y="1619250"/>
            <a:ext cx="8762745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435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8600" y="12021"/>
            <a:ext cx="8686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5400" b="1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5400" b="1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742951"/>
            <a:ext cx="807720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400" b="1" i="1" dirty="0">
                <a:cs typeface="Times New Roman" panose="02020603050405020304" pitchFamily="18" charset="0"/>
              </a:rPr>
              <a:t>The Mono-alphabetic </a:t>
            </a:r>
            <a:r>
              <a:rPr lang="en-US" sz="2400" b="1" i="1" dirty="0" smtClean="0">
                <a:cs typeface="Times New Roman" panose="02020603050405020304" pitchFamily="18" charset="0"/>
              </a:rPr>
              <a:t>Cipher - Problem</a:t>
            </a:r>
          </a:p>
          <a:p>
            <a:pPr marL="571500" indent="-571500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endParaRPr lang="en-US" sz="2000" dirty="0" smtClean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marL="1028700" lvl="1" indent="-571500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As 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a first step, the relative frequency of the letters can be </a:t>
            </a:r>
            <a:r>
              <a:rPr lang="en-US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   determined and compared 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to a standard frequency </a:t>
            </a:r>
            <a:r>
              <a:rPr lang="en-US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             distribution 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for </a:t>
            </a:r>
            <a:r>
              <a:rPr lang="en-US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English</a:t>
            </a:r>
          </a:p>
          <a:p>
            <a:pPr lvl="1" algn="just">
              <a:buClr>
                <a:srgbClr val="0000CC"/>
              </a:buClr>
            </a:pPr>
            <a:endParaRPr lang="en-US" sz="2000" dirty="0" smtClean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marL="1028700" lvl="1" indent="-571500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If 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the message were long enough, this </a:t>
            </a:r>
            <a:r>
              <a:rPr lang="en-US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technique alone 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might be sufficient, but because this is a relatively short message, we </a:t>
            </a:r>
            <a:r>
              <a:rPr lang="en-US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cannot expect 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an exact match. </a:t>
            </a:r>
            <a:endParaRPr lang="en-US" sz="2000" dirty="0" smtClean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2173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90600" y="666750"/>
            <a:ext cx="7391400" cy="34740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28625" indent="-428625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400" b="1" i="1" dirty="0">
                <a:cs typeface="Times New Roman" panose="02020603050405020304" pitchFamily="18" charset="0"/>
              </a:rPr>
              <a:t>The Mono-alphabetic Cipher - Problem</a:t>
            </a:r>
          </a:p>
          <a:p>
            <a:pPr marL="428625" indent="-428625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endParaRPr lang="en-US" sz="675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71525" lvl="1" indent="-428625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100" dirty="0">
                <a:solidFill>
                  <a:srgbClr val="000000"/>
                </a:solidFill>
                <a:cs typeface="Times New Roman" panose="02020603050405020304" pitchFamily="18" charset="0"/>
              </a:rPr>
              <a:t>Comparing this breakdown with frequency distribution of English, it seems likely that cipher letters </a:t>
            </a:r>
            <a:r>
              <a:rPr lang="en-US" sz="2100" b="1" i="1" dirty="0">
                <a:solidFill>
                  <a:srgbClr val="0000FF"/>
                </a:solidFill>
                <a:cs typeface="Times New Roman" panose="02020603050405020304" pitchFamily="18" charset="0"/>
              </a:rPr>
              <a:t>P</a:t>
            </a:r>
            <a:r>
              <a:rPr lang="en-US" sz="2100" dirty="0">
                <a:solidFill>
                  <a:srgbClr val="000000"/>
                </a:solidFill>
                <a:cs typeface="Times New Roman" panose="02020603050405020304" pitchFamily="18" charset="0"/>
              </a:rPr>
              <a:t> and </a:t>
            </a:r>
            <a:r>
              <a:rPr lang="en-US" sz="2100" b="1" i="1" dirty="0">
                <a:solidFill>
                  <a:srgbClr val="0000FF"/>
                </a:solidFill>
                <a:cs typeface="Times New Roman" panose="02020603050405020304" pitchFamily="18" charset="0"/>
              </a:rPr>
              <a:t>Z</a:t>
            </a:r>
            <a:r>
              <a:rPr lang="en-US" sz="2100" dirty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en-US" sz="21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 are </a:t>
            </a:r>
            <a:r>
              <a:rPr lang="en-US" sz="2100" dirty="0">
                <a:solidFill>
                  <a:srgbClr val="000000"/>
                </a:solidFill>
                <a:cs typeface="Times New Roman" panose="02020603050405020304" pitchFamily="18" charset="0"/>
              </a:rPr>
              <a:t>the equivalents of plain letters </a:t>
            </a:r>
            <a:r>
              <a:rPr lang="en-US" sz="2100" b="1" i="1" dirty="0">
                <a:solidFill>
                  <a:srgbClr val="0000FF"/>
                </a:solidFill>
                <a:cs typeface="Times New Roman" panose="02020603050405020304" pitchFamily="18" charset="0"/>
              </a:rPr>
              <a:t>e</a:t>
            </a:r>
            <a:r>
              <a:rPr lang="en-US" sz="2100" dirty="0">
                <a:solidFill>
                  <a:srgbClr val="000000"/>
                </a:solidFill>
                <a:cs typeface="Times New Roman" panose="02020603050405020304" pitchFamily="18" charset="0"/>
              </a:rPr>
              <a:t> and </a:t>
            </a:r>
            <a:r>
              <a:rPr lang="en-US" sz="2100" b="1" i="1" dirty="0">
                <a:solidFill>
                  <a:srgbClr val="0000FF"/>
                </a:solidFill>
                <a:cs typeface="Times New Roman" panose="02020603050405020304" pitchFamily="18" charset="0"/>
              </a:rPr>
              <a:t>t</a:t>
            </a:r>
            <a:r>
              <a:rPr lang="en-US" sz="2100" dirty="0">
                <a:solidFill>
                  <a:srgbClr val="000000"/>
                </a:solidFill>
                <a:cs typeface="Times New Roman" panose="02020603050405020304" pitchFamily="18" charset="0"/>
              </a:rPr>
              <a:t>, but it is not certain which is which.</a:t>
            </a:r>
          </a:p>
          <a:p>
            <a:pPr marL="771525" lvl="1" indent="-428625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100" dirty="0">
                <a:solidFill>
                  <a:srgbClr val="000000"/>
                </a:solidFill>
                <a:cs typeface="Times New Roman" panose="02020603050405020304" pitchFamily="18" charset="0"/>
              </a:rPr>
              <a:t>The letters </a:t>
            </a:r>
            <a:r>
              <a:rPr lang="en-US" sz="2100" b="1" i="1" dirty="0">
                <a:solidFill>
                  <a:srgbClr val="0000FF"/>
                </a:solidFill>
                <a:cs typeface="Times New Roman" panose="02020603050405020304" pitchFamily="18" charset="0"/>
              </a:rPr>
              <a:t>S</a:t>
            </a:r>
            <a:r>
              <a:rPr lang="en-US" sz="2100" dirty="0">
                <a:solidFill>
                  <a:srgbClr val="000000"/>
                </a:solidFill>
                <a:cs typeface="Times New Roman" panose="02020603050405020304" pitchFamily="18" charset="0"/>
              </a:rPr>
              <a:t>,</a:t>
            </a:r>
            <a:r>
              <a:rPr lang="en-US" sz="2100" b="1" i="1" dirty="0">
                <a:solidFill>
                  <a:srgbClr val="0000FF"/>
                </a:solidFill>
                <a:cs typeface="Times New Roman" panose="02020603050405020304" pitchFamily="18" charset="0"/>
              </a:rPr>
              <a:t>U</a:t>
            </a:r>
            <a:r>
              <a:rPr lang="en-US" sz="2100" dirty="0">
                <a:solidFill>
                  <a:srgbClr val="000000"/>
                </a:solidFill>
                <a:cs typeface="Times New Roman" panose="02020603050405020304" pitchFamily="18" charset="0"/>
              </a:rPr>
              <a:t>,</a:t>
            </a:r>
            <a:r>
              <a:rPr lang="en-US" sz="2100" b="1" i="1" dirty="0">
                <a:solidFill>
                  <a:srgbClr val="0000FF"/>
                </a:solidFill>
                <a:cs typeface="Times New Roman" panose="02020603050405020304" pitchFamily="18" charset="0"/>
              </a:rPr>
              <a:t>O</a:t>
            </a:r>
            <a:r>
              <a:rPr lang="en-US" sz="2100" dirty="0">
                <a:solidFill>
                  <a:srgbClr val="000000"/>
                </a:solidFill>
                <a:cs typeface="Times New Roman" panose="02020603050405020304" pitchFamily="18" charset="0"/>
              </a:rPr>
              <a:t>,</a:t>
            </a:r>
            <a:r>
              <a:rPr lang="en-US" sz="2100" b="1" i="1" dirty="0">
                <a:solidFill>
                  <a:srgbClr val="0000FF"/>
                </a:solidFill>
                <a:cs typeface="Times New Roman" panose="02020603050405020304" pitchFamily="18" charset="0"/>
              </a:rPr>
              <a:t>M</a:t>
            </a:r>
            <a:r>
              <a:rPr lang="en-US" sz="2100" dirty="0">
                <a:solidFill>
                  <a:srgbClr val="000000"/>
                </a:solidFill>
                <a:cs typeface="Times New Roman" panose="02020603050405020304" pitchFamily="18" charset="0"/>
              </a:rPr>
              <a:t>, and </a:t>
            </a:r>
            <a:r>
              <a:rPr lang="en-US" sz="2100" b="1" i="1" dirty="0">
                <a:solidFill>
                  <a:srgbClr val="0000FF"/>
                </a:solidFill>
                <a:cs typeface="Times New Roman" panose="02020603050405020304" pitchFamily="18" charset="0"/>
              </a:rPr>
              <a:t>H</a:t>
            </a:r>
            <a:r>
              <a:rPr lang="en-US" sz="2100" dirty="0">
                <a:solidFill>
                  <a:srgbClr val="000000"/>
                </a:solidFill>
                <a:cs typeface="Times New Roman" panose="02020603050405020304" pitchFamily="18" charset="0"/>
              </a:rPr>
              <a:t> are all of relatively high </a:t>
            </a:r>
            <a:r>
              <a:rPr lang="en-US" sz="21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   frequency </a:t>
            </a:r>
            <a:r>
              <a:rPr lang="en-US" sz="2100" dirty="0">
                <a:solidFill>
                  <a:srgbClr val="000000"/>
                </a:solidFill>
                <a:cs typeface="Times New Roman" panose="02020603050405020304" pitchFamily="18" charset="0"/>
              </a:rPr>
              <a:t>and probably correspond to plain letters </a:t>
            </a:r>
            <a:r>
              <a:rPr lang="en-US" sz="21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    from </a:t>
            </a:r>
            <a:r>
              <a:rPr lang="en-US" sz="2100" dirty="0">
                <a:solidFill>
                  <a:srgbClr val="000000"/>
                </a:solidFill>
                <a:cs typeface="Times New Roman" panose="02020603050405020304" pitchFamily="18" charset="0"/>
              </a:rPr>
              <a:t>the set {</a:t>
            </a:r>
            <a:r>
              <a:rPr lang="en-US" sz="2100" b="1" i="1" dirty="0">
                <a:solidFill>
                  <a:srgbClr val="0000FF"/>
                </a:solidFill>
                <a:cs typeface="Times New Roman" panose="02020603050405020304" pitchFamily="18" charset="0"/>
              </a:rPr>
              <a:t>a</a:t>
            </a:r>
            <a:r>
              <a:rPr lang="en-US" sz="2100" dirty="0">
                <a:solidFill>
                  <a:srgbClr val="000000"/>
                </a:solidFill>
                <a:cs typeface="Times New Roman" panose="02020603050405020304" pitchFamily="18" charset="0"/>
              </a:rPr>
              <a:t>, </a:t>
            </a:r>
            <a:r>
              <a:rPr lang="en-US" sz="2100" b="1" i="1" dirty="0">
                <a:solidFill>
                  <a:srgbClr val="0000FF"/>
                </a:solidFill>
                <a:cs typeface="Times New Roman" panose="02020603050405020304" pitchFamily="18" charset="0"/>
              </a:rPr>
              <a:t>h</a:t>
            </a:r>
            <a:r>
              <a:rPr lang="en-US" sz="2100" dirty="0">
                <a:solidFill>
                  <a:srgbClr val="000000"/>
                </a:solidFill>
                <a:cs typeface="Times New Roman" panose="02020603050405020304" pitchFamily="18" charset="0"/>
              </a:rPr>
              <a:t>, </a:t>
            </a:r>
            <a:r>
              <a:rPr lang="en-US" sz="2100" b="1" i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i</a:t>
            </a:r>
            <a:r>
              <a:rPr lang="en-US" sz="2100" dirty="0">
                <a:solidFill>
                  <a:srgbClr val="000000"/>
                </a:solidFill>
                <a:cs typeface="Times New Roman" panose="02020603050405020304" pitchFamily="18" charset="0"/>
              </a:rPr>
              <a:t>, </a:t>
            </a:r>
            <a:r>
              <a:rPr lang="en-US" sz="2100" b="1" i="1" dirty="0">
                <a:solidFill>
                  <a:srgbClr val="0000FF"/>
                </a:solidFill>
                <a:cs typeface="Times New Roman" panose="02020603050405020304" pitchFamily="18" charset="0"/>
              </a:rPr>
              <a:t>n</a:t>
            </a:r>
            <a:r>
              <a:rPr lang="en-US" sz="2100" dirty="0">
                <a:solidFill>
                  <a:srgbClr val="000000"/>
                </a:solidFill>
                <a:cs typeface="Times New Roman" panose="02020603050405020304" pitchFamily="18" charset="0"/>
              </a:rPr>
              <a:t>, </a:t>
            </a:r>
            <a:r>
              <a:rPr lang="en-US" sz="2100" b="1" i="1" dirty="0">
                <a:solidFill>
                  <a:srgbClr val="0000FF"/>
                </a:solidFill>
                <a:cs typeface="Times New Roman" panose="02020603050405020304" pitchFamily="18" charset="0"/>
              </a:rPr>
              <a:t>o</a:t>
            </a:r>
            <a:r>
              <a:rPr lang="en-US" sz="2100" dirty="0">
                <a:solidFill>
                  <a:srgbClr val="000000"/>
                </a:solidFill>
                <a:cs typeface="Times New Roman" panose="02020603050405020304" pitchFamily="18" charset="0"/>
              </a:rPr>
              <a:t>, </a:t>
            </a:r>
            <a:r>
              <a:rPr lang="en-US" sz="2100" b="1" i="1" dirty="0">
                <a:solidFill>
                  <a:srgbClr val="0000FF"/>
                </a:solidFill>
                <a:cs typeface="Times New Roman" panose="02020603050405020304" pitchFamily="18" charset="0"/>
              </a:rPr>
              <a:t>r</a:t>
            </a:r>
            <a:r>
              <a:rPr lang="en-US" sz="2100" dirty="0">
                <a:solidFill>
                  <a:srgbClr val="000000"/>
                </a:solidFill>
                <a:cs typeface="Times New Roman" panose="02020603050405020304" pitchFamily="18" charset="0"/>
              </a:rPr>
              <a:t>, </a:t>
            </a:r>
            <a:r>
              <a:rPr lang="en-US" sz="2100" b="1" i="1" dirty="0">
                <a:solidFill>
                  <a:srgbClr val="0000FF"/>
                </a:solidFill>
                <a:cs typeface="Times New Roman" panose="02020603050405020304" pitchFamily="18" charset="0"/>
              </a:rPr>
              <a:t>s</a:t>
            </a:r>
            <a:r>
              <a:rPr lang="en-US" sz="2100" dirty="0">
                <a:solidFill>
                  <a:srgbClr val="000000"/>
                </a:solidFill>
                <a:cs typeface="Times New Roman" panose="02020603050405020304" pitchFamily="18" charset="0"/>
              </a:rPr>
              <a:t>}.</a:t>
            </a:r>
          </a:p>
          <a:p>
            <a:pPr marL="771525" lvl="1" indent="-428625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100" dirty="0">
                <a:solidFill>
                  <a:srgbClr val="000000"/>
                </a:solidFill>
                <a:cs typeface="Times New Roman" panose="02020603050405020304" pitchFamily="18" charset="0"/>
              </a:rPr>
              <a:t>The letters with the lowest frequencies (namely, </a:t>
            </a:r>
            <a:r>
              <a:rPr lang="en-US" sz="2100" b="1" i="1" dirty="0">
                <a:solidFill>
                  <a:srgbClr val="0000FF"/>
                </a:solidFill>
                <a:cs typeface="Times New Roman" panose="02020603050405020304" pitchFamily="18" charset="0"/>
              </a:rPr>
              <a:t>A</a:t>
            </a:r>
            <a:r>
              <a:rPr lang="en-US" sz="2100" dirty="0">
                <a:solidFill>
                  <a:srgbClr val="000000"/>
                </a:solidFill>
                <a:cs typeface="Times New Roman" panose="02020603050405020304" pitchFamily="18" charset="0"/>
              </a:rPr>
              <a:t>,</a:t>
            </a:r>
            <a:r>
              <a:rPr lang="en-US" sz="2100" b="1" i="1" dirty="0">
                <a:solidFill>
                  <a:srgbClr val="0000FF"/>
                </a:solidFill>
                <a:cs typeface="Times New Roman" panose="02020603050405020304" pitchFamily="18" charset="0"/>
              </a:rPr>
              <a:t>B</a:t>
            </a:r>
            <a:r>
              <a:rPr lang="en-US" sz="2100" dirty="0">
                <a:solidFill>
                  <a:srgbClr val="000000"/>
                </a:solidFill>
                <a:cs typeface="Times New Roman" panose="02020603050405020304" pitchFamily="18" charset="0"/>
              </a:rPr>
              <a:t>,</a:t>
            </a:r>
            <a:r>
              <a:rPr lang="en-US" sz="2100" b="1" i="1" dirty="0">
                <a:solidFill>
                  <a:srgbClr val="0000FF"/>
                </a:solidFill>
                <a:cs typeface="Times New Roman" panose="02020603050405020304" pitchFamily="18" charset="0"/>
              </a:rPr>
              <a:t>G</a:t>
            </a:r>
            <a:r>
              <a:rPr lang="en-US" sz="2100" dirty="0">
                <a:solidFill>
                  <a:srgbClr val="000000"/>
                </a:solidFill>
                <a:cs typeface="Times New Roman" panose="02020603050405020304" pitchFamily="18" charset="0"/>
              </a:rPr>
              <a:t>,</a:t>
            </a:r>
            <a:r>
              <a:rPr lang="en-US" sz="2100" b="1" i="1" dirty="0">
                <a:solidFill>
                  <a:srgbClr val="0000FF"/>
                </a:solidFill>
                <a:cs typeface="Times New Roman" panose="02020603050405020304" pitchFamily="18" charset="0"/>
              </a:rPr>
              <a:t>Y</a:t>
            </a:r>
            <a:r>
              <a:rPr lang="en-US" sz="2100" dirty="0">
                <a:solidFill>
                  <a:srgbClr val="000000"/>
                </a:solidFill>
                <a:cs typeface="Times New Roman" panose="02020603050405020304" pitchFamily="18" charset="0"/>
              </a:rPr>
              <a:t>, </a:t>
            </a:r>
            <a:r>
              <a:rPr lang="en-US" sz="2100" b="1" i="1" dirty="0">
                <a:solidFill>
                  <a:srgbClr val="0000FF"/>
                </a:solidFill>
                <a:cs typeface="Times New Roman" panose="02020603050405020304" pitchFamily="18" charset="0"/>
              </a:rPr>
              <a:t>I</a:t>
            </a:r>
            <a:r>
              <a:rPr lang="en-US" sz="2100" dirty="0">
                <a:solidFill>
                  <a:srgbClr val="000000"/>
                </a:solidFill>
                <a:cs typeface="Times New Roman" panose="02020603050405020304" pitchFamily="18" charset="0"/>
              </a:rPr>
              <a:t>, </a:t>
            </a:r>
            <a:r>
              <a:rPr lang="en-US" sz="2100" b="1" i="1" dirty="0">
                <a:solidFill>
                  <a:srgbClr val="0000FF"/>
                </a:solidFill>
                <a:cs typeface="Times New Roman" panose="02020603050405020304" pitchFamily="18" charset="0"/>
              </a:rPr>
              <a:t>J</a:t>
            </a:r>
            <a:r>
              <a:rPr lang="en-US" sz="2100" dirty="0">
                <a:solidFill>
                  <a:srgbClr val="000000"/>
                </a:solidFill>
                <a:cs typeface="Times New Roman" panose="02020603050405020304" pitchFamily="18" charset="0"/>
              </a:rPr>
              <a:t>) are likely included in the set {</a:t>
            </a:r>
            <a:r>
              <a:rPr lang="en-US" sz="2100" b="1" i="1" dirty="0">
                <a:solidFill>
                  <a:srgbClr val="0000FF"/>
                </a:solidFill>
                <a:cs typeface="Times New Roman" panose="02020603050405020304" pitchFamily="18" charset="0"/>
              </a:rPr>
              <a:t>b</a:t>
            </a:r>
            <a:r>
              <a:rPr lang="en-US" sz="2100" dirty="0">
                <a:solidFill>
                  <a:srgbClr val="000000"/>
                </a:solidFill>
                <a:cs typeface="Times New Roman" panose="02020603050405020304" pitchFamily="18" charset="0"/>
              </a:rPr>
              <a:t>, </a:t>
            </a:r>
            <a:r>
              <a:rPr lang="en-US" sz="2100" b="1" i="1" dirty="0">
                <a:solidFill>
                  <a:srgbClr val="0000FF"/>
                </a:solidFill>
                <a:cs typeface="Times New Roman" panose="02020603050405020304" pitchFamily="18" charset="0"/>
              </a:rPr>
              <a:t>j</a:t>
            </a:r>
            <a:r>
              <a:rPr lang="en-US" sz="2100" dirty="0">
                <a:solidFill>
                  <a:srgbClr val="000000"/>
                </a:solidFill>
                <a:cs typeface="Times New Roman" panose="02020603050405020304" pitchFamily="18" charset="0"/>
              </a:rPr>
              <a:t>, </a:t>
            </a:r>
            <a:r>
              <a:rPr lang="en-US" sz="2100" b="1" i="1" dirty="0">
                <a:solidFill>
                  <a:srgbClr val="0000FF"/>
                </a:solidFill>
                <a:cs typeface="Times New Roman" panose="02020603050405020304" pitchFamily="18" charset="0"/>
              </a:rPr>
              <a:t>k</a:t>
            </a:r>
            <a:r>
              <a:rPr lang="en-US" sz="2100" dirty="0">
                <a:solidFill>
                  <a:srgbClr val="000000"/>
                </a:solidFill>
                <a:cs typeface="Times New Roman" panose="02020603050405020304" pitchFamily="18" charset="0"/>
              </a:rPr>
              <a:t>, </a:t>
            </a:r>
            <a:r>
              <a:rPr lang="en-US" sz="2100" b="1" i="1" dirty="0">
                <a:solidFill>
                  <a:srgbClr val="0000FF"/>
                </a:solidFill>
                <a:cs typeface="Times New Roman" panose="02020603050405020304" pitchFamily="18" charset="0"/>
              </a:rPr>
              <a:t>q</a:t>
            </a:r>
            <a:r>
              <a:rPr lang="en-US" sz="2100" dirty="0">
                <a:solidFill>
                  <a:srgbClr val="000000"/>
                </a:solidFill>
                <a:cs typeface="Times New Roman" panose="02020603050405020304" pitchFamily="18" charset="0"/>
              </a:rPr>
              <a:t>, </a:t>
            </a:r>
            <a:r>
              <a:rPr lang="en-US" sz="2100" b="1" i="1" dirty="0">
                <a:solidFill>
                  <a:srgbClr val="0000FF"/>
                </a:solidFill>
                <a:cs typeface="Times New Roman" panose="02020603050405020304" pitchFamily="18" charset="0"/>
              </a:rPr>
              <a:t>v</a:t>
            </a:r>
            <a:r>
              <a:rPr lang="en-US" sz="2100" dirty="0">
                <a:solidFill>
                  <a:srgbClr val="000000"/>
                </a:solidFill>
                <a:cs typeface="Times New Roman" panose="02020603050405020304" pitchFamily="18" charset="0"/>
              </a:rPr>
              <a:t>, </a:t>
            </a:r>
            <a:r>
              <a:rPr lang="en-US" sz="2100" b="1" i="1" dirty="0">
                <a:solidFill>
                  <a:srgbClr val="0000FF"/>
                </a:solidFill>
                <a:cs typeface="Times New Roman" panose="02020603050405020304" pitchFamily="18" charset="0"/>
              </a:rPr>
              <a:t>x</a:t>
            </a:r>
            <a:r>
              <a:rPr lang="en-US" sz="2100" dirty="0">
                <a:solidFill>
                  <a:srgbClr val="000000"/>
                </a:solidFill>
                <a:cs typeface="Times New Roman" panose="02020603050405020304" pitchFamily="18" charset="0"/>
              </a:rPr>
              <a:t>, </a:t>
            </a:r>
            <a:r>
              <a:rPr lang="en-US" sz="2100" b="1" i="1" dirty="0">
                <a:solidFill>
                  <a:srgbClr val="0000FF"/>
                </a:solidFill>
                <a:cs typeface="Times New Roman" panose="02020603050405020304" pitchFamily="18" charset="0"/>
              </a:rPr>
              <a:t>z</a:t>
            </a:r>
            <a:r>
              <a:rPr lang="en-US" sz="2100" dirty="0">
                <a:solidFill>
                  <a:srgbClr val="000000"/>
                </a:solidFill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89755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9600" y="-31215"/>
            <a:ext cx="6515100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4050" b="1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4050" b="1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00200" y="742950"/>
            <a:ext cx="6229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28625" indent="-428625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400" b="1" i="1" dirty="0">
                <a:cs typeface="Times New Roman" panose="02020603050405020304" pitchFamily="18" charset="0"/>
              </a:rPr>
              <a:t>The Mono-alphabetic Cipher - Problem</a:t>
            </a:r>
          </a:p>
        </p:txBody>
      </p:sp>
      <p:sp>
        <p:nvSpPr>
          <p:cNvPr id="2" name="Rectangle 1"/>
          <p:cNvSpPr/>
          <p:nvPr/>
        </p:nvSpPr>
        <p:spPr>
          <a:xfrm>
            <a:off x="1600200" y="1385322"/>
            <a:ext cx="5753100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5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UZQSOVUOHXMOPVGPOZPEVSGZWSZOPFPESXUDBMETSXAIZ</a:t>
            </a:r>
          </a:p>
          <a:p>
            <a:r>
              <a:rPr lang="en-US" sz="135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t    a                        e       </a:t>
            </a:r>
            <a:r>
              <a:rPr lang="en-US" sz="135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35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35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  <a:r>
              <a:rPr lang="en-US" sz="135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a    t h a t    e   </a:t>
            </a:r>
            <a:r>
              <a:rPr lang="en-US" sz="135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35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a                    </a:t>
            </a:r>
            <a:r>
              <a:rPr lang="en-US" sz="135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sz="135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35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VUEPHZHMDZSHZOWSFPAPPDTSVPQUZWYMXUZUHSX</a:t>
            </a:r>
          </a:p>
          <a:p>
            <a:r>
              <a:rPr lang="en-US" sz="135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e    t           </a:t>
            </a:r>
            <a:r>
              <a:rPr lang="en-US" sz="135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35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  t     h a   e   </a:t>
            </a:r>
            <a:r>
              <a:rPr lang="en-US" sz="135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ee</a:t>
            </a:r>
            <a:r>
              <a:rPr lang="en-US" sz="135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a   e       t  h             t       a</a:t>
            </a:r>
          </a:p>
          <a:p>
            <a:r>
              <a:rPr lang="en-US" sz="135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EPYEPOPDZSZUFPOMBZWPFUPZHMDJUDTMOHMQ</a:t>
            </a:r>
          </a:p>
          <a:p>
            <a:r>
              <a:rPr lang="en-US" sz="135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e     </a:t>
            </a:r>
            <a:r>
              <a:rPr lang="en-US" sz="135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35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35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35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t a t      e          t  h e        t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2895421"/>
            <a:ext cx="69532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disclos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y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inform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but</a:t>
            </a:r>
          </a:p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m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poli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</a:p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tat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of 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vie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cong in moscow</a:t>
            </a:r>
          </a:p>
        </p:txBody>
      </p:sp>
    </p:spTree>
    <p:extLst>
      <p:ext uri="{BB962C8B-B14F-4D97-AF65-F5344CB8AC3E}">
        <p14:creationId xmlns:p14="http://schemas.microsoft.com/office/powerpoint/2010/main" val="4215181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143000" y="944887"/>
            <a:ext cx="6705600" cy="3150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28625" indent="-428625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400" b="1" i="1" dirty="0">
                <a:cs typeface="Times New Roman" panose="02020603050405020304" pitchFamily="18" charset="0"/>
              </a:rPr>
              <a:t>The </a:t>
            </a:r>
            <a:r>
              <a:rPr lang="en-US" sz="2400" b="1" i="1" dirty="0" err="1">
                <a:cs typeface="Times New Roman" panose="02020603050405020304" pitchFamily="18" charset="0"/>
              </a:rPr>
              <a:t>Playfair</a:t>
            </a:r>
            <a:r>
              <a:rPr lang="en-US" sz="2400" b="1" i="1" dirty="0">
                <a:cs typeface="Times New Roman" panose="02020603050405020304" pitchFamily="18" charset="0"/>
              </a:rPr>
              <a:t> Cipher</a:t>
            </a:r>
          </a:p>
          <a:p>
            <a:pPr marL="428625" indent="-428625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endParaRPr lang="en-US" sz="675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71525" lvl="1" indent="-428625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Playfair</a:t>
            </a:r>
            <a:r>
              <a:rPr lang="en-US" sz="24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cipher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was the first practical 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digraph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(pair of alphabets) substitution cipher.</a:t>
            </a:r>
          </a:p>
          <a:p>
            <a:pPr marL="771525" lvl="1" indent="-428625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</a:p>
          <a:p>
            <a:pPr marL="771525" lvl="1" indent="-428625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71525" lvl="1" indent="-428625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scheme was invented in 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1854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by 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Charles Wheatstone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but was named after 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Lord </a:t>
            </a:r>
            <a:r>
              <a:rPr lang="en-US" sz="24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Playfair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 promoted the use of the cipher.</a:t>
            </a:r>
          </a:p>
        </p:txBody>
      </p:sp>
    </p:spTree>
    <p:extLst>
      <p:ext uri="{BB962C8B-B14F-4D97-AF65-F5344CB8AC3E}">
        <p14:creationId xmlns:p14="http://schemas.microsoft.com/office/powerpoint/2010/main" val="3365046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62000" y="850322"/>
            <a:ext cx="7620000" cy="3335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28625" indent="-428625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400" b="1" i="1" dirty="0">
                <a:cs typeface="Times New Roman" panose="02020603050405020304" pitchFamily="18" charset="0"/>
              </a:rPr>
              <a:t>The </a:t>
            </a:r>
            <a:r>
              <a:rPr lang="en-US" sz="2400" b="1" i="1" dirty="0" err="1">
                <a:cs typeface="Times New Roman" panose="02020603050405020304" pitchFamily="18" charset="0"/>
              </a:rPr>
              <a:t>Playfair</a:t>
            </a:r>
            <a:r>
              <a:rPr lang="en-US" sz="2400" b="1" i="1" dirty="0">
                <a:cs typeface="Times New Roman" panose="02020603050405020304" pitchFamily="18" charset="0"/>
              </a:rPr>
              <a:t> Cipher</a:t>
            </a:r>
          </a:p>
          <a:p>
            <a:pPr marL="428625" indent="-428625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endParaRPr lang="en-US" sz="675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71525" lvl="1" indent="-428625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The </a:t>
            </a:r>
            <a:r>
              <a:rPr lang="en-US" sz="2000" dirty="0" err="1">
                <a:solidFill>
                  <a:srgbClr val="000000"/>
                </a:solidFill>
                <a:cs typeface="Times New Roman" panose="02020603050405020304" pitchFamily="18" charset="0"/>
              </a:rPr>
              <a:t>Playfair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 algorithm is based on the use of a </a:t>
            </a:r>
            <a:r>
              <a:rPr lang="en-US" sz="2000" dirty="0">
                <a:solidFill>
                  <a:srgbClr val="0000FF"/>
                </a:solidFill>
                <a:cs typeface="Times New Roman" panose="02020603050405020304" pitchFamily="18" charset="0"/>
              </a:rPr>
              <a:t>5×5 </a:t>
            </a:r>
            <a:r>
              <a:rPr lang="en-US" sz="2000" dirty="0" smtClean="0">
                <a:solidFill>
                  <a:srgbClr val="0000FF"/>
                </a:solidFill>
                <a:cs typeface="Times New Roman" panose="02020603050405020304" pitchFamily="18" charset="0"/>
              </a:rPr>
              <a:t>  matrix 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of letters constructed using a keyword.</a:t>
            </a:r>
          </a:p>
          <a:p>
            <a:pPr marL="771525" lvl="1" indent="-428625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If the keyword is </a:t>
            </a:r>
            <a:r>
              <a:rPr lang="en-US" sz="2000" b="1" i="1" dirty="0">
                <a:solidFill>
                  <a:srgbClr val="0000FF"/>
                </a:solidFill>
                <a:cs typeface="Times New Roman" panose="02020603050405020304" pitchFamily="18" charset="0"/>
              </a:rPr>
              <a:t>monarchy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. The matrix is constructed by </a:t>
            </a:r>
            <a:r>
              <a:rPr lang="en-US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 filling 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in the letters of the keyword (minus duplicates) from </a:t>
            </a:r>
            <a:r>
              <a:rPr lang="en-US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 left 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to right and from top to bottom, and then filling in the </a:t>
            </a:r>
            <a:r>
              <a:rPr lang="en-US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   remainder 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of the matrix with the remaining letters in </a:t>
            </a:r>
            <a:r>
              <a:rPr lang="en-US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          alphabetic 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order.</a:t>
            </a:r>
          </a:p>
          <a:p>
            <a:pPr marL="771525" lvl="1" indent="-428625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The letters </a:t>
            </a:r>
            <a:r>
              <a:rPr lang="en-US" sz="2000" b="1" dirty="0">
                <a:solidFill>
                  <a:srgbClr val="0000FF"/>
                </a:solidFill>
                <a:cs typeface="Times New Roman" panose="02020603050405020304" pitchFamily="18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solidFill>
                  <a:srgbClr val="0000FF"/>
                </a:solidFill>
                <a:cs typeface="Times New Roman" panose="02020603050405020304" pitchFamily="18" charset="0"/>
              </a:rPr>
              <a:t>J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 count as one letter (Normally </a:t>
            </a:r>
            <a:r>
              <a:rPr lang="en-US" sz="2000" b="1" dirty="0">
                <a:solidFill>
                  <a:srgbClr val="0000FF"/>
                </a:solidFill>
                <a:cs typeface="Times New Roman" panose="02020603050405020304" pitchFamily="18" charset="0"/>
              </a:rPr>
              <a:t>J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 is </a:t>
            </a:r>
            <a:r>
              <a:rPr lang="en-US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         omitted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23601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884218" y="734631"/>
            <a:ext cx="6057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28625" indent="-428625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400" b="1" i="1" dirty="0">
                <a:cs typeface="Times New Roman" panose="02020603050405020304" pitchFamily="18" charset="0"/>
              </a:rPr>
              <a:t>The </a:t>
            </a:r>
            <a:r>
              <a:rPr lang="en-US" sz="2400" b="1" i="1" dirty="0" err="1">
                <a:cs typeface="Times New Roman" panose="02020603050405020304" pitchFamily="18" charset="0"/>
              </a:rPr>
              <a:t>Playfair</a:t>
            </a:r>
            <a:r>
              <a:rPr lang="en-US" sz="2400" b="1" i="1" dirty="0">
                <a:cs typeface="Times New Roman" panose="02020603050405020304" pitchFamily="18" charset="0"/>
              </a:rPr>
              <a:t> Cipher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4414359"/>
              </p:ext>
            </p:extLst>
          </p:nvPr>
        </p:nvGraphicFramePr>
        <p:xfrm>
          <a:off x="2057400" y="1409700"/>
          <a:ext cx="4000500" cy="291465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8215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29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293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en-US" sz="2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en-US" sz="2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sz="2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2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en-US" sz="2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>
                    <a:solidFill>
                      <a:srgbClr val="00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2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en-US" sz="2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US" sz="2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I/J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125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62000" y="711949"/>
            <a:ext cx="7467600" cy="3993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28625" indent="-428625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400" b="1" i="1" dirty="0">
                <a:cs typeface="Times New Roman" panose="02020603050405020304" pitchFamily="18" charset="0"/>
              </a:rPr>
              <a:t>The </a:t>
            </a:r>
            <a:r>
              <a:rPr lang="en-US" sz="2400" b="1" i="1" dirty="0" err="1">
                <a:cs typeface="Times New Roman" panose="02020603050405020304" pitchFamily="18" charset="0"/>
              </a:rPr>
              <a:t>Playfair</a:t>
            </a:r>
            <a:r>
              <a:rPr lang="en-US" sz="2400" b="1" i="1" dirty="0">
                <a:cs typeface="Times New Roman" panose="02020603050405020304" pitchFamily="18" charset="0"/>
              </a:rPr>
              <a:t> Cipher</a:t>
            </a:r>
          </a:p>
          <a:p>
            <a:pPr marL="428625" indent="-428625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endParaRPr lang="en-US" sz="675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71525" lvl="1" indent="-428625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Plaintext is encrypted two letters at a time, according to the following rules:</a:t>
            </a:r>
          </a:p>
          <a:p>
            <a:pPr marL="771525" lvl="1" indent="-428625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endParaRPr lang="en-US" sz="675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14425" lvl="2" indent="-428625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Repeating plaintext letters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are in the same pair are separated 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filler letter, such as </a:t>
            </a:r>
            <a:r>
              <a:rPr lang="en-US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so that </a:t>
            </a:r>
            <a:r>
              <a:rPr lang="en-US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balloon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would be treated as 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i="1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i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lx lo on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14425" lvl="2" indent="-428625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(sometime </a:t>
            </a:r>
            <a:r>
              <a:rPr lang="en-US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is also used to fill second letter in the 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there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an odd number of letter.</a:t>
            </a:r>
          </a:p>
          <a:p>
            <a:pPr marL="1114425" lvl="2" indent="-428625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plaintext letters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fall in the 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same row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matrix are 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each 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replaced by the letter to the right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with the first element of the row 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circularly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following the last. For example,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encrypted as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RM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36163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760222"/>
            <a:ext cx="8001000" cy="3612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28625" indent="-428625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400" b="1" i="1" dirty="0">
                <a:cs typeface="Times New Roman" panose="02020603050405020304" pitchFamily="18" charset="0"/>
              </a:rPr>
              <a:t>The </a:t>
            </a:r>
            <a:r>
              <a:rPr lang="en-US" sz="2400" b="1" i="1" dirty="0" err="1">
                <a:cs typeface="Times New Roman" panose="02020603050405020304" pitchFamily="18" charset="0"/>
              </a:rPr>
              <a:t>Playfair</a:t>
            </a:r>
            <a:r>
              <a:rPr lang="en-US" sz="2400" b="1" i="1" dirty="0">
                <a:cs typeface="Times New Roman" panose="02020603050405020304" pitchFamily="18" charset="0"/>
              </a:rPr>
              <a:t> Cipher</a:t>
            </a:r>
          </a:p>
          <a:p>
            <a:pPr marL="428625" indent="-428625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endParaRPr lang="en-US" sz="675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71525" lvl="1" indent="-428625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Plaintext is encrypted two letters at a time, according to the following rules:</a:t>
            </a:r>
          </a:p>
          <a:p>
            <a:pPr marL="771525" lvl="1" indent="-428625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endParaRPr lang="en-US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marL="1114425" lvl="2" indent="-428625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Two plaintext letters </a:t>
            </a:r>
            <a:r>
              <a:rPr 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that fall in the </a:t>
            </a:r>
            <a:r>
              <a:rPr 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same column </a:t>
            </a:r>
            <a:r>
              <a:rPr 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are each </a:t>
            </a:r>
            <a:r>
              <a:rPr lang="en-US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           replaced </a:t>
            </a:r>
            <a:r>
              <a:rPr 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by the letter beneath, with the top element of the column circularly following the last. For example, </a:t>
            </a:r>
            <a:r>
              <a:rPr lang="en-US" b="1" dirty="0">
                <a:solidFill>
                  <a:srgbClr val="0000FF"/>
                </a:solidFill>
                <a:cs typeface="Times New Roman" panose="02020603050405020304" pitchFamily="18" charset="0"/>
              </a:rPr>
              <a:t>MU</a:t>
            </a:r>
            <a:r>
              <a:rPr 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 is encrypted as </a:t>
            </a:r>
            <a:r>
              <a:rPr lang="en-US" b="1" dirty="0">
                <a:solidFill>
                  <a:srgbClr val="0000FF"/>
                </a:solidFill>
                <a:cs typeface="Times New Roman" panose="02020603050405020304" pitchFamily="18" charset="0"/>
              </a:rPr>
              <a:t>CM</a:t>
            </a:r>
            <a:r>
              <a:rPr lang="en-US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.</a:t>
            </a:r>
          </a:p>
          <a:p>
            <a:pPr marL="685800" lvl="2" algn="just">
              <a:buClr>
                <a:srgbClr val="0000CC"/>
              </a:buClr>
            </a:pPr>
            <a:endParaRPr lang="en-US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marL="1114425" lvl="2" indent="-428625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Otherwise, each plaintext letter in a pair is replaced by the letter </a:t>
            </a:r>
            <a:r>
              <a:rPr lang="en-US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  that </a:t>
            </a:r>
            <a:r>
              <a:rPr 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lies in its own row and the column occupied by the other </a:t>
            </a:r>
            <a:r>
              <a:rPr lang="en-US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      plaintext </a:t>
            </a:r>
            <a:r>
              <a:rPr 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letter. Thus, </a:t>
            </a:r>
            <a:r>
              <a:rPr lang="en-US" b="1" dirty="0">
                <a:solidFill>
                  <a:srgbClr val="0000FF"/>
                </a:solidFill>
                <a:cs typeface="Times New Roman" panose="02020603050405020304" pitchFamily="18" charset="0"/>
              </a:rPr>
              <a:t>HS</a:t>
            </a:r>
            <a:r>
              <a:rPr 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 becomes </a:t>
            </a:r>
            <a:r>
              <a:rPr lang="en-US" b="1" dirty="0">
                <a:solidFill>
                  <a:srgbClr val="0000FF"/>
                </a:solidFill>
                <a:cs typeface="Times New Roman" panose="02020603050405020304" pitchFamily="18" charset="0"/>
              </a:rPr>
              <a:t>BP</a:t>
            </a:r>
            <a:r>
              <a:rPr 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 and </a:t>
            </a:r>
            <a:r>
              <a:rPr lang="en-US" b="1" dirty="0">
                <a:solidFill>
                  <a:srgbClr val="0000FF"/>
                </a:solidFill>
                <a:cs typeface="Times New Roman" panose="02020603050405020304" pitchFamily="18" charset="0"/>
              </a:rPr>
              <a:t>EA</a:t>
            </a:r>
            <a:r>
              <a:rPr 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 becomes </a:t>
            </a:r>
            <a:r>
              <a:rPr lang="en-US" b="1" dirty="0">
                <a:solidFill>
                  <a:srgbClr val="0000FF"/>
                </a:solidFill>
                <a:cs typeface="Times New Roman" panose="02020603050405020304" pitchFamily="18" charset="0"/>
              </a:rPr>
              <a:t>IM</a:t>
            </a:r>
            <a:r>
              <a:rPr 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 (or </a:t>
            </a:r>
            <a:r>
              <a:rPr lang="en-US" b="1" dirty="0">
                <a:solidFill>
                  <a:srgbClr val="0000FF"/>
                </a:solidFill>
                <a:cs typeface="Times New Roman" panose="02020603050405020304" pitchFamily="18" charset="0"/>
              </a:rPr>
              <a:t>JM</a:t>
            </a:r>
            <a:r>
              <a:rPr 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, as the </a:t>
            </a:r>
            <a:r>
              <a:rPr lang="en-US" dirty="0" err="1">
                <a:solidFill>
                  <a:srgbClr val="000000"/>
                </a:solidFill>
                <a:cs typeface="Times New Roman" panose="02020603050405020304" pitchFamily="18" charset="0"/>
              </a:rPr>
              <a:t>encipherer</a:t>
            </a:r>
            <a:r>
              <a:rPr 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 wishes).</a:t>
            </a:r>
          </a:p>
        </p:txBody>
      </p:sp>
    </p:spTree>
    <p:extLst>
      <p:ext uri="{BB962C8B-B14F-4D97-AF65-F5344CB8AC3E}">
        <p14:creationId xmlns:p14="http://schemas.microsoft.com/office/powerpoint/2010/main" val="42178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600200" y="742951"/>
            <a:ext cx="6324600" cy="1950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28625" indent="-428625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400" b="1" i="1" dirty="0">
                <a:cs typeface="Times New Roman" panose="02020603050405020304" pitchFamily="18" charset="0"/>
              </a:rPr>
              <a:t>The </a:t>
            </a:r>
            <a:r>
              <a:rPr lang="en-US" sz="2400" b="1" i="1" dirty="0" err="1">
                <a:cs typeface="Times New Roman" panose="02020603050405020304" pitchFamily="18" charset="0"/>
              </a:rPr>
              <a:t>Playfair</a:t>
            </a:r>
            <a:r>
              <a:rPr lang="en-US" sz="2400" b="1" i="1" dirty="0">
                <a:cs typeface="Times New Roman" panose="02020603050405020304" pitchFamily="18" charset="0"/>
              </a:rPr>
              <a:t> Cipher</a:t>
            </a:r>
          </a:p>
          <a:p>
            <a:pPr marL="428625" indent="-428625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endParaRPr lang="en-US" sz="675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71525" lvl="1" indent="-428625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If </a:t>
            </a:r>
            <a:r>
              <a:rPr 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keyword</a:t>
            </a:r>
            <a:r>
              <a:rPr 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 is </a:t>
            </a:r>
            <a:r>
              <a:rPr lang="en-US" b="1" i="1" dirty="0">
                <a:solidFill>
                  <a:srgbClr val="0000FF"/>
                </a:solidFill>
                <a:cs typeface="Times New Roman" panose="02020603050405020304" pitchFamily="18" charset="0"/>
              </a:rPr>
              <a:t>Monarchy</a:t>
            </a:r>
            <a:r>
              <a:rPr 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 and</a:t>
            </a:r>
          </a:p>
          <a:p>
            <a:pPr marL="771525" lvl="1" indent="-428625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plaintext </a:t>
            </a:r>
            <a:r>
              <a:rPr 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is </a:t>
            </a:r>
            <a:r>
              <a:rPr lang="en-US" b="1" i="1" dirty="0">
                <a:solidFill>
                  <a:srgbClr val="0000FF"/>
                </a:solidFill>
                <a:cs typeface="Times New Roman" panose="02020603050405020304" pitchFamily="18" charset="0"/>
              </a:rPr>
              <a:t>Instruments</a:t>
            </a:r>
            <a:endParaRPr lang="en-US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marL="771525" lvl="1" indent="-428625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endParaRPr lang="en-US" b="1" i="1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marL="771525" lvl="1" indent="-428625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Then first break the plaintext is converted into cipher text as follows: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5673759"/>
              </p:ext>
            </p:extLst>
          </p:nvPr>
        </p:nvGraphicFramePr>
        <p:xfrm>
          <a:off x="1047747" y="3167062"/>
          <a:ext cx="2914653" cy="471488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8902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08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48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0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10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5744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Plaintext</a:t>
                      </a:r>
                      <a:endParaRPr lang="en-US" sz="15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in</a:t>
                      </a:r>
                      <a:endParaRPr lang="en-US" sz="15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dirty="0" err="1" smtClean="0">
                          <a:solidFill>
                            <a:srgbClr val="FF0000"/>
                          </a:solidFill>
                          <a:effectLst/>
                        </a:rPr>
                        <a:t>st</a:t>
                      </a:r>
                      <a:endParaRPr lang="en-US" sz="15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dirty="0" err="1" smtClean="0">
                          <a:solidFill>
                            <a:srgbClr val="FF0000"/>
                          </a:solidFill>
                          <a:effectLst/>
                        </a:rPr>
                        <a:t>ru</a:t>
                      </a:r>
                      <a:endParaRPr lang="en-US" sz="15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me</a:t>
                      </a:r>
                      <a:endParaRPr lang="en-US" sz="15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dirty="0" err="1" smtClean="0">
                          <a:solidFill>
                            <a:srgbClr val="FF0000"/>
                          </a:solidFill>
                          <a:effectLst/>
                        </a:rPr>
                        <a:t>nt</a:t>
                      </a:r>
                      <a:endParaRPr lang="en-US" sz="15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dirty="0" err="1" smtClean="0">
                          <a:solidFill>
                            <a:srgbClr val="FF0000"/>
                          </a:solidFill>
                          <a:effectLst/>
                        </a:rPr>
                        <a:t>sx</a:t>
                      </a:r>
                      <a:endParaRPr lang="en-US" sz="15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744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</a:rPr>
                        <a:t>Ciphertext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dirty="0">
                          <a:effectLst/>
                        </a:rPr>
                        <a:t>GA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dirty="0">
                          <a:effectLst/>
                        </a:rPr>
                        <a:t>TL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dirty="0">
                          <a:effectLst/>
                        </a:rPr>
                        <a:t>MZ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dirty="0">
                          <a:effectLst/>
                        </a:rPr>
                        <a:t>CL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dirty="0">
                          <a:effectLst/>
                        </a:rPr>
                        <a:t>RQ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dirty="0">
                          <a:effectLst/>
                        </a:rPr>
                        <a:t>XA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6932598"/>
              </p:ext>
            </p:extLst>
          </p:nvPr>
        </p:nvGraphicFramePr>
        <p:xfrm>
          <a:off x="4572000" y="2510790"/>
          <a:ext cx="2514601" cy="196596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516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0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88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1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90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en-US" sz="2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en-US" sz="2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sz="2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2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en-US" sz="2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>
                    <a:solidFill>
                      <a:srgbClr val="00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2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en-US" sz="2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US" sz="2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I/J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1894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09600" y="742950"/>
            <a:ext cx="8077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400" b="1" i="1" dirty="0" smtClean="0">
                <a:cs typeface="Times New Roman" panose="02020603050405020304" pitchFamily="18" charset="0"/>
              </a:rPr>
              <a:t>The Transposition Cipher</a:t>
            </a:r>
          </a:p>
          <a:p>
            <a:pPr marL="571500" indent="-571500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endParaRPr lang="en-US" sz="2400" dirty="0" smtClean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marL="1028700" lvl="1" indent="-571500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4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A </a:t>
            </a:r>
            <a:r>
              <a:rPr lang="en-US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very different kind of mapping is achieved by </a:t>
            </a:r>
            <a:r>
              <a:rPr lang="en-US" sz="24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   performing some </a:t>
            </a:r>
            <a:r>
              <a:rPr lang="en-US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sort of permutation on the </a:t>
            </a:r>
            <a:r>
              <a:rPr lang="en-US" sz="24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         plaintext </a:t>
            </a:r>
            <a:r>
              <a:rPr lang="en-US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letters. This technique is referred to as </a:t>
            </a:r>
            <a:r>
              <a:rPr lang="en-US" sz="24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a  transposition </a:t>
            </a:r>
            <a:r>
              <a:rPr lang="en-US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cipher.</a:t>
            </a:r>
            <a:endParaRPr lang="en-US" sz="2400" dirty="0" smtClean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0857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09600" y="742950"/>
            <a:ext cx="8077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400" b="1" i="1" dirty="0" smtClean="0">
                <a:cs typeface="Times New Roman" panose="02020603050405020304" pitchFamily="18" charset="0"/>
              </a:rPr>
              <a:t>The Scytale Cipher</a:t>
            </a:r>
          </a:p>
          <a:p>
            <a:pPr marL="571500" indent="-571500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endParaRPr lang="en-US" sz="2400" dirty="0" smtClean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marL="1028700" lvl="1" indent="-571500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4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solidFill>
                  <a:srgbClr val="0000FF"/>
                </a:solidFill>
                <a:cs typeface="Times New Roman" panose="02020603050405020304" pitchFamily="18" charset="0"/>
              </a:rPr>
              <a:t>Scytale </a:t>
            </a:r>
            <a:r>
              <a:rPr lang="en-US" sz="2400" b="1" dirty="0" smtClean="0">
                <a:solidFill>
                  <a:srgbClr val="0000FF"/>
                </a:solidFill>
                <a:cs typeface="Times New Roman" panose="02020603050405020304" pitchFamily="18" charset="0"/>
              </a:rPr>
              <a:t>Cipher </a:t>
            </a:r>
            <a:r>
              <a:rPr lang="en-US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was used in ancient Greek </a:t>
            </a:r>
            <a:r>
              <a:rPr lang="en-US" sz="24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   times </a:t>
            </a:r>
            <a:r>
              <a:rPr lang="en-US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to encrypt </a:t>
            </a:r>
            <a:r>
              <a:rPr lang="en-US" sz="24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messages.</a:t>
            </a:r>
          </a:p>
          <a:p>
            <a:pPr marL="1028700" lvl="1" indent="-571500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endParaRPr lang="en-US" sz="2400" dirty="0" smtClean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marL="1028700" lvl="1" indent="-571500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4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The </a:t>
            </a:r>
            <a:r>
              <a:rPr lang="en-US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device used to make these ciphers was a rod with a polygon base, which was wrapped in </a:t>
            </a:r>
            <a:r>
              <a:rPr lang="en-US" sz="24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paper.</a:t>
            </a:r>
          </a:p>
        </p:txBody>
      </p:sp>
    </p:spTree>
    <p:extLst>
      <p:ext uri="{BB962C8B-B14F-4D97-AF65-F5344CB8AC3E}">
        <p14:creationId xmlns:p14="http://schemas.microsoft.com/office/powerpoint/2010/main" val="2284254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09600" y="742950"/>
            <a:ext cx="80772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400" b="1" i="1" dirty="0" smtClean="0">
                <a:cs typeface="Times New Roman" panose="02020603050405020304" pitchFamily="18" charset="0"/>
              </a:rPr>
              <a:t>The Scytale Cipher</a:t>
            </a:r>
          </a:p>
          <a:p>
            <a:pPr marL="571500" indent="-571500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endParaRPr lang="en-US" sz="2400" dirty="0" smtClean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marL="1028700" lvl="1" indent="-571500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4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People </a:t>
            </a:r>
            <a:r>
              <a:rPr lang="en-US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could write on the paper </a:t>
            </a:r>
            <a:r>
              <a:rPr lang="en-US" sz="24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horizontally.</a:t>
            </a:r>
          </a:p>
          <a:p>
            <a:pPr marL="1028700" lvl="1" indent="-571500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4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When </a:t>
            </a:r>
            <a:r>
              <a:rPr lang="en-US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the paper was removed from the device, </a:t>
            </a:r>
            <a:r>
              <a:rPr lang="en-US" sz="24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    it </a:t>
            </a:r>
            <a:r>
              <a:rPr lang="en-US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would make a strip of letters that seemed </a:t>
            </a:r>
            <a:r>
              <a:rPr lang="en-US" sz="24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          randomized.</a:t>
            </a:r>
          </a:p>
          <a:p>
            <a:pPr marL="1028700" lvl="1" indent="-571500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4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The </a:t>
            </a:r>
            <a:r>
              <a:rPr lang="en-US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only way to read the message would be to </a:t>
            </a:r>
            <a:r>
              <a:rPr lang="en-US" sz="24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   have </a:t>
            </a:r>
            <a:r>
              <a:rPr lang="en-US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a </a:t>
            </a:r>
            <a:r>
              <a:rPr lang="en-US" sz="2400" b="1" dirty="0">
                <a:solidFill>
                  <a:srgbClr val="0000FF"/>
                </a:solidFill>
                <a:cs typeface="Times New Roman" panose="02020603050405020304" pitchFamily="18" charset="0"/>
              </a:rPr>
              <a:t>Scytale machine </a:t>
            </a:r>
            <a:r>
              <a:rPr lang="en-US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of one's own.</a:t>
            </a:r>
            <a:endParaRPr lang="en-US" sz="2400" dirty="0" smtClean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5207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09600" y="742950"/>
            <a:ext cx="807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400" b="1" i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The Scytale Cipher</a:t>
            </a:r>
          </a:p>
        </p:txBody>
      </p:sp>
      <p:pic>
        <p:nvPicPr>
          <p:cNvPr id="4098" name="Picture 2" descr="Image result for scytale ciph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8305" y="1273865"/>
            <a:ext cx="4191001" cy="1706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C:\Users\Dr. Muhammad Zubair\AppData\Local\Microsoft\Windows\INetCache\Content.MSO\5989E436.tmp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190750"/>
            <a:ext cx="4038600" cy="2209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24479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09600" y="742950"/>
            <a:ext cx="80772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400" b="1" i="1" dirty="0" smtClean="0">
                <a:cs typeface="Times New Roman" panose="02020603050405020304" pitchFamily="18" charset="0"/>
              </a:rPr>
              <a:t>The Rail Fence Cipher</a:t>
            </a:r>
          </a:p>
          <a:p>
            <a:pPr marL="571500" indent="-571500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endParaRPr lang="en-US" sz="2400" dirty="0" smtClean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lvl="1">
              <a:buClr>
                <a:srgbClr val="0000CC"/>
              </a:buClr>
            </a:pPr>
            <a:r>
              <a:rPr lang="en-US" sz="24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The </a:t>
            </a:r>
            <a:r>
              <a:rPr lang="en-US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simplest such cipher is the </a:t>
            </a:r>
            <a:r>
              <a:rPr lang="en-US" sz="2400" b="1" dirty="0" smtClean="0">
                <a:solidFill>
                  <a:srgbClr val="0000FF"/>
                </a:solidFill>
                <a:cs typeface="Times New Roman" panose="02020603050405020304" pitchFamily="18" charset="0"/>
              </a:rPr>
              <a:t>Rail Fence</a:t>
            </a:r>
            <a:r>
              <a:rPr lang="en-US" sz="24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technique, in which the plaintext </a:t>
            </a:r>
            <a:r>
              <a:rPr lang="en-US" sz="24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is written </a:t>
            </a:r>
            <a:r>
              <a:rPr lang="en-US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down as a sequence of diagonals and then read off as a sequence of </a:t>
            </a:r>
            <a:r>
              <a:rPr lang="en-US" sz="24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rows.</a:t>
            </a:r>
          </a:p>
          <a:p>
            <a:pPr lvl="1">
              <a:buClr>
                <a:srgbClr val="0000CC"/>
              </a:buClr>
            </a:pPr>
            <a:endParaRPr lang="en-US" sz="2400" dirty="0" smtClean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lvl="1">
              <a:buClr>
                <a:srgbClr val="0000CC"/>
              </a:buClr>
            </a:pPr>
            <a:r>
              <a:rPr lang="en-US" sz="24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For example</a:t>
            </a:r>
            <a:r>
              <a:rPr lang="en-US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, to encipher the message </a:t>
            </a:r>
            <a:r>
              <a:rPr lang="en-US" sz="24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                        “</a:t>
            </a:r>
            <a:r>
              <a:rPr 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meet me after the </a:t>
            </a:r>
            <a:r>
              <a:rPr lang="en-US" sz="24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party</a:t>
            </a:r>
            <a:r>
              <a:rPr lang="en-US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” with a rail fence </a:t>
            </a:r>
            <a:r>
              <a:rPr lang="en-US" sz="24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of </a:t>
            </a:r>
            <a:r>
              <a:rPr lang="en-US" sz="2400" b="1" dirty="0" smtClean="0">
                <a:solidFill>
                  <a:srgbClr val="0000FF"/>
                </a:solidFill>
                <a:cs typeface="Times New Roman" panose="02020603050405020304" pitchFamily="18" charset="0"/>
              </a:rPr>
              <a:t>depth </a:t>
            </a:r>
            <a:r>
              <a:rPr lang="en-US" sz="2400" b="1" dirty="0">
                <a:solidFill>
                  <a:srgbClr val="0000FF"/>
                </a:solidFill>
                <a:cs typeface="Times New Roman" panose="02020603050405020304" pitchFamily="18" charset="0"/>
              </a:rPr>
              <a:t>2</a:t>
            </a:r>
            <a:r>
              <a:rPr lang="en-US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, we write the following:</a:t>
            </a:r>
            <a:endParaRPr lang="en-US" sz="2400" dirty="0" smtClean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5583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09600" y="742950"/>
            <a:ext cx="807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400" b="1" i="1" dirty="0" smtClean="0">
                <a:cs typeface="Times New Roman" panose="02020603050405020304" pitchFamily="18" charset="0"/>
              </a:rPr>
              <a:t>The Rail Fence Cipher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769434"/>
              </p:ext>
            </p:extLst>
          </p:nvPr>
        </p:nvGraphicFramePr>
        <p:xfrm>
          <a:off x="152400" y="1476929"/>
          <a:ext cx="8839200" cy="2009223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2688861">
                  <a:extLst>
                    <a:ext uri="{9D8B030D-6E8A-4147-A177-3AD203B41FA5}">
                      <a16:colId xmlns:a16="http://schemas.microsoft.com/office/drawing/2014/main" val="1137920804"/>
                    </a:ext>
                  </a:extLst>
                </a:gridCol>
                <a:gridCol w="49333">
                  <a:extLst>
                    <a:ext uri="{9D8B030D-6E8A-4147-A177-3AD203B41FA5}">
                      <a16:colId xmlns:a16="http://schemas.microsoft.com/office/drawing/2014/main" val="107607737"/>
                    </a:ext>
                  </a:extLst>
                </a:gridCol>
                <a:gridCol w="448121">
                  <a:extLst>
                    <a:ext uri="{9D8B030D-6E8A-4147-A177-3AD203B41FA5}">
                      <a16:colId xmlns:a16="http://schemas.microsoft.com/office/drawing/2014/main" val="2891191106"/>
                    </a:ext>
                  </a:extLst>
                </a:gridCol>
                <a:gridCol w="301487">
                  <a:extLst>
                    <a:ext uri="{9D8B030D-6E8A-4147-A177-3AD203B41FA5}">
                      <a16:colId xmlns:a16="http://schemas.microsoft.com/office/drawing/2014/main" val="3850627120"/>
                    </a:ext>
                  </a:extLst>
                </a:gridCol>
                <a:gridCol w="391933">
                  <a:extLst>
                    <a:ext uri="{9D8B030D-6E8A-4147-A177-3AD203B41FA5}">
                      <a16:colId xmlns:a16="http://schemas.microsoft.com/office/drawing/2014/main" val="633108393"/>
                    </a:ext>
                  </a:extLst>
                </a:gridCol>
                <a:gridCol w="316562">
                  <a:extLst>
                    <a:ext uri="{9D8B030D-6E8A-4147-A177-3AD203B41FA5}">
                      <a16:colId xmlns:a16="http://schemas.microsoft.com/office/drawing/2014/main" val="1500189391"/>
                    </a:ext>
                  </a:extLst>
                </a:gridCol>
                <a:gridCol w="361784">
                  <a:extLst>
                    <a:ext uri="{9D8B030D-6E8A-4147-A177-3AD203B41FA5}">
                      <a16:colId xmlns:a16="http://schemas.microsoft.com/office/drawing/2014/main" val="3312187109"/>
                    </a:ext>
                  </a:extLst>
                </a:gridCol>
                <a:gridCol w="316562">
                  <a:extLst>
                    <a:ext uri="{9D8B030D-6E8A-4147-A177-3AD203B41FA5}">
                      <a16:colId xmlns:a16="http://schemas.microsoft.com/office/drawing/2014/main" val="636517734"/>
                    </a:ext>
                  </a:extLst>
                </a:gridCol>
                <a:gridCol w="331636">
                  <a:extLst>
                    <a:ext uri="{9D8B030D-6E8A-4147-A177-3AD203B41FA5}">
                      <a16:colId xmlns:a16="http://schemas.microsoft.com/office/drawing/2014/main" val="1731997426"/>
                    </a:ext>
                  </a:extLst>
                </a:gridCol>
                <a:gridCol w="286413">
                  <a:extLst>
                    <a:ext uri="{9D8B030D-6E8A-4147-A177-3AD203B41FA5}">
                      <a16:colId xmlns:a16="http://schemas.microsoft.com/office/drawing/2014/main" val="1712667750"/>
                    </a:ext>
                  </a:extLst>
                </a:gridCol>
                <a:gridCol w="316562">
                  <a:extLst>
                    <a:ext uri="{9D8B030D-6E8A-4147-A177-3AD203B41FA5}">
                      <a16:colId xmlns:a16="http://schemas.microsoft.com/office/drawing/2014/main" val="648419624"/>
                    </a:ext>
                  </a:extLst>
                </a:gridCol>
                <a:gridCol w="316562">
                  <a:extLst>
                    <a:ext uri="{9D8B030D-6E8A-4147-A177-3AD203B41FA5}">
                      <a16:colId xmlns:a16="http://schemas.microsoft.com/office/drawing/2014/main" val="2669415464"/>
                    </a:ext>
                  </a:extLst>
                </a:gridCol>
                <a:gridCol w="301487">
                  <a:extLst>
                    <a:ext uri="{9D8B030D-6E8A-4147-A177-3AD203B41FA5}">
                      <a16:colId xmlns:a16="http://schemas.microsoft.com/office/drawing/2014/main" val="1916284251"/>
                    </a:ext>
                  </a:extLst>
                </a:gridCol>
                <a:gridCol w="301487">
                  <a:extLst>
                    <a:ext uri="{9D8B030D-6E8A-4147-A177-3AD203B41FA5}">
                      <a16:colId xmlns:a16="http://schemas.microsoft.com/office/drawing/2014/main" val="3625914043"/>
                    </a:ext>
                  </a:extLst>
                </a:gridCol>
                <a:gridCol w="301487">
                  <a:extLst>
                    <a:ext uri="{9D8B030D-6E8A-4147-A177-3AD203B41FA5}">
                      <a16:colId xmlns:a16="http://schemas.microsoft.com/office/drawing/2014/main" val="1874595835"/>
                    </a:ext>
                  </a:extLst>
                </a:gridCol>
                <a:gridCol w="286413">
                  <a:extLst>
                    <a:ext uri="{9D8B030D-6E8A-4147-A177-3AD203B41FA5}">
                      <a16:colId xmlns:a16="http://schemas.microsoft.com/office/drawing/2014/main" val="173347087"/>
                    </a:ext>
                  </a:extLst>
                </a:gridCol>
                <a:gridCol w="301487">
                  <a:extLst>
                    <a:ext uri="{9D8B030D-6E8A-4147-A177-3AD203B41FA5}">
                      <a16:colId xmlns:a16="http://schemas.microsoft.com/office/drawing/2014/main" val="2463193132"/>
                    </a:ext>
                  </a:extLst>
                </a:gridCol>
                <a:gridCol w="301487">
                  <a:extLst>
                    <a:ext uri="{9D8B030D-6E8A-4147-A177-3AD203B41FA5}">
                      <a16:colId xmlns:a16="http://schemas.microsoft.com/office/drawing/2014/main" val="4095182146"/>
                    </a:ext>
                  </a:extLst>
                </a:gridCol>
                <a:gridCol w="301487">
                  <a:extLst>
                    <a:ext uri="{9D8B030D-6E8A-4147-A177-3AD203B41FA5}">
                      <a16:colId xmlns:a16="http://schemas.microsoft.com/office/drawing/2014/main" val="3110395693"/>
                    </a:ext>
                  </a:extLst>
                </a:gridCol>
                <a:gridCol w="316562">
                  <a:extLst>
                    <a:ext uri="{9D8B030D-6E8A-4147-A177-3AD203B41FA5}">
                      <a16:colId xmlns:a16="http://schemas.microsoft.com/office/drawing/2014/main" val="2763297510"/>
                    </a:ext>
                  </a:extLst>
                </a:gridCol>
                <a:gridCol w="301487">
                  <a:extLst>
                    <a:ext uri="{9D8B030D-6E8A-4147-A177-3AD203B41FA5}">
                      <a16:colId xmlns:a16="http://schemas.microsoft.com/office/drawing/2014/main" val="1367510789"/>
                    </a:ext>
                  </a:extLst>
                </a:gridCol>
              </a:tblGrid>
              <a:tr h="3569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1" u="none" strike="noStrike" dirty="0"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Plaintext</a:t>
                      </a:r>
                      <a:endParaRPr lang="en-US" sz="2100" b="1" i="0" u="none" strike="noStrike" dirty="0">
                        <a:solidFill>
                          <a:srgbClr val="FF006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b"/>
                </a:tc>
                <a:tc rowSpan="6">
                  <a:txBody>
                    <a:bodyPr/>
                    <a:lstStyle/>
                    <a:p>
                      <a:pPr algn="ctr" fontAlgn="b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b">
                    <a:solidFill>
                      <a:schemeClr val="tx1">
                        <a:lumMod val="75000"/>
                      </a:schemeClr>
                    </a:solidFill>
                  </a:tcPr>
                </a:tc>
                <a:tc gridSpan="19">
                  <a:txBody>
                    <a:bodyPr/>
                    <a:lstStyle/>
                    <a:p>
                      <a:pPr algn="ctr" fontAlgn="ctr"/>
                      <a:r>
                        <a:rPr lang="en-US" sz="2100" b="1" i="0" u="none" strike="noStrike" dirty="0" smtClean="0"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meet me after the party</a:t>
                      </a:r>
                      <a:endParaRPr lang="en-US" sz="2100" b="1" i="0" u="none" strike="noStrike" dirty="0">
                        <a:solidFill>
                          <a:srgbClr val="FF006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747101305"/>
                  </a:ext>
                </a:extLst>
              </a:tr>
              <a:tr h="31277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b">
                    <a:solidFill>
                      <a:schemeClr val="tx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9"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0883714"/>
                  </a:ext>
                </a:extLst>
              </a:tr>
              <a:tr h="32084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Rail Fence with Depth 2</a:t>
                      </a:r>
                      <a:endParaRPr lang="en-US" sz="2100" b="1" i="0" u="none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extLst>
                  <a:ext uri="{0D108BD9-81ED-4DB2-BD59-A6C34878D82A}">
                    <a16:rowId xmlns:a16="http://schemas.microsoft.com/office/drawing/2014/main" val="3514122655"/>
                  </a:ext>
                </a:extLst>
              </a:tr>
              <a:tr h="330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extLst>
                  <a:ext uri="{0D108BD9-81ED-4DB2-BD59-A6C34878D82A}">
                    <a16:rowId xmlns:a16="http://schemas.microsoft.com/office/drawing/2014/main" val="3058620081"/>
                  </a:ext>
                </a:extLst>
              </a:tr>
              <a:tr h="31277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b">
                    <a:solidFill>
                      <a:schemeClr val="tx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9"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0477265"/>
                  </a:ext>
                </a:extLst>
              </a:tr>
              <a:tr h="34762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1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Ciphertext</a:t>
                      </a:r>
                    </a:p>
                  </a:txBody>
                  <a:tcPr marL="6350" marR="6350" marT="4763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extLst>
                  <a:ext uri="{0D108BD9-81ED-4DB2-BD59-A6C34878D82A}">
                    <a16:rowId xmlns:a16="http://schemas.microsoft.com/office/drawing/2014/main" val="3952458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1762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2124878"/>
              </p:ext>
            </p:extLst>
          </p:nvPr>
        </p:nvGraphicFramePr>
        <p:xfrm>
          <a:off x="152400" y="1476929"/>
          <a:ext cx="8686800" cy="2009223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2642501">
                  <a:extLst>
                    <a:ext uri="{9D8B030D-6E8A-4147-A177-3AD203B41FA5}">
                      <a16:colId xmlns:a16="http://schemas.microsoft.com/office/drawing/2014/main" val="1137920804"/>
                    </a:ext>
                  </a:extLst>
                </a:gridCol>
                <a:gridCol w="48483">
                  <a:extLst>
                    <a:ext uri="{9D8B030D-6E8A-4147-A177-3AD203B41FA5}">
                      <a16:colId xmlns:a16="http://schemas.microsoft.com/office/drawing/2014/main" val="107607737"/>
                    </a:ext>
                  </a:extLst>
                </a:gridCol>
                <a:gridCol w="440395">
                  <a:extLst>
                    <a:ext uri="{9D8B030D-6E8A-4147-A177-3AD203B41FA5}">
                      <a16:colId xmlns:a16="http://schemas.microsoft.com/office/drawing/2014/main" val="2891191106"/>
                    </a:ext>
                  </a:extLst>
                </a:gridCol>
                <a:gridCol w="296289">
                  <a:extLst>
                    <a:ext uri="{9D8B030D-6E8A-4147-A177-3AD203B41FA5}">
                      <a16:colId xmlns:a16="http://schemas.microsoft.com/office/drawing/2014/main" val="3850627120"/>
                    </a:ext>
                  </a:extLst>
                </a:gridCol>
                <a:gridCol w="385175">
                  <a:extLst>
                    <a:ext uri="{9D8B030D-6E8A-4147-A177-3AD203B41FA5}">
                      <a16:colId xmlns:a16="http://schemas.microsoft.com/office/drawing/2014/main" val="633108393"/>
                    </a:ext>
                  </a:extLst>
                </a:gridCol>
                <a:gridCol w="311104">
                  <a:extLst>
                    <a:ext uri="{9D8B030D-6E8A-4147-A177-3AD203B41FA5}">
                      <a16:colId xmlns:a16="http://schemas.microsoft.com/office/drawing/2014/main" val="1500189391"/>
                    </a:ext>
                  </a:extLst>
                </a:gridCol>
                <a:gridCol w="355546">
                  <a:extLst>
                    <a:ext uri="{9D8B030D-6E8A-4147-A177-3AD203B41FA5}">
                      <a16:colId xmlns:a16="http://schemas.microsoft.com/office/drawing/2014/main" val="3312187109"/>
                    </a:ext>
                  </a:extLst>
                </a:gridCol>
                <a:gridCol w="311104">
                  <a:extLst>
                    <a:ext uri="{9D8B030D-6E8A-4147-A177-3AD203B41FA5}">
                      <a16:colId xmlns:a16="http://schemas.microsoft.com/office/drawing/2014/main" val="636517734"/>
                    </a:ext>
                  </a:extLst>
                </a:gridCol>
                <a:gridCol w="325918">
                  <a:extLst>
                    <a:ext uri="{9D8B030D-6E8A-4147-A177-3AD203B41FA5}">
                      <a16:colId xmlns:a16="http://schemas.microsoft.com/office/drawing/2014/main" val="1731997426"/>
                    </a:ext>
                  </a:extLst>
                </a:gridCol>
                <a:gridCol w="281475">
                  <a:extLst>
                    <a:ext uri="{9D8B030D-6E8A-4147-A177-3AD203B41FA5}">
                      <a16:colId xmlns:a16="http://schemas.microsoft.com/office/drawing/2014/main" val="1712667750"/>
                    </a:ext>
                  </a:extLst>
                </a:gridCol>
                <a:gridCol w="311104">
                  <a:extLst>
                    <a:ext uri="{9D8B030D-6E8A-4147-A177-3AD203B41FA5}">
                      <a16:colId xmlns:a16="http://schemas.microsoft.com/office/drawing/2014/main" val="648419624"/>
                    </a:ext>
                  </a:extLst>
                </a:gridCol>
                <a:gridCol w="311104">
                  <a:extLst>
                    <a:ext uri="{9D8B030D-6E8A-4147-A177-3AD203B41FA5}">
                      <a16:colId xmlns:a16="http://schemas.microsoft.com/office/drawing/2014/main" val="2669415464"/>
                    </a:ext>
                  </a:extLst>
                </a:gridCol>
                <a:gridCol w="296289">
                  <a:extLst>
                    <a:ext uri="{9D8B030D-6E8A-4147-A177-3AD203B41FA5}">
                      <a16:colId xmlns:a16="http://schemas.microsoft.com/office/drawing/2014/main" val="1916284251"/>
                    </a:ext>
                  </a:extLst>
                </a:gridCol>
                <a:gridCol w="296289">
                  <a:extLst>
                    <a:ext uri="{9D8B030D-6E8A-4147-A177-3AD203B41FA5}">
                      <a16:colId xmlns:a16="http://schemas.microsoft.com/office/drawing/2014/main" val="3625914043"/>
                    </a:ext>
                  </a:extLst>
                </a:gridCol>
                <a:gridCol w="296289">
                  <a:extLst>
                    <a:ext uri="{9D8B030D-6E8A-4147-A177-3AD203B41FA5}">
                      <a16:colId xmlns:a16="http://schemas.microsoft.com/office/drawing/2014/main" val="1874595835"/>
                    </a:ext>
                  </a:extLst>
                </a:gridCol>
                <a:gridCol w="281475">
                  <a:extLst>
                    <a:ext uri="{9D8B030D-6E8A-4147-A177-3AD203B41FA5}">
                      <a16:colId xmlns:a16="http://schemas.microsoft.com/office/drawing/2014/main" val="173347087"/>
                    </a:ext>
                  </a:extLst>
                </a:gridCol>
                <a:gridCol w="296289">
                  <a:extLst>
                    <a:ext uri="{9D8B030D-6E8A-4147-A177-3AD203B41FA5}">
                      <a16:colId xmlns:a16="http://schemas.microsoft.com/office/drawing/2014/main" val="2463193132"/>
                    </a:ext>
                  </a:extLst>
                </a:gridCol>
                <a:gridCol w="296289">
                  <a:extLst>
                    <a:ext uri="{9D8B030D-6E8A-4147-A177-3AD203B41FA5}">
                      <a16:colId xmlns:a16="http://schemas.microsoft.com/office/drawing/2014/main" val="4095182146"/>
                    </a:ext>
                  </a:extLst>
                </a:gridCol>
                <a:gridCol w="296289">
                  <a:extLst>
                    <a:ext uri="{9D8B030D-6E8A-4147-A177-3AD203B41FA5}">
                      <a16:colId xmlns:a16="http://schemas.microsoft.com/office/drawing/2014/main" val="3110395693"/>
                    </a:ext>
                  </a:extLst>
                </a:gridCol>
                <a:gridCol w="311104">
                  <a:extLst>
                    <a:ext uri="{9D8B030D-6E8A-4147-A177-3AD203B41FA5}">
                      <a16:colId xmlns:a16="http://schemas.microsoft.com/office/drawing/2014/main" val="2763297510"/>
                    </a:ext>
                  </a:extLst>
                </a:gridCol>
                <a:gridCol w="296289">
                  <a:extLst>
                    <a:ext uri="{9D8B030D-6E8A-4147-A177-3AD203B41FA5}">
                      <a16:colId xmlns:a16="http://schemas.microsoft.com/office/drawing/2014/main" val="1367510789"/>
                    </a:ext>
                  </a:extLst>
                </a:gridCol>
              </a:tblGrid>
              <a:tr h="3569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1" u="none" strike="noStrike" dirty="0"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Plaintext</a:t>
                      </a:r>
                      <a:endParaRPr lang="en-US" sz="2100" b="1" i="0" u="none" strike="noStrike" dirty="0">
                        <a:solidFill>
                          <a:srgbClr val="FF006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b"/>
                </a:tc>
                <a:tc rowSpan="6">
                  <a:txBody>
                    <a:bodyPr/>
                    <a:lstStyle/>
                    <a:p>
                      <a:pPr algn="ctr" fontAlgn="b"/>
                      <a:r>
                        <a:rPr lang="en-US" sz="2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b">
                    <a:solidFill>
                      <a:schemeClr val="tx1">
                        <a:lumMod val="75000"/>
                      </a:schemeClr>
                    </a:solidFill>
                  </a:tcPr>
                </a:tc>
                <a:tc gridSpan="19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b="1" i="0" u="none" strike="noStrike" dirty="0" smtClean="0"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6350" marR="6350" marT="4763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747101305"/>
                  </a:ext>
                </a:extLst>
              </a:tr>
              <a:tr h="3248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b">
                    <a:solidFill>
                      <a:schemeClr val="tx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9"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0883714"/>
                  </a:ext>
                </a:extLst>
              </a:tr>
              <a:tr h="32480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Rail Fence with Depth 2</a:t>
                      </a:r>
                      <a:endParaRPr lang="en-US" sz="2100" b="1" i="0" u="none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extLst>
                  <a:ext uri="{0D108BD9-81ED-4DB2-BD59-A6C34878D82A}">
                    <a16:rowId xmlns:a16="http://schemas.microsoft.com/office/drawing/2014/main" val="3514122655"/>
                  </a:ext>
                </a:extLst>
              </a:tr>
              <a:tr h="330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extLst>
                  <a:ext uri="{0D108BD9-81ED-4DB2-BD59-A6C34878D82A}">
                    <a16:rowId xmlns:a16="http://schemas.microsoft.com/office/drawing/2014/main" val="3058620081"/>
                  </a:ext>
                </a:extLst>
              </a:tr>
              <a:tr h="3248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b">
                    <a:solidFill>
                      <a:schemeClr val="tx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9"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0477265"/>
                  </a:ext>
                </a:extLst>
              </a:tr>
              <a:tr h="34762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1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Ciphertext</a:t>
                      </a:r>
                    </a:p>
                  </a:txBody>
                  <a:tcPr marL="6350" marR="6350" marT="4763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6350" marR="6350" marT="4763" marB="0" anchor="ctr"/>
                </a:tc>
                <a:extLst>
                  <a:ext uri="{0D108BD9-81ED-4DB2-BD59-A6C34878D82A}">
                    <a16:rowId xmlns:a16="http://schemas.microsoft.com/office/drawing/2014/main" val="3952458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56813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00075" y="725418"/>
            <a:ext cx="807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400" b="1" i="1" dirty="0" smtClean="0">
                <a:cs typeface="Times New Roman" panose="02020603050405020304" pitchFamily="18" charset="0"/>
              </a:rPr>
              <a:t>The Rail Fence Cipher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563730"/>
              </p:ext>
            </p:extLst>
          </p:nvPr>
        </p:nvGraphicFramePr>
        <p:xfrm>
          <a:off x="457201" y="1428750"/>
          <a:ext cx="8229605" cy="3086102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823776">
                  <a:extLst>
                    <a:ext uri="{9D8B030D-6E8A-4147-A177-3AD203B41FA5}">
                      <a16:colId xmlns:a16="http://schemas.microsoft.com/office/drawing/2014/main" val="3723832236"/>
                    </a:ext>
                  </a:extLst>
                </a:gridCol>
                <a:gridCol w="105508">
                  <a:extLst>
                    <a:ext uri="{9D8B030D-6E8A-4147-A177-3AD203B41FA5}">
                      <a16:colId xmlns:a16="http://schemas.microsoft.com/office/drawing/2014/main" val="990394448"/>
                    </a:ext>
                  </a:extLst>
                </a:gridCol>
                <a:gridCol w="391886">
                  <a:extLst>
                    <a:ext uri="{9D8B030D-6E8A-4147-A177-3AD203B41FA5}">
                      <a16:colId xmlns:a16="http://schemas.microsoft.com/office/drawing/2014/main" val="1136837852"/>
                    </a:ext>
                  </a:extLst>
                </a:gridCol>
                <a:gridCol w="301451">
                  <a:extLst>
                    <a:ext uri="{9D8B030D-6E8A-4147-A177-3AD203B41FA5}">
                      <a16:colId xmlns:a16="http://schemas.microsoft.com/office/drawing/2014/main" val="740259602"/>
                    </a:ext>
                  </a:extLst>
                </a:gridCol>
                <a:gridCol w="391886">
                  <a:extLst>
                    <a:ext uri="{9D8B030D-6E8A-4147-A177-3AD203B41FA5}">
                      <a16:colId xmlns:a16="http://schemas.microsoft.com/office/drawing/2014/main" val="3435733709"/>
                    </a:ext>
                  </a:extLst>
                </a:gridCol>
                <a:gridCol w="316523">
                  <a:extLst>
                    <a:ext uri="{9D8B030D-6E8A-4147-A177-3AD203B41FA5}">
                      <a16:colId xmlns:a16="http://schemas.microsoft.com/office/drawing/2014/main" val="1935051552"/>
                    </a:ext>
                  </a:extLst>
                </a:gridCol>
                <a:gridCol w="301451">
                  <a:extLst>
                    <a:ext uri="{9D8B030D-6E8A-4147-A177-3AD203B41FA5}">
                      <a16:colId xmlns:a16="http://schemas.microsoft.com/office/drawing/2014/main" val="4214621862"/>
                    </a:ext>
                  </a:extLst>
                </a:gridCol>
                <a:gridCol w="316523">
                  <a:extLst>
                    <a:ext uri="{9D8B030D-6E8A-4147-A177-3AD203B41FA5}">
                      <a16:colId xmlns:a16="http://schemas.microsoft.com/office/drawing/2014/main" val="168763615"/>
                    </a:ext>
                  </a:extLst>
                </a:gridCol>
                <a:gridCol w="331596">
                  <a:extLst>
                    <a:ext uri="{9D8B030D-6E8A-4147-A177-3AD203B41FA5}">
                      <a16:colId xmlns:a16="http://schemas.microsoft.com/office/drawing/2014/main" val="860822386"/>
                    </a:ext>
                  </a:extLst>
                </a:gridCol>
                <a:gridCol w="286378">
                  <a:extLst>
                    <a:ext uri="{9D8B030D-6E8A-4147-A177-3AD203B41FA5}">
                      <a16:colId xmlns:a16="http://schemas.microsoft.com/office/drawing/2014/main" val="2815169801"/>
                    </a:ext>
                  </a:extLst>
                </a:gridCol>
                <a:gridCol w="316523">
                  <a:extLst>
                    <a:ext uri="{9D8B030D-6E8A-4147-A177-3AD203B41FA5}">
                      <a16:colId xmlns:a16="http://schemas.microsoft.com/office/drawing/2014/main" val="393707994"/>
                    </a:ext>
                  </a:extLst>
                </a:gridCol>
                <a:gridCol w="316523">
                  <a:extLst>
                    <a:ext uri="{9D8B030D-6E8A-4147-A177-3AD203B41FA5}">
                      <a16:colId xmlns:a16="http://schemas.microsoft.com/office/drawing/2014/main" val="3822947750"/>
                    </a:ext>
                  </a:extLst>
                </a:gridCol>
                <a:gridCol w="301451">
                  <a:extLst>
                    <a:ext uri="{9D8B030D-6E8A-4147-A177-3AD203B41FA5}">
                      <a16:colId xmlns:a16="http://schemas.microsoft.com/office/drawing/2014/main" val="1710170149"/>
                    </a:ext>
                  </a:extLst>
                </a:gridCol>
                <a:gridCol w="301451">
                  <a:extLst>
                    <a:ext uri="{9D8B030D-6E8A-4147-A177-3AD203B41FA5}">
                      <a16:colId xmlns:a16="http://schemas.microsoft.com/office/drawing/2014/main" val="2192942187"/>
                    </a:ext>
                  </a:extLst>
                </a:gridCol>
                <a:gridCol w="301451">
                  <a:extLst>
                    <a:ext uri="{9D8B030D-6E8A-4147-A177-3AD203B41FA5}">
                      <a16:colId xmlns:a16="http://schemas.microsoft.com/office/drawing/2014/main" val="1902669467"/>
                    </a:ext>
                  </a:extLst>
                </a:gridCol>
                <a:gridCol w="361741">
                  <a:extLst>
                    <a:ext uri="{9D8B030D-6E8A-4147-A177-3AD203B41FA5}">
                      <a16:colId xmlns:a16="http://schemas.microsoft.com/office/drawing/2014/main" val="2039730649"/>
                    </a:ext>
                  </a:extLst>
                </a:gridCol>
                <a:gridCol w="301451">
                  <a:extLst>
                    <a:ext uri="{9D8B030D-6E8A-4147-A177-3AD203B41FA5}">
                      <a16:colId xmlns:a16="http://schemas.microsoft.com/office/drawing/2014/main" val="3988623152"/>
                    </a:ext>
                  </a:extLst>
                </a:gridCol>
                <a:gridCol w="301451">
                  <a:extLst>
                    <a:ext uri="{9D8B030D-6E8A-4147-A177-3AD203B41FA5}">
                      <a16:colId xmlns:a16="http://schemas.microsoft.com/office/drawing/2014/main" val="2426011905"/>
                    </a:ext>
                  </a:extLst>
                </a:gridCol>
                <a:gridCol w="301451">
                  <a:extLst>
                    <a:ext uri="{9D8B030D-6E8A-4147-A177-3AD203B41FA5}">
                      <a16:colId xmlns:a16="http://schemas.microsoft.com/office/drawing/2014/main" val="573435058"/>
                    </a:ext>
                  </a:extLst>
                </a:gridCol>
                <a:gridCol w="316523">
                  <a:extLst>
                    <a:ext uri="{9D8B030D-6E8A-4147-A177-3AD203B41FA5}">
                      <a16:colId xmlns:a16="http://schemas.microsoft.com/office/drawing/2014/main" val="4126955938"/>
                    </a:ext>
                  </a:extLst>
                </a:gridCol>
                <a:gridCol w="301451">
                  <a:extLst>
                    <a:ext uri="{9D8B030D-6E8A-4147-A177-3AD203B41FA5}">
                      <a16:colId xmlns:a16="http://schemas.microsoft.com/office/drawing/2014/main" val="2254310457"/>
                    </a:ext>
                  </a:extLst>
                </a:gridCol>
                <a:gridCol w="241160">
                  <a:extLst>
                    <a:ext uri="{9D8B030D-6E8A-4147-A177-3AD203B41FA5}">
                      <a16:colId xmlns:a16="http://schemas.microsoft.com/office/drawing/2014/main" val="323430568"/>
                    </a:ext>
                  </a:extLst>
                </a:gridCol>
              </a:tblGrid>
              <a:tr h="3879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 dirty="0"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Plaintext</a:t>
                      </a:r>
                      <a:endParaRPr lang="en-US" sz="2100" b="1" i="0" u="none" strike="noStrike" dirty="0">
                        <a:solidFill>
                          <a:srgbClr val="FF006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>
                    <a:solidFill>
                      <a:srgbClr val="92D050"/>
                    </a:solidFill>
                  </a:tcPr>
                </a:tc>
                <a:tc gridSpan="20">
                  <a:txBody>
                    <a:bodyPr/>
                    <a:lstStyle/>
                    <a:p>
                      <a:pPr algn="ctr" fontAlgn="ctr"/>
                      <a:r>
                        <a:rPr lang="en-US" sz="2100" b="1" i="0" u="none" strike="noStrike" dirty="0" smtClean="0"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is a secret message</a:t>
                      </a:r>
                      <a:endParaRPr lang="en-US" sz="2100" b="1" i="0" u="none" strike="noStrike" dirty="0">
                        <a:solidFill>
                          <a:srgbClr val="FF006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15400466"/>
                  </a:ext>
                </a:extLst>
              </a:tr>
              <a:tr h="3248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0"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944442"/>
                  </a:ext>
                </a:extLst>
              </a:tr>
              <a:tr h="430216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Rail Fence with Depth 4</a:t>
                      </a:r>
                      <a:endParaRPr lang="en-US" sz="2100" b="1" i="0" u="none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350" marR="6350" marT="4763" marB="0" anchor="ctr"/>
                </a:tc>
                <a:extLst>
                  <a:ext uri="{0D108BD9-81ED-4DB2-BD59-A6C34878D82A}">
                    <a16:rowId xmlns:a16="http://schemas.microsoft.com/office/drawing/2014/main" val="3878000712"/>
                  </a:ext>
                </a:extLst>
              </a:tr>
              <a:tr h="38798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extLst>
                  <a:ext uri="{0D108BD9-81ED-4DB2-BD59-A6C34878D82A}">
                    <a16:rowId xmlns:a16="http://schemas.microsoft.com/office/drawing/2014/main" val="1428296835"/>
                  </a:ext>
                </a:extLst>
              </a:tr>
              <a:tr h="38798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extLst>
                  <a:ext uri="{0D108BD9-81ED-4DB2-BD59-A6C34878D82A}">
                    <a16:rowId xmlns:a16="http://schemas.microsoft.com/office/drawing/2014/main" val="3396728097"/>
                  </a:ext>
                </a:extLst>
              </a:tr>
              <a:tr h="38798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extLst>
                  <a:ext uri="{0D108BD9-81ED-4DB2-BD59-A6C34878D82A}">
                    <a16:rowId xmlns:a16="http://schemas.microsoft.com/office/drawing/2014/main" val="3883739267"/>
                  </a:ext>
                </a:extLst>
              </a:tr>
              <a:tr h="3248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0"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7222251"/>
                  </a:ext>
                </a:extLst>
              </a:tr>
              <a:tr h="4543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Ciphertext</a:t>
                      </a:r>
                      <a:endParaRPr lang="en-US" sz="2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extLst>
                  <a:ext uri="{0D108BD9-81ED-4DB2-BD59-A6C34878D82A}">
                    <a16:rowId xmlns:a16="http://schemas.microsoft.com/office/drawing/2014/main" val="22543465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6890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00075" y="725419"/>
            <a:ext cx="807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486" indent="-571486" algn="just">
              <a:buClr>
                <a:srgbClr val="0000CC"/>
              </a:buClr>
              <a:buFont typeface="Wingdings" panose="05000000000000000000" pitchFamily="2" charset="2"/>
              <a:buChar char="q"/>
            </a:pPr>
            <a:r>
              <a:rPr lang="en-US" sz="2400" b="1" i="1" dirty="0">
                <a:cs typeface="Times New Roman" panose="02020603050405020304" pitchFamily="18" charset="0"/>
              </a:rPr>
              <a:t>The Rail Fence Cipher (Practice Question)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8801044"/>
              </p:ext>
            </p:extLst>
          </p:nvPr>
        </p:nvGraphicFramePr>
        <p:xfrm>
          <a:off x="457202" y="1428750"/>
          <a:ext cx="8229605" cy="3086102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823776">
                  <a:extLst>
                    <a:ext uri="{9D8B030D-6E8A-4147-A177-3AD203B41FA5}">
                      <a16:colId xmlns:a16="http://schemas.microsoft.com/office/drawing/2014/main" val="3723832236"/>
                    </a:ext>
                  </a:extLst>
                </a:gridCol>
                <a:gridCol w="105508">
                  <a:extLst>
                    <a:ext uri="{9D8B030D-6E8A-4147-A177-3AD203B41FA5}">
                      <a16:colId xmlns:a16="http://schemas.microsoft.com/office/drawing/2014/main" val="990394448"/>
                    </a:ext>
                  </a:extLst>
                </a:gridCol>
                <a:gridCol w="391886">
                  <a:extLst>
                    <a:ext uri="{9D8B030D-6E8A-4147-A177-3AD203B41FA5}">
                      <a16:colId xmlns:a16="http://schemas.microsoft.com/office/drawing/2014/main" val="1136837852"/>
                    </a:ext>
                  </a:extLst>
                </a:gridCol>
                <a:gridCol w="301451">
                  <a:extLst>
                    <a:ext uri="{9D8B030D-6E8A-4147-A177-3AD203B41FA5}">
                      <a16:colId xmlns:a16="http://schemas.microsoft.com/office/drawing/2014/main" val="740259602"/>
                    </a:ext>
                  </a:extLst>
                </a:gridCol>
                <a:gridCol w="391886">
                  <a:extLst>
                    <a:ext uri="{9D8B030D-6E8A-4147-A177-3AD203B41FA5}">
                      <a16:colId xmlns:a16="http://schemas.microsoft.com/office/drawing/2014/main" val="3435733709"/>
                    </a:ext>
                  </a:extLst>
                </a:gridCol>
                <a:gridCol w="316523">
                  <a:extLst>
                    <a:ext uri="{9D8B030D-6E8A-4147-A177-3AD203B41FA5}">
                      <a16:colId xmlns:a16="http://schemas.microsoft.com/office/drawing/2014/main" val="1935051552"/>
                    </a:ext>
                  </a:extLst>
                </a:gridCol>
                <a:gridCol w="301451">
                  <a:extLst>
                    <a:ext uri="{9D8B030D-6E8A-4147-A177-3AD203B41FA5}">
                      <a16:colId xmlns:a16="http://schemas.microsoft.com/office/drawing/2014/main" val="4214621862"/>
                    </a:ext>
                  </a:extLst>
                </a:gridCol>
                <a:gridCol w="316523">
                  <a:extLst>
                    <a:ext uri="{9D8B030D-6E8A-4147-A177-3AD203B41FA5}">
                      <a16:colId xmlns:a16="http://schemas.microsoft.com/office/drawing/2014/main" val="168763615"/>
                    </a:ext>
                  </a:extLst>
                </a:gridCol>
                <a:gridCol w="331596">
                  <a:extLst>
                    <a:ext uri="{9D8B030D-6E8A-4147-A177-3AD203B41FA5}">
                      <a16:colId xmlns:a16="http://schemas.microsoft.com/office/drawing/2014/main" val="860822386"/>
                    </a:ext>
                  </a:extLst>
                </a:gridCol>
                <a:gridCol w="286378">
                  <a:extLst>
                    <a:ext uri="{9D8B030D-6E8A-4147-A177-3AD203B41FA5}">
                      <a16:colId xmlns:a16="http://schemas.microsoft.com/office/drawing/2014/main" val="2815169801"/>
                    </a:ext>
                  </a:extLst>
                </a:gridCol>
                <a:gridCol w="316523">
                  <a:extLst>
                    <a:ext uri="{9D8B030D-6E8A-4147-A177-3AD203B41FA5}">
                      <a16:colId xmlns:a16="http://schemas.microsoft.com/office/drawing/2014/main" val="393707994"/>
                    </a:ext>
                  </a:extLst>
                </a:gridCol>
                <a:gridCol w="316523">
                  <a:extLst>
                    <a:ext uri="{9D8B030D-6E8A-4147-A177-3AD203B41FA5}">
                      <a16:colId xmlns:a16="http://schemas.microsoft.com/office/drawing/2014/main" val="3822947750"/>
                    </a:ext>
                  </a:extLst>
                </a:gridCol>
                <a:gridCol w="301451">
                  <a:extLst>
                    <a:ext uri="{9D8B030D-6E8A-4147-A177-3AD203B41FA5}">
                      <a16:colId xmlns:a16="http://schemas.microsoft.com/office/drawing/2014/main" val="1710170149"/>
                    </a:ext>
                  </a:extLst>
                </a:gridCol>
                <a:gridCol w="301451">
                  <a:extLst>
                    <a:ext uri="{9D8B030D-6E8A-4147-A177-3AD203B41FA5}">
                      <a16:colId xmlns:a16="http://schemas.microsoft.com/office/drawing/2014/main" val="2192942187"/>
                    </a:ext>
                  </a:extLst>
                </a:gridCol>
                <a:gridCol w="301451">
                  <a:extLst>
                    <a:ext uri="{9D8B030D-6E8A-4147-A177-3AD203B41FA5}">
                      <a16:colId xmlns:a16="http://schemas.microsoft.com/office/drawing/2014/main" val="1902669467"/>
                    </a:ext>
                  </a:extLst>
                </a:gridCol>
                <a:gridCol w="361741">
                  <a:extLst>
                    <a:ext uri="{9D8B030D-6E8A-4147-A177-3AD203B41FA5}">
                      <a16:colId xmlns:a16="http://schemas.microsoft.com/office/drawing/2014/main" val="2039730649"/>
                    </a:ext>
                  </a:extLst>
                </a:gridCol>
                <a:gridCol w="301451">
                  <a:extLst>
                    <a:ext uri="{9D8B030D-6E8A-4147-A177-3AD203B41FA5}">
                      <a16:colId xmlns:a16="http://schemas.microsoft.com/office/drawing/2014/main" val="3988623152"/>
                    </a:ext>
                  </a:extLst>
                </a:gridCol>
                <a:gridCol w="301451">
                  <a:extLst>
                    <a:ext uri="{9D8B030D-6E8A-4147-A177-3AD203B41FA5}">
                      <a16:colId xmlns:a16="http://schemas.microsoft.com/office/drawing/2014/main" val="2426011905"/>
                    </a:ext>
                  </a:extLst>
                </a:gridCol>
                <a:gridCol w="301451">
                  <a:extLst>
                    <a:ext uri="{9D8B030D-6E8A-4147-A177-3AD203B41FA5}">
                      <a16:colId xmlns:a16="http://schemas.microsoft.com/office/drawing/2014/main" val="573435058"/>
                    </a:ext>
                  </a:extLst>
                </a:gridCol>
                <a:gridCol w="316523">
                  <a:extLst>
                    <a:ext uri="{9D8B030D-6E8A-4147-A177-3AD203B41FA5}">
                      <a16:colId xmlns:a16="http://schemas.microsoft.com/office/drawing/2014/main" val="4126955938"/>
                    </a:ext>
                  </a:extLst>
                </a:gridCol>
                <a:gridCol w="301451">
                  <a:extLst>
                    <a:ext uri="{9D8B030D-6E8A-4147-A177-3AD203B41FA5}">
                      <a16:colId xmlns:a16="http://schemas.microsoft.com/office/drawing/2014/main" val="2254310457"/>
                    </a:ext>
                  </a:extLst>
                </a:gridCol>
                <a:gridCol w="241160">
                  <a:extLst>
                    <a:ext uri="{9D8B030D-6E8A-4147-A177-3AD203B41FA5}">
                      <a16:colId xmlns:a16="http://schemas.microsoft.com/office/drawing/2014/main" val="323430568"/>
                    </a:ext>
                  </a:extLst>
                </a:gridCol>
              </a:tblGrid>
              <a:tr h="3879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 dirty="0"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Plaintext</a:t>
                      </a:r>
                      <a:endParaRPr lang="en-US" sz="2100" b="1" i="0" u="none" strike="noStrike" dirty="0">
                        <a:solidFill>
                          <a:srgbClr val="FF006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>
                    <a:solidFill>
                      <a:srgbClr val="92D050"/>
                    </a:solidFill>
                  </a:tcPr>
                </a:tc>
                <a:tc gridSpan="20">
                  <a:txBody>
                    <a:bodyPr/>
                    <a:lstStyle/>
                    <a:p>
                      <a:pPr algn="ctr" fontAlgn="ctr"/>
                      <a:r>
                        <a:rPr lang="en-US" sz="2100" b="1" i="0" u="none" strike="noStrike" dirty="0" smtClean="0"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  <a:endParaRPr lang="en-US" sz="2100" b="1" i="0" u="none" strike="noStrike" dirty="0">
                        <a:solidFill>
                          <a:srgbClr val="FF006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15400466"/>
                  </a:ext>
                </a:extLst>
              </a:tr>
              <a:tr h="3248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0"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944442"/>
                  </a:ext>
                </a:extLst>
              </a:tr>
              <a:tr h="430216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Rail Fence with Depth 4</a:t>
                      </a:r>
                      <a:endParaRPr lang="en-US" sz="2100" b="1" i="0" u="none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endParaRPr lang="en-US" sz="1400" dirty="0" smtClean="0"/>
                    </a:p>
                  </a:txBody>
                  <a:tcPr marL="6350" marR="6350" marT="4763" marB="0" anchor="ctr"/>
                </a:tc>
                <a:extLst>
                  <a:ext uri="{0D108BD9-81ED-4DB2-BD59-A6C34878D82A}">
                    <a16:rowId xmlns:a16="http://schemas.microsoft.com/office/drawing/2014/main" val="3878000712"/>
                  </a:ext>
                </a:extLst>
              </a:tr>
              <a:tr h="38798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extLst>
                  <a:ext uri="{0D108BD9-81ED-4DB2-BD59-A6C34878D82A}">
                    <a16:rowId xmlns:a16="http://schemas.microsoft.com/office/drawing/2014/main" val="1428296835"/>
                  </a:ext>
                </a:extLst>
              </a:tr>
              <a:tr h="38798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extLst>
                  <a:ext uri="{0D108BD9-81ED-4DB2-BD59-A6C34878D82A}">
                    <a16:rowId xmlns:a16="http://schemas.microsoft.com/office/drawing/2014/main" val="3396728097"/>
                  </a:ext>
                </a:extLst>
              </a:tr>
              <a:tr h="38798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extLst>
                  <a:ext uri="{0D108BD9-81ED-4DB2-BD59-A6C34878D82A}">
                    <a16:rowId xmlns:a16="http://schemas.microsoft.com/office/drawing/2014/main" val="3883739267"/>
                  </a:ext>
                </a:extLst>
              </a:tr>
              <a:tr h="3248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0">
                  <a:txBody>
                    <a:bodyPr/>
                    <a:lstStyle/>
                    <a:p>
                      <a:pPr algn="ctr" fontAlgn="ctr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7222251"/>
                  </a:ext>
                </a:extLst>
              </a:tr>
              <a:tr h="4543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Ciphertext</a:t>
                      </a:r>
                      <a:endParaRPr lang="en-US" sz="2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4763" marB="0" anchor="ctr"/>
                </a:tc>
                <a:extLst>
                  <a:ext uri="{0D108BD9-81ED-4DB2-BD59-A6C34878D82A}">
                    <a16:rowId xmlns:a16="http://schemas.microsoft.com/office/drawing/2014/main" val="22543465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7714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14350"/>
            <a:ext cx="7239000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Symmetric Key or Secret </a:t>
            </a:r>
            <a:r>
              <a:rPr lang="en-US" sz="2800" b="1" dirty="0" smtClean="0"/>
              <a:t>Key</a:t>
            </a:r>
          </a:p>
          <a:p>
            <a:r>
              <a:rPr lang="en-US" sz="2800" b="1" dirty="0" smtClean="0"/>
              <a:t>Cryptography </a:t>
            </a:r>
            <a:endParaRPr lang="en-US" sz="2800" b="1" dirty="0"/>
          </a:p>
          <a:p>
            <a:endParaRPr lang="en-US" dirty="0" smtClean="0"/>
          </a:p>
          <a:p>
            <a:r>
              <a:rPr lang="en-US" sz="2000" dirty="0" smtClean="0"/>
              <a:t>• encryption </a:t>
            </a:r>
            <a:r>
              <a:rPr lang="en-US" sz="2000" dirty="0"/>
              <a:t>and decryption use the same key </a:t>
            </a:r>
          </a:p>
          <a:p>
            <a:r>
              <a:rPr lang="en-US" sz="2000" dirty="0" smtClean="0"/>
              <a:t>• If </a:t>
            </a:r>
            <a:r>
              <a:rPr lang="en-US" sz="2000" dirty="0"/>
              <a:t>this </a:t>
            </a:r>
            <a:r>
              <a:rPr lang="en-US" sz="2000" b="1" dirty="0"/>
              <a:t>secret/single </a:t>
            </a:r>
            <a:r>
              <a:rPr lang="en-US" sz="2000" b="1" dirty="0" smtClean="0"/>
              <a:t>key </a:t>
            </a:r>
            <a:r>
              <a:rPr lang="en-US" sz="2000" b="1" dirty="0"/>
              <a:t>is disclosed, </a:t>
            </a:r>
            <a:r>
              <a:rPr lang="en-US" sz="2000" dirty="0" smtClean="0"/>
              <a:t>Communications </a:t>
            </a:r>
            <a:r>
              <a:rPr lang="en-US" sz="2000" dirty="0"/>
              <a:t>are compromised </a:t>
            </a:r>
          </a:p>
          <a:p>
            <a:r>
              <a:rPr lang="fr-FR" sz="2000" dirty="0" smtClean="0"/>
              <a:t>• Data Encryptions </a:t>
            </a:r>
            <a:r>
              <a:rPr lang="fr-FR" sz="2000" dirty="0"/>
              <a:t>Standard (DES) - 1977 </a:t>
            </a:r>
          </a:p>
          <a:p>
            <a:r>
              <a:rPr lang="en-US" sz="2000" dirty="0" smtClean="0"/>
              <a:t>• Advanced </a:t>
            </a:r>
            <a:r>
              <a:rPr lang="en-US" sz="2000" dirty="0"/>
              <a:t>Encryption Standard (AES) – 2001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3867150"/>
            <a:ext cx="6324600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200" y="438150"/>
            <a:ext cx="74676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Secret Key Cryptography Drawbacks </a:t>
            </a:r>
          </a:p>
          <a:p>
            <a:endParaRPr lang="en-US" dirty="0" smtClean="0"/>
          </a:p>
          <a:p>
            <a:r>
              <a:rPr lang="en-US" sz="2000" dirty="0" smtClean="0"/>
              <a:t>•</a:t>
            </a:r>
            <a:r>
              <a:rPr lang="en-US" sz="2000" dirty="0"/>
              <a:t>If the key is disclosed, communication is compromised </a:t>
            </a:r>
          </a:p>
          <a:p>
            <a:endParaRPr lang="en-US" sz="2000" dirty="0" smtClean="0"/>
          </a:p>
          <a:p>
            <a:r>
              <a:rPr lang="en-US" sz="2000" dirty="0" smtClean="0"/>
              <a:t>•</a:t>
            </a:r>
            <a:r>
              <a:rPr lang="en-US" sz="2000" dirty="0"/>
              <a:t>Keys must be exchanged before transmission with any recipient or potential recipient of your message. So, to exchange keys you need a secure method of transmission, this means that you must either use a secure channel or meet in person in order to share </a:t>
            </a:r>
            <a:endParaRPr lang="en-US" sz="2000" dirty="0" smtClean="0"/>
          </a:p>
          <a:p>
            <a:r>
              <a:rPr lang="en-US" sz="2000" dirty="0" smtClean="0"/>
              <a:t>this </a:t>
            </a:r>
            <a:r>
              <a:rPr lang="en-US" sz="2000" dirty="0"/>
              <a:t>key. This can be a large problem, and is certainly less than </a:t>
            </a:r>
            <a:endParaRPr lang="en-US" sz="2000" dirty="0" smtClean="0"/>
          </a:p>
          <a:p>
            <a:r>
              <a:rPr lang="en-US" sz="2000" dirty="0" smtClean="0"/>
              <a:t>convenient </a:t>
            </a:r>
            <a:endParaRPr lang="en-US" sz="2000" dirty="0"/>
          </a:p>
          <a:p>
            <a:endParaRPr lang="en-US" sz="2000" dirty="0" smtClean="0"/>
          </a:p>
          <a:p>
            <a:r>
              <a:rPr lang="en-US" sz="2000" dirty="0" smtClean="0"/>
              <a:t>•</a:t>
            </a:r>
            <a:r>
              <a:rPr lang="en-US" sz="2000" dirty="0"/>
              <a:t>Also does not protect sender from receiver forging a message </a:t>
            </a:r>
            <a:endParaRPr lang="en-US" sz="2000" dirty="0" smtClean="0"/>
          </a:p>
          <a:p>
            <a:r>
              <a:rPr lang="en-US" sz="2000" dirty="0" smtClean="0"/>
              <a:t>and </a:t>
            </a:r>
            <a:r>
              <a:rPr lang="en-US" sz="2000" dirty="0"/>
              <a:t>claiming is sent by sender, parties are equal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14525" y="1489473"/>
            <a:ext cx="5314950" cy="21645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457201"/>
            <a:ext cx="8534400" cy="19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Asymmetric Key or Public Key Cryptography </a:t>
            </a:r>
          </a:p>
          <a:p>
            <a:endParaRPr lang="en-US" dirty="0" smtClean="0"/>
          </a:p>
          <a:p>
            <a:r>
              <a:rPr lang="en-US" sz="2400" dirty="0" smtClean="0"/>
              <a:t>• Consists </a:t>
            </a:r>
            <a:r>
              <a:rPr lang="en-US" sz="2400" dirty="0"/>
              <a:t>of a private key and a public key pair </a:t>
            </a:r>
          </a:p>
          <a:p>
            <a:endParaRPr lang="en-US" sz="2400" dirty="0" smtClean="0"/>
          </a:p>
          <a:p>
            <a:r>
              <a:rPr lang="en-US" sz="2400" dirty="0" smtClean="0"/>
              <a:t>• Public </a:t>
            </a:r>
            <a:r>
              <a:rPr lang="en-US" sz="2400" dirty="0"/>
              <a:t>key can be known by the public 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2400301"/>
            <a:ext cx="5238750" cy="2193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534472"/>
            <a:ext cx="7848600" cy="2646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Developed to address two key issues: </a:t>
            </a:r>
          </a:p>
          <a:p>
            <a:endParaRPr lang="en-US" b="1" dirty="0" smtClean="0"/>
          </a:p>
          <a:p>
            <a:r>
              <a:rPr lang="en-US" sz="2400" b="1" dirty="0" smtClean="0"/>
              <a:t>Key </a:t>
            </a:r>
            <a:r>
              <a:rPr lang="en-US" sz="2400" b="1" dirty="0"/>
              <a:t>distribution – </a:t>
            </a:r>
            <a:r>
              <a:rPr lang="en-US" sz="2400" dirty="0"/>
              <a:t>how to have secure communications in general without having to trust a KDC with your key </a:t>
            </a:r>
          </a:p>
          <a:p>
            <a:endParaRPr lang="en-US" sz="2400" b="1" dirty="0" smtClean="0"/>
          </a:p>
          <a:p>
            <a:r>
              <a:rPr lang="en-US" sz="2400" b="1" dirty="0" smtClean="0"/>
              <a:t>digital </a:t>
            </a:r>
            <a:r>
              <a:rPr lang="en-US" sz="2400" b="1" dirty="0"/>
              <a:t>signatures </a:t>
            </a:r>
            <a:r>
              <a:rPr lang="en-US" sz="2400" dirty="0"/>
              <a:t>– how to verify a message comes </a:t>
            </a:r>
            <a:endParaRPr lang="en-US" sz="2400" dirty="0" smtClean="0"/>
          </a:p>
          <a:p>
            <a:r>
              <a:rPr lang="en-US" sz="2400" dirty="0" smtClean="0"/>
              <a:t>intact  from </a:t>
            </a:r>
            <a:r>
              <a:rPr lang="en-US" sz="2400" dirty="0"/>
              <a:t>the claimed sender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567988"/>
            <a:ext cx="7391400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Public Key Cryptography [More] </a:t>
            </a:r>
          </a:p>
          <a:p>
            <a:endParaRPr lang="en-US" sz="2000" dirty="0" smtClean="0"/>
          </a:p>
          <a:p>
            <a:r>
              <a:rPr lang="en-US" sz="2000" dirty="0" smtClean="0"/>
              <a:t>Can </a:t>
            </a:r>
            <a:r>
              <a:rPr lang="en-US" sz="2000" dirty="0"/>
              <a:t>be used in three ways </a:t>
            </a:r>
          </a:p>
          <a:p>
            <a:r>
              <a:rPr lang="en-US" sz="2000" dirty="0"/>
              <a:t>•Encryption/decryption </a:t>
            </a:r>
          </a:p>
          <a:p>
            <a:r>
              <a:rPr lang="en-US" sz="2000" dirty="0"/>
              <a:t>•Digital Signature </a:t>
            </a:r>
          </a:p>
          <a:p>
            <a:r>
              <a:rPr lang="en-US" sz="2000" dirty="0"/>
              <a:t>•Key Exchange </a:t>
            </a:r>
          </a:p>
          <a:p>
            <a:endParaRPr lang="en-US" sz="2000" dirty="0" smtClean="0"/>
          </a:p>
          <a:p>
            <a:r>
              <a:rPr lang="en-US" sz="2000" dirty="0" smtClean="0"/>
              <a:t>Like </a:t>
            </a:r>
            <a:r>
              <a:rPr lang="en-US" sz="2000" dirty="0"/>
              <a:t>private key schemes brute force </a:t>
            </a:r>
            <a:r>
              <a:rPr lang="en-US" sz="2000" b="1" dirty="0"/>
              <a:t>exhaustive search attack is always theoretically possible 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 But </a:t>
            </a:r>
            <a:r>
              <a:rPr lang="en-US" sz="2000" dirty="0"/>
              <a:t>keys used are too large (&gt;512bits) 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 Requires </a:t>
            </a:r>
            <a:r>
              <a:rPr lang="en-US" sz="2000" dirty="0"/>
              <a:t>the use of </a:t>
            </a:r>
            <a:r>
              <a:rPr lang="en-US" sz="2000" b="1" dirty="0"/>
              <a:t>very large numbers 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 Hence </a:t>
            </a:r>
            <a:r>
              <a:rPr lang="en-US" sz="2000" dirty="0"/>
              <a:t>is </a:t>
            </a:r>
            <a:r>
              <a:rPr lang="en-US" sz="2000" b="1" dirty="0"/>
              <a:t>slow compared to private key schemes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38150"/>
            <a:ext cx="7772400" cy="4216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Alice, Bob and Trudy </a:t>
            </a:r>
            <a:endParaRPr lang="en-US" sz="2000" dirty="0" smtClean="0"/>
          </a:p>
          <a:p>
            <a:r>
              <a:rPr lang="en-US" sz="2000" dirty="0" smtClean="0"/>
              <a:t>• In </a:t>
            </a:r>
            <a:r>
              <a:rPr lang="en-US" sz="2000" dirty="0"/>
              <a:t>a Public Key system when Alice sends email to Bob, she finds his public key (possibly in a directory of some sort) and encrypts </a:t>
            </a:r>
            <a:endParaRPr lang="en-US" sz="2000" dirty="0" smtClean="0"/>
          </a:p>
          <a:p>
            <a:r>
              <a:rPr lang="en-US" sz="2000" dirty="0" smtClean="0"/>
              <a:t>her </a:t>
            </a:r>
            <a:r>
              <a:rPr lang="en-US" sz="2000" dirty="0"/>
              <a:t>message using that key. </a:t>
            </a:r>
          </a:p>
          <a:p>
            <a:endParaRPr lang="en-US" sz="2000" dirty="0" smtClean="0"/>
          </a:p>
          <a:p>
            <a:r>
              <a:rPr lang="en-US" sz="2000" dirty="0" smtClean="0"/>
              <a:t>• Unlike </a:t>
            </a:r>
            <a:r>
              <a:rPr lang="en-US" sz="2000" dirty="0"/>
              <a:t>secret-key cryptography, though, the key used to encrypt </a:t>
            </a:r>
            <a:endParaRPr lang="en-US" sz="2000" dirty="0" smtClean="0"/>
          </a:p>
          <a:p>
            <a:r>
              <a:rPr lang="en-US" sz="2000" dirty="0" smtClean="0"/>
              <a:t>will </a:t>
            </a:r>
            <a:r>
              <a:rPr lang="en-US" sz="2000" dirty="0"/>
              <a:t>not decrypt the </a:t>
            </a:r>
            <a:r>
              <a:rPr lang="en-US" sz="2000" dirty="0" err="1"/>
              <a:t>ciphertext</a:t>
            </a:r>
            <a:r>
              <a:rPr lang="en-US" sz="2000" dirty="0"/>
              <a:t>. Knowledge of Bob’s public key will </a:t>
            </a:r>
            <a:endParaRPr lang="en-US" sz="2000" dirty="0" smtClean="0"/>
          </a:p>
          <a:p>
            <a:r>
              <a:rPr lang="en-US" sz="2000" dirty="0" smtClean="0"/>
              <a:t>not </a:t>
            </a:r>
            <a:r>
              <a:rPr lang="en-US" sz="2000" dirty="0"/>
              <a:t>help an eavesdropper. </a:t>
            </a:r>
          </a:p>
          <a:p>
            <a:endParaRPr lang="en-US" sz="2000" dirty="0" smtClean="0"/>
          </a:p>
          <a:p>
            <a:r>
              <a:rPr lang="en-US" sz="2000" dirty="0" smtClean="0"/>
              <a:t>• To </a:t>
            </a:r>
            <a:r>
              <a:rPr lang="en-US" sz="2000" dirty="0"/>
              <a:t>decrypt, Bob uses his private key. </a:t>
            </a:r>
          </a:p>
          <a:p>
            <a:endParaRPr lang="en-US" sz="2000" dirty="0" smtClean="0"/>
          </a:p>
          <a:p>
            <a:r>
              <a:rPr lang="en-US" sz="2000" dirty="0" smtClean="0"/>
              <a:t>• If </a:t>
            </a:r>
            <a:r>
              <a:rPr lang="en-US" sz="2000" dirty="0"/>
              <a:t>Bob wants to respond to Alice, he will encrypt his message </a:t>
            </a:r>
            <a:endParaRPr lang="en-US" sz="2000" dirty="0" smtClean="0"/>
          </a:p>
          <a:p>
            <a:r>
              <a:rPr lang="en-US" sz="2000" dirty="0" smtClean="0"/>
              <a:t>using </a:t>
            </a:r>
            <a:r>
              <a:rPr lang="en-US" sz="2000" dirty="0"/>
              <a:t>her public key.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438150"/>
            <a:ext cx="762000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Public Key Encryption Has Foundations in Mathematics </a:t>
            </a:r>
          </a:p>
          <a:p>
            <a:endParaRPr lang="en-US" sz="2000" dirty="0"/>
          </a:p>
          <a:p>
            <a:r>
              <a:rPr lang="en-US" sz="2000" dirty="0" smtClean="0"/>
              <a:t>• Public </a:t>
            </a:r>
            <a:r>
              <a:rPr lang="en-US" sz="2000" dirty="0"/>
              <a:t>key crypto-systems were developed from some very </a:t>
            </a:r>
            <a:endParaRPr lang="en-US" sz="2000" dirty="0" smtClean="0"/>
          </a:p>
          <a:p>
            <a:r>
              <a:rPr lang="en-US" sz="2000" dirty="0" smtClean="0"/>
              <a:t>subtle </a:t>
            </a:r>
            <a:r>
              <a:rPr lang="en-US" sz="2000" dirty="0"/>
              <a:t>insights about the </a:t>
            </a:r>
            <a:r>
              <a:rPr lang="en-US" sz="2000" b="1" dirty="0"/>
              <a:t>mathematics of large numbers and </a:t>
            </a:r>
            <a:endParaRPr lang="en-US" sz="2000" b="1" dirty="0" smtClean="0"/>
          </a:p>
          <a:p>
            <a:r>
              <a:rPr lang="en-US" sz="2000" b="1" dirty="0" smtClean="0"/>
              <a:t>how </a:t>
            </a:r>
            <a:r>
              <a:rPr lang="en-US" sz="2000" b="1" dirty="0"/>
              <a:t>they relate to the power of computers </a:t>
            </a:r>
          </a:p>
          <a:p>
            <a:endParaRPr lang="en-US" sz="2000" dirty="0"/>
          </a:p>
          <a:p>
            <a:r>
              <a:rPr lang="en-US" sz="2000" dirty="0" smtClean="0"/>
              <a:t>• Public </a:t>
            </a:r>
            <a:r>
              <a:rPr lang="en-US" sz="2000" dirty="0"/>
              <a:t>Key Encryption works because of what is known in math as a </a:t>
            </a:r>
            <a:r>
              <a:rPr lang="en-US" sz="2000" b="1" dirty="0"/>
              <a:t>trapdoor problem </a:t>
            </a:r>
          </a:p>
          <a:p>
            <a:endParaRPr lang="en-US" sz="2000" dirty="0"/>
          </a:p>
          <a:p>
            <a:r>
              <a:rPr lang="en-US" sz="2000" dirty="0" smtClean="0"/>
              <a:t>• A </a:t>
            </a:r>
            <a:r>
              <a:rPr lang="en-US" sz="2000" dirty="0"/>
              <a:t>trapdoor is a mathematical formula that is easy to work forward but very hard to work backward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438150"/>
            <a:ext cx="7924800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Trapdoors are also called </a:t>
            </a:r>
            <a:r>
              <a:rPr lang="en-US" sz="2800" b="1" dirty="0" smtClean="0"/>
              <a:t>One-Way </a:t>
            </a:r>
            <a:r>
              <a:rPr lang="en-US" sz="2800" b="1" dirty="0"/>
              <a:t>Functions </a:t>
            </a:r>
          </a:p>
          <a:p>
            <a:endParaRPr lang="en-US" dirty="0" smtClean="0"/>
          </a:p>
          <a:p>
            <a:r>
              <a:rPr lang="en-US" sz="2000" dirty="0" smtClean="0"/>
              <a:t>•</a:t>
            </a:r>
            <a:r>
              <a:rPr lang="en-US" sz="2000" dirty="0"/>
              <a:t>The challenge of public-key cryptography is developing a system in which it is impossible (or at least intractable) to deduce the private key from the public key </a:t>
            </a:r>
          </a:p>
          <a:p>
            <a:endParaRPr lang="en-US" sz="2000" dirty="0" smtClean="0"/>
          </a:p>
          <a:p>
            <a:r>
              <a:rPr lang="en-US" sz="2000" dirty="0" smtClean="0"/>
              <a:t>•</a:t>
            </a:r>
            <a:r>
              <a:rPr lang="en-US" sz="2000" dirty="0"/>
              <a:t>This can be accomplished by utilizing a </a:t>
            </a:r>
            <a:r>
              <a:rPr lang="en-US" sz="2000" b="1" dirty="0"/>
              <a:t>one-way function. With a one-way function, given some input values, it is relatively </a:t>
            </a:r>
            <a:endParaRPr lang="en-US" sz="2000" b="1" dirty="0" smtClean="0"/>
          </a:p>
          <a:p>
            <a:r>
              <a:rPr lang="en-US" sz="2000" b="1" dirty="0" smtClean="0"/>
              <a:t>simple </a:t>
            </a:r>
            <a:r>
              <a:rPr lang="en-US" sz="2000" b="1" dirty="0"/>
              <a:t>to compute a result. But if you start with the result, it is </a:t>
            </a:r>
            <a:endParaRPr lang="en-US" sz="2000" b="1" dirty="0" smtClean="0"/>
          </a:p>
          <a:p>
            <a:r>
              <a:rPr lang="en-US" sz="2000" b="1" dirty="0" smtClean="0"/>
              <a:t>extremely </a:t>
            </a:r>
            <a:r>
              <a:rPr lang="en-US" sz="2000" b="1" dirty="0"/>
              <a:t>difficult to compute the original input values </a:t>
            </a:r>
          </a:p>
          <a:p>
            <a:endParaRPr lang="en-US" sz="2000" dirty="0" smtClean="0"/>
          </a:p>
          <a:p>
            <a:r>
              <a:rPr lang="en-US" sz="2000" dirty="0" smtClean="0"/>
              <a:t>•</a:t>
            </a:r>
            <a:r>
              <a:rPr lang="en-US" sz="2000" dirty="0"/>
              <a:t>In mathematical terms, given </a:t>
            </a:r>
            <a:r>
              <a:rPr lang="en-US" sz="2000" i="1" dirty="0"/>
              <a:t>x, computing f(x) is easy, but given f(x), it is extremely difficult to determine x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38150"/>
            <a:ext cx="8382000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RSA Algorithm </a:t>
            </a:r>
            <a:endParaRPr lang="en-US" dirty="0" smtClean="0"/>
          </a:p>
          <a:p>
            <a:r>
              <a:rPr lang="en-US" sz="1600" dirty="0" smtClean="0"/>
              <a:t>•</a:t>
            </a:r>
            <a:r>
              <a:rPr lang="en-US" sz="1600" dirty="0"/>
              <a:t>Select two large prime numbers, p and q </a:t>
            </a:r>
          </a:p>
          <a:p>
            <a:r>
              <a:rPr lang="en-US" sz="1600" dirty="0" smtClean="0"/>
              <a:t>•</a:t>
            </a:r>
            <a:r>
              <a:rPr lang="en-US" sz="1600" dirty="0"/>
              <a:t>Find n=p*q </a:t>
            </a:r>
          </a:p>
          <a:p>
            <a:r>
              <a:rPr lang="en-US" sz="1600" dirty="0" smtClean="0"/>
              <a:t>•</a:t>
            </a:r>
            <a:r>
              <a:rPr lang="en-US" sz="1600" dirty="0"/>
              <a:t>Find </a:t>
            </a:r>
            <a:r>
              <a:rPr lang="el-GR" sz="1600" dirty="0"/>
              <a:t>φ(</a:t>
            </a:r>
            <a:r>
              <a:rPr lang="en-US" sz="1600" dirty="0"/>
              <a:t>n)=(p-1)(q-1) </a:t>
            </a:r>
          </a:p>
          <a:p>
            <a:r>
              <a:rPr lang="en-US" sz="1600" dirty="0" smtClean="0"/>
              <a:t>•</a:t>
            </a:r>
            <a:r>
              <a:rPr lang="en-US" sz="1600" dirty="0"/>
              <a:t>Select an odd number ‘e’ such that e and φ(n) are relative prime </a:t>
            </a:r>
          </a:p>
          <a:p>
            <a:r>
              <a:rPr lang="en-US" sz="1600" dirty="0" smtClean="0"/>
              <a:t>•</a:t>
            </a:r>
            <a:r>
              <a:rPr lang="en-US" sz="1600" dirty="0"/>
              <a:t>Find a number d, such that </a:t>
            </a:r>
          </a:p>
          <a:p>
            <a:r>
              <a:rPr lang="en-US" sz="1600" dirty="0" smtClean="0"/>
              <a:t>       de </a:t>
            </a:r>
            <a:r>
              <a:rPr lang="en-US" sz="1600" dirty="0"/>
              <a:t>mod </a:t>
            </a:r>
            <a:r>
              <a:rPr lang="el-GR" sz="1600" dirty="0"/>
              <a:t>φ(</a:t>
            </a:r>
            <a:r>
              <a:rPr lang="en-US" sz="1600" dirty="0"/>
              <a:t>n) = 1 </a:t>
            </a:r>
          </a:p>
          <a:p>
            <a:endParaRPr lang="en-US" sz="1600" dirty="0" smtClean="0"/>
          </a:p>
          <a:p>
            <a:r>
              <a:rPr lang="en-US" sz="1600" dirty="0" smtClean="0"/>
              <a:t>Public </a:t>
            </a:r>
            <a:r>
              <a:rPr lang="en-US" sz="1600" dirty="0"/>
              <a:t>key = (e, n) </a:t>
            </a:r>
          </a:p>
          <a:p>
            <a:r>
              <a:rPr lang="en-US" sz="1600" dirty="0"/>
              <a:t>Private key = (d, n) </a:t>
            </a:r>
          </a:p>
          <a:p>
            <a:endParaRPr lang="en-US" sz="1600" b="1" dirty="0" smtClean="0"/>
          </a:p>
          <a:p>
            <a:r>
              <a:rPr lang="en-US" sz="1600" b="1" dirty="0" smtClean="0"/>
              <a:t>Verification</a:t>
            </a:r>
            <a:r>
              <a:rPr lang="en-US" sz="1600" b="1" dirty="0"/>
              <a:t>: </a:t>
            </a:r>
          </a:p>
          <a:p>
            <a:r>
              <a:rPr lang="en-US" sz="1600" dirty="0"/>
              <a:t>To encrypt a plain text message “M” </a:t>
            </a:r>
          </a:p>
          <a:p>
            <a:r>
              <a:rPr lang="en-US" sz="1600" i="1" dirty="0"/>
              <a:t>C = </a:t>
            </a:r>
            <a:r>
              <a:rPr lang="en-US" sz="1600" i="1" dirty="0" smtClean="0"/>
              <a:t>M</a:t>
            </a:r>
            <a:r>
              <a:rPr lang="en-US" sz="2400" i="1" baseline="30000" dirty="0" smtClean="0"/>
              <a:t>e</a:t>
            </a:r>
            <a:r>
              <a:rPr lang="en-US" sz="1600" i="1" dirty="0" smtClean="0"/>
              <a:t> </a:t>
            </a:r>
            <a:r>
              <a:rPr lang="en-US" sz="1600" i="1" dirty="0"/>
              <a:t>mod n </a:t>
            </a:r>
          </a:p>
          <a:p>
            <a:r>
              <a:rPr lang="en-US" sz="1600" dirty="0"/>
              <a:t>To decrypt the block </a:t>
            </a:r>
          </a:p>
          <a:p>
            <a:r>
              <a:rPr lang="en-US" sz="1600" i="1" dirty="0" smtClean="0"/>
              <a:t>M=C</a:t>
            </a:r>
            <a:r>
              <a:rPr lang="en-US" sz="2400" i="1" baseline="30000" dirty="0" smtClean="0"/>
              <a:t>d</a:t>
            </a:r>
            <a:r>
              <a:rPr lang="en-US" sz="1600" i="1" dirty="0" smtClean="0"/>
              <a:t> </a:t>
            </a:r>
            <a:r>
              <a:rPr lang="en-US" sz="1600" i="1" dirty="0"/>
              <a:t>mod n 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361950"/>
            <a:ext cx="7696200" cy="4216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RSA Example </a:t>
            </a:r>
            <a:endParaRPr lang="en-US" sz="2000" dirty="0" smtClean="0"/>
          </a:p>
          <a:p>
            <a:r>
              <a:rPr lang="en-US" sz="1600" dirty="0" smtClean="0"/>
              <a:t>p </a:t>
            </a:r>
            <a:r>
              <a:rPr lang="en-US" sz="1600" dirty="0"/>
              <a:t>= 3 and q = 11 </a:t>
            </a:r>
          </a:p>
          <a:p>
            <a:r>
              <a:rPr lang="pt-BR" sz="1600" dirty="0"/>
              <a:t>n = p * q = 3 * 11 = 33 </a:t>
            </a:r>
          </a:p>
          <a:p>
            <a:r>
              <a:rPr lang="pt-BR" sz="1600" dirty="0"/>
              <a:t>φ(n) = (p - 1) * (q - 1) = 2 * 10 = 20 </a:t>
            </a:r>
          </a:p>
          <a:p>
            <a:r>
              <a:rPr lang="el-GR" sz="1600" dirty="0"/>
              <a:t>φ(</a:t>
            </a:r>
            <a:r>
              <a:rPr lang="en-US" sz="1600" dirty="0"/>
              <a:t>n) = 20 </a:t>
            </a:r>
          </a:p>
          <a:p>
            <a:r>
              <a:rPr lang="en-US" sz="1600" dirty="0"/>
              <a:t>Choose e such that e and φ(n) are </a:t>
            </a:r>
            <a:r>
              <a:rPr lang="en-US" sz="1600" dirty="0" smtClean="0"/>
              <a:t>co-prime </a:t>
            </a:r>
            <a:endParaRPr lang="en-US" sz="1600" dirty="0"/>
          </a:p>
          <a:p>
            <a:r>
              <a:rPr lang="en-US" sz="1600" dirty="0"/>
              <a:t>Let e = 7 </a:t>
            </a:r>
          </a:p>
          <a:p>
            <a:r>
              <a:rPr lang="en-US" sz="1600" dirty="0"/>
              <a:t>Choose d such that </a:t>
            </a:r>
          </a:p>
          <a:p>
            <a:r>
              <a:rPr lang="en-US" sz="1600" dirty="0" smtClean="0"/>
              <a:t>de </a:t>
            </a:r>
            <a:r>
              <a:rPr lang="en-US" sz="1600" dirty="0"/>
              <a:t>mod </a:t>
            </a:r>
            <a:r>
              <a:rPr lang="el-GR" sz="1600" dirty="0"/>
              <a:t>φ(</a:t>
            </a:r>
            <a:r>
              <a:rPr lang="en-US" sz="1600" dirty="0"/>
              <a:t>n) = 1 </a:t>
            </a:r>
          </a:p>
          <a:p>
            <a:r>
              <a:rPr lang="en-US" sz="1600" dirty="0"/>
              <a:t>d = 3 </a:t>
            </a:r>
          </a:p>
          <a:p>
            <a:r>
              <a:rPr lang="en-US" sz="1600" dirty="0" smtClean="0"/>
              <a:t>(</a:t>
            </a:r>
            <a:r>
              <a:rPr lang="en-US" sz="1600" dirty="0"/>
              <a:t>3)(7)mod20 = 1 </a:t>
            </a:r>
          </a:p>
          <a:p>
            <a:r>
              <a:rPr lang="en-US" sz="1600" b="1" dirty="0" smtClean="0"/>
              <a:t>Public </a:t>
            </a:r>
            <a:r>
              <a:rPr lang="en-US" sz="1600" b="1" dirty="0"/>
              <a:t>key </a:t>
            </a:r>
            <a:r>
              <a:rPr lang="en-US" sz="1600" dirty="0"/>
              <a:t>is (e, n) =&gt; (7, 33) </a:t>
            </a:r>
          </a:p>
          <a:p>
            <a:r>
              <a:rPr lang="en-US" sz="1600" b="1" dirty="0" smtClean="0"/>
              <a:t>Private </a:t>
            </a:r>
            <a:r>
              <a:rPr lang="en-US" sz="1600" b="1" dirty="0"/>
              <a:t>key </a:t>
            </a:r>
            <a:r>
              <a:rPr lang="en-US" sz="1600" dirty="0"/>
              <a:t>is (d, n) =&gt; (3, 33) </a:t>
            </a:r>
          </a:p>
          <a:p>
            <a:r>
              <a:rPr lang="en-US" sz="1600" b="1" dirty="0" smtClean="0"/>
              <a:t>Verification</a:t>
            </a:r>
            <a:r>
              <a:rPr lang="en-US" sz="1600" b="1" dirty="0"/>
              <a:t>: </a:t>
            </a:r>
          </a:p>
          <a:p>
            <a:r>
              <a:rPr lang="en-US" sz="1600" dirty="0" smtClean="0"/>
              <a:t>The </a:t>
            </a:r>
            <a:r>
              <a:rPr lang="en-US" sz="1600" dirty="0"/>
              <a:t>encryption of </a:t>
            </a:r>
            <a:r>
              <a:rPr lang="en-US" sz="1600" i="1" dirty="0"/>
              <a:t>m = 2 is c = </a:t>
            </a:r>
            <a:r>
              <a:rPr lang="en-US" sz="1600" i="1" dirty="0" smtClean="0"/>
              <a:t>2</a:t>
            </a:r>
            <a:r>
              <a:rPr lang="en-US" sz="1600" i="1" baseline="30000" dirty="0" smtClean="0"/>
              <a:t>7</a:t>
            </a:r>
            <a:r>
              <a:rPr lang="en-US" sz="1600" i="1" dirty="0" smtClean="0"/>
              <a:t> mod </a:t>
            </a:r>
            <a:r>
              <a:rPr lang="en-US" sz="1600" i="1" dirty="0"/>
              <a:t>33 = 29 </a:t>
            </a:r>
          </a:p>
          <a:p>
            <a:r>
              <a:rPr lang="en-US" sz="1600" dirty="0" smtClean="0"/>
              <a:t>The </a:t>
            </a:r>
            <a:r>
              <a:rPr lang="en-US" sz="1600" dirty="0"/>
              <a:t>decryption of </a:t>
            </a:r>
            <a:r>
              <a:rPr lang="en-US" sz="1600" i="1" dirty="0"/>
              <a:t>c = 29 is m = 29</a:t>
            </a:r>
            <a:r>
              <a:rPr lang="en-US" sz="1600" i="1" baseline="30000" dirty="0"/>
              <a:t>3</a:t>
            </a:r>
            <a:r>
              <a:rPr lang="en-US" sz="1600" i="1" dirty="0"/>
              <a:t> mod 33 = 2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Review Questions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179512" y="1203598"/>
            <a:ext cx="8424936" cy="682352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What is RSA algorithm and how it helps encrypting the data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What are trapdoor functions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Differentiate symmetric and Asymmetric key encryption</a:t>
            </a:r>
          </a:p>
        </p:txBody>
      </p:sp>
    </p:spTree>
    <p:extLst>
      <p:ext uri="{BB962C8B-B14F-4D97-AF65-F5344CB8AC3E}">
        <p14:creationId xmlns:p14="http://schemas.microsoft.com/office/powerpoint/2010/main" val="6066258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Thank you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401306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ver and End Slide Master">
  <a:themeElements>
    <a:clrScheme name="ALLPPT-COLOR-A3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5D8DE"/>
      </a:accent1>
      <a:accent2>
        <a:srgbClr val="85D8DE"/>
      </a:accent2>
      <a:accent3>
        <a:srgbClr val="85D8DE"/>
      </a:accent3>
      <a:accent4>
        <a:srgbClr val="85D8DE"/>
      </a:accent4>
      <a:accent5>
        <a:srgbClr val="85D8DE"/>
      </a:accent5>
      <a:accent6>
        <a:srgbClr val="85D8DE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3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5D8DE"/>
      </a:accent1>
      <a:accent2>
        <a:srgbClr val="85D8DE"/>
      </a:accent2>
      <a:accent3>
        <a:srgbClr val="85D8DE"/>
      </a:accent3>
      <a:accent4>
        <a:srgbClr val="85D8DE"/>
      </a:accent4>
      <a:accent5>
        <a:srgbClr val="85D8DE"/>
      </a:accent5>
      <a:accent6>
        <a:srgbClr val="85D8DE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ection Break Slide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2455</TotalTime>
  <Words>2336</Words>
  <Application>Microsoft Office PowerPoint</Application>
  <PresentationFormat>On-screen Show (16:9)</PresentationFormat>
  <Paragraphs>518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47</vt:i4>
      </vt:variant>
    </vt:vector>
  </HeadingPairs>
  <TitlesOfParts>
    <vt:vector size="55" baseType="lpstr">
      <vt:lpstr>맑은 고딕</vt:lpstr>
      <vt:lpstr>Arial</vt:lpstr>
      <vt:lpstr>Arial Unicode MS</vt:lpstr>
      <vt:lpstr>Times New Roman</vt:lpstr>
      <vt:lpstr>Wingdings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Ali ahmed siddiqui</cp:lastModifiedBy>
  <cp:revision>131</cp:revision>
  <dcterms:created xsi:type="dcterms:W3CDTF">2016-12-05T23:26:54Z</dcterms:created>
  <dcterms:modified xsi:type="dcterms:W3CDTF">2025-10-14T09:36:57Z</dcterms:modified>
</cp:coreProperties>
</file>