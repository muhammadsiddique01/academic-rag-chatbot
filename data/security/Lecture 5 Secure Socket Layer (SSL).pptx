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7C9EF6-8713-4124-97C7-3AD1F0F58829}" type="datetimeFigureOut">
              <a:rPr lang="en-US" smtClean="0"/>
              <a:t>2/28/2018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42D51C-191A-42B9-BED4-6EAA84E9227A}" type="slidenum">
              <a:rPr lang="en-US" smtClean="0"/>
              <a:t>‹#›</a:t>
            </a:fld>
            <a:endParaRPr lang="en-US"/>
          </a:p>
        </p:txBody>
      </p:sp>
    </p:spTree>
    <p:extLst>
      <p:ext uri="{BB962C8B-B14F-4D97-AF65-F5344CB8AC3E}">
        <p14:creationId xmlns:p14="http://schemas.microsoft.com/office/powerpoint/2010/main" val="3606201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itchFamily="18" charset="0"/>
              </a:defRPr>
            </a:lvl1pPr>
            <a:lvl2pPr marL="742950" indent="-285750">
              <a:spcBef>
                <a:spcPct val="30000"/>
              </a:spcBef>
              <a:defRPr sz="1200">
                <a:solidFill>
                  <a:schemeClr val="tx1"/>
                </a:solidFill>
                <a:latin typeface="Times New Roman" pitchFamily="18" charset="0"/>
              </a:defRPr>
            </a:lvl2pPr>
            <a:lvl3pPr marL="1143000" indent="-228600">
              <a:spcBef>
                <a:spcPct val="30000"/>
              </a:spcBef>
              <a:defRPr sz="1200">
                <a:solidFill>
                  <a:schemeClr val="tx1"/>
                </a:solidFill>
                <a:latin typeface="Times New Roman" pitchFamily="18" charset="0"/>
              </a:defRPr>
            </a:lvl3pPr>
            <a:lvl4pPr marL="1600200" indent="-228600">
              <a:spcBef>
                <a:spcPct val="30000"/>
              </a:spcBef>
              <a:defRPr sz="1200">
                <a:solidFill>
                  <a:schemeClr val="tx1"/>
                </a:solidFill>
                <a:latin typeface="Times New Roman" pitchFamily="18" charset="0"/>
              </a:defRPr>
            </a:lvl4pPr>
            <a:lvl5pPr marL="2057400" indent="-22860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48240F10-5AB0-4467-A92F-A19FFF9D1651}" type="slidenum">
              <a:rPr lang="en-US" altLang="en-US"/>
              <a:pPr>
                <a:spcBef>
                  <a:spcPct val="0"/>
                </a:spcBef>
              </a:pPr>
              <a:t>8</a:t>
            </a:fld>
            <a:endParaRPr lang="en-US" alt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5E2F7A91-7259-43CA-8221-CFDDAB07C574}" type="datetimeFigureOut">
              <a:rPr lang="en-US" smtClean="0"/>
              <a:t>2/28/2018</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26D7665B-00C9-4292-8241-20EF31E4F0B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E2F7A91-7259-43CA-8221-CFDDAB07C574}" type="datetimeFigureOut">
              <a:rPr lang="en-US" smtClean="0"/>
              <a:t>2/28/2018</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6D7665B-00C9-4292-8241-20EF31E4F0BC}"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5E2F7A91-7259-43CA-8221-CFDDAB07C574}" type="datetimeFigureOut">
              <a:rPr lang="en-US" smtClean="0"/>
              <a:t>2/28/2018</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6D7665B-00C9-4292-8241-20EF31E4F0BC}"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E2F7A91-7259-43CA-8221-CFDDAB07C574}" type="datetimeFigureOut">
              <a:rPr lang="en-US" smtClean="0"/>
              <a:t>2/28/2018</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6D7665B-00C9-4292-8241-20EF31E4F0BC}"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E2F7A91-7259-43CA-8221-CFDDAB07C574}" type="datetimeFigureOut">
              <a:rPr lang="en-US" smtClean="0"/>
              <a:t>2/28/2018</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26D7665B-00C9-4292-8241-20EF31E4F0BC}"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5E2F7A91-7259-43CA-8221-CFDDAB07C574}" type="datetimeFigureOut">
              <a:rPr lang="en-US" smtClean="0"/>
              <a:t>2/28/2018</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26D7665B-00C9-4292-8241-20EF31E4F0BC}"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5E2F7A91-7259-43CA-8221-CFDDAB07C574}" type="datetimeFigureOut">
              <a:rPr lang="en-US" smtClean="0"/>
              <a:t>2/28/2018</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26D7665B-00C9-4292-8241-20EF31E4F0B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5E2F7A91-7259-43CA-8221-CFDDAB07C574}" type="datetimeFigureOut">
              <a:rPr lang="en-US" smtClean="0"/>
              <a:t>2/28/2018</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6D7665B-00C9-4292-8241-20EF31E4F0BC}"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5E2F7A91-7259-43CA-8221-CFDDAB07C574}" type="datetimeFigureOut">
              <a:rPr lang="en-US" smtClean="0"/>
              <a:t>2/28/2018</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26D7665B-00C9-4292-8241-20EF31E4F0BC}"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E2F7A91-7259-43CA-8221-CFDDAB07C574}" type="datetimeFigureOut">
              <a:rPr lang="en-US" smtClean="0"/>
              <a:t>2/28/2018</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6D7665B-00C9-4292-8241-20EF31E4F0B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E2F7A91-7259-43CA-8221-CFDDAB07C574}" type="datetimeFigureOut">
              <a:rPr lang="en-US" smtClean="0"/>
              <a:t>2/28/2018</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6D7665B-00C9-4292-8241-20EF31E4F0BC}"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23938" y="304800"/>
            <a:ext cx="7793037" cy="1066800"/>
          </a:xfrm>
        </p:spPr>
        <p:txBody>
          <a:bodyPr/>
          <a:lstStyle/>
          <a:p>
            <a:r>
              <a:rPr lang="en-US" smtClean="0"/>
              <a:t>Click to edit Master title style</a:t>
            </a:r>
            <a:endParaRPr lang="en-CA"/>
          </a:p>
        </p:txBody>
      </p:sp>
      <p:sp>
        <p:nvSpPr>
          <p:cNvPr id="3" name="Text Placeholder 2"/>
          <p:cNvSpPr>
            <a:spLocks noGrp="1"/>
          </p:cNvSpPr>
          <p:nvPr>
            <p:ph type="body" sz="half" idx="1"/>
          </p:nvPr>
        </p:nvSpPr>
        <p:spPr>
          <a:xfrm>
            <a:off x="838200" y="1752600"/>
            <a:ext cx="3981450" cy="43799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quarter" idx="2"/>
          </p:nvPr>
        </p:nvSpPr>
        <p:spPr>
          <a:xfrm>
            <a:off x="4972050" y="1752600"/>
            <a:ext cx="3983038" cy="2112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Content Placeholder 4"/>
          <p:cNvSpPr>
            <a:spLocks noGrp="1"/>
          </p:cNvSpPr>
          <p:nvPr>
            <p:ph sz="quarter" idx="3"/>
          </p:nvPr>
        </p:nvSpPr>
        <p:spPr>
          <a:xfrm>
            <a:off x="4972050" y="4017963"/>
            <a:ext cx="3983038" cy="21145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Rectangle 11"/>
          <p:cNvSpPr>
            <a:spLocks noGrp="1" noChangeArrowheads="1"/>
          </p:cNvSpPr>
          <p:nvPr>
            <p:ph type="dt" sz="half" idx="10"/>
          </p:nvPr>
        </p:nvSpPr>
        <p:spPr>
          <a:ln/>
        </p:spPr>
        <p:txBody>
          <a:bodyPr/>
          <a:lstStyle>
            <a:lvl1pPr>
              <a:defRPr/>
            </a:lvl1pPr>
          </a:lstStyle>
          <a:p>
            <a:pPr>
              <a:defRPr/>
            </a:pPr>
            <a:r>
              <a:rPr lang="en-US"/>
              <a:t>Confidentiality, Integrity and Authentication</a:t>
            </a:r>
          </a:p>
        </p:txBody>
      </p:sp>
      <p:sp>
        <p:nvSpPr>
          <p:cNvPr id="7" name="Rectangle 12"/>
          <p:cNvSpPr>
            <a:spLocks noGrp="1" noChangeArrowheads="1"/>
          </p:cNvSpPr>
          <p:nvPr>
            <p:ph type="ftr" sz="quarter" idx="11"/>
          </p:nvPr>
        </p:nvSpPr>
        <p:spPr>
          <a:ln/>
        </p:spPr>
        <p:txBody>
          <a:bodyPr/>
          <a:lstStyle>
            <a:lvl1pPr>
              <a:defRPr/>
            </a:lvl1pPr>
          </a:lstStyle>
          <a:p>
            <a:pPr>
              <a:defRPr/>
            </a:pPr>
            <a:r>
              <a:rPr lang="en-US"/>
              <a:t>CN8816: Network Security</a:t>
            </a:r>
          </a:p>
        </p:txBody>
      </p:sp>
      <p:sp>
        <p:nvSpPr>
          <p:cNvPr id="8" name="Rectangle 13"/>
          <p:cNvSpPr>
            <a:spLocks noGrp="1" noChangeArrowheads="1"/>
          </p:cNvSpPr>
          <p:nvPr>
            <p:ph type="sldNum" sz="quarter" idx="12"/>
          </p:nvPr>
        </p:nvSpPr>
        <p:spPr>
          <a:ln/>
        </p:spPr>
        <p:txBody>
          <a:bodyPr/>
          <a:lstStyle>
            <a:lvl1pPr>
              <a:defRPr/>
            </a:lvl1pPr>
          </a:lstStyle>
          <a:p>
            <a:fld id="{33795198-E7B4-453F-BBBD-8DDE57AB9400}" type="slidenum">
              <a:rPr lang="en-US" altLang="en-US"/>
              <a:pPr/>
              <a:t>‹#›</a:t>
            </a:fld>
            <a:endParaRPr lang="en-US" altLang="en-US"/>
          </a:p>
        </p:txBody>
      </p:sp>
    </p:spTree>
    <p:extLst>
      <p:ext uri="{BB962C8B-B14F-4D97-AF65-F5344CB8AC3E}">
        <p14:creationId xmlns:p14="http://schemas.microsoft.com/office/powerpoint/2010/main" val="306507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5E2F7A91-7259-43CA-8221-CFDDAB07C574}" type="datetimeFigureOut">
              <a:rPr lang="en-US" smtClean="0"/>
              <a:t>2/28/2018</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26D7665B-00C9-4292-8241-20EF31E4F0B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digicert.com/csr-creation.ht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Secure Socket Layer (SSL)</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394072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Arial" panose="020B0604020202020204" pitchFamily="34" charset="0"/>
              <a:buChar char="•"/>
            </a:pPr>
            <a:r>
              <a:rPr lang="en-US" sz="2000" dirty="0" smtClean="0">
                <a:latin typeface="+mj-lt"/>
              </a:rPr>
              <a:t>An industry standard </a:t>
            </a:r>
            <a:r>
              <a:rPr lang="en-US" sz="2000" dirty="0">
                <a:latin typeface="+mj-lt"/>
              </a:rPr>
              <a:t>security technology for establishing an encrypted link between a web server and a </a:t>
            </a:r>
            <a:r>
              <a:rPr lang="en-US" sz="2000" dirty="0" smtClean="0">
                <a:latin typeface="+mj-lt"/>
              </a:rPr>
              <a:t>browser</a:t>
            </a:r>
          </a:p>
          <a:p>
            <a:pPr marL="109728" indent="0">
              <a:buNone/>
            </a:pPr>
            <a:endParaRPr lang="en-US" sz="2000" dirty="0" smtClean="0">
              <a:latin typeface="+mj-lt"/>
            </a:endParaRPr>
          </a:p>
          <a:p>
            <a:pPr>
              <a:buFont typeface="Arial" panose="020B0604020202020204" pitchFamily="34" charset="0"/>
              <a:buChar char="•"/>
            </a:pPr>
            <a:r>
              <a:rPr lang="en-US" sz="2000" dirty="0" smtClean="0">
                <a:latin typeface="+mj-lt"/>
              </a:rPr>
              <a:t>A certificate is required to established a trust. Web server requires an SSL certificate to create secure connection </a:t>
            </a:r>
          </a:p>
          <a:p>
            <a:pPr>
              <a:buFont typeface="Arial" panose="020B0604020202020204" pitchFamily="34" charset="0"/>
              <a:buChar char="•"/>
            </a:pPr>
            <a:endParaRPr lang="en-US" dirty="0"/>
          </a:p>
        </p:txBody>
      </p:sp>
      <p:sp>
        <p:nvSpPr>
          <p:cNvPr id="3" name="Title 2"/>
          <p:cNvSpPr>
            <a:spLocks noGrp="1"/>
          </p:cNvSpPr>
          <p:nvPr>
            <p:ph type="title"/>
          </p:nvPr>
        </p:nvSpPr>
        <p:spPr/>
        <p:txBody>
          <a:bodyPr/>
          <a:lstStyle/>
          <a:p>
            <a:r>
              <a:rPr lang="en-US" dirty="0" smtClean="0"/>
              <a:t>SSL </a:t>
            </a:r>
            <a:endParaRPr lang="en-US" dirty="0"/>
          </a:p>
        </p:txBody>
      </p:sp>
    </p:spTree>
    <p:extLst>
      <p:ext uri="{BB962C8B-B14F-4D97-AF65-F5344CB8AC3E}">
        <p14:creationId xmlns:p14="http://schemas.microsoft.com/office/powerpoint/2010/main" val="1604109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Contains a public key of the owner</a:t>
            </a:r>
          </a:p>
          <a:p>
            <a:r>
              <a:rPr lang="en-US" sz="2000" dirty="0" smtClean="0"/>
              <a:t>Certificate owner ID</a:t>
            </a:r>
          </a:p>
          <a:p>
            <a:r>
              <a:rPr lang="en-US" sz="2000" dirty="0" smtClean="0"/>
              <a:t>Name of the issuer</a:t>
            </a:r>
          </a:p>
          <a:p>
            <a:r>
              <a:rPr lang="en-US" sz="2000" dirty="0" smtClean="0"/>
              <a:t>Signature of the Certificate Authority</a:t>
            </a:r>
          </a:p>
          <a:p>
            <a:endParaRPr lang="en-US" sz="2000" dirty="0"/>
          </a:p>
        </p:txBody>
      </p:sp>
      <p:sp>
        <p:nvSpPr>
          <p:cNvPr id="3" name="Title 2"/>
          <p:cNvSpPr>
            <a:spLocks noGrp="1"/>
          </p:cNvSpPr>
          <p:nvPr>
            <p:ph type="title"/>
          </p:nvPr>
        </p:nvSpPr>
        <p:spPr/>
        <p:txBody>
          <a:bodyPr/>
          <a:lstStyle/>
          <a:p>
            <a:r>
              <a:rPr lang="en-US" dirty="0" smtClean="0"/>
              <a:t>SSL Certificate</a:t>
            </a:r>
            <a:endParaRPr lang="en-US" dirty="0"/>
          </a:p>
        </p:txBody>
      </p:sp>
      <p:pic>
        <p:nvPicPr>
          <p:cNvPr id="4" name="Picture 4" descr="certificate cont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738366" y="3111212"/>
            <a:ext cx="4030807" cy="2851727"/>
          </a:xfrm>
          <a:prstGeom prst="rect">
            <a:avLst/>
          </a:prstGeom>
        </p:spPr>
      </p:pic>
    </p:spTree>
    <p:extLst>
      <p:ext uri="{BB962C8B-B14F-4D97-AF65-F5344CB8AC3E}">
        <p14:creationId xmlns:p14="http://schemas.microsoft.com/office/powerpoint/2010/main" val="33889771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a:t>To get a certificate, you must </a:t>
            </a:r>
            <a:r>
              <a:rPr lang="en-US" sz="2000" dirty="0">
                <a:hlinkClick r:id="rId2"/>
              </a:rPr>
              <a:t>create a Certificate Signing Request (CSR)</a:t>
            </a:r>
            <a:r>
              <a:rPr lang="en-US" sz="2000" dirty="0"/>
              <a:t> on your </a:t>
            </a:r>
            <a:r>
              <a:rPr lang="en-US" sz="2000" dirty="0" smtClean="0"/>
              <a:t>server</a:t>
            </a:r>
          </a:p>
          <a:p>
            <a:r>
              <a:rPr lang="en-US" sz="2000" dirty="0"/>
              <a:t>This process creates a private key and public key on your </a:t>
            </a:r>
            <a:r>
              <a:rPr lang="en-US" sz="2000" dirty="0" smtClean="0"/>
              <a:t>server</a:t>
            </a:r>
            <a:endParaRPr lang="en-US" sz="2000" dirty="0"/>
          </a:p>
          <a:p>
            <a:r>
              <a:rPr lang="en-US" sz="2000" dirty="0" smtClean="0"/>
              <a:t>The CSR file that you send to CA only contains public key</a:t>
            </a:r>
          </a:p>
          <a:p>
            <a:r>
              <a:rPr lang="en-US" sz="2000" dirty="0" smtClean="0"/>
              <a:t>CA checks the identity of the sender, puts a stamp (digital signature) on the certificate and send it back to the owner</a:t>
            </a:r>
          </a:p>
          <a:p>
            <a:r>
              <a:rPr lang="en-US" sz="2000" dirty="0" smtClean="0"/>
              <a:t>Once you get the certificate, you have to install it on the server</a:t>
            </a:r>
            <a:endParaRPr lang="en-US" sz="2000" dirty="0"/>
          </a:p>
        </p:txBody>
      </p:sp>
      <p:sp>
        <p:nvSpPr>
          <p:cNvPr id="3" name="Title 2"/>
          <p:cNvSpPr>
            <a:spLocks noGrp="1"/>
          </p:cNvSpPr>
          <p:nvPr>
            <p:ph type="title"/>
          </p:nvPr>
        </p:nvSpPr>
        <p:spPr/>
        <p:txBody>
          <a:bodyPr>
            <a:normAutofit/>
          </a:bodyPr>
          <a:lstStyle/>
          <a:p>
            <a:r>
              <a:rPr lang="en-US" sz="2800" dirty="0" smtClean="0"/>
              <a:t>How to get the digital SSL Certificate</a:t>
            </a:r>
            <a:endParaRPr lang="en-US" sz="2800" dirty="0"/>
          </a:p>
        </p:txBody>
      </p:sp>
    </p:spTree>
    <p:extLst>
      <p:ext uri="{BB962C8B-B14F-4D97-AF65-F5344CB8AC3E}">
        <p14:creationId xmlns:p14="http://schemas.microsoft.com/office/powerpoint/2010/main" val="9483706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a:t>When a browser attempts to access a website that is secured by SSL, the browser and the web server establish an SSL connection using a process called an “SSL </a:t>
            </a:r>
            <a:r>
              <a:rPr lang="en-US" sz="2000" dirty="0" smtClean="0"/>
              <a:t>Handshake”</a:t>
            </a:r>
          </a:p>
          <a:p>
            <a:pPr marL="109728" indent="0">
              <a:buNone/>
            </a:pPr>
            <a:endParaRPr lang="en-US" sz="2000" dirty="0" smtClean="0"/>
          </a:p>
          <a:p>
            <a:r>
              <a:rPr lang="en-US" sz="2000" dirty="0"/>
              <a:t>three keys are used to set up the SSL connection: the public, private, and session </a:t>
            </a:r>
            <a:r>
              <a:rPr lang="en-US" sz="2000" dirty="0" smtClean="0"/>
              <a:t>keys</a:t>
            </a:r>
          </a:p>
          <a:p>
            <a:endParaRPr lang="en-US" sz="2000" dirty="0" smtClean="0"/>
          </a:p>
          <a:p>
            <a:r>
              <a:rPr lang="en-US" sz="2000" dirty="0" smtClean="0"/>
              <a:t>Public key algorithm is only used during SSL handshake to create symmetric key. All transmitted data is encrypted using symmetric session key</a:t>
            </a:r>
            <a:endParaRPr lang="en-US" sz="2000" dirty="0"/>
          </a:p>
        </p:txBody>
      </p:sp>
      <p:sp>
        <p:nvSpPr>
          <p:cNvPr id="3" name="Title 2"/>
          <p:cNvSpPr>
            <a:spLocks noGrp="1"/>
          </p:cNvSpPr>
          <p:nvPr>
            <p:ph type="title"/>
          </p:nvPr>
        </p:nvSpPr>
        <p:spPr/>
        <p:txBody>
          <a:bodyPr>
            <a:normAutofit/>
          </a:bodyPr>
          <a:lstStyle/>
          <a:p>
            <a:r>
              <a:rPr lang="en-US" sz="2400" dirty="0" smtClean="0"/>
              <a:t>How SSL certificate works</a:t>
            </a:r>
            <a:endParaRPr lang="en-US" sz="2400" dirty="0"/>
          </a:p>
        </p:txBody>
      </p:sp>
    </p:spTree>
    <p:extLst>
      <p:ext uri="{BB962C8B-B14F-4D97-AF65-F5344CB8AC3E}">
        <p14:creationId xmlns:p14="http://schemas.microsoft.com/office/powerpoint/2010/main" val="31753850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581276"/>
            <a:ext cx="8229600" cy="3426015"/>
          </a:xfrm>
        </p:spPr>
        <p:txBody>
          <a:bodyPr>
            <a:normAutofit fontScale="62500" lnSpcReduction="20000"/>
          </a:bodyPr>
          <a:lstStyle/>
          <a:p>
            <a:r>
              <a:rPr lang="en-US" sz="2900" b="1" dirty="0"/>
              <a:t>Browser</a:t>
            </a:r>
            <a:r>
              <a:rPr lang="en-US" sz="2900" dirty="0"/>
              <a:t> connects to a web server (website) secured with SSL (https). Browser requests that the server identify </a:t>
            </a:r>
            <a:r>
              <a:rPr lang="en-US" sz="2900" dirty="0" smtClean="0"/>
              <a:t>itself</a:t>
            </a:r>
            <a:endParaRPr lang="en-US" sz="2900" dirty="0"/>
          </a:p>
          <a:p>
            <a:r>
              <a:rPr lang="en-US" sz="2900" b="1" dirty="0"/>
              <a:t>Server</a:t>
            </a:r>
            <a:r>
              <a:rPr lang="en-US" sz="2900" dirty="0"/>
              <a:t> sends a copy of its SSL Certificate, including the server’s public </a:t>
            </a:r>
            <a:r>
              <a:rPr lang="en-US" sz="2900" dirty="0" smtClean="0"/>
              <a:t>key</a:t>
            </a:r>
            <a:endParaRPr lang="en-US" sz="2900" dirty="0"/>
          </a:p>
          <a:p>
            <a:r>
              <a:rPr lang="en-US" sz="2900" b="1" dirty="0"/>
              <a:t>Browser</a:t>
            </a:r>
            <a:r>
              <a:rPr lang="en-US" sz="2900" dirty="0"/>
              <a:t> checks the certificate root against a list of trusted CAs and that the certificate is unexpired, unrevoked, and that its common name is valid for the website that it is connecting to. If the browser trusts the certificate, it creates, encrypts, and sends back a symmetric session key using the server’s public </a:t>
            </a:r>
            <a:r>
              <a:rPr lang="en-US" sz="2900" dirty="0" smtClean="0"/>
              <a:t>key</a:t>
            </a:r>
            <a:endParaRPr lang="en-US" sz="2900" dirty="0"/>
          </a:p>
          <a:p>
            <a:r>
              <a:rPr lang="en-US" sz="2900" b="1" dirty="0"/>
              <a:t>Server</a:t>
            </a:r>
            <a:r>
              <a:rPr lang="en-US" sz="2900" dirty="0"/>
              <a:t> decrypts the symmetric session key using its private key and sends back an acknowledgement encrypted with the session key to start the encrypted </a:t>
            </a:r>
            <a:r>
              <a:rPr lang="en-US" sz="2900" dirty="0" smtClean="0"/>
              <a:t>session</a:t>
            </a:r>
            <a:endParaRPr lang="en-US" sz="2900" dirty="0"/>
          </a:p>
          <a:p>
            <a:r>
              <a:rPr lang="en-US" sz="2900" b="1" dirty="0"/>
              <a:t>Server</a:t>
            </a:r>
            <a:r>
              <a:rPr lang="en-US" sz="2900" dirty="0"/>
              <a:t> and </a:t>
            </a:r>
            <a:r>
              <a:rPr lang="en-US" sz="2900" b="1" dirty="0"/>
              <a:t>Browser</a:t>
            </a:r>
            <a:r>
              <a:rPr lang="en-US" sz="2900" dirty="0"/>
              <a:t> now encrypt all transmitted data with the session </a:t>
            </a:r>
            <a:r>
              <a:rPr lang="en-US" sz="2900" dirty="0" smtClean="0"/>
              <a:t>key</a:t>
            </a:r>
            <a:endParaRPr lang="en-US" sz="2900" dirty="0"/>
          </a:p>
          <a:p>
            <a:endParaRPr lang="en-US" dirty="0"/>
          </a:p>
        </p:txBody>
      </p:sp>
      <p:sp>
        <p:nvSpPr>
          <p:cNvPr id="3" name="Title 2"/>
          <p:cNvSpPr>
            <a:spLocks noGrp="1"/>
          </p:cNvSpPr>
          <p:nvPr>
            <p:ph type="title"/>
          </p:nvPr>
        </p:nvSpPr>
        <p:spPr/>
        <p:txBody>
          <a:bodyPr/>
          <a:lstStyle/>
          <a:p>
            <a:endParaRPr lang="en-US"/>
          </a:p>
        </p:txBody>
      </p:sp>
      <p:pic>
        <p:nvPicPr>
          <p:cNvPr id="4098" name="Picture 2" descr="https://www.digicert.com/wp-content/uploads/2017/05/SecureConnection_SSL-01-e149574144390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9229725" cy="2581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16746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TLS (Transport Layer Security) is the newer version of SSL</a:t>
            </a:r>
          </a:p>
          <a:p>
            <a:endParaRPr lang="en-US" sz="2000" dirty="0"/>
          </a:p>
          <a:p>
            <a:r>
              <a:rPr lang="en-US" sz="2000" dirty="0" smtClean="0"/>
              <a:t>SSL 2.0 and SSL 3.0 were released</a:t>
            </a:r>
          </a:p>
          <a:p>
            <a:endParaRPr lang="en-US" sz="2000" dirty="0"/>
          </a:p>
          <a:p>
            <a:r>
              <a:rPr lang="en-US" sz="2000" dirty="0" smtClean="0"/>
              <a:t>SSL 4.0 is referred to as TLS</a:t>
            </a:r>
          </a:p>
          <a:p>
            <a:endParaRPr lang="en-US" sz="2000" dirty="0"/>
          </a:p>
        </p:txBody>
      </p:sp>
      <p:sp>
        <p:nvSpPr>
          <p:cNvPr id="3" name="Title 2"/>
          <p:cNvSpPr>
            <a:spLocks noGrp="1"/>
          </p:cNvSpPr>
          <p:nvPr>
            <p:ph type="title"/>
          </p:nvPr>
        </p:nvSpPr>
        <p:spPr/>
        <p:txBody>
          <a:bodyPr>
            <a:normAutofit/>
          </a:bodyPr>
          <a:lstStyle/>
          <a:p>
            <a:r>
              <a:rPr lang="en-US" sz="2400" dirty="0" smtClean="0"/>
              <a:t>SSL vs TLS</a:t>
            </a:r>
            <a:endParaRPr lang="en-US" sz="2400" dirty="0"/>
          </a:p>
        </p:txBody>
      </p:sp>
    </p:spTree>
    <p:extLst>
      <p:ext uri="{BB962C8B-B14F-4D97-AF65-F5344CB8AC3E}">
        <p14:creationId xmlns:p14="http://schemas.microsoft.com/office/powerpoint/2010/main" val="2133592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Date Placeholder 5"/>
          <p:cNvSpPr>
            <a:spLocks noGrp="1"/>
          </p:cNvSpPr>
          <p:nvPr>
            <p:ph type="dt" sz="quarter" idx="10"/>
          </p:nvPr>
        </p:nvSpPr>
        <p:spPr/>
        <p:txBody>
          <a:bodyPr/>
          <a:lstStyle/>
          <a:p>
            <a:pPr>
              <a:defRPr/>
            </a:pPr>
            <a:r>
              <a:rPr lang="en-US"/>
              <a:t>Confidentiality, Integrity and Authentication</a:t>
            </a:r>
          </a:p>
        </p:txBody>
      </p:sp>
      <p:sp>
        <p:nvSpPr>
          <p:cNvPr id="24" name="Footer Placeholder 6"/>
          <p:cNvSpPr>
            <a:spLocks noGrp="1"/>
          </p:cNvSpPr>
          <p:nvPr>
            <p:ph type="ftr" sz="quarter" idx="11"/>
          </p:nvPr>
        </p:nvSpPr>
        <p:spPr/>
        <p:txBody>
          <a:bodyPr/>
          <a:lstStyle/>
          <a:p>
            <a:pPr>
              <a:defRPr/>
            </a:pPr>
            <a:r>
              <a:rPr lang="en-US"/>
              <a:t>CN8816: Network Security</a:t>
            </a:r>
          </a:p>
        </p:txBody>
      </p:sp>
      <p:sp>
        <p:nvSpPr>
          <p:cNvPr id="64516"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4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0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spcBef>
                <a:spcPct val="0"/>
              </a:spcBef>
              <a:buClrTx/>
              <a:buSzTx/>
              <a:buFontTx/>
              <a:buNone/>
            </a:pPr>
            <a:fld id="{1071370E-8613-4FD2-95CD-4362BE6A3021}" type="slidenum">
              <a:rPr lang="en-US" altLang="en-US" sz="1400"/>
              <a:pPr>
                <a:spcBef>
                  <a:spcPct val="0"/>
                </a:spcBef>
                <a:buClrTx/>
                <a:buSzTx/>
                <a:buFontTx/>
                <a:buNone/>
              </a:pPr>
              <a:t>8</a:t>
            </a:fld>
            <a:endParaRPr lang="en-US" altLang="en-US" sz="1400"/>
          </a:p>
        </p:txBody>
      </p:sp>
      <p:sp>
        <p:nvSpPr>
          <p:cNvPr id="64517" name="Rectangle 2"/>
          <p:cNvSpPr>
            <a:spLocks noGrp="1" noChangeArrowheads="1"/>
          </p:cNvSpPr>
          <p:nvPr>
            <p:ph type="title"/>
          </p:nvPr>
        </p:nvSpPr>
        <p:spPr>
          <a:xfrm>
            <a:off x="609600" y="304800"/>
            <a:ext cx="7793037" cy="838200"/>
          </a:xfrm>
        </p:spPr>
        <p:txBody>
          <a:bodyPr>
            <a:normAutofit/>
          </a:bodyPr>
          <a:lstStyle/>
          <a:p>
            <a:pPr eaLnBrk="1" hangingPunct="1"/>
            <a:r>
              <a:rPr lang="en-US" altLang="en-US" sz="3200" b="0" dirty="0" smtClean="0"/>
              <a:t>Private/Public </a:t>
            </a:r>
            <a:r>
              <a:rPr lang="en-US" altLang="en-US" sz="3200" b="0" dirty="0" smtClean="0"/>
              <a:t>Key Mechanism</a:t>
            </a:r>
          </a:p>
        </p:txBody>
      </p:sp>
      <p:sp>
        <p:nvSpPr>
          <p:cNvPr id="289795" name="Rectangle 3"/>
          <p:cNvSpPr>
            <a:spLocks noGrp="1" noChangeArrowheads="1"/>
          </p:cNvSpPr>
          <p:nvPr>
            <p:ph type="body" sz="half" idx="1"/>
          </p:nvPr>
        </p:nvSpPr>
        <p:spPr>
          <a:xfrm>
            <a:off x="775494" y="1219200"/>
            <a:ext cx="7075488" cy="677863"/>
          </a:xfrm>
        </p:spPr>
        <p:txBody>
          <a:bodyPr/>
          <a:lstStyle/>
          <a:p>
            <a:pPr lvl="1" eaLnBrk="1" hangingPunct="1"/>
            <a:r>
              <a:rPr lang="en-US" altLang="en-US" smtClean="0"/>
              <a:t>Example: PGP (Pretty Good Privacy)</a:t>
            </a:r>
          </a:p>
        </p:txBody>
      </p:sp>
      <p:pic>
        <p:nvPicPr>
          <p:cNvPr id="289798" name="Picture 6" descr="pgp"/>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261100" y="3505200"/>
            <a:ext cx="1066800" cy="1924050"/>
          </a:xfrm>
        </p:spPr>
      </p:pic>
      <p:pic>
        <p:nvPicPr>
          <p:cNvPr id="289799" name="Picture 7" descr="pgp"/>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2074863" y="3429000"/>
            <a:ext cx="1066800" cy="1924050"/>
          </a:xfrm>
        </p:spPr>
      </p:pic>
      <p:sp>
        <p:nvSpPr>
          <p:cNvPr id="289801" name="AutoShape 9"/>
          <p:cNvSpPr>
            <a:spLocks/>
          </p:cNvSpPr>
          <p:nvPr/>
        </p:nvSpPr>
        <p:spPr bwMode="auto">
          <a:xfrm flipH="1" flipV="1">
            <a:off x="3187700" y="3429000"/>
            <a:ext cx="76200" cy="1344613"/>
          </a:xfrm>
          <a:prstGeom prst="leftBracket">
            <a:avLst>
              <a:gd name="adj" fmla="val 147049"/>
            </a:avLst>
          </a:prstGeom>
          <a:noFill/>
          <a:ln w="28575">
            <a:solidFill>
              <a:srgbClr val="FF0000"/>
            </a:solidFill>
            <a:round/>
            <a:headEnd type="none" w="lg" len="lg"/>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4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0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spcBef>
                <a:spcPct val="0"/>
              </a:spcBef>
              <a:buClrTx/>
              <a:buSzTx/>
              <a:buFontTx/>
              <a:buNone/>
            </a:pPr>
            <a:endParaRPr lang="en-CA" altLang="en-US" sz="1800">
              <a:latin typeface="Arial" charset="0"/>
            </a:endParaRPr>
          </a:p>
        </p:txBody>
      </p:sp>
      <p:sp>
        <p:nvSpPr>
          <p:cNvPr id="289803" name="Text Box 11"/>
          <p:cNvSpPr txBox="1">
            <a:spLocks noChangeArrowheads="1"/>
          </p:cNvSpPr>
          <p:nvPr/>
        </p:nvSpPr>
        <p:spPr bwMode="auto">
          <a:xfrm>
            <a:off x="730250" y="2584450"/>
            <a:ext cx="22272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lg" len="lg"/>
                <a:tailEnd type="none" w="lg" len="lg"/>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4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0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spcBef>
                <a:spcPct val="0"/>
              </a:spcBef>
              <a:buClrTx/>
              <a:buSzTx/>
              <a:buFontTx/>
              <a:buNone/>
            </a:pPr>
            <a:r>
              <a:rPr lang="en-US" altLang="en-US" sz="1600">
                <a:latin typeface="Arial" charset="0"/>
              </a:rPr>
              <a:t>1. signed with the sender’s private key</a:t>
            </a:r>
          </a:p>
        </p:txBody>
      </p:sp>
      <p:sp>
        <p:nvSpPr>
          <p:cNvPr id="289804" name="Line 12"/>
          <p:cNvSpPr>
            <a:spLocks noChangeShapeType="1"/>
          </p:cNvSpPr>
          <p:nvPr/>
        </p:nvSpPr>
        <p:spPr bwMode="auto">
          <a:xfrm>
            <a:off x="1230313" y="3160713"/>
            <a:ext cx="0" cy="1536700"/>
          </a:xfrm>
          <a:prstGeom prst="line">
            <a:avLst/>
          </a:prstGeom>
          <a:noFill/>
          <a:ln w="19050">
            <a:solidFill>
              <a:schemeClr val="tx1"/>
            </a:solidFill>
            <a:round/>
            <a:headEnd type="none" w="lg" len="lg"/>
            <a:tailEnd type="none" w="lg" len="lg"/>
          </a:ln>
          <a:extLst>
            <a:ext uri="{909E8E84-426E-40DD-AFC4-6F175D3DCCD1}">
              <a14:hiddenFill xmlns:a14="http://schemas.microsoft.com/office/drawing/2010/main">
                <a:noFill/>
              </a14:hiddenFill>
            </a:ext>
          </a:extLst>
        </p:spPr>
        <p:txBody>
          <a:bodyPr/>
          <a:lstStyle/>
          <a:p>
            <a:endParaRPr lang="en-US"/>
          </a:p>
        </p:txBody>
      </p:sp>
      <p:sp>
        <p:nvSpPr>
          <p:cNvPr id="289805" name="Line 13"/>
          <p:cNvSpPr>
            <a:spLocks noChangeShapeType="1"/>
          </p:cNvSpPr>
          <p:nvPr/>
        </p:nvSpPr>
        <p:spPr bwMode="auto">
          <a:xfrm>
            <a:off x="1230313" y="4697413"/>
            <a:ext cx="844550" cy="0"/>
          </a:xfrm>
          <a:prstGeom prst="line">
            <a:avLst/>
          </a:prstGeom>
          <a:noFill/>
          <a:ln w="19050">
            <a:solidFill>
              <a:schemeClr val="tx1"/>
            </a:solidFill>
            <a:round/>
            <a:headEnd type="none" w="lg" len="lg"/>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89806" name="Text Box 14"/>
          <p:cNvSpPr txBox="1">
            <a:spLocks noChangeArrowheads="1"/>
          </p:cNvSpPr>
          <p:nvPr/>
        </p:nvSpPr>
        <p:spPr bwMode="auto">
          <a:xfrm>
            <a:off x="3325813" y="3262313"/>
            <a:ext cx="19748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lg" len="lg"/>
                <a:tailEnd type="none" w="lg" len="lg"/>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4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0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spcBef>
                <a:spcPct val="0"/>
              </a:spcBef>
              <a:buClrTx/>
              <a:buSzTx/>
              <a:buFontTx/>
              <a:buNone/>
            </a:pPr>
            <a:r>
              <a:rPr lang="en-US" altLang="en-US" sz="1600">
                <a:latin typeface="Arial" charset="0"/>
              </a:rPr>
              <a:t>2. encrypted with the session key</a:t>
            </a:r>
          </a:p>
        </p:txBody>
      </p:sp>
      <p:sp>
        <p:nvSpPr>
          <p:cNvPr id="289807" name="Line 15"/>
          <p:cNvSpPr>
            <a:spLocks noChangeShapeType="1"/>
          </p:cNvSpPr>
          <p:nvPr/>
        </p:nvSpPr>
        <p:spPr bwMode="auto">
          <a:xfrm flipH="1">
            <a:off x="3417888" y="3851275"/>
            <a:ext cx="654050" cy="230188"/>
          </a:xfrm>
          <a:prstGeom prst="line">
            <a:avLst/>
          </a:prstGeom>
          <a:noFill/>
          <a:ln w="19050">
            <a:solidFill>
              <a:schemeClr val="tx1"/>
            </a:solidFill>
            <a:round/>
            <a:headEnd type="none" w="lg" len="lg"/>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89808" name="Text Box 16"/>
          <p:cNvSpPr txBox="1">
            <a:spLocks noChangeArrowheads="1"/>
          </p:cNvSpPr>
          <p:nvPr/>
        </p:nvSpPr>
        <p:spPr bwMode="auto">
          <a:xfrm>
            <a:off x="192088" y="5310188"/>
            <a:ext cx="24987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lg" len="lg"/>
                <a:tailEnd type="none" w="lg" len="lg"/>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4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0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spcBef>
                <a:spcPct val="0"/>
              </a:spcBef>
              <a:buClrTx/>
              <a:buSzTx/>
              <a:buFontTx/>
              <a:buNone/>
            </a:pPr>
            <a:r>
              <a:rPr lang="en-US" altLang="en-US" sz="1600">
                <a:latin typeface="Arial" charset="0"/>
              </a:rPr>
              <a:t>3. encrypted with the recipient’s public key</a:t>
            </a:r>
          </a:p>
        </p:txBody>
      </p:sp>
      <p:sp>
        <p:nvSpPr>
          <p:cNvPr id="289809" name="Line 17"/>
          <p:cNvSpPr>
            <a:spLocks noChangeShapeType="1"/>
          </p:cNvSpPr>
          <p:nvPr/>
        </p:nvSpPr>
        <p:spPr bwMode="auto">
          <a:xfrm flipV="1">
            <a:off x="2343150" y="5387975"/>
            <a:ext cx="230188" cy="192088"/>
          </a:xfrm>
          <a:prstGeom prst="line">
            <a:avLst/>
          </a:prstGeom>
          <a:noFill/>
          <a:ln w="19050">
            <a:solidFill>
              <a:schemeClr val="tx1"/>
            </a:solidFill>
            <a:round/>
            <a:headEnd type="none" w="lg" len="lg"/>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89810" name="AutoShape 18"/>
          <p:cNvSpPr>
            <a:spLocks noChangeArrowheads="1"/>
          </p:cNvSpPr>
          <p:nvPr/>
        </p:nvSpPr>
        <p:spPr bwMode="auto">
          <a:xfrm>
            <a:off x="4378325" y="4119563"/>
            <a:ext cx="976313" cy="485775"/>
          </a:xfrm>
          <a:prstGeom prst="rightArrow">
            <a:avLst>
              <a:gd name="adj1" fmla="val 50000"/>
              <a:gd name="adj2" fmla="val 50245"/>
            </a:avLst>
          </a:prstGeom>
          <a:solidFill>
            <a:schemeClr val="accent1"/>
          </a:solidFill>
          <a:ln w="28575">
            <a:solidFill>
              <a:schemeClr val="bg1"/>
            </a:solidFill>
            <a:miter lim="800000"/>
            <a:headEnd type="none" w="lg" len="lg"/>
            <a:tailEnd type="none" w="lg" len="lg"/>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4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0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spcBef>
                <a:spcPct val="0"/>
              </a:spcBef>
              <a:buClrTx/>
              <a:buSzTx/>
              <a:buFontTx/>
              <a:buNone/>
            </a:pPr>
            <a:endParaRPr lang="en-CA" altLang="en-US" sz="1800">
              <a:latin typeface="Arial" charset="0"/>
            </a:endParaRPr>
          </a:p>
        </p:txBody>
      </p:sp>
      <p:sp>
        <p:nvSpPr>
          <p:cNvPr id="289811" name="Text Box 19"/>
          <p:cNvSpPr txBox="1">
            <a:spLocks noChangeArrowheads="1"/>
          </p:cNvSpPr>
          <p:nvPr/>
        </p:nvSpPr>
        <p:spPr bwMode="auto">
          <a:xfrm>
            <a:off x="4110038" y="5464175"/>
            <a:ext cx="25352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lg" len="lg"/>
                <a:tailEnd type="none" w="lg" len="lg"/>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4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0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spcBef>
                <a:spcPct val="0"/>
              </a:spcBef>
              <a:buClrTx/>
              <a:buSzTx/>
              <a:buFontTx/>
              <a:buNone/>
            </a:pPr>
            <a:r>
              <a:rPr lang="en-US" altLang="en-US" sz="1600">
                <a:latin typeface="Arial" charset="0"/>
              </a:rPr>
              <a:t>4. decrypted with the recipient’s private key</a:t>
            </a:r>
          </a:p>
        </p:txBody>
      </p:sp>
      <p:sp>
        <p:nvSpPr>
          <p:cNvPr id="289812" name="Line 20"/>
          <p:cNvSpPr>
            <a:spLocks noChangeShapeType="1"/>
          </p:cNvSpPr>
          <p:nvPr/>
        </p:nvSpPr>
        <p:spPr bwMode="auto">
          <a:xfrm flipV="1">
            <a:off x="5800725" y="5310188"/>
            <a:ext cx="498475" cy="192087"/>
          </a:xfrm>
          <a:prstGeom prst="line">
            <a:avLst/>
          </a:prstGeom>
          <a:noFill/>
          <a:ln w="19050">
            <a:solidFill>
              <a:schemeClr val="tx1"/>
            </a:solidFill>
            <a:round/>
            <a:headEnd type="none" w="lg" len="lg"/>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89813" name="AutoShape 21"/>
          <p:cNvSpPr>
            <a:spLocks/>
          </p:cNvSpPr>
          <p:nvPr/>
        </p:nvSpPr>
        <p:spPr bwMode="auto">
          <a:xfrm flipH="1" flipV="1">
            <a:off x="6107113" y="3505200"/>
            <a:ext cx="39687" cy="1382713"/>
          </a:xfrm>
          <a:prstGeom prst="rightBracket">
            <a:avLst>
              <a:gd name="adj" fmla="val 290337"/>
            </a:avLst>
          </a:prstGeom>
          <a:noFill/>
          <a:ln w="28575">
            <a:solidFill>
              <a:srgbClr val="FF0000"/>
            </a:solidFill>
            <a:round/>
            <a:headEnd type="none" w="lg" len="lg"/>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4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0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spcBef>
                <a:spcPct val="0"/>
              </a:spcBef>
              <a:buClrTx/>
              <a:buSzTx/>
              <a:buFontTx/>
              <a:buNone/>
            </a:pPr>
            <a:endParaRPr lang="en-CA" altLang="en-US" sz="1800">
              <a:latin typeface="Arial" charset="0"/>
            </a:endParaRPr>
          </a:p>
        </p:txBody>
      </p:sp>
      <p:sp>
        <p:nvSpPr>
          <p:cNvPr id="289815" name="Text Box 23"/>
          <p:cNvSpPr txBox="1">
            <a:spLocks noChangeArrowheads="1"/>
          </p:cNvSpPr>
          <p:nvPr/>
        </p:nvSpPr>
        <p:spPr bwMode="auto">
          <a:xfrm>
            <a:off x="4994275" y="2546350"/>
            <a:ext cx="21272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lg" len="lg"/>
                <a:tailEnd type="none" w="lg" len="lg"/>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4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0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spcBef>
                <a:spcPct val="0"/>
              </a:spcBef>
              <a:buClrTx/>
              <a:buSzTx/>
              <a:buFontTx/>
              <a:buNone/>
            </a:pPr>
            <a:r>
              <a:rPr lang="en-US" altLang="en-US" sz="1600">
                <a:latin typeface="Arial" charset="0"/>
              </a:rPr>
              <a:t>5. decrypted with the session key</a:t>
            </a:r>
          </a:p>
        </p:txBody>
      </p:sp>
      <p:sp>
        <p:nvSpPr>
          <p:cNvPr id="289817" name="Line 25"/>
          <p:cNvSpPr>
            <a:spLocks noChangeShapeType="1"/>
          </p:cNvSpPr>
          <p:nvPr/>
        </p:nvSpPr>
        <p:spPr bwMode="auto">
          <a:xfrm>
            <a:off x="5568950" y="3236913"/>
            <a:ext cx="461963" cy="768350"/>
          </a:xfrm>
          <a:prstGeom prst="line">
            <a:avLst/>
          </a:prstGeom>
          <a:noFill/>
          <a:ln w="19050">
            <a:solidFill>
              <a:schemeClr val="tx1"/>
            </a:solidFill>
            <a:round/>
            <a:headEnd type="none" w="lg" len="lg"/>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89818" name="Text Box 26"/>
          <p:cNvSpPr txBox="1">
            <a:spLocks noChangeArrowheads="1"/>
          </p:cNvSpPr>
          <p:nvPr/>
        </p:nvSpPr>
        <p:spPr bwMode="auto">
          <a:xfrm>
            <a:off x="7067550" y="2354263"/>
            <a:ext cx="1819275"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lg" len="lg"/>
                <a:tailEnd type="none" w="lg" len="lg"/>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4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0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spcBef>
                <a:spcPct val="0"/>
              </a:spcBef>
              <a:buClrTx/>
              <a:buSzTx/>
              <a:buFontTx/>
              <a:buNone/>
            </a:pPr>
            <a:r>
              <a:rPr lang="en-US" altLang="en-US" sz="1600">
                <a:latin typeface="Arial" charset="0"/>
              </a:rPr>
              <a:t>6. verify the signature using the sender’s public key</a:t>
            </a:r>
          </a:p>
        </p:txBody>
      </p:sp>
      <p:sp>
        <p:nvSpPr>
          <p:cNvPr id="289820" name="Line 28"/>
          <p:cNvSpPr>
            <a:spLocks noChangeShapeType="1"/>
          </p:cNvSpPr>
          <p:nvPr/>
        </p:nvSpPr>
        <p:spPr bwMode="auto">
          <a:xfrm>
            <a:off x="7874000" y="3467100"/>
            <a:ext cx="0" cy="1228725"/>
          </a:xfrm>
          <a:prstGeom prst="line">
            <a:avLst/>
          </a:prstGeom>
          <a:noFill/>
          <a:ln w="19050">
            <a:solidFill>
              <a:schemeClr val="tx1"/>
            </a:solidFill>
            <a:round/>
            <a:headEnd type="none" w="lg" len="lg"/>
            <a:tailEnd type="none" w="lg" len="lg"/>
          </a:ln>
          <a:extLst>
            <a:ext uri="{909E8E84-426E-40DD-AFC4-6F175D3DCCD1}">
              <a14:hiddenFill xmlns:a14="http://schemas.microsoft.com/office/drawing/2010/main">
                <a:noFill/>
              </a14:hiddenFill>
            </a:ext>
          </a:extLst>
        </p:spPr>
        <p:txBody>
          <a:bodyPr/>
          <a:lstStyle/>
          <a:p>
            <a:endParaRPr lang="en-US"/>
          </a:p>
        </p:txBody>
      </p:sp>
      <p:sp>
        <p:nvSpPr>
          <p:cNvPr id="289821" name="Line 29"/>
          <p:cNvSpPr>
            <a:spLocks noChangeShapeType="1"/>
          </p:cNvSpPr>
          <p:nvPr/>
        </p:nvSpPr>
        <p:spPr bwMode="auto">
          <a:xfrm flipH="1">
            <a:off x="7181850" y="4695825"/>
            <a:ext cx="692150" cy="0"/>
          </a:xfrm>
          <a:prstGeom prst="line">
            <a:avLst/>
          </a:prstGeom>
          <a:noFill/>
          <a:ln w="19050">
            <a:solidFill>
              <a:schemeClr val="tx1"/>
            </a:solidFill>
            <a:round/>
            <a:headEnd type="none" w="lg" len="lg"/>
            <a:tailEnd type="arrow"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4242323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89795">
                                            <p:txEl>
                                              <p:pRg st="0" end="0"/>
                                            </p:txEl>
                                          </p:spTgt>
                                        </p:tgtEl>
                                        <p:attrNameLst>
                                          <p:attrName>style.visibility</p:attrName>
                                        </p:attrNameLst>
                                      </p:cBhvr>
                                      <p:to>
                                        <p:strVal val="visible"/>
                                      </p:to>
                                    </p:set>
                                    <p:animEffect transition="in" filter="blinds(horizontal)">
                                      <p:cBhvr>
                                        <p:cTn id="7" dur="500"/>
                                        <p:tgtEl>
                                          <p:spTgt spid="289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89799"/>
                                        </p:tgtEl>
                                        <p:attrNameLst>
                                          <p:attrName>style.visibility</p:attrName>
                                        </p:attrNameLst>
                                      </p:cBhvr>
                                      <p:to>
                                        <p:strVal val="visible"/>
                                      </p:to>
                                    </p:set>
                                    <p:animEffect transition="in" filter="blinds(horizontal)">
                                      <p:cBhvr>
                                        <p:cTn id="12" dur="500"/>
                                        <p:tgtEl>
                                          <p:spTgt spid="2897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9803"/>
                                        </p:tgtEl>
                                        <p:attrNameLst>
                                          <p:attrName>style.visibility</p:attrName>
                                        </p:attrNameLst>
                                      </p:cBhvr>
                                      <p:to>
                                        <p:strVal val="visible"/>
                                      </p:to>
                                    </p:set>
                                    <p:animEffect transition="in" filter="blinds(horizontal)">
                                      <p:cBhvr>
                                        <p:cTn id="17" dur="500"/>
                                        <p:tgtEl>
                                          <p:spTgt spid="289803"/>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89804"/>
                                        </p:tgtEl>
                                        <p:attrNameLst>
                                          <p:attrName>style.visibility</p:attrName>
                                        </p:attrNameLst>
                                      </p:cBhvr>
                                      <p:to>
                                        <p:strVal val="visible"/>
                                      </p:to>
                                    </p:set>
                                    <p:animEffect transition="in" filter="blinds(horizontal)">
                                      <p:cBhvr>
                                        <p:cTn id="20" dur="500"/>
                                        <p:tgtEl>
                                          <p:spTgt spid="289804"/>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89805"/>
                                        </p:tgtEl>
                                        <p:attrNameLst>
                                          <p:attrName>style.visibility</p:attrName>
                                        </p:attrNameLst>
                                      </p:cBhvr>
                                      <p:to>
                                        <p:strVal val="visible"/>
                                      </p:to>
                                    </p:set>
                                    <p:animEffect transition="in" filter="blinds(horizontal)">
                                      <p:cBhvr>
                                        <p:cTn id="23" dur="500"/>
                                        <p:tgtEl>
                                          <p:spTgt spid="28980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89801"/>
                                        </p:tgtEl>
                                        <p:attrNameLst>
                                          <p:attrName>style.visibility</p:attrName>
                                        </p:attrNameLst>
                                      </p:cBhvr>
                                      <p:to>
                                        <p:strVal val="visible"/>
                                      </p:to>
                                    </p:set>
                                    <p:animEffect transition="in" filter="blinds(horizontal)">
                                      <p:cBhvr>
                                        <p:cTn id="28" dur="500"/>
                                        <p:tgtEl>
                                          <p:spTgt spid="289801"/>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89807"/>
                                        </p:tgtEl>
                                        <p:attrNameLst>
                                          <p:attrName>style.visibility</p:attrName>
                                        </p:attrNameLst>
                                      </p:cBhvr>
                                      <p:to>
                                        <p:strVal val="visible"/>
                                      </p:to>
                                    </p:set>
                                    <p:animEffect transition="in" filter="blinds(horizontal)">
                                      <p:cBhvr>
                                        <p:cTn id="31" dur="500"/>
                                        <p:tgtEl>
                                          <p:spTgt spid="289807"/>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89806"/>
                                        </p:tgtEl>
                                        <p:attrNameLst>
                                          <p:attrName>style.visibility</p:attrName>
                                        </p:attrNameLst>
                                      </p:cBhvr>
                                      <p:to>
                                        <p:strVal val="visible"/>
                                      </p:to>
                                    </p:set>
                                    <p:animEffect transition="in" filter="blinds(horizontal)">
                                      <p:cBhvr>
                                        <p:cTn id="34" dur="500"/>
                                        <p:tgtEl>
                                          <p:spTgt spid="28980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89808"/>
                                        </p:tgtEl>
                                        <p:attrNameLst>
                                          <p:attrName>style.visibility</p:attrName>
                                        </p:attrNameLst>
                                      </p:cBhvr>
                                      <p:to>
                                        <p:strVal val="visible"/>
                                      </p:to>
                                    </p:set>
                                    <p:animEffect transition="in" filter="blinds(horizontal)">
                                      <p:cBhvr>
                                        <p:cTn id="39" dur="500"/>
                                        <p:tgtEl>
                                          <p:spTgt spid="289808"/>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289809"/>
                                        </p:tgtEl>
                                        <p:attrNameLst>
                                          <p:attrName>style.visibility</p:attrName>
                                        </p:attrNameLst>
                                      </p:cBhvr>
                                      <p:to>
                                        <p:strVal val="visible"/>
                                      </p:to>
                                    </p:set>
                                    <p:animEffect transition="in" filter="blinds(horizontal)">
                                      <p:cBhvr>
                                        <p:cTn id="42" dur="500"/>
                                        <p:tgtEl>
                                          <p:spTgt spid="28980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89810"/>
                                        </p:tgtEl>
                                        <p:attrNameLst>
                                          <p:attrName>style.visibility</p:attrName>
                                        </p:attrNameLst>
                                      </p:cBhvr>
                                      <p:to>
                                        <p:strVal val="visible"/>
                                      </p:to>
                                    </p:set>
                                    <p:animEffect transition="in" filter="blinds(horizontal)">
                                      <p:cBhvr>
                                        <p:cTn id="47" dur="500"/>
                                        <p:tgtEl>
                                          <p:spTgt spid="28981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89798"/>
                                        </p:tgtEl>
                                        <p:attrNameLst>
                                          <p:attrName>style.visibility</p:attrName>
                                        </p:attrNameLst>
                                      </p:cBhvr>
                                      <p:to>
                                        <p:strVal val="visible"/>
                                      </p:to>
                                    </p:set>
                                    <p:animEffect transition="in" filter="blinds(horizontal)">
                                      <p:cBhvr>
                                        <p:cTn id="52" dur="500"/>
                                        <p:tgtEl>
                                          <p:spTgt spid="28979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89811"/>
                                        </p:tgtEl>
                                        <p:attrNameLst>
                                          <p:attrName>style.visibility</p:attrName>
                                        </p:attrNameLst>
                                      </p:cBhvr>
                                      <p:to>
                                        <p:strVal val="visible"/>
                                      </p:to>
                                    </p:set>
                                    <p:animEffect transition="in" filter="blinds(horizontal)">
                                      <p:cBhvr>
                                        <p:cTn id="57" dur="500"/>
                                        <p:tgtEl>
                                          <p:spTgt spid="289811"/>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289812"/>
                                        </p:tgtEl>
                                        <p:attrNameLst>
                                          <p:attrName>style.visibility</p:attrName>
                                        </p:attrNameLst>
                                      </p:cBhvr>
                                      <p:to>
                                        <p:strVal val="visible"/>
                                      </p:to>
                                    </p:set>
                                    <p:animEffect transition="in" filter="blinds(horizontal)">
                                      <p:cBhvr>
                                        <p:cTn id="60" dur="500"/>
                                        <p:tgtEl>
                                          <p:spTgt spid="28981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289813"/>
                                        </p:tgtEl>
                                        <p:attrNameLst>
                                          <p:attrName>style.visibility</p:attrName>
                                        </p:attrNameLst>
                                      </p:cBhvr>
                                      <p:to>
                                        <p:strVal val="visible"/>
                                      </p:to>
                                    </p:set>
                                    <p:animEffect transition="in" filter="blinds(horizontal)">
                                      <p:cBhvr>
                                        <p:cTn id="65" dur="500"/>
                                        <p:tgtEl>
                                          <p:spTgt spid="289813"/>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289817"/>
                                        </p:tgtEl>
                                        <p:attrNameLst>
                                          <p:attrName>style.visibility</p:attrName>
                                        </p:attrNameLst>
                                      </p:cBhvr>
                                      <p:to>
                                        <p:strVal val="visible"/>
                                      </p:to>
                                    </p:set>
                                    <p:animEffect transition="in" filter="blinds(horizontal)">
                                      <p:cBhvr>
                                        <p:cTn id="68" dur="500"/>
                                        <p:tgtEl>
                                          <p:spTgt spid="289817"/>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289815"/>
                                        </p:tgtEl>
                                        <p:attrNameLst>
                                          <p:attrName>style.visibility</p:attrName>
                                        </p:attrNameLst>
                                      </p:cBhvr>
                                      <p:to>
                                        <p:strVal val="visible"/>
                                      </p:to>
                                    </p:set>
                                    <p:animEffect transition="in" filter="blinds(horizontal)">
                                      <p:cBhvr>
                                        <p:cTn id="71" dur="500"/>
                                        <p:tgtEl>
                                          <p:spTgt spid="28981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89818"/>
                                        </p:tgtEl>
                                        <p:attrNameLst>
                                          <p:attrName>style.visibility</p:attrName>
                                        </p:attrNameLst>
                                      </p:cBhvr>
                                      <p:to>
                                        <p:strVal val="visible"/>
                                      </p:to>
                                    </p:set>
                                    <p:animEffect transition="in" filter="blinds(horizontal)">
                                      <p:cBhvr>
                                        <p:cTn id="76" dur="500"/>
                                        <p:tgtEl>
                                          <p:spTgt spid="289818"/>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289820"/>
                                        </p:tgtEl>
                                        <p:attrNameLst>
                                          <p:attrName>style.visibility</p:attrName>
                                        </p:attrNameLst>
                                      </p:cBhvr>
                                      <p:to>
                                        <p:strVal val="visible"/>
                                      </p:to>
                                    </p:set>
                                    <p:animEffect transition="in" filter="blinds(horizontal)">
                                      <p:cBhvr>
                                        <p:cTn id="79" dur="500"/>
                                        <p:tgtEl>
                                          <p:spTgt spid="289820"/>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289821"/>
                                        </p:tgtEl>
                                        <p:attrNameLst>
                                          <p:attrName>style.visibility</p:attrName>
                                        </p:attrNameLst>
                                      </p:cBhvr>
                                      <p:to>
                                        <p:strVal val="visible"/>
                                      </p:to>
                                    </p:set>
                                    <p:animEffect transition="in" filter="blinds(horizontal)">
                                      <p:cBhvr>
                                        <p:cTn id="82" dur="500"/>
                                        <p:tgtEl>
                                          <p:spTgt spid="289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5" grpId="0" build="p"/>
      <p:bldP spid="289801" grpId="0" animBg="1"/>
      <p:bldP spid="289803" grpId="0"/>
      <p:bldP spid="289804" grpId="0" animBg="1"/>
      <p:bldP spid="289805" grpId="0" animBg="1"/>
      <p:bldP spid="289806" grpId="0"/>
      <p:bldP spid="289807" grpId="0" animBg="1"/>
      <p:bldP spid="289808" grpId="0"/>
      <p:bldP spid="289809" grpId="0" animBg="1"/>
      <p:bldP spid="289810" grpId="0" animBg="1"/>
      <p:bldP spid="289811" grpId="0"/>
      <p:bldP spid="289812" grpId="0" animBg="1"/>
      <p:bldP spid="289813" grpId="0" animBg="1"/>
      <p:bldP spid="289815" grpId="0"/>
      <p:bldP spid="289817" grpId="0" animBg="1"/>
      <p:bldP spid="289818" grpId="0"/>
      <p:bldP spid="289820" grpId="0" animBg="1"/>
      <p:bldP spid="289821"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411</TotalTime>
  <Words>257</Words>
  <Application>Microsoft Office PowerPoint</Application>
  <PresentationFormat>On-screen Show (4:3)</PresentationFormat>
  <Paragraphs>45</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Concourse</vt:lpstr>
      <vt:lpstr>Secure Socket Layer (SSL)</vt:lpstr>
      <vt:lpstr>SSL </vt:lpstr>
      <vt:lpstr>SSL Certificate</vt:lpstr>
      <vt:lpstr>How to get the digital SSL Certificate</vt:lpstr>
      <vt:lpstr>How SSL certificate works</vt:lpstr>
      <vt:lpstr>PowerPoint Presentation</vt:lpstr>
      <vt:lpstr>SSL vs TLS</vt:lpstr>
      <vt:lpstr>Private/Public Key Mechanism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Socket Layer (SSL)</dc:title>
  <dc:creator>Ali</dc:creator>
  <cp:lastModifiedBy>mlab3</cp:lastModifiedBy>
  <cp:revision>19</cp:revision>
  <dcterms:created xsi:type="dcterms:W3CDTF">2017-07-10T09:40:56Z</dcterms:created>
  <dcterms:modified xsi:type="dcterms:W3CDTF">2018-02-28T07:26:50Z</dcterms:modified>
</cp:coreProperties>
</file>