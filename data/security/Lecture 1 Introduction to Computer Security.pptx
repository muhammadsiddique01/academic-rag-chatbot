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62" r:id="rId5"/>
    <p:sldId id="304" r:id="rId6"/>
    <p:sldId id="305" r:id="rId7"/>
    <p:sldId id="306" r:id="rId8"/>
    <p:sldId id="307" r:id="rId9"/>
    <p:sldId id="308" r:id="rId10"/>
    <p:sldId id="310" r:id="rId11"/>
    <p:sldId id="309" r:id="rId12"/>
    <p:sldId id="311" r:id="rId13"/>
    <p:sldId id="27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7" autoAdjust="0"/>
    <p:restoredTop sz="94660"/>
  </p:normalViewPr>
  <p:slideViewPr>
    <p:cSldViewPr>
      <p:cViewPr varScale="1">
        <p:scale>
          <a:sx n="92" d="100"/>
          <a:sy n="92" d="100"/>
        </p:scale>
        <p:origin x="7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 smtClean="0">
                <a:ea typeface="맑은 고딕" pitchFamily="50" charset="-127"/>
              </a:rPr>
              <a:t>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 cstate="print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9BF909F-2C64-44E7-A017-31FB8691FA87}" type="datetimeFigureOut">
              <a:rPr lang="en-US" smtClean="0"/>
              <a:pPr/>
              <a:t>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FCBD457-1091-4ABB-ADC2-472C3283F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9BF909F-2C64-44E7-A017-31FB8691FA87}" type="datetimeFigureOut">
              <a:rPr lang="en-US" smtClean="0"/>
              <a:pPr/>
              <a:t>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FCBD457-1091-4ABB-ADC2-472C3283F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13000"/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dirty="0" smtClean="0"/>
              <a:t>Information Security</a:t>
            </a:r>
            <a:endParaRPr lang="en-US" altLang="ko-KR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14" y="3939902"/>
            <a:ext cx="9144000" cy="504056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smtClean="0"/>
              <a:t>Ali Ahmad </a:t>
            </a:r>
            <a:r>
              <a:rPr lang="en-US" altLang="ko-KR" dirty="0" err="1" smtClean="0"/>
              <a:t>Siddiqui</a:t>
            </a:r>
            <a:endParaRPr lang="en-US" altLang="ko-KR" dirty="0" smtClean="0"/>
          </a:p>
          <a:p>
            <a:pPr>
              <a:spcBef>
                <a:spcPts val="0"/>
              </a:spcBef>
              <a:defRPr/>
            </a:pP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Welcome!!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 smtClean="0"/>
              <a:t>Introduction to Computer Security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400050"/>
            <a:ext cx="6324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Computer Security </a:t>
            </a:r>
          </a:p>
          <a:p>
            <a:endParaRPr lang="en-US" sz="2000" dirty="0"/>
          </a:p>
          <a:p>
            <a:r>
              <a:rPr lang="en-US" sz="2000" dirty="0" smtClean="0"/>
              <a:t>• Keep the computer in secure place </a:t>
            </a:r>
            <a:endParaRPr lang="en-US" sz="2000" dirty="0"/>
          </a:p>
          <a:p>
            <a:r>
              <a:rPr lang="en-US" sz="2000" dirty="0" smtClean="0"/>
              <a:t>• Create </a:t>
            </a:r>
            <a:r>
              <a:rPr lang="en-US" sz="2000" dirty="0"/>
              <a:t>login password </a:t>
            </a:r>
          </a:p>
          <a:p>
            <a:r>
              <a:rPr lang="en-US" sz="2000" dirty="0" smtClean="0"/>
              <a:t>• Setup </a:t>
            </a:r>
            <a:r>
              <a:rPr lang="en-US" sz="2000" dirty="0"/>
              <a:t>BIOS password </a:t>
            </a:r>
          </a:p>
          <a:p>
            <a:endParaRPr lang="en-US" sz="2000" dirty="0"/>
          </a:p>
          <a:p>
            <a:r>
              <a:rPr lang="en-US" sz="2000" dirty="0"/>
              <a:t>Software and Data Security inside Computer </a:t>
            </a:r>
          </a:p>
          <a:p>
            <a:r>
              <a:rPr lang="en-US" sz="2000" dirty="0" smtClean="0"/>
              <a:t>• Use </a:t>
            </a:r>
            <a:r>
              <a:rPr lang="en-US" sz="2000" dirty="0"/>
              <a:t>of Antivirus and Antispyware software </a:t>
            </a:r>
          </a:p>
          <a:p>
            <a:r>
              <a:rPr lang="en-US" sz="2000" dirty="0" smtClean="0"/>
              <a:t>• Software </a:t>
            </a:r>
            <a:r>
              <a:rPr lang="en-US" sz="2000" dirty="0"/>
              <a:t>Firewall </a:t>
            </a:r>
          </a:p>
          <a:p>
            <a:r>
              <a:rPr lang="en-US" sz="2000" dirty="0" smtClean="0"/>
              <a:t>• </a:t>
            </a:r>
            <a:r>
              <a:rPr lang="en-US" sz="2000" dirty="0" err="1" smtClean="0"/>
              <a:t>Bitlocker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514350"/>
            <a:ext cx="746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Key Factors in </a:t>
            </a:r>
            <a:r>
              <a:rPr lang="en-US" sz="3600" b="1" dirty="0" smtClean="0"/>
              <a:t>Data Security </a:t>
            </a:r>
            <a:endParaRPr lang="en-US" sz="3600" b="1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3200" dirty="0" smtClean="0"/>
              <a:t>• Confidentiality </a:t>
            </a:r>
            <a:endParaRPr lang="en-US" sz="3200" dirty="0"/>
          </a:p>
          <a:p>
            <a:r>
              <a:rPr lang="en-US" sz="3200" dirty="0" smtClean="0"/>
              <a:t>• Integrity </a:t>
            </a:r>
            <a:endParaRPr lang="en-US" sz="3200" dirty="0"/>
          </a:p>
          <a:p>
            <a:r>
              <a:rPr lang="en-US" sz="3200" dirty="0" smtClean="0"/>
              <a:t>• Availability </a:t>
            </a:r>
            <a:endParaRPr lang="en-US" sz="3200" dirty="0"/>
          </a:p>
          <a:p>
            <a:r>
              <a:rPr lang="en-US" sz="3200" dirty="0" smtClean="0"/>
              <a:t>• Authenticity </a:t>
            </a:r>
            <a:endParaRPr lang="en-US" sz="3200" dirty="0"/>
          </a:p>
          <a:p>
            <a:r>
              <a:rPr lang="en-US" sz="3200" dirty="0" smtClean="0"/>
              <a:t>• Non-Repudiation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 Access Control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400051"/>
            <a:ext cx="7543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Confidentiality (Encryption) </a:t>
            </a:r>
          </a:p>
          <a:p>
            <a:r>
              <a:rPr lang="en-US" sz="2000" dirty="0" smtClean="0"/>
              <a:t>• Protecting </a:t>
            </a:r>
            <a:r>
              <a:rPr lang="en-US" sz="2000" dirty="0"/>
              <a:t>information from disclosure to unauthorized parties </a:t>
            </a:r>
          </a:p>
          <a:p>
            <a:endParaRPr lang="en-US" sz="2000" dirty="0" smtClean="0"/>
          </a:p>
          <a:p>
            <a:r>
              <a:rPr lang="en-US" sz="2000" dirty="0" smtClean="0"/>
              <a:t>• This </a:t>
            </a:r>
            <a:r>
              <a:rPr lang="en-US" sz="2000" dirty="0"/>
              <a:t>type of access includes: </a:t>
            </a:r>
          </a:p>
          <a:p>
            <a:r>
              <a:rPr lang="en-US" sz="2000" dirty="0" smtClean="0"/>
              <a:t>    Printing </a:t>
            </a:r>
            <a:endParaRPr lang="en-US" sz="2000" dirty="0"/>
          </a:p>
          <a:p>
            <a:r>
              <a:rPr lang="en-US" sz="2000" dirty="0" smtClean="0"/>
              <a:t>    Displaying </a:t>
            </a:r>
          </a:p>
          <a:p>
            <a:r>
              <a:rPr lang="en-US" sz="2000" dirty="0" smtClean="0"/>
              <a:t>Other </a:t>
            </a:r>
            <a:r>
              <a:rPr lang="en-US" sz="2000" dirty="0"/>
              <a:t>forms of disclosure, including simply revealing the existing </a:t>
            </a:r>
            <a:r>
              <a:rPr lang="en-US" sz="2000" dirty="0" smtClean="0"/>
              <a:t>        of </a:t>
            </a:r>
            <a:r>
              <a:rPr lang="en-US" sz="2000" dirty="0"/>
              <a:t>an object </a:t>
            </a:r>
          </a:p>
          <a:p>
            <a:endParaRPr lang="en-US" sz="2000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Information like Bank account statements, credit card numbers, personal information should be kept in secret </a:t>
            </a:r>
          </a:p>
          <a:p>
            <a:endParaRPr lang="en-US" sz="2000" dirty="0" smtClean="0"/>
          </a:p>
          <a:p>
            <a:r>
              <a:rPr lang="en-US" sz="2000" dirty="0" smtClean="0"/>
              <a:t>•</a:t>
            </a:r>
            <a:r>
              <a:rPr lang="en-US" sz="2000" dirty="0"/>
              <a:t>Key component of protecting information is Encryption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42900"/>
            <a:ext cx="8763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Integrity </a:t>
            </a:r>
          </a:p>
          <a:p>
            <a:endParaRPr lang="en-US" sz="1600" dirty="0" smtClean="0"/>
          </a:p>
          <a:p>
            <a:r>
              <a:rPr lang="en-US" sz="1600" dirty="0" smtClean="0"/>
              <a:t>• Protecting </a:t>
            </a:r>
            <a:r>
              <a:rPr lang="en-US" sz="1600" dirty="0"/>
              <a:t>information from being modified by unauthorized parties </a:t>
            </a:r>
          </a:p>
          <a:p>
            <a:endParaRPr lang="en-US" sz="1600" dirty="0" smtClean="0"/>
          </a:p>
          <a:p>
            <a:r>
              <a:rPr lang="en-US" sz="1600" dirty="0" smtClean="0"/>
              <a:t>• Modification </a:t>
            </a:r>
            <a:r>
              <a:rPr lang="en-US" sz="1600" dirty="0"/>
              <a:t>includes: </a:t>
            </a:r>
          </a:p>
          <a:p>
            <a:r>
              <a:rPr lang="en-US" sz="1600" dirty="0" smtClean="0"/>
              <a:t>  Writing </a:t>
            </a:r>
            <a:endParaRPr lang="en-US" sz="1600" dirty="0"/>
          </a:p>
          <a:p>
            <a:r>
              <a:rPr lang="en-US" sz="1600" dirty="0" smtClean="0"/>
              <a:t>  Changing </a:t>
            </a:r>
            <a:endParaRPr lang="en-US" sz="1600" dirty="0"/>
          </a:p>
          <a:p>
            <a:r>
              <a:rPr lang="en-US" sz="1600" dirty="0" smtClean="0"/>
              <a:t>  Changing </a:t>
            </a:r>
            <a:r>
              <a:rPr lang="en-US" sz="1600" dirty="0"/>
              <a:t>status </a:t>
            </a:r>
          </a:p>
          <a:p>
            <a:r>
              <a:rPr lang="en-US" sz="1600" dirty="0" smtClean="0"/>
              <a:t>  Deleting </a:t>
            </a:r>
            <a:r>
              <a:rPr lang="en-US" sz="1600" dirty="0"/>
              <a:t>and </a:t>
            </a:r>
          </a:p>
          <a:p>
            <a:r>
              <a:rPr lang="en-US" sz="1600" dirty="0" smtClean="0"/>
              <a:t>  Creating 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• In </a:t>
            </a:r>
            <a:r>
              <a:rPr lang="en-US" sz="1600" dirty="0"/>
              <a:t>online money transfer, if the information is tampered e.g. if the amount you sent is </a:t>
            </a:r>
            <a:r>
              <a:rPr lang="en-US" sz="1600" dirty="0" smtClean="0"/>
              <a:t>changed </a:t>
            </a:r>
            <a:r>
              <a:rPr lang="en-US" sz="1600" dirty="0"/>
              <a:t>from $100 to </a:t>
            </a:r>
            <a:r>
              <a:rPr lang="en-US" sz="1600"/>
              <a:t>$</a:t>
            </a:r>
            <a:r>
              <a:rPr lang="en-US" sz="1600" smtClean="0"/>
              <a:t>1000 </a:t>
            </a:r>
            <a:r>
              <a:rPr lang="en-US" sz="1600" dirty="0"/>
              <a:t>then it could prove to be very costly </a:t>
            </a:r>
          </a:p>
          <a:p>
            <a:endParaRPr lang="en-US" sz="1600" dirty="0" smtClean="0"/>
          </a:p>
          <a:p>
            <a:r>
              <a:rPr lang="en-US" sz="1600" dirty="0" smtClean="0"/>
              <a:t>• Key </a:t>
            </a:r>
            <a:r>
              <a:rPr lang="en-US" sz="1600" dirty="0"/>
              <a:t>component of protecting data is Hashing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00050"/>
            <a:ext cx="83058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Availability</a:t>
            </a:r>
            <a:r>
              <a:rPr lang="en-US" sz="4000" b="1" dirty="0"/>
              <a:t> </a:t>
            </a:r>
          </a:p>
          <a:p>
            <a:endParaRPr lang="en-US" sz="2000" dirty="0" smtClean="0"/>
          </a:p>
          <a:p>
            <a:r>
              <a:rPr lang="en-US" dirty="0" smtClean="0"/>
              <a:t>• Ensure </a:t>
            </a:r>
            <a:r>
              <a:rPr lang="en-US" dirty="0"/>
              <a:t>that the authorized parties are able to access the data all the time </a:t>
            </a:r>
          </a:p>
          <a:p>
            <a:endParaRPr lang="en-US" dirty="0" smtClean="0"/>
          </a:p>
          <a:p>
            <a:r>
              <a:rPr lang="en-US" dirty="0" smtClean="0"/>
              <a:t>• Denying </a:t>
            </a:r>
            <a:r>
              <a:rPr lang="en-US" dirty="0"/>
              <a:t>access to information has become a very common attack nowadays. This is referred as </a:t>
            </a:r>
            <a:r>
              <a:rPr lang="en-US" dirty="0" err="1"/>
              <a:t>DDoS</a:t>
            </a:r>
            <a:r>
              <a:rPr lang="en-US" dirty="0"/>
              <a:t> attack </a:t>
            </a:r>
          </a:p>
          <a:p>
            <a:endParaRPr lang="en-US" dirty="0" smtClean="0"/>
          </a:p>
          <a:p>
            <a:r>
              <a:rPr lang="en-US" dirty="0" smtClean="0"/>
              <a:t>• Other </a:t>
            </a:r>
            <a:r>
              <a:rPr lang="en-US" dirty="0"/>
              <a:t>factors may include incidents like power outage and natural </a:t>
            </a:r>
            <a:r>
              <a:rPr lang="en-US" dirty="0" smtClean="0"/>
              <a:t>disasters etc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• To </a:t>
            </a:r>
            <a:r>
              <a:rPr lang="en-US" dirty="0"/>
              <a:t>ensure data availability, backups should be taken regularly, Disaster </a:t>
            </a:r>
            <a:endParaRPr lang="en-US" dirty="0" smtClean="0"/>
          </a:p>
          <a:p>
            <a:r>
              <a:rPr lang="en-US" dirty="0" smtClean="0"/>
              <a:t>Recovery </a:t>
            </a:r>
            <a:r>
              <a:rPr lang="en-US" dirty="0"/>
              <a:t>(DR) procedures should be implemented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00050"/>
            <a:ext cx="7696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Authenticity </a:t>
            </a:r>
          </a:p>
          <a:p>
            <a:endParaRPr lang="en-US" sz="2400" dirty="0" smtClean="0"/>
          </a:p>
          <a:p>
            <a:r>
              <a:rPr lang="en-US" dirty="0" smtClean="0"/>
              <a:t>Authenticity </a:t>
            </a:r>
            <a:r>
              <a:rPr lang="en-US" dirty="0"/>
              <a:t>is assurance that a message, transaction, or other exchange of information is from the source it claims to be </a:t>
            </a:r>
            <a:r>
              <a:rPr lang="en-US" dirty="0" smtClean="0"/>
              <a:t>from.</a:t>
            </a:r>
          </a:p>
          <a:p>
            <a:endParaRPr lang="en-US" dirty="0"/>
          </a:p>
          <a:p>
            <a:r>
              <a:rPr lang="en-US" dirty="0" smtClean="0"/>
              <a:t>Key component for proving authenticity is digital signature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00050"/>
            <a:ext cx="87630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Non-repudiation</a:t>
            </a:r>
            <a:r>
              <a:rPr lang="en-US" sz="4000" b="1" dirty="0"/>
              <a:t> </a:t>
            </a:r>
          </a:p>
          <a:p>
            <a:endParaRPr lang="en-US" dirty="0" smtClean="0"/>
          </a:p>
          <a:p>
            <a:r>
              <a:rPr lang="en-US" sz="2000" dirty="0" smtClean="0"/>
              <a:t>• Communication </a:t>
            </a:r>
            <a:r>
              <a:rPr lang="en-US" sz="2000" dirty="0"/>
              <a:t>or any action that cannot be denied by the originator </a:t>
            </a:r>
          </a:p>
          <a:p>
            <a:endParaRPr lang="en-US" sz="2000" dirty="0" smtClean="0"/>
          </a:p>
          <a:p>
            <a:r>
              <a:rPr lang="en-US" sz="2000" dirty="0" smtClean="0"/>
              <a:t>• Sharing </a:t>
            </a:r>
            <a:r>
              <a:rPr lang="en-US" sz="2000" dirty="0"/>
              <a:t>of Door Key cards and passwords should be strictly restricted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00050"/>
            <a:ext cx="754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/>
              <a:t>Access Control </a:t>
            </a:r>
            <a:endParaRPr lang="en-US" sz="3600" b="1" dirty="0"/>
          </a:p>
          <a:p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Unauthorized users are kept out of the system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Access to authorized users can also be controlled using security policies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346</Words>
  <Application>Microsoft Office PowerPoint</Application>
  <PresentationFormat>On-screen Show (16:9)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Unicode MS</vt:lpstr>
      <vt:lpstr>맑은 고딕</vt:lpstr>
      <vt:lpstr>Arial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Ali Ahmad Siddiqui</cp:lastModifiedBy>
  <cp:revision>112</cp:revision>
  <dcterms:created xsi:type="dcterms:W3CDTF">2016-12-05T23:26:54Z</dcterms:created>
  <dcterms:modified xsi:type="dcterms:W3CDTF">2022-02-28T04:36:36Z</dcterms:modified>
</cp:coreProperties>
</file>