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24"/>
  </p:notesMasterIdLst>
  <p:sldIdLst>
    <p:sldId id="256" r:id="rId4"/>
    <p:sldId id="26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7" r:id="rId15"/>
    <p:sldId id="318" r:id="rId16"/>
    <p:sldId id="319" r:id="rId17"/>
    <p:sldId id="312" r:id="rId18"/>
    <p:sldId id="313" r:id="rId19"/>
    <p:sldId id="314" r:id="rId20"/>
    <p:sldId id="315" r:id="rId21"/>
    <p:sldId id="316" r:id="rId22"/>
    <p:sldId id="271" r:id="rId23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D8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47" autoAdjust="0"/>
    <p:restoredTop sz="94660"/>
  </p:normalViewPr>
  <p:slideViewPr>
    <p:cSldViewPr>
      <p:cViewPr varScale="1">
        <p:scale>
          <a:sx n="92" d="100"/>
          <a:sy n="92" d="100"/>
        </p:scale>
        <p:origin x="76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C069BC-2572-485D-9F68-AC734B85E84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333AA8-3EEA-4106-B1FE-C21398E7105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B56C2-75B2-46A8-BB52-0EE3601564E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415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705210"/>
            <a:ext cx="9144000" cy="5227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 smtClean="0">
                <a:ea typeface="맑은 고딕" pitchFamily="50" charset="-127"/>
              </a:rPr>
              <a:t>title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4227934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 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 cstate="print">
            <a:lum/>
          </a:blip>
          <a:srcRect/>
          <a:stretch>
            <a:fillRect t="-18000" b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 userDrawn="1"/>
        </p:nvSpPr>
        <p:spPr>
          <a:xfrm>
            <a:off x="2699644" y="699542"/>
            <a:ext cx="3744416" cy="3744416"/>
          </a:xfrm>
          <a:prstGeom prst="ellipse">
            <a:avLst/>
          </a:prstGeom>
          <a:solidFill>
            <a:schemeClr val="tx2">
              <a:lumMod val="75000"/>
              <a:alpha val="77000"/>
            </a:schemeClr>
          </a:solidFill>
          <a:ln w="857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99792" y="2181230"/>
            <a:ext cx="3744416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99644" y="2757294"/>
            <a:ext cx="3744416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8351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5958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555526"/>
            <a:ext cx="842493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1203598"/>
            <a:ext cx="842493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457713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483518"/>
            <a:ext cx="424847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1131590"/>
            <a:ext cx="424847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92773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-42902" y="455940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887988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9246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720790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792334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863879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0241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lIns="720000" anchor="ctr"/>
          <a:lstStyle>
            <a:lvl1pPr marL="0" indent="0" algn="l">
              <a:buNone/>
              <a:defRPr sz="18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6313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347864" y="627534"/>
            <a:ext cx="5796136" cy="10520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104000" y="1798321"/>
            <a:ext cx="5040000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824000" y="3465106"/>
            <a:ext cx="4320000" cy="10508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5812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937417" y="627534"/>
            <a:ext cx="1872000" cy="3816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1968708" y="627534"/>
            <a:ext cx="1872000" cy="3816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627534"/>
            <a:ext cx="1872000" cy="3816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6533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795621" y="627533"/>
            <a:ext cx="3294112" cy="11155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613166" y="3399271"/>
            <a:ext cx="3293944" cy="11166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3795621" y="1815095"/>
            <a:ext cx="1728192" cy="2700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5621504" y="1814524"/>
            <a:ext cx="1468228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7178918" y="627533"/>
            <a:ext cx="1728192" cy="26997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7589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11510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87574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4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57041" y="1313860"/>
            <a:ext cx="6438182" cy="327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81898" y="1731279"/>
            <a:ext cx="3085597" cy="22818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6077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75603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384377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14A189B-3F08-4474-ACC3-7FA3E79AF6F4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5849AD0-B780-46DD-BF4F-09430D89E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2223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14A189B-3F08-4474-ACC3-7FA3E79AF6F4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5849AD0-B780-46DD-BF4F-09430D89E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019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0" y="2253238"/>
            <a:ext cx="4572000" cy="47357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0" y="2726814"/>
            <a:ext cx="45720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70850" y="0"/>
            <a:ext cx="6088050" cy="551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0800000">
            <a:off x="-23339" y="4592250"/>
            <a:ext cx="6088050" cy="55125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79512" y="123478"/>
            <a:ext cx="1440160" cy="33855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ctr"/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070850" y="0"/>
            <a:ext cx="6088050" cy="551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 rot="10800000">
            <a:off x="-36511" y="4592250"/>
            <a:ext cx="6088050" cy="55125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79512" y="123478"/>
            <a:ext cx="1440160" cy="33855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ctr"/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1" r:id="rId3"/>
    <p:sldLayoutId id="2147483660" r:id="rId4"/>
    <p:sldLayoutId id="2147483662" r:id="rId5"/>
    <p:sldLayoutId id="2147483655" r:id="rId6"/>
    <p:sldLayoutId id="2147483663" r:id="rId7"/>
    <p:sldLayoutId id="2147483664" r:id="rId8"/>
    <p:sldLayoutId id="2147483668" r:id="rId9"/>
    <p:sldLayoutId id="2147483665" r:id="rId10"/>
    <p:sldLayoutId id="2147483670" r:id="rId11"/>
    <p:sldLayoutId id="2147483656" r:id="rId12"/>
    <p:sldLayoutId id="2147483671" r:id="rId13"/>
    <p:sldLayoutId id="2147483672" r:id="rId14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70850" y="0"/>
            <a:ext cx="6088050" cy="551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-36511" y="4592250"/>
            <a:ext cx="6088050" cy="55125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79512" y="123478"/>
            <a:ext cx="1440160" cy="33855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ctr"/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13000"/>
            <a:lum/>
          </a:blip>
          <a:srcRect/>
          <a:stretch>
            <a:fillRect t="-18000" b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014" y="3291830"/>
            <a:ext cx="9144000" cy="522725"/>
          </a:xfrm>
        </p:spPr>
        <p:txBody>
          <a:bodyPr/>
          <a:lstStyle/>
          <a:p>
            <a:pPr lvl="0"/>
            <a:r>
              <a:rPr lang="en-US" altLang="ko-KR" sz="3200" dirty="0" smtClean="0">
                <a:ea typeface="맑은 고딕" pitchFamily="50" charset="-127"/>
              </a:rPr>
              <a:t>Hash Function, DH Algorithm</a:t>
            </a:r>
            <a:endParaRPr lang="en-US" altLang="ko-KR" sz="32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014" y="3939902"/>
            <a:ext cx="9144000" cy="504056"/>
          </a:xfr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altLang="ko-KR" dirty="0" smtClean="0"/>
              <a:t>Ali Ahmad </a:t>
            </a:r>
            <a:r>
              <a:rPr lang="en-US" altLang="ko-KR" dirty="0" err="1" smtClean="0"/>
              <a:t>Siddiqui</a:t>
            </a:r>
            <a:endParaRPr lang="en-US" altLang="ko-KR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79512" y="123478"/>
            <a:ext cx="1440160" cy="3385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ctr"/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Welcome!!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61455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14350"/>
            <a:ext cx="7772400" cy="1102519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smtClean="0"/>
              <a:t>Hash Functions</a:t>
            </a:r>
            <a:endParaRPr lang="en-US" sz="32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1085850"/>
            <a:ext cx="6705600" cy="1314450"/>
          </a:xfrm>
        </p:spPr>
        <p:txBody>
          <a:bodyPr>
            <a:normAutofit fontScale="77500" lnSpcReduction="20000"/>
          </a:bodyPr>
          <a:lstStyle/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Mapping of variable sized input data in to a fixed sized data</a:t>
            </a: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One way function that cannot be </a:t>
            </a:r>
            <a:r>
              <a:rPr lang="en-US" sz="2800" dirty="0" smtClean="0"/>
              <a:t>revert</a:t>
            </a:r>
            <a:endParaRPr lang="en-US" sz="2800" dirty="0"/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The output is called “Digest”</a:t>
            </a:r>
          </a:p>
          <a:p>
            <a:pPr algn="l"/>
            <a:endParaRPr lang="en-US" sz="2800" dirty="0"/>
          </a:p>
        </p:txBody>
      </p:sp>
      <p:pic>
        <p:nvPicPr>
          <p:cNvPr id="4" name="Picture 3" descr="Hash Functions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514600"/>
            <a:ext cx="5029200" cy="22288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0406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61950"/>
            <a:ext cx="7772400" cy="1102519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smtClean="0"/>
              <a:t>Hash Algorithms</a:t>
            </a:r>
            <a:endParaRPr lang="en-US" sz="32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1200150"/>
            <a:ext cx="6400800" cy="3314700"/>
          </a:xfrm>
        </p:spPr>
        <p:txBody>
          <a:bodyPr>
            <a:normAutofit/>
          </a:bodyPr>
          <a:lstStyle/>
          <a:p>
            <a:pPr lvl="1" algn="l"/>
            <a:r>
              <a:rPr lang="en-US" sz="2000" dirty="0"/>
              <a:t>MD-5: 512-bit block, 128-bit hash</a:t>
            </a:r>
          </a:p>
          <a:p>
            <a:pPr lvl="1" algn="l"/>
            <a:r>
              <a:rPr lang="en-US" sz="2000" dirty="0"/>
              <a:t>Secure Hash Algorithm (SHA)</a:t>
            </a:r>
          </a:p>
          <a:p>
            <a:pPr lvl="2" algn="l"/>
            <a:r>
              <a:rPr lang="en-US" sz="2000" dirty="0"/>
              <a:t>SHA-1: 512-bit block, 160-bit hash</a:t>
            </a:r>
          </a:p>
          <a:p>
            <a:pPr lvl="2" algn="l"/>
            <a:r>
              <a:rPr lang="en-US" sz="2000" dirty="0"/>
              <a:t>SHA-224: 512-bit block, 224-bit hash</a:t>
            </a:r>
          </a:p>
          <a:p>
            <a:pPr lvl="2" algn="l"/>
            <a:r>
              <a:rPr lang="en-US" sz="2000" dirty="0"/>
              <a:t>SHA-256: 512-bit block, 256-bit hash</a:t>
            </a:r>
          </a:p>
          <a:p>
            <a:pPr lvl="2" algn="l"/>
            <a:r>
              <a:rPr lang="en-US" sz="2000" dirty="0"/>
              <a:t>SHA-384: 1024-bit block, 384-bit hash</a:t>
            </a:r>
          </a:p>
          <a:p>
            <a:pPr lvl="2" algn="l"/>
            <a:r>
              <a:rPr lang="en-US" sz="2000" dirty="0"/>
              <a:t>SHA-512: 1024-bit block, 512-bit hash</a:t>
            </a:r>
          </a:p>
          <a:p>
            <a:pPr algn="l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55162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90550"/>
            <a:ext cx="7772400" cy="1102519"/>
          </a:xfrm>
        </p:spPr>
        <p:txBody>
          <a:bodyPr/>
          <a:lstStyle/>
          <a:p>
            <a:pPr algn="l"/>
            <a:r>
              <a:rPr lang="en-US" sz="3200" b="1" dirty="0" smtClean="0"/>
              <a:t>Applications of Hash Functions</a:t>
            </a:r>
            <a:endParaRPr lang="en-US" sz="32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52550"/>
            <a:ext cx="7924800" cy="2857500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000" dirty="0" smtClean="0"/>
              <a:t>Password Storage</a:t>
            </a: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US" sz="2000" dirty="0"/>
              <a:t>Hash function provides protection to the password storage</a:t>
            </a: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US" sz="2000" dirty="0"/>
              <a:t>Instead of storing password in plain text, passwords are stored </a:t>
            </a:r>
            <a:endParaRPr lang="en-US" sz="2000" dirty="0" smtClean="0"/>
          </a:p>
          <a:p>
            <a:pPr marL="457200" lvl="0" indent="-457200" algn="l"/>
            <a:r>
              <a:rPr lang="en-US" sz="2000" dirty="0" smtClean="0"/>
              <a:t>       in </a:t>
            </a:r>
            <a:r>
              <a:rPr lang="en-US" sz="2000" dirty="0"/>
              <a:t>form of Hashes so that </a:t>
            </a:r>
            <a:r>
              <a:rPr lang="en-US" sz="2000" dirty="0" smtClean="0"/>
              <a:t>no </a:t>
            </a:r>
            <a:r>
              <a:rPr lang="en-US" sz="2000" dirty="0"/>
              <a:t>body can guess the actual </a:t>
            </a:r>
            <a:endParaRPr lang="en-US" sz="2000" dirty="0" smtClean="0"/>
          </a:p>
          <a:p>
            <a:pPr marL="457200" lvl="0" indent="-457200" algn="l"/>
            <a:r>
              <a:rPr lang="en-US" sz="2000" dirty="0" smtClean="0"/>
              <a:t>       password</a:t>
            </a:r>
            <a:endParaRPr lang="en-US" sz="20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24892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361950"/>
            <a:ext cx="7772400" cy="1102519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smtClean="0"/>
              <a:t>Application [Cont..]</a:t>
            </a:r>
            <a:endParaRPr lang="en-US" sz="32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028700"/>
            <a:ext cx="6400800" cy="131445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 descr="Process of Logo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371600"/>
            <a:ext cx="5562600" cy="3028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4897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61950"/>
            <a:ext cx="7772400" cy="1102519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3200" b="1" dirty="0" smtClean="0"/>
              <a:t>Data Integrity</a:t>
            </a:r>
            <a:endParaRPr lang="en-US" sz="32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914400"/>
            <a:ext cx="6934200" cy="1314450"/>
          </a:xfrm>
        </p:spPr>
        <p:txBody>
          <a:bodyPr>
            <a:normAutofit/>
          </a:bodyPr>
          <a:lstStyle/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US" sz="2400" dirty="0"/>
              <a:t>Data integrity is the most common application of Hash functions</a:t>
            </a:r>
          </a:p>
          <a:p>
            <a:pPr algn="l"/>
            <a:endParaRPr lang="en-US" sz="2800" dirty="0"/>
          </a:p>
        </p:txBody>
      </p:sp>
      <p:pic>
        <p:nvPicPr>
          <p:cNvPr id="4" name="Picture 3" descr="Data Integrity Check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057400"/>
            <a:ext cx="6934200" cy="240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352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361950"/>
            <a:ext cx="7772400" cy="1102519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smtClean="0"/>
              <a:t>Example:</a:t>
            </a:r>
            <a:endParaRPr lang="en-US" sz="32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971550"/>
            <a:ext cx="7696200" cy="1066800"/>
          </a:xfrm>
        </p:spPr>
        <p:txBody>
          <a:bodyPr>
            <a:norm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Create a text file in Notepad and save as </a:t>
            </a:r>
            <a:r>
              <a:rPr lang="en-US" sz="2000" dirty="0" smtClean="0"/>
              <a:t>“</a:t>
            </a:r>
            <a:r>
              <a:rPr lang="en-US" sz="2000" dirty="0"/>
              <a:t>test”. Below shows </a:t>
            </a:r>
            <a:endParaRPr lang="en-US" sz="2000" dirty="0" smtClean="0"/>
          </a:p>
          <a:p>
            <a:pPr marL="342900" lvl="0" indent="-342900" algn="l"/>
            <a:r>
              <a:rPr lang="en-US" sz="2000" dirty="0" smtClean="0"/>
              <a:t>      the </a:t>
            </a:r>
            <a:r>
              <a:rPr lang="en-US" sz="2000" dirty="0"/>
              <a:t>content of the text file</a:t>
            </a:r>
          </a:p>
          <a:p>
            <a:pPr algn="l"/>
            <a:endParaRPr lang="en-US" sz="2400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809750"/>
            <a:ext cx="67056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302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361950"/>
            <a:ext cx="7772400" cy="1102519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 smtClean="0"/>
              <a:t>Example [cont..]</a:t>
            </a:r>
            <a:endParaRPr lang="en-US" sz="2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742950"/>
            <a:ext cx="8077200" cy="971550"/>
          </a:xfrm>
        </p:spPr>
        <p:txBody>
          <a:bodyPr>
            <a:norm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Open Command prompt and run “</a:t>
            </a:r>
            <a:r>
              <a:rPr lang="en-US" sz="2000" dirty="0" err="1"/>
              <a:t>Certutil</a:t>
            </a:r>
            <a:r>
              <a:rPr lang="en-US" sz="2000" dirty="0"/>
              <a:t>” command to apply Hash function as shown below</a:t>
            </a:r>
          </a:p>
          <a:p>
            <a:pPr algn="l"/>
            <a:endParaRPr lang="en-US" sz="2400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914400" y="1428750"/>
            <a:ext cx="6781800" cy="24574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24000" y="401955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Note: The above command calculates the hash value for SHA1 i.e. 160Bit</a:t>
            </a:r>
          </a:p>
        </p:txBody>
      </p:sp>
    </p:spTree>
    <p:extLst>
      <p:ext uri="{BB962C8B-B14F-4D97-AF65-F5344CB8AC3E}">
        <p14:creationId xmlns:p14="http://schemas.microsoft.com/office/powerpoint/2010/main" val="2711678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85750"/>
            <a:ext cx="7772400" cy="495300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/>
              <a:t>Example [cont..]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914400"/>
            <a:ext cx="6934200" cy="1314450"/>
          </a:xfrm>
        </p:spPr>
        <p:txBody>
          <a:bodyPr/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Make a small change in the text and put a little dot at the end as shown below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143000" y="1885950"/>
            <a:ext cx="6324600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205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85750"/>
            <a:ext cx="7772400" cy="552450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/>
              <a:t>Example [cont..]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666750"/>
            <a:ext cx="6400800" cy="800100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 smtClean="0"/>
              <a:t>Calculate the Hash again</a:t>
            </a:r>
            <a:endParaRPr lang="en-US" sz="2000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762000" y="1047750"/>
            <a:ext cx="6934200" cy="2857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447800" y="401955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Note that just by adding a single dot has changed the entire Hash value</a:t>
            </a:r>
          </a:p>
        </p:txBody>
      </p:sp>
    </p:spTree>
    <p:extLst>
      <p:ext uri="{BB962C8B-B14F-4D97-AF65-F5344CB8AC3E}">
        <p14:creationId xmlns:p14="http://schemas.microsoft.com/office/powerpoint/2010/main" val="3927599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491" y="438150"/>
            <a:ext cx="8229600" cy="533400"/>
          </a:xfrm>
        </p:spPr>
        <p:txBody>
          <a:bodyPr/>
          <a:lstStyle/>
          <a:p>
            <a:pPr algn="l"/>
            <a:r>
              <a:rPr lang="en-US" sz="2400" b="1" dirty="0" smtClean="0"/>
              <a:t>What is Primitive Root ?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491" y="1047750"/>
            <a:ext cx="8458200" cy="3394472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In modular arithmetic, a primitive root modulo n (where n is a positive integer) </a:t>
            </a:r>
            <a:r>
              <a:rPr lang="en-US" sz="1800" dirty="0" smtClean="0"/>
              <a:t>      is</a:t>
            </a:r>
            <a:r>
              <a:rPr lang="en-US" sz="1800" dirty="0"/>
              <a:t> </a:t>
            </a:r>
            <a:r>
              <a:rPr lang="en-US" sz="1800" dirty="0" smtClean="0"/>
              <a:t>an </a:t>
            </a:r>
            <a:r>
              <a:rPr lang="en-US" sz="1800" dirty="0"/>
              <a:t>integer g such that every </a:t>
            </a:r>
            <a:r>
              <a:rPr lang="en-US" sz="1800" dirty="0" smtClean="0"/>
              <a:t>integer coprime </a:t>
            </a:r>
            <a:r>
              <a:rPr lang="en-US" sz="1800" dirty="0"/>
              <a:t>to n is congruent to a </a:t>
            </a:r>
            <a:r>
              <a:rPr lang="en-US" sz="1800" dirty="0" smtClean="0"/>
              <a:t>power of </a:t>
            </a:r>
          </a:p>
          <a:p>
            <a:pPr marL="0" indent="0">
              <a:buNone/>
            </a:pPr>
            <a:r>
              <a:rPr lang="en-US" sz="1800" dirty="0" smtClean="0"/>
              <a:t>g modulo n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In simple words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“g” is said to be a primitive root of prime number “n”, if </a:t>
            </a:r>
            <a:r>
              <a:rPr lang="en-US" sz="1800" dirty="0" smtClean="0"/>
              <a:t>g</a:t>
            </a:r>
            <a:r>
              <a:rPr lang="en-US" sz="1800" baseline="30000" dirty="0"/>
              <a:t>1</a:t>
            </a:r>
            <a:r>
              <a:rPr lang="en-US" sz="1800" dirty="0" smtClean="0"/>
              <a:t> </a:t>
            </a:r>
            <a:r>
              <a:rPr lang="en-US" sz="1800" dirty="0" smtClean="0"/>
              <a:t>mod n, </a:t>
            </a:r>
            <a:r>
              <a:rPr lang="en-US" sz="1800" dirty="0" smtClean="0"/>
              <a:t>g</a:t>
            </a:r>
            <a:r>
              <a:rPr lang="en-US" sz="1800" baseline="30000" dirty="0"/>
              <a:t>2</a:t>
            </a:r>
            <a:r>
              <a:rPr lang="en-US" sz="1800" dirty="0" smtClean="0"/>
              <a:t> </a:t>
            </a:r>
            <a:r>
              <a:rPr lang="en-US" sz="1800" dirty="0" smtClean="0"/>
              <a:t>mod n, </a:t>
            </a:r>
          </a:p>
          <a:p>
            <a:pPr marL="0" indent="0">
              <a:buNone/>
            </a:pPr>
            <a:r>
              <a:rPr lang="en-US" sz="1800" dirty="0" smtClean="0"/>
              <a:t>g</a:t>
            </a:r>
            <a:r>
              <a:rPr lang="en-US" sz="1800" baseline="30000" dirty="0"/>
              <a:t>3</a:t>
            </a:r>
            <a:r>
              <a:rPr lang="en-US" sz="1800" dirty="0" smtClean="0"/>
              <a:t> </a:t>
            </a:r>
            <a:r>
              <a:rPr lang="en-US" sz="1800" dirty="0" smtClean="0"/>
              <a:t>mod n ------- </a:t>
            </a:r>
            <a:r>
              <a:rPr lang="en-US" sz="1800" baseline="30000" dirty="0" smtClean="0"/>
              <a:t>g</a:t>
            </a:r>
            <a:r>
              <a:rPr lang="en-US" sz="1800" baseline="30000" dirty="0"/>
              <a:t>n</a:t>
            </a:r>
            <a:r>
              <a:rPr lang="en-US" sz="1800" baseline="30000" dirty="0" smtClean="0"/>
              <a:t>-1</a:t>
            </a:r>
            <a:r>
              <a:rPr lang="en-US" sz="1800" dirty="0" smtClean="0"/>
              <a:t> </a:t>
            </a:r>
            <a:r>
              <a:rPr lang="en-US" sz="1800" dirty="0" smtClean="0"/>
              <a:t>mod n are distant</a:t>
            </a:r>
          </a:p>
          <a:p>
            <a:pPr marL="0" indent="0">
              <a:buNone/>
            </a:pPr>
            <a:r>
              <a:rPr lang="en-US" sz="1800" dirty="0" smtClean="0"/>
              <a:t>       </a:t>
            </a:r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327158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1950"/>
            <a:ext cx="8229600" cy="536972"/>
          </a:xfrm>
        </p:spPr>
        <p:txBody>
          <a:bodyPr/>
          <a:lstStyle/>
          <a:p>
            <a:pPr algn="l"/>
            <a:r>
              <a:rPr lang="en-US" sz="2400" b="1" dirty="0" smtClean="0"/>
              <a:t>Primitive Root Example : 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7750"/>
            <a:ext cx="8229600" cy="3546873"/>
          </a:xfrm>
        </p:spPr>
        <p:txBody>
          <a:bodyPr/>
          <a:lstStyle/>
          <a:p>
            <a:r>
              <a:rPr lang="en-US" sz="1800" dirty="0" smtClean="0"/>
              <a:t>Let n = 5 (Prime Number)</a:t>
            </a:r>
          </a:p>
          <a:p>
            <a:pPr marL="0" indent="0">
              <a:buNone/>
            </a:pPr>
            <a:r>
              <a:rPr lang="en-US" sz="1800" dirty="0" smtClean="0"/>
              <a:t>Co-prime of 5 are 1,2,3,4</a:t>
            </a:r>
          </a:p>
          <a:p>
            <a:pPr marL="0" indent="0">
              <a:buNone/>
            </a:pPr>
            <a:r>
              <a:rPr lang="en-US" sz="1800" dirty="0" smtClean="0"/>
              <a:t>2 and 3 both are Primitive roots of 5 because </a:t>
            </a: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2</a:t>
            </a:r>
            <a:r>
              <a:rPr lang="en-US" sz="1800" baseline="30000" dirty="0" smtClean="0"/>
              <a:t>1</a:t>
            </a:r>
            <a:r>
              <a:rPr lang="en-US" sz="1800" dirty="0" smtClean="0"/>
              <a:t> mod 5 = 2	 3</a:t>
            </a:r>
            <a:r>
              <a:rPr lang="en-US" sz="1800" baseline="30000" dirty="0" smtClean="0"/>
              <a:t>1</a:t>
            </a:r>
            <a:r>
              <a:rPr lang="en-US" sz="1800" dirty="0" smtClean="0"/>
              <a:t> </a:t>
            </a:r>
            <a:r>
              <a:rPr lang="en-US" sz="1800" dirty="0"/>
              <a:t>mod 5 = </a:t>
            </a:r>
            <a:r>
              <a:rPr lang="en-US" sz="1800" dirty="0" smtClean="0"/>
              <a:t>3 	</a:t>
            </a:r>
          </a:p>
          <a:p>
            <a:pPr marL="0" indent="0">
              <a:buNone/>
            </a:pPr>
            <a:r>
              <a:rPr lang="en-US" sz="1800" dirty="0" smtClean="0"/>
              <a:t>2</a:t>
            </a:r>
            <a:r>
              <a:rPr lang="en-US" sz="1800" baseline="30000" dirty="0" smtClean="0"/>
              <a:t>2</a:t>
            </a:r>
            <a:r>
              <a:rPr lang="en-US" sz="1800" dirty="0" smtClean="0"/>
              <a:t> mod 5 = 4	</a:t>
            </a:r>
            <a:r>
              <a:rPr lang="en-US" sz="1800" dirty="0"/>
              <a:t> </a:t>
            </a:r>
            <a:r>
              <a:rPr lang="en-US" sz="1800" dirty="0" smtClean="0"/>
              <a:t>3</a:t>
            </a:r>
            <a:r>
              <a:rPr lang="en-US" sz="1800" baseline="30000" dirty="0"/>
              <a:t>2</a:t>
            </a:r>
            <a:r>
              <a:rPr lang="en-US" sz="1800" dirty="0" smtClean="0"/>
              <a:t> </a:t>
            </a:r>
            <a:r>
              <a:rPr lang="en-US" sz="1800" dirty="0"/>
              <a:t>mod 5 = </a:t>
            </a:r>
            <a:r>
              <a:rPr lang="en-US" sz="1800" dirty="0" smtClean="0"/>
              <a:t>4</a:t>
            </a:r>
          </a:p>
          <a:p>
            <a:pPr marL="0" indent="0">
              <a:buNone/>
            </a:pPr>
            <a:r>
              <a:rPr lang="en-US" sz="1800" dirty="0" smtClean="0"/>
              <a:t>2</a:t>
            </a:r>
            <a:r>
              <a:rPr lang="en-US" sz="1800" baseline="30000" dirty="0" smtClean="0"/>
              <a:t>3</a:t>
            </a:r>
            <a:r>
              <a:rPr lang="en-US" sz="1800" dirty="0" smtClean="0"/>
              <a:t> mod 5 = 3	</a:t>
            </a:r>
            <a:r>
              <a:rPr lang="en-US" sz="1800" dirty="0"/>
              <a:t> </a:t>
            </a:r>
            <a:r>
              <a:rPr lang="en-US" sz="1800" dirty="0" smtClean="0"/>
              <a:t>3</a:t>
            </a:r>
            <a:r>
              <a:rPr lang="en-US" sz="1800" baseline="30000" dirty="0"/>
              <a:t>3</a:t>
            </a:r>
            <a:r>
              <a:rPr lang="en-US" sz="1800" dirty="0" smtClean="0"/>
              <a:t> </a:t>
            </a:r>
            <a:r>
              <a:rPr lang="en-US" sz="1800" dirty="0"/>
              <a:t>mod 5 = 2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2</a:t>
            </a:r>
            <a:r>
              <a:rPr lang="en-US" sz="1800" baseline="30000" dirty="0" smtClean="0"/>
              <a:t>4</a:t>
            </a:r>
            <a:r>
              <a:rPr lang="en-US" sz="1800" dirty="0" smtClean="0"/>
              <a:t> mod 5 = 1	</a:t>
            </a:r>
            <a:r>
              <a:rPr lang="en-US" sz="1800" dirty="0"/>
              <a:t> </a:t>
            </a:r>
            <a:r>
              <a:rPr lang="en-US" sz="1800" dirty="0" smtClean="0"/>
              <a:t>3</a:t>
            </a:r>
            <a:r>
              <a:rPr lang="en-US" sz="1800" baseline="30000" dirty="0"/>
              <a:t>4</a:t>
            </a:r>
            <a:r>
              <a:rPr lang="en-US" sz="1800" dirty="0" smtClean="0"/>
              <a:t> </a:t>
            </a:r>
            <a:r>
              <a:rPr lang="en-US" sz="1800" dirty="0"/>
              <a:t>mod 5 = </a:t>
            </a:r>
            <a:r>
              <a:rPr lang="en-US" sz="1800" dirty="0" smtClean="0"/>
              <a:t>1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All the values above are distant (no repetition) and equivalent to the co-primes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88366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61950"/>
            <a:ext cx="8229600" cy="536972"/>
          </a:xfrm>
        </p:spPr>
        <p:txBody>
          <a:bodyPr/>
          <a:lstStyle/>
          <a:p>
            <a:pPr algn="l"/>
            <a:r>
              <a:rPr lang="en-US" sz="2400" b="1" dirty="0" smtClean="0"/>
              <a:t>Example Continue…  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8922"/>
            <a:ext cx="8229600" cy="3695701"/>
          </a:xfrm>
        </p:spPr>
        <p:txBody>
          <a:bodyPr/>
          <a:lstStyle/>
          <a:p>
            <a:r>
              <a:rPr lang="en-US" sz="1800" dirty="0" smtClean="0"/>
              <a:t>4 is not a primitive root of 5 because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	4</a:t>
            </a:r>
            <a:r>
              <a:rPr lang="en-US" sz="1800" baseline="30000" dirty="0" smtClean="0"/>
              <a:t>1</a:t>
            </a:r>
            <a:r>
              <a:rPr lang="en-US" sz="1800" dirty="0" smtClean="0"/>
              <a:t> mod 5 = 4 </a:t>
            </a:r>
          </a:p>
          <a:p>
            <a:pPr marL="0" indent="0">
              <a:buNone/>
            </a:pPr>
            <a:r>
              <a:rPr lang="en-US" sz="1800" dirty="0" smtClean="0"/>
              <a:t>	4</a:t>
            </a:r>
            <a:r>
              <a:rPr lang="en-US" sz="1800" baseline="30000" dirty="0"/>
              <a:t>2</a:t>
            </a:r>
            <a:r>
              <a:rPr lang="en-US" sz="1800" dirty="0" smtClean="0"/>
              <a:t> </a:t>
            </a:r>
            <a:r>
              <a:rPr lang="en-US" sz="1800" dirty="0"/>
              <a:t>mod </a:t>
            </a:r>
            <a:r>
              <a:rPr lang="en-US" sz="1800" dirty="0" smtClean="0"/>
              <a:t>5 = 1</a:t>
            </a: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	4</a:t>
            </a:r>
            <a:r>
              <a:rPr lang="en-US" sz="1800" baseline="30000" dirty="0"/>
              <a:t>3</a:t>
            </a:r>
            <a:r>
              <a:rPr lang="en-US" sz="1800" dirty="0" smtClean="0"/>
              <a:t> </a:t>
            </a:r>
            <a:r>
              <a:rPr lang="en-US" sz="1800" dirty="0"/>
              <a:t>mod </a:t>
            </a:r>
            <a:r>
              <a:rPr lang="en-US" sz="1800" dirty="0" smtClean="0"/>
              <a:t>5 = 4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4</a:t>
            </a:r>
            <a:r>
              <a:rPr lang="en-US" sz="1800" baseline="30000" dirty="0"/>
              <a:t>4</a:t>
            </a:r>
            <a:r>
              <a:rPr lang="en-US" sz="1800" dirty="0" smtClean="0"/>
              <a:t> </a:t>
            </a:r>
            <a:r>
              <a:rPr lang="en-US" sz="1800" dirty="0"/>
              <a:t>mod 5 </a:t>
            </a:r>
            <a:r>
              <a:rPr lang="en-US" sz="1800" dirty="0" smtClean="0"/>
              <a:t>= 1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All the values above are </a:t>
            </a:r>
            <a:r>
              <a:rPr lang="en-US" sz="1800" dirty="0" smtClean="0"/>
              <a:t>not distant (1 and 4 are repeating) </a:t>
            </a:r>
            <a:r>
              <a:rPr lang="en-US" sz="1800" dirty="0"/>
              <a:t>and </a:t>
            </a:r>
            <a:r>
              <a:rPr lang="en-US" sz="1800" dirty="0" smtClean="0"/>
              <a:t> thus not          equivalent </a:t>
            </a:r>
            <a:r>
              <a:rPr lang="en-US" sz="1800" dirty="0"/>
              <a:t>to </a:t>
            </a:r>
            <a:r>
              <a:rPr lang="en-US" sz="1800" dirty="0" smtClean="0"/>
              <a:t>all the </a:t>
            </a:r>
            <a:r>
              <a:rPr lang="en-US" sz="1800" dirty="0"/>
              <a:t>co-primes </a:t>
            </a:r>
          </a:p>
          <a:p>
            <a:pPr marL="0" indent="0">
              <a:buNone/>
            </a:pP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021778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0"/>
            <a:ext cx="7772400" cy="704850"/>
          </a:xfrm>
        </p:spPr>
        <p:txBody>
          <a:bodyPr/>
          <a:lstStyle/>
          <a:p>
            <a:r>
              <a:rPr lang="en-US" sz="3200" b="1" dirty="0" smtClean="0"/>
              <a:t>DH Algorithm</a:t>
            </a:r>
            <a:endParaRPr lang="en-US" sz="32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914400"/>
            <a:ext cx="7620000" cy="1314450"/>
          </a:xfrm>
        </p:spPr>
        <p:txBody>
          <a:bodyPr/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altLang="en-US" sz="2400" dirty="0" err="1"/>
              <a:t>Diffie</a:t>
            </a:r>
            <a:r>
              <a:rPr lang="en-US" altLang="en-US" sz="2400" dirty="0"/>
              <a:t>-Hellman Key Exchange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altLang="en-US" sz="2400" dirty="0"/>
              <a:t>Used to generate a common secret (symmetric) key</a:t>
            </a:r>
          </a:p>
          <a:p>
            <a:endParaRPr lang="en-US" dirty="0"/>
          </a:p>
        </p:txBody>
      </p:sp>
      <p:pic>
        <p:nvPicPr>
          <p:cNvPr id="4" name="Picture 7" descr="cha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0200" y="2876550"/>
            <a:ext cx="5876925" cy="1526381"/>
          </a:xfrm>
          <a:prstGeom prst="rect">
            <a:avLst/>
          </a:prstGeom>
        </p:spPr>
      </p:pic>
      <p:sp>
        <p:nvSpPr>
          <p:cNvPr id="5" name="Line 10"/>
          <p:cNvSpPr>
            <a:spLocks noChangeShapeType="1"/>
          </p:cNvSpPr>
          <p:nvPr/>
        </p:nvSpPr>
        <p:spPr bwMode="auto">
          <a:xfrm>
            <a:off x="2978150" y="2970948"/>
            <a:ext cx="3073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15"/>
          <p:cNvSpPr>
            <a:spLocks noChangeShapeType="1"/>
          </p:cNvSpPr>
          <p:nvPr/>
        </p:nvSpPr>
        <p:spPr bwMode="auto">
          <a:xfrm flipH="1">
            <a:off x="2997200" y="3781425"/>
            <a:ext cx="3073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1230314" y="2312194"/>
            <a:ext cx="25733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Arial" charset="0"/>
              </a:rPr>
              <a:t>Alice generates a large </a:t>
            </a:r>
            <a:endParaRPr lang="en-US" altLang="en-US" sz="1600" dirty="0" smtClean="0">
              <a:latin typeface="Arial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 smtClean="0">
                <a:latin typeface="Arial" charset="0"/>
              </a:rPr>
              <a:t>random </a:t>
            </a:r>
            <a:r>
              <a:rPr lang="en-US" altLang="en-US" sz="1600" dirty="0">
                <a:latin typeface="Arial" charset="0"/>
              </a:rPr>
              <a:t>number x</a:t>
            </a: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5724526" y="2283619"/>
            <a:ext cx="26257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Arial" charset="0"/>
              </a:rPr>
              <a:t>Bob generates a large </a:t>
            </a:r>
            <a:endParaRPr lang="en-US" altLang="en-US" sz="1600" dirty="0" smtClean="0">
              <a:latin typeface="Arial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 smtClean="0">
                <a:latin typeface="Arial" charset="0"/>
              </a:rPr>
              <a:t>random </a:t>
            </a:r>
            <a:r>
              <a:rPr lang="en-US" altLang="en-US" sz="1600" dirty="0">
                <a:latin typeface="Arial" charset="0"/>
              </a:rPr>
              <a:t>number y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886200" y="2647950"/>
            <a:ext cx="97654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 err="1">
                <a:latin typeface="Arial" charset="0"/>
              </a:rPr>
              <a:t>g</a:t>
            </a:r>
            <a:r>
              <a:rPr lang="en-US" altLang="en-US" sz="1600" baseline="30000" dirty="0" err="1">
                <a:latin typeface="Arial" charset="0"/>
              </a:rPr>
              <a:t>x</a:t>
            </a:r>
            <a:r>
              <a:rPr lang="en-US" altLang="en-US" sz="1600" baseline="30000" dirty="0">
                <a:latin typeface="Arial" charset="0"/>
              </a:rPr>
              <a:t> </a:t>
            </a:r>
            <a:r>
              <a:rPr lang="en-US" altLang="en-US" sz="1600" dirty="0">
                <a:latin typeface="Arial" charset="0"/>
              </a:rPr>
              <a:t>mod n</a:t>
            </a:r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3962400" y="3486150"/>
            <a:ext cx="99578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 err="1">
                <a:latin typeface="Arial" charset="0"/>
              </a:rPr>
              <a:t>g</a:t>
            </a:r>
            <a:r>
              <a:rPr lang="en-US" altLang="en-US" sz="1600" baseline="30000" dirty="0" err="1">
                <a:latin typeface="Arial" charset="0"/>
              </a:rPr>
              <a:t>y</a:t>
            </a:r>
            <a:r>
              <a:rPr lang="en-US" altLang="en-US" sz="1600" dirty="0">
                <a:latin typeface="Arial" charset="0"/>
              </a:rPr>
              <a:t> mod n</a:t>
            </a:r>
          </a:p>
        </p:txBody>
      </p:sp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3673475" y="4030266"/>
            <a:ext cx="160011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Arial" charset="0"/>
              </a:rPr>
              <a:t>key = </a:t>
            </a:r>
            <a:r>
              <a:rPr lang="en-US" altLang="en-US" sz="1600" dirty="0" err="1">
                <a:latin typeface="Arial" charset="0"/>
              </a:rPr>
              <a:t>g</a:t>
            </a:r>
            <a:r>
              <a:rPr lang="en-US" altLang="en-US" sz="1600" baseline="30000" dirty="0" err="1">
                <a:latin typeface="Arial" charset="0"/>
              </a:rPr>
              <a:t>xy</a:t>
            </a:r>
            <a:r>
              <a:rPr lang="en-US" altLang="en-US" sz="1600" baseline="30000" dirty="0">
                <a:latin typeface="Arial" charset="0"/>
              </a:rPr>
              <a:t> </a:t>
            </a:r>
            <a:r>
              <a:rPr lang="en-US" altLang="en-US" sz="1600" dirty="0">
                <a:latin typeface="Arial" charset="0"/>
              </a:rPr>
              <a:t>mod n</a:t>
            </a:r>
          </a:p>
        </p:txBody>
      </p:sp>
    </p:spTree>
    <p:extLst>
      <p:ext uri="{BB962C8B-B14F-4D97-AF65-F5344CB8AC3E}">
        <p14:creationId xmlns:p14="http://schemas.microsoft.com/office/powerpoint/2010/main" val="3902800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/>
      <p:bldP spid="9" grpId="0"/>
      <p:bldP spid="10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133350"/>
            <a:ext cx="7772400" cy="640773"/>
          </a:xfrm>
        </p:spPr>
        <p:txBody>
          <a:bodyPr>
            <a:normAutofit/>
          </a:bodyPr>
          <a:lstStyle/>
          <a:p>
            <a:pPr algn="l"/>
            <a:r>
              <a:rPr lang="en-US" sz="2400" i="1" dirty="0" smtClean="0"/>
              <a:t>Example:</a:t>
            </a:r>
            <a:endParaRPr lang="en-US" sz="2400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742950"/>
            <a:ext cx="6400800" cy="3829050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US" sz="1900" dirty="0" smtClean="0"/>
              <a:t>g=3 n=7</a:t>
            </a:r>
          </a:p>
          <a:p>
            <a:pPr algn="l"/>
            <a:r>
              <a:rPr lang="en-US" sz="1900" dirty="0" smtClean="0"/>
              <a:t>Alice secret integer = x=2</a:t>
            </a:r>
          </a:p>
          <a:p>
            <a:pPr algn="l"/>
            <a:r>
              <a:rPr lang="en-US" sz="1900" dirty="0" smtClean="0"/>
              <a:t>Bob’s secret integer = y = 3</a:t>
            </a:r>
          </a:p>
          <a:p>
            <a:pPr algn="l"/>
            <a:endParaRPr lang="en-US" sz="1900" dirty="0" smtClean="0"/>
          </a:p>
          <a:p>
            <a:pPr algn="l"/>
            <a:r>
              <a:rPr lang="en-US" sz="1900" dirty="0" smtClean="0"/>
              <a:t>Alice calculates </a:t>
            </a:r>
            <a:r>
              <a:rPr lang="en-US" sz="1900" dirty="0" err="1" smtClean="0"/>
              <a:t>g</a:t>
            </a:r>
            <a:r>
              <a:rPr lang="en-US" sz="1900" baseline="30000" dirty="0" err="1" smtClean="0"/>
              <a:t>x</a:t>
            </a:r>
            <a:r>
              <a:rPr lang="en-US" sz="1900" baseline="30000" dirty="0" smtClean="0"/>
              <a:t> </a:t>
            </a:r>
            <a:r>
              <a:rPr lang="en-US" sz="1900" dirty="0" smtClean="0"/>
              <a:t>mod n  and send it to Bob </a:t>
            </a:r>
          </a:p>
          <a:p>
            <a:pPr algn="l"/>
            <a:r>
              <a:rPr lang="en-US" sz="1900" dirty="0" smtClean="0"/>
              <a:t>i.e. 3</a:t>
            </a:r>
            <a:r>
              <a:rPr lang="en-US" sz="1900" baseline="30000" dirty="0" smtClean="0"/>
              <a:t>2</a:t>
            </a:r>
            <a:r>
              <a:rPr lang="en-US" sz="1900" dirty="0" smtClean="0"/>
              <a:t> mod 7 = 2</a:t>
            </a:r>
          </a:p>
          <a:p>
            <a:pPr algn="l"/>
            <a:endParaRPr lang="en-US" sz="1900" dirty="0"/>
          </a:p>
          <a:p>
            <a:pPr algn="l"/>
            <a:r>
              <a:rPr lang="en-US" sz="1900" dirty="0" smtClean="0"/>
              <a:t>Bob calculates </a:t>
            </a:r>
            <a:r>
              <a:rPr lang="en-US" sz="1900" dirty="0" err="1" smtClean="0"/>
              <a:t>g</a:t>
            </a:r>
            <a:r>
              <a:rPr lang="en-US" sz="1900" baseline="30000" dirty="0" err="1" smtClean="0"/>
              <a:t>y</a:t>
            </a:r>
            <a:r>
              <a:rPr lang="en-US" sz="1900" dirty="0" smtClean="0"/>
              <a:t> mod n and send it to Alice</a:t>
            </a:r>
          </a:p>
          <a:p>
            <a:pPr algn="l"/>
            <a:r>
              <a:rPr lang="en-US" sz="1900" dirty="0" smtClean="0"/>
              <a:t>3</a:t>
            </a:r>
            <a:r>
              <a:rPr lang="en-US" sz="1900" baseline="30000" dirty="0" smtClean="0"/>
              <a:t>3</a:t>
            </a:r>
            <a:r>
              <a:rPr lang="en-US" sz="1900" dirty="0" smtClean="0"/>
              <a:t> mod 7 = 6</a:t>
            </a:r>
          </a:p>
          <a:p>
            <a:pPr algn="l"/>
            <a:endParaRPr lang="en-US" sz="1900" dirty="0"/>
          </a:p>
          <a:p>
            <a:pPr algn="l"/>
            <a:r>
              <a:rPr lang="en-US" sz="1900" dirty="0" smtClean="0"/>
              <a:t>Alice now calculate (</a:t>
            </a:r>
            <a:r>
              <a:rPr lang="en-US" sz="1900" dirty="0" err="1" smtClean="0"/>
              <a:t>g</a:t>
            </a:r>
            <a:r>
              <a:rPr lang="en-US" sz="1900" baseline="30000" dirty="0" err="1" smtClean="0"/>
              <a:t>y</a:t>
            </a:r>
            <a:r>
              <a:rPr lang="en-US" sz="1900" dirty="0" smtClean="0"/>
              <a:t> </a:t>
            </a:r>
            <a:r>
              <a:rPr lang="en-US" sz="1900" dirty="0"/>
              <a:t>mod </a:t>
            </a:r>
            <a:r>
              <a:rPr lang="en-US" sz="1900" dirty="0" smtClean="0"/>
              <a:t>n)</a:t>
            </a:r>
            <a:r>
              <a:rPr lang="en-US" sz="1900" baseline="30000" dirty="0"/>
              <a:t> x </a:t>
            </a:r>
            <a:r>
              <a:rPr lang="en-US" sz="1900" baseline="30000" dirty="0" smtClean="0"/>
              <a:t> </a:t>
            </a:r>
            <a:r>
              <a:rPr lang="en-US" sz="1900" dirty="0" smtClean="0"/>
              <a:t>mod n = 6</a:t>
            </a:r>
            <a:r>
              <a:rPr lang="en-US" sz="1900" baseline="30000" dirty="0" smtClean="0"/>
              <a:t>2</a:t>
            </a:r>
            <a:r>
              <a:rPr lang="en-US" sz="1900" dirty="0" smtClean="0"/>
              <a:t> mod 7 = 1</a:t>
            </a:r>
          </a:p>
          <a:p>
            <a:pPr algn="l"/>
            <a:endParaRPr lang="en-US" sz="1900" dirty="0"/>
          </a:p>
          <a:p>
            <a:pPr algn="l"/>
            <a:r>
              <a:rPr lang="en-US" sz="1900" dirty="0" smtClean="0"/>
              <a:t>Bob also calculate the same at his end i.e. 2</a:t>
            </a:r>
            <a:r>
              <a:rPr lang="en-US" sz="1900" baseline="30000" dirty="0" smtClean="0"/>
              <a:t>3</a:t>
            </a:r>
            <a:r>
              <a:rPr lang="en-US" sz="1900" dirty="0" smtClean="0"/>
              <a:t> mod 7 = 1</a:t>
            </a:r>
          </a:p>
          <a:p>
            <a:pPr algn="l"/>
            <a:r>
              <a:rPr lang="en-US" sz="1900" dirty="0" smtClean="0"/>
              <a:t> </a:t>
            </a:r>
          </a:p>
          <a:p>
            <a:pPr algn="l"/>
            <a:r>
              <a:rPr lang="en-US" sz="1900" dirty="0" smtClean="0"/>
              <a:t>Both came up with same value that is 1</a:t>
            </a:r>
          </a:p>
          <a:p>
            <a:pPr algn="l"/>
            <a:r>
              <a:rPr lang="en-US" sz="1900" dirty="0" smtClean="0"/>
              <a:t>Therefore the secret key will be 1</a:t>
            </a:r>
          </a:p>
          <a:p>
            <a:pPr algn="l"/>
            <a:endParaRPr lang="en-US" sz="1900" dirty="0"/>
          </a:p>
          <a:p>
            <a:pPr algn="l"/>
            <a:r>
              <a:rPr lang="en-US" sz="1900" dirty="0" smtClean="0"/>
              <a:t>By using DH formula</a:t>
            </a:r>
          </a:p>
          <a:p>
            <a:pPr algn="l"/>
            <a:endParaRPr lang="en-US" sz="1900" dirty="0"/>
          </a:p>
          <a:p>
            <a:pPr algn="l"/>
            <a:r>
              <a:rPr lang="en-US" sz="1900" dirty="0" smtClean="0"/>
              <a:t>Key = </a:t>
            </a:r>
            <a:r>
              <a:rPr lang="en-US" sz="1900" dirty="0" err="1" smtClean="0"/>
              <a:t>g</a:t>
            </a:r>
            <a:r>
              <a:rPr lang="en-US" sz="1800" baseline="30000" dirty="0" err="1"/>
              <a:t>x</a:t>
            </a:r>
            <a:r>
              <a:rPr lang="en-US" sz="1800" baseline="30000" dirty="0"/>
              <a:t> </a:t>
            </a:r>
            <a:r>
              <a:rPr lang="en-US" sz="1800" baseline="30000" dirty="0" smtClean="0"/>
              <a:t>y </a:t>
            </a:r>
            <a:r>
              <a:rPr lang="en-US" sz="1800" dirty="0" smtClean="0"/>
              <a:t> mod n = 3</a:t>
            </a:r>
            <a:r>
              <a:rPr lang="en-US" sz="1800" baseline="30000" dirty="0" smtClean="0"/>
              <a:t>2*3</a:t>
            </a:r>
            <a:r>
              <a:rPr lang="en-US" sz="1800" dirty="0" smtClean="0"/>
              <a:t> mod 7 =  729 mod 7 = 1</a:t>
            </a:r>
            <a:endParaRPr lang="en-US" sz="1900" dirty="0" smtClean="0"/>
          </a:p>
          <a:p>
            <a:pPr algn="l"/>
            <a:endParaRPr lang="en-US" sz="2000" dirty="0"/>
          </a:p>
          <a:p>
            <a:pPr algn="l"/>
            <a:endParaRPr lang="en-US" sz="2000" dirty="0" smtClean="0"/>
          </a:p>
          <a:p>
            <a:pPr algn="l"/>
            <a:endParaRPr lang="en-US" sz="2000" dirty="0" smtClean="0"/>
          </a:p>
          <a:p>
            <a:pPr algn="l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76297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14300"/>
            <a:ext cx="7772400" cy="1102519"/>
          </a:xfrm>
        </p:spPr>
        <p:txBody>
          <a:bodyPr/>
          <a:lstStyle/>
          <a:p>
            <a:pPr algn="l"/>
            <a:r>
              <a:rPr lang="en-US" sz="3200" dirty="0" smtClean="0"/>
              <a:t>Digital Signature Application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400" dirty="0" smtClean="0"/>
              <a:t>Private/Public Key pair and Hash Function: 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4" descr="integrity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1428750"/>
            <a:ext cx="6989762" cy="2395538"/>
          </a:xfrm>
        </p:spPr>
      </p:pic>
      <p:pic>
        <p:nvPicPr>
          <p:cNvPr id="5" name="Picture 4" descr="integri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0600" y="1543050"/>
            <a:ext cx="6989762" cy="239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22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28600"/>
            <a:ext cx="7772400" cy="1102519"/>
          </a:xfrm>
        </p:spPr>
        <p:txBody>
          <a:bodyPr/>
          <a:lstStyle/>
          <a:p>
            <a:pPr lvl="1" algn="ctr" rtl="0">
              <a:spcBef>
                <a:spcPct val="0"/>
              </a:spcBef>
            </a:pPr>
            <a:r>
              <a:rPr lang="en-US" altLang="en-US" sz="2800" dirty="0" smtClean="0">
                <a:latin typeface="+mj-lt"/>
              </a:rPr>
              <a:t>A public key is used to verify the digital signature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4" descr="integrity - public key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19201" y="1485900"/>
            <a:ext cx="6538913" cy="2463404"/>
          </a:xfrm>
        </p:spPr>
      </p:pic>
      <p:pic>
        <p:nvPicPr>
          <p:cNvPr id="5" name="Picture 4" descr="integrity - public ke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0601" y="1485900"/>
            <a:ext cx="6538913" cy="246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252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59412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b="1" dirty="0" smtClean="0"/>
              <a:t>Digital Signature Process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000" dirty="0"/>
              <a:t>The signer calculates the hash for the data he needs to </a:t>
            </a:r>
            <a:r>
              <a:rPr lang="en-US" sz="2000" dirty="0" smtClean="0"/>
              <a:t>sign</a:t>
            </a:r>
          </a:p>
          <a:p>
            <a:r>
              <a:rPr lang="en-US" sz="2000" dirty="0"/>
              <a:t>The signer, using his private key, encrypt the hash calculate.</a:t>
            </a:r>
          </a:p>
          <a:p>
            <a:r>
              <a:rPr lang="en-US" sz="2000" dirty="0"/>
              <a:t>Signer sends the original data and the digital signature to the </a:t>
            </a:r>
            <a:r>
              <a:rPr lang="en-US" sz="2000" dirty="0" smtClean="0"/>
              <a:t>receiver</a:t>
            </a:r>
          </a:p>
          <a:p>
            <a:r>
              <a:rPr lang="en-US" sz="2000" dirty="0"/>
              <a:t>The document is in clear text but it has the signature of the sender and can be sent so that it can be read by anyone but not altered </a:t>
            </a:r>
            <a:endParaRPr lang="en-US" sz="2000" dirty="0" smtClean="0"/>
          </a:p>
          <a:p>
            <a:r>
              <a:rPr lang="en-US" sz="2000" dirty="0"/>
              <a:t>For the verification, The receiving software first uses the signer’s public key to decrypt the </a:t>
            </a:r>
            <a:r>
              <a:rPr lang="en-US" sz="2000" dirty="0" smtClean="0"/>
              <a:t>hash</a:t>
            </a:r>
          </a:p>
          <a:p>
            <a:r>
              <a:rPr lang="en-US" sz="2000" dirty="0" smtClean="0"/>
              <a:t>The receiving software will generate the new Hash and compare it with the original Hash</a:t>
            </a:r>
          </a:p>
          <a:p>
            <a:r>
              <a:rPr lang="en-US" sz="2000" dirty="0"/>
              <a:t>If the two hashes match, the data has not changed since it was signed.</a:t>
            </a:r>
          </a:p>
        </p:txBody>
      </p:sp>
    </p:spTree>
    <p:extLst>
      <p:ext uri="{BB962C8B-B14F-4D97-AF65-F5344CB8AC3E}">
        <p14:creationId xmlns:p14="http://schemas.microsoft.com/office/powerpoint/2010/main" val="3027485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Thank you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401306127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ection Break Sl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2051</TotalTime>
  <Words>568</Words>
  <Application>Microsoft Office PowerPoint</Application>
  <PresentationFormat>On-screen Show (16:9)</PresentationFormat>
  <Paragraphs>110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맑은 고딕</vt:lpstr>
      <vt:lpstr>Arial</vt:lpstr>
      <vt:lpstr>Arial Unicode MS</vt:lpstr>
      <vt:lpstr>Calibri</vt:lpstr>
      <vt:lpstr>Wingdings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Hash Functions</vt:lpstr>
      <vt:lpstr>Hash Algorithms</vt:lpstr>
      <vt:lpstr>Applications of Hash Functions</vt:lpstr>
      <vt:lpstr>Application [Cont..]</vt:lpstr>
      <vt:lpstr>Data Integrity</vt:lpstr>
      <vt:lpstr>Example:</vt:lpstr>
      <vt:lpstr>Example [cont..]</vt:lpstr>
      <vt:lpstr>Example [cont..]</vt:lpstr>
      <vt:lpstr>Example [cont..]</vt:lpstr>
      <vt:lpstr>What is Primitive Root ?</vt:lpstr>
      <vt:lpstr>Primitive Root Example : </vt:lpstr>
      <vt:lpstr>Example Continue…  </vt:lpstr>
      <vt:lpstr>DH Algorithm</vt:lpstr>
      <vt:lpstr>Example:</vt:lpstr>
      <vt:lpstr>Digital Signature Application Private/Public Key pair and Hash Function: </vt:lpstr>
      <vt:lpstr>A public key is used to verify the digital signature </vt:lpstr>
      <vt:lpstr>Digital Signature Process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Ali ahmed siddiqui</cp:lastModifiedBy>
  <cp:revision>111</cp:revision>
  <dcterms:created xsi:type="dcterms:W3CDTF">2016-12-05T23:26:54Z</dcterms:created>
  <dcterms:modified xsi:type="dcterms:W3CDTF">2025-04-15T08:01:39Z</dcterms:modified>
</cp:coreProperties>
</file>