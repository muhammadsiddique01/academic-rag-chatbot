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62" r:id="rId3"/>
    <p:sldId id="294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5" r:id="rId27"/>
    <p:sldId id="271" r:id="rId28"/>
  </p:sldIdLst>
  <p:sldSz cx="9144000" cy="5143500" type="screen16x9"/>
  <p:notesSz cx="6858000" cy="9144000"/>
  <p:custDataLst>
    <p:tags r:id="rId30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D8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7" autoAdjust="0"/>
    <p:restoredTop sz="94660"/>
  </p:normalViewPr>
  <p:slideViewPr>
    <p:cSldViewPr>
      <p:cViewPr varScale="1">
        <p:scale>
          <a:sx n="92" d="100"/>
          <a:sy n="92" d="100"/>
        </p:scale>
        <p:origin x="-762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2D0FD-395E-4244-A2BA-EE286807B5C9}" type="datetimeFigureOut">
              <a:rPr lang="en-US" smtClean="0"/>
              <a:t>5/6/2020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980A66-AA45-4846-B55E-1B2BD09C3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670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108">
              <a:defRPr sz="1400" b="1">
                <a:solidFill>
                  <a:schemeClr val="tx1"/>
                </a:solidFill>
                <a:latin typeface="Times New Roman" pitchFamily="18" charset="0"/>
              </a:defRPr>
            </a:lvl1pPr>
            <a:lvl2pPr marL="731286" indent="-281264" defTabSz="914108">
              <a:defRPr sz="14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25055" indent="-225011" defTabSz="914108">
              <a:defRPr sz="1400" b="1">
                <a:solidFill>
                  <a:schemeClr val="tx1"/>
                </a:solidFill>
                <a:latin typeface="Times New Roman" pitchFamily="18" charset="0"/>
              </a:defRPr>
            </a:lvl3pPr>
            <a:lvl4pPr marL="1575077" indent="-225011" defTabSz="914108">
              <a:defRPr sz="14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25099" indent="-225011" defTabSz="914108">
              <a:defRPr sz="1400" b="1">
                <a:solidFill>
                  <a:schemeClr val="tx1"/>
                </a:solidFill>
                <a:latin typeface="Times New Roman" pitchFamily="18" charset="0"/>
              </a:defRPr>
            </a:lvl5pPr>
            <a:lvl6pPr marL="2475121" indent="-225011" defTabSz="91410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25143" indent="-225011" defTabSz="91410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itchFamily="18" charset="0"/>
              </a:defRPr>
            </a:lvl7pPr>
            <a:lvl8pPr marL="3375165" indent="-225011" defTabSz="91410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25187" indent="-225011" defTabSz="914108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B333AE41-1B54-487F-9FBA-EF2498899D26}" type="slidenum">
              <a:rPr lang="en-US" altLang="en-US" sz="1200" b="0"/>
              <a:pPr/>
              <a:t>25</a:t>
            </a:fld>
            <a:endParaRPr lang="en-US" altLang="en-US" sz="1200" b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705210"/>
            <a:ext cx="9144000" cy="5227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smtClean="0">
                <a:ea typeface="맑은 고딕" pitchFamily="50" charset="-127"/>
              </a:rPr>
              <a:t>title</a:t>
            </a:r>
            <a:endParaRPr lang="en-US" altLang="ko-KR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4227934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INSTERT THE TITLE OF YOUR PRESENTATION HERE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tretch>
            <a:fillRect t="-18000" b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 userDrawn="1"/>
        </p:nvSpPr>
        <p:spPr>
          <a:xfrm>
            <a:off x="2699644" y="699542"/>
            <a:ext cx="3744416" cy="3744416"/>
          </a:xfrm>
          <a:prstGeom prst="ellipse">
            <a:avLst/>
          </a:prstGeom>
          <a:solidFill>
            <a:schemeClr val="tx2">
              <a:lumMod val="75000"/>
              <a:alpha val="77000"/>
            </a:schemeClr>
          </a:soli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8432800" cy="8572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31800" y="4672013"/>
            <a:ext cx="19050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72013"/>
            <a:ext cx="2895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31000" y="4672012"/>
            <a:ext cx="2108200" cy="4714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7A5EB0-33AB-4EC3-A9E8-EF480F1F24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20745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228600"/>
            <a:ext cx="8432800" cy="85725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382000" cy="3657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31800" y="4672013"/>
            <a:ext cx="19050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72013"/>
            <a:ext cx="2895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31000" y="4672012"/>
            <a:ext cx="2108200" cy="4714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F9A82-B15F-4E2C-88F9-4948FA1815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88825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483518"/>
            <a:ext cx="424847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1131590"/>
            <a:ext cx="424847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642164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555526"/>
            <a:ext cx="842493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1203598"/>
            <a:ext cx="842493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37767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070850" y="0"/>
            <a:ext cx="6088050" cy="551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 rot="10800000">
            <a:off x="-23339" y="4592250"/>
            <a:ext cx="6088050" cy="551250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79512" y="123478"/>
            <a:ext cx="1440160" cy="338554"/>
          </a:xfrm>
          <a:prstGeom prst="rect">
            <a:avLst/>
          </a:prstGeom>
          <a:blipFill>
            <a:blip r:embed="rId9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ctr"/>
            <a:endParaRPr lang="ko-KR" altLang="en-US" sz="160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3000"/>
            <a:lum/>
          </a:blip>
          <a:stretch>
            <a:fillRect t="-18000" b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014" y="3291830"/>
            <a:ext cx="9144000" cy="522725"/>
          </a:xfrm>
        </p:spPr>
        <p:txBody>
          <a:bodyPr/>
          <a:lstStyle/>
          <a:p>
            <a:pPr lvl="0"/>
            <a:r>
              <a:rPr lang="en-US" altLang="ko-KR" sz="2800" dirty="0" smtClean="0">
                <a:ea typeface="맑은 고딕" pitchFamily="50" charset="-127"/>
              </a:rPr>
              <a:t>Types and Classification of Attacks/Threats</a:t>
            </a:r>
            <a:endParaRPr lang="en-US" altLang="ko-KR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179512" y="123478"/>
            <a:ext cx="1440160" cy="338554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pPr algn="ctr"/>
            <a:endParaRPr lang="ko-KR" altLang="en-US" sz="160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-148" y="4083918"/>
            <a:ext cx="9144000" cy="288032"/>
          </a:xfrm>
        </p:spPr>
        <p:txBody>
          <a:bodyPr/>
          <a:lstStyle/>
          <a:p>
            <a:r>
              <a:rPr lang="en-US" sz="1100" b="0" dirty="0" smtClean="0"/>
              <a:t>Slides are prepared from the book Cryptography and Network Security by William Stallings</a:t>
            </a:r>
            <a:endParaRPr lang="en-US" sz="1100" b="0" dirty="0"/>
          </a:p>
        </p:txBody>
      </p: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Welcome!!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6145590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79512" y="700286"/>
            <a:ext cx="4248472" cy="576064"/>
          </a:xfrm>
        </p:spPr>
        <p:txBody>
          <a:bodyPr/>
          <a:lstStyle/>
          <a:p>
            <a:r>
              <a:rPr lang="en-US" sz="2400" dirty="0" smtClean="0"/>
              <a:t>Learning Outcomes</a:t>
            </a:r>
            <a:endParaRPr 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79512" y="1491630"/>
            <a:ext cx="4248472" cy="1224136"/>
          </a:xfrm>
        </p:spPr>
        <p:txBody>
          <a:bodyPr/>
          <a:lstStyle/>
          <a:p>
            <a:r>
              <a:rPr lang="en-US" dirty="0" smtClean="0"/>
              <a:t>Understanding of: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zh-CN" dirty="0" smtClean="0">
                <a:ea typeface="PMingLiU" pitchFamily="18" charset="-120"/>
              </a:rPr>
              <a:t>Different types of attacks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zh-CN" dirty="0" smtClean="0">
                <a:ea typeface="PMingLiU" pitchFamily="18" charset="-120"/>
              </a:rPr>
              <a:t>Classification of attacks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zh-CN" dirty="0" smtClean="0">
                <a:ea typeface="PMingLiU" pitchFamily="18" charset="-120"/>
              </a:rPr>
              <a:t>Passive vs Active attack</a:t>
            </a:r>
            <a:endParaRPr lang="en-US" altLang="zh-CN" dirty="0">
              <a:ea typeface="PMingLiU" pitchFamily="18" charset="-12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zh-CN" dirty="0"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17772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470942"/>
          </a:xfrm>
        </p:spPr>
        <p:txBody>
          <a:bodyPr/>
          <a:lstStyle/>
          <a:p>
            <a:r>
              <a:rPr lang="en-US" altLang="en-US" sz="2400" dirty="0" smtClean="0"/>
              <a:t>Type of Attacks/Threats in Computer Systems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143000"/>
            <a:ext cx="8382000" cy="3657600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en-US" sz="2000" dirty="0" smtClean="0"/>
              <a:t>A </a:t>
            </a:r>
            <a:r>
              <a:rPr lang="en-US" altLang="en-US" sz="2000" i="1" dirty="0" smtClean="0"/>
              <a:t>threat</a:t>
            </a:r>
            <a:r>
              <a:rPr lang="en-US" altLang="en-US" sz="2000" dirty="0" smtClean="0"/>
              <a:t> is a danger which could affect the security (confidentiality,      integrity, availability) of assets, leading to a potential loss or damage.</a:t>
            </a:r>
          </a:p>
          <a:p>
            <a:r>
              <a:rPr lang="en-US" altLang="en-US" sz="2000" dirty="0" smtClean="0"/>
              <a:t>Interruption</a:t>
            </a:r>
          </a:p>
          <a:p>
            <a:r>
              <a:rPr lang="en-US" altLang="en-US" sz="2000" dirty="0" smtClean="0"/>
              <a:t>Interception</a:t>
            </a:r>
          </a:p>
          <a:p>
            <a:r>
              <a:rPr lang="en-US" altLang="en-US" sz="2000" dirty="0" smtClean="0"/>
              <a:t>Modification</a:t>
            </a:r>
          </a:p>
          <a:p>
            <a:r>
              <a:rPr lang="en-US" altLang="en-US" sz="2000" dirty="0" smtClean="0"/>
              <a:t>Fabrication</a:t>
            </a:r>
          </a:p>
        </p:txBody>
      </p:sp>
      <p:pic>
        <p:nvPicPr>
          <p:cNvPr id="25606" name="Picture 6" descr="C:\WINDOWS\Profiles\athar\Desktop\1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067694"/>
            <a:ext cx="6162675" cy="1918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83189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228600"/>
            <a:ext cx="8432800" cy="470942"/>
          </a:xfrm>
        </p:spPr>
        <p:txBody>
          <a:bodyPr/>
          <a:lstStyle/>
          <a:p>
            <a:r>
              <a:rPr lang="en-US" altLang="en-US" sz="2400" dirty="0" smtClean="0"/>
              <a:t>Type of Attacks in Computer Systems</a:t>
            </a:r>
          </a:p>
        </p:txBody>
      </p:sp>
      <p:pic>
        <p:nvPicPr>
          <p:cNvPr id="17412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0600" y="915566"/>
            <a:ext cx="7162800" cy="3657600"/>
          </a:xfr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1504875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542950"/>
          </a:xfrm>
        </p:spPr>
        <p:txBody>
          <a:bodyPr/>
          <a:lstStyle/>
          <a:p>
            <a:r>
              <a:rPr lang="en-US" altLang="en-US" sz="2400" dirty="0" smtClean="0"/>
              <a:t>Normal Flow of Information</a:t>
            </a:r>
          </a:p>
        </p:txBody>
      </p:sp>
      <p:pic>
        <p:nvPicPr>
          <p:cNvPr id="1843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41040" y="1059582"/>
            <a:ext cx="7647384" cy="2996948"/>
          </a:xfrm>
        </p:spPr>
      </p:pic>
    </p:spTree>
    <p:extLst>
      <p:ext uri="{BB962C8B-B14F-4D97-AF65-F5344CB8AC3E}">
        <p14:creationId xmlns:p14="http://schemas.microsoft.com/office/powerpoint/2010/main" val="7595384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8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542950"/>
          </a:xfrm>
        </p:spPr>
        <p:txBody>
          <a:bodyPr/>
          <a:lstStyle/>
          <a:p>
            <a:r>
              <a:rPr lang="en-US" altLang="en-US" sz="2800" dirty="0" smtClean="0"/>
              <a:t>Interruption</a:t>
            </a:r>
          </a:p>
        </p:txBody>
      </p:sp>
      <p:sp>
        <p:nvSpPr>
          <p:cNvPr id="28681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457200" y="987574"/>
            <a:ext cx="8382000" cy="3657600"/>
          </a:xfrm>
        </p:spPr>
        <p:txBody>
          <a:bodyPr/>
          <a:lstStyle/>
          <a:p>
            <a:r>
              <a:rPr lang="en-US" altLang="en-US" sz="2000" dirty="0" smtClean="0"/>
              <a:t>An asset of the system is destroyed or becomes unavailable or          unusable.  This is an attack on the </a:t>
            </a:r>
            <a:r>
              <a:rPr lang="en-US" altLang="en-US" sz="2000" b="1" dirty="0" smtClean="0">
                <a:solidFill>
                  <a:srgbClr val="0000FF"/>
                </a:solidFill>
              </a:rPr>
              <a:t>availability</a:t>
            </a:r>
            <a:r>
              <a:rPr lang="en-US" altLang="en-US" sz="2000" dirty="0" smtClean="0"/>
              <a:t>.  </a:t>
            </a:r>
          </a:p>
          <a:p>
            <a:r>
              <a:rPr lang="en-US" altLang="en-US" sz="2000" dirty="0" smtClean="0"/>
              <a:t>Examples include destruction of a piece of hardware, such as a hard disk, the cutting of a communication link, or the disabling of the file   management system.</a:t>
            </a:r>
          </a:p>
          <a:p>
            <a:r>
              <a:rPr lang="en-US" altLang="en-US" sz="2000" b="1" dirty="0" smtClean="0"/>
              <a:t>DOS</a:t>
            </a:r>
            <a:r>
              <a:rPr lang="en-US" altLang="en-US" sz="2000" dirty="0" smtClean="0"/>
              <a:t> - Denial of Service Attacks have become very well known.          [</a:t>
            </a:r>
            <a:r>
              <a:rPr lang="en-US" altLang="en-US" sz="2000" b="1" dirty="0" smtClean="0">
                <a:solidFill>
                  <a:srgbClr val="0000FF"/>
                </a:solidFill>
              </a:rPr>
              <a:t>DDOS</a:t>
            </a:r>
            <a:r>
              <a:rPr lang="en-US" altLang="en-US" sz="2000" dirty="0" smtClean="0"/>
              <a:t>]</a:t>
            </a:r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5634526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1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614958"/>
          </a:xfrm>
        </p:spPr>
        <p:txBody>
          <a:bodyPr/>
          <a:lstStyle/>
          <a:p>
            <a:r>
              <a:rPr lang="en-US" altLang="en-US" sz="2800" dirty="0" smtClean="0"/>
              <a:t>Interruption</a:t>
            </a:r>
          </a:p>
        </p:txBody>
      </p:sp>
      <p:pic>
        <p:nvPicPr>
          <p:cNvPr id="20484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77280" y="1175518"/>
            <a:ext cx="6995120" cy="3052416"/>
          </a:xfrm>
        </p:spPr>
      </p:pic>
    </p:spTree>
    <p:extLst>
      <p:ext uri="{BB962C8B-B14F-4D97-AF65-F5344CB8AC3E}">
        <p14:creationId xmlns:p14="http://schemas.microsoft.com/office/powerpoint/2010/main" val="2525822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542950"/>
          </a:xfrm>
        </p:spPr>
        <p:txBody>
          <a:bodyPr/>
          <a:lstStyle/>
          <a:p>
            <a:r>
              <a:rPr lang="en-US" altLang="en-US" sz="2800" dirty="0" smtClean="0"/>
              <a:t>Interception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02382"/>
            <a:ext cx="8382000" cy="3657600"/>
          </a:xfrm>
        </p:spPr>
        <p:txBody>
          <a:bodyPr/>
          <a:lstStyle/>
          <a:p>
            <a:r>
              <a:rPr lang="en-US" altLang="en-US" sz="2000" dirty="0" smtClean="0"/>
              <a:t>Information disclosure/information leakage</a:t>
            </a:r>
          </a:p>
          <a:p>
            <a:r>
              <a:rPr lang="en-US" altLang="en-US" sz="2000" dirty="0" smtClean="0"/>
              <a:t>An unauthorized party gains access to an asset.  </a:t>
            </a:r>
          </a:p>
          <a:p>
            <a:r>
              <a:rPr lang="en-US" altLang="en-US" sz="2000" dirty="0" smtClean="0"/>
              <a:t>This is an attack on </a:t>
            </a:r>
            <a:r>
              <a:rPr lang="en-US" altLang="en-US" sz="2000" b="1" dirty="0" smtClean="0">
                <a:solidFill>
                  <a:srgbClr val="0000FF"/>
                </a:solidFill>
              </a:rPr>
              <a:t>confidentiality</a:t>
            </a:r>
            <a:r>
              <a:rPr lang="en-US" altLang="en-US" sz="2000" dirty="0" smtClean="0"/>
              <a:t>.  </a:t>
            </a:r>
          </a:p>
          <a:p>
            <a:r>
              <a:rPr lang="en-US" altLang="en-US" sz="2000" dirty="0" smtClean="0"/>
              <a:t>The unauthorized party could be a person, a program, or a computer.  </a:t>
            </a:r>
          </a:p>
          <a:p>
            <a:r>
              <a:rPr lang="en-US" altLang="en-US" sz="2000" dirty="0" smtClean="0"/>
              <a:t>Examples include:</a:t>
            </a:r>
          </a:p>
          <a:p>
            <a:pPr lvl="1"/>
            <a:r>
              <a:rPr lang="en-US" altLang="en-US" sz="2000" dirty="0" smtClean="0"/>
              <a:t>wiretapping to capture data in a network</a:t>
            </a:r>
          </a:p>
          <a:p>
            <a:pPr lvl="1"/>
            <a:r>
              <a:rPr lang="en-US" altLang="en-US" sz="2000" dirty="0" smtClean="0"/>
              <a:t>the illicit copying of files or programs</a:t>
            </a:r>
          </a:p>
        </p:txBody>
      </p:sp>
    </p:spTree>
    <p:extLst>
      <p:ext uri="{BB962C8B-B14F-4D97-AF65-F5344CB8AC3E}">
        <p14:creationId xmlns:p14="http://schemas.microsoft.com/office/powerpoint/2010/main" val="32913805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614958"/>
          </a:xfrm>
        </p:spPr>
        <p:txBody>
          <a:bodyPr/>
          <a:lstStyle/>
          <a:p>
            <a:r>
              <a:rPr lang="en-US" altLang="en-US" sz="2800" dirty="0" smtClean="0"/>
              <a:t>Interception</a:t>
            </a:r>
          </a:p>
        </p:txBody>
      </p:sp>
      <p:pic>
        <p:nvPicPr>
          <p:cNvPr id="22532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49288" y="987574"/>
            <a:ext cx="6851104" cy="2989573"/>
          </a:xfrm>
        </p:spPr>
      </p:pic>
    </p:spTree>
    <p:extLst>
      <p:ext uri="{BB962C8B-B14F-4D97-AF65-F5344CB8AC3E}">
        <p14:creationId xmlns:p14="http://schemas.microsoft.com/office/powerpoint/2010/main" val="18527534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470942"/>
          </a:xfrm>
        </p:spPr>
        <p:txBody>
          <a:bodyPr/>
          <a:lstStyle/>
          <a:p>
            <a:r>
              <a:rPr lang="en-US" altLang="en-US" sz="2800" dirty="0" smtClean="0"/>
              <a:t>Modification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87574"/>
            <a:ext cx="8382000" cy="3657600"/>
          </a:xfrm>
        </p:spPr>
        <p:txBody>
          <a:bodyPr/>
          <a:lstStyle/>
          <a:p>
            <a:r>
              <a:rPr lang="en-US" altLang="en-US" sz="2400" dirty="0" smtClean="0"/>
              <a:t>Modification is integrity violation.</a:t>
            </a:r>
          </a:p>
          <a:p>
            <a:r>
              <a:rPr lang="en-US" altLang="en-US" sz="2400" dirty="0" smtClean="0"/>
              <a:t>An unauthorized party not only gains access to but            tampers with an asset.</a:t>
            </a:r>
          </a:p>
          <a:p>
            <a:r>
              <a:rPr lang="en-US" altLang="en-US" sz="2400" dirty="0" smtClean="0"/>
              <a:t>This is an attack on the </a:t>
            </a:r>
            <a:r>
              <a:rPr lang="en-US" altLang="en-US" sz="2400" b="1" dirty="0" smtClean="0">
                <a:solidFill>
                  <a:srgbClr val="0000FF"/>
                </a:solidFill>
              </a:rPr>
              <a:t>integrity</a:t>
            </a:r>
            <a:r>
              <a:rPr lang="en-US" altLang="en-US" sz="2400" dirty="0" smtClean="0"/>
              <a:t>.</a:t>
            </a:r>
          </a:p>
          <a:p>
            <a:r>
              <a:rPr lang="en-US" altLang="en-US" sz="2400" dirty="0" smtClean="0"/>
              <a:t>Examples include changing values in a data file, altering  a program so that it performs differently, and modifying     the content of a message being transmitted in a network.</a:t>
            </a:r>
          </a:p>
        </p:txBody>
      </p:sp>
    </p:spTree>
    <p:extLst>
      <p:ext uri="{BB962C8B-B14F-4D97-AF65-F5344CB8AC3E}">
        <p14:creationId xmlns:p14="http://schemas.microsoft.com/office/powerpoint/2010/main" val="20246775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542950"/>
          </a:xfrm>
        </p:spPr>
        <p:txBody>
          <a:bodyPr/>
          <a:lstStyle/>
          <a:p>
            <a:r>
              <a:rPr lang="en-US" altLang="en-US" sz="2800" dirty="0" smtClean="0"/>
              <a:t>Modification</a:t>
            </a:r>
          </a:p>
        </p:txBody>
      </p:sp>
      <p:pic>
        <p:nvPicPr>
          <p:cNvPr id="24580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77280" y="987574"/>
            <a:ext cx="7067128" cy="3083838"/>
          </a:xfrm>
        </p:spPr>
      </p:pic>
    </p:spTree>
    <p:extLst>
      <p:ext uri="{BB962C8B-B14F-4D97-AF65-F5344CB8AC3E}">
        <p14:creationId xmlns:p14="http://schemas.microsoft.com/office/powerpoint/2010/main" val="12245210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470942"/>
          </a:xfrm>
        </p:spPr>
        <p:txBody>
          <a:bodyPr/>
          <a:lstStyle/>
          <a:p>
            <a:r>
              <a:rPr lang="en-US" altLang="en-US" sz="2800" dirty="0" smtClean="0"/>
              <a:t>Fabrication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59582"/>
            <a:ext cx="8382000" cy="3657600"/>
          </a:xfrm>
        </p:spPr>
        <p:txBody>
          <a:bodyPr/>
          <a:lstStyle/>
          <a:p>
            <a:r>
              <a:rPr lang="en-US" altLang="en-US" sz="2400" dirty="0" smtClean="0"/>
              <a:t>An unauthorized party inserts counterfeit objects into the  system.  This is an attack on the </a:t>
            </a:r>
            <a:r>
              <a:rPr lang="en-US" altLang="en-US" sz="2400" b="1" dirty="0" smtClean="0">
                <a:solidFill>
                  <a:srgbClr val="0000FF"/>
                </a:solidFill>
              </a:rPr>
              <a:t>authenticity</a:t>
            </a:r>
            <a:r>
              <a:rPr lang="en-US" altLang="en-US" sz="2400" dirty="0" smtClean="0"/>
              <a:t>, (as well as </a:t>
            </a:r>
            <a:r>
              <a:rPr lang="en-US" altLang="en-US" sz="2400" b="1" dirty="0" smtClean="0">
                <a:solidFill>
                  <a:srgbClr val="0000FF"/>
                </a:solidFill>
              </a:rPr>
              <a:t>integrity</a:t>
            </a:r>
            <a:r>
              <a:rPr lang="en-US" altLang="en-US" sz="2400" dirty="0" smtClean="0"/>
              <a:t>).  </a:t>
            </a:r>
          </a:p>
          <a:p>
            <a:r>
              <a:rPr lang="en-US" sz="2400" dirty="0"/>
              <a:t>Inserting messages into the network using the identity of </a:t>
            </a:r>
            <a:r>
              <a:rPr lang="en-US" sz="2400" dirty="0" smtClean="0"/>
              <a:t> another individual</a:t>
            </a:r>
          </a:p>
          <a:p>
            <a:r>
              <a:rPr lang="en-US" sz="2400" dirty="0"/>
              <a:t>Spoofing a web site or other network service</a:t>
            </a:r>
            <a:endParaRPr lang="en-US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3692071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 smtClean="0"/>
              <a:t>Fabrication</a:t>
            </a:r>
          </a:p>
        </p:txBody>
      </p:sp>
      <p:pic>
        <p:nvPicPr>
          <p:cNvPr id="26628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47664" y="1273711"/>
            <a:ext cx="6275040" cy="2738199"/>
          </a:xfrm>
        </p:spPr>
      </p:pic>
    </p:spTree>
    <p:extLst>
      <p:ext uri="{BB962C8B-B14F-4D97-AF65-F5344CB8AC3E}">
        <p14:creationId xmlns:p14="http://schemas.microsoft.com/office/powerpoint/2010/main" val="27361256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 smtClean="0"/>
              <a:t>Classification of Attacks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8472" y="930374"/>
            <a:ext cx="8382000" cy="3657600"/>
          </a:xfrm>
        </p:spPr>
        <p:txBody>
          <a:bodyPr/>
          <a:lstStyle/>
          <a:p>
            <a:r>
              <a:rPr lang="en-US" altLang="en-US" sz="2000" dirty="0" smtClean="0"/>
              <a:t>Computer Security attacks can be classified into two broad categories:</a:t>
            </a:r>
          </a:p>
          <a:p>
            <a:pPr lvl="1"/>
            <a:r>
              <a:rPr lang="en-US" altLang="en-US" sz="2000" b="1" dirty="0" smtClean="0"/>
              <a:t>Passive Attacks</a:t>
            </a:r>
            <a:r>
              <a:rPr lang="en-US" altLang="en-US" sz="2000" dirty="0" smtClean="0"/>
              <a:t> can </a:t>
            </a:r>
            <a:r>
              <a:rPr lang="en-US" altLang="en-US" sz="2000" dirty="0" smtClean="0">
                <a:solidFill>
                  <a:srgbClr val="0000FF"/>
                </a:solidFill>
              </a:rPr>
              <a:t>only observe</a:t>
            </a:r>
            <a:r>
              <a:rPr lang="en-US" altLang="en-US" sz="2000" dirty="0" smtClean="0"/>
              <a:t> communications or data.</a:t>
            </a:r>
          </a:p>
          <a:p>
            <a:pPr lvl="1"/>
            <a:r>
              <a:rPr lang="en-US" altLang="en-US" sz="2000" b="1" dirty="0" smtClean="0"/>
              <a:t>Active Attacks</a:t>
            </a:r>
            <a:r>
              <a:rPr lang="en-US" altLang="en-US" sz="2000" dirty="0" smtClean="0"/>
              <a:t> can </a:t>
            </a:r>
            <a:r>
              <a:rPr lang="en-US" altLang="en-US" sz="2000" dirty="0" smtClean="0">
                <a:solidFill>
                  <a:srgbClr val="0000FF"/>
                </a:solidFill>
              </a:rPr>
              <a:t>actively modify</a:t>
            </a:r>
            <a:r>
              <a:rPr lang="en-US" altLang="en-US" sz="2000" dirty="0" smtClean="0"/>
              <a:t> communications or data.       Often difficult to perform, but very powerful.  Examples include</a:t>
            </a:r>
          </a:p>
          <a:p>
            <a:pPr lvl="2"/>
            <a:r>
              <a:rPr lang="en-US" altLang="en-US" sz="2000" dirty="0" smtClean="0"/>
              <a:t>Mail forgery/modification</a:t>
            </a:r>
          </a:p>
          <a:p>
            <a:pPr lvl="2"/>
            <a:r>
              <a:rPr lang="en-US" altLang="en-US" sz="2000" dirty="0" smtClean="0"/>
              <a:t>TCP/IP /session hijacking</a:t>
            </a:r>
          </a:p>
        </p:txBody>
      </p:sp>
    </p:spTree>
    <p:extLst>
      <p:ext uri="{BB962C8B-B14F-4D97-AF65-F5344CB8AC3E}">
        <p14:creationId xmlns:p14="http://schemas.microsoft.com/office/powerpoint/2010/main" val="638593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1030"/>
          <p:cNvSpPr>
            <a:spLocks noGrp="1" noChangeArrowheads="1"/>
          </p:cNvSpPr>
          <p:nvPr>
            <p:ph type="title"/>
          </p:nvPr>
        </p:nvSpPr>
        <p:spPr>
          <a:xfrm>
            <a:off x="171648" y="228600"/>
            <a:ext cx="8432800" cy="542950"/>
          </a:xfrm>
        </p:spPr>
        <p:txBody>
          <a:bodyPr/>
          <a:lstStyle/>
          <a:p>
            <a:r>
              <a:rPr lang="en-US" altLang="en-US" sz="2800" dirty="0" smtClean="0"/>
              <a:t>Passive Attacks and Active Attacks</a:t>
            </a:r>
          </a:p>
        </p:txBody>
      </p:sp>
      <p:pic>
        <p:nvPicPr>
          <p:cNvPr id="28676" name="Picture 102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635646"/>
            <a:ext cx="7239000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08057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2"/>
          <p:cNvPicPr>
            <a:picLocks noGrp="1" noChangeAspect="1" noChangeArrowheads="1"/>
          </p:cNvPicPr>
          <p:nvPr>
            <p:ph type="clipArt"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47664" y="915566"/>
            <a:ext cx="5856287" cy="369644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9700" name="Rectangle 3"/>
          <p:cNvSpPr>
            <a:spLocks noGrp="1" noChangeArrowheads="1"/>
          </p:cNvSpPr>
          <p:nvPr>
            <p:ph type="title"/>
          </p:nvPr>
        </p:nvSpPr>
        <p:spPr>
          <a:xfrm>
            <a:off x="1259632" y="267494"/>
            <a:ext cx="5832648" cy="504056"/>
          </a:xfrm>
        </p:spPr>
        <p:txBody>
          <a:bodyPr/>
          <a:lstStyle/>
          <a:p>
            <a:pPr algn="l"/>
            <a:r>
              <a:rPr lang="en-US" altLang="en-US" sz="2800" dirty="0" smtClean="0"/>
              <a:t>Passive Attacks and Active Attacks</a:t>
            </a:r>
          </a:p>
        </p:txBody>
      </p:sp>
    </p:spTree>
    <p:extLst>
      <p:ext uri="{BB962C8B-B14F-4D97-AF65-F5344CB8AC3E}">
        <p14:creationId xmlns:p14="http://schemas.microsoft.com/office/powerpoint/2010/main" val="23369345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542950"/>
          </a:xfrm>
        </p:spPr>
        <p:txBody>
          <a:bodyPr/>
          <a:lstStyle/>
          <a:p>
            <a:r>
              <a:rPr lang="en-US" altLang="en-US" sz="2800" dirty="0" smtClean="0"/>
              <a:t>Passive Attacks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87574"/>
            <a:ext cx="8382000" cy="3384376"/>
          </a:xfrm>
        </p:spPr>
        <p:txBody>
          <a:bodyPr/>
          <a:lstStyle/>
          <a:p>
            <a:r>
              <a:rPr lang="en-US" altLang="en-US" sz="2400" dirty="0" smtClean="0"/>
              <a:t>Eavesdropping on or monitoring of transmission.</a:t>
            </a:r>
          </a:p>
          <a:p>
            <a:r>
              <a:rPr lang="en-US" altLang="en-US" sz="2400" dirty="0" smtClean="0"/>
              <a:t>The goal of the opponent is to </a:t>
            </a:r>
            <a:r>
              <a:rPr lang="en-US" altLang="en-US" sz="2400" dirty="0" smtClean="0">
                <a:solidFill>
                  <a:srgbClr val="0000FF"/>
                </a:solidFill>
              </a:rPr>
              <a:t>obtain information</a:t>
            </a:r>
            <a:r>
              <a:rPr lang="en-US" altLang="en-US" sz="2400" dirty="0" smtClean="0"/>
              <a:t> that is   being transmitted.</a:t>
            </a:r>
          </a:p>
          <a:p>
            <a:r>
              <a:rPr lang="en-US" altLang="en-US" sz="2400" dirty="0" smtClean="0"/>
              <a:t>Two types:</a:t>
            </a:r>
          </a:p>
          <a:p>
            <a:pPr lvl="1"/>
            <a:r>
              <a:rPr lang="en-US" altLang="en-US" sz="2400" dirty="0" smtClean="0"/>
              <a:t>Release-of-message contents</a:t>
            </a:r>
          </a:p>
          <a:p>
            <a:pPr lvl="1"/>
            <a:r>
              <a:rPr lang="en-US" altLang="en-US" sz="2400" dirty="0" smtClean="0"/>
              <a:t>Traffic Analysis</a:t>
            </a:r>
          </a:p>
        </p:txBody>
      </p:sp>
    </p:spTree>
    <p:extLst>
      <p:ext uri="{BB962C8B-B14F-4D97-AF65-F5344CB8AC3E}">
        <p14:creationId xmlns:p14="http://schemas.microsoft.com/office/powerpoint/2010/main" val="11260343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228600"/>
            <a:ext cx="8432800" cy="614958"/>
          </a:xfrm>
        </p:spPr>
        <p:txBody>
          <a:bodyPr/>
          <a:lstStyle/>
          <a:p>
            <a:r>
              <a:rPr lang="en-US" altLang="en-US" sz="2800" dirty="0" smtClean="0"/>
              <a:t>Release-of-message Contents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915566"/>
            <a:ext cx="8382000" cy="3657600"/>
          </a:xfrm>
        </p:spPr>
        <p:txBody>
          <a:bodyPr/>
          <a:lstStyle/>
          <a:p>
            <a:pPr>
              <a:defRPr/>
            </a:pPr>
            <a:r>
              <a:rPr lang="en-US" sz="2400" dirty="0" smtClean="0"/>
              <a:t>Opponent finds out the contents or the actual messages  being transmitted.</a:t>
            </a:r>
          </a:p>
          <a:p>
            <a:pPr>
              <a:defRPr/>
            </a:pPr>
            <a:r>
              <a:rPr lang="en-US" sz="2400" dirty="0" smtClean="0"/>
              <a:t>How to protect?</a:t>
            </a:r>
          </a:p>
          <a:p>
            <a:pPr lvl="1">
              <a:defRPr/>
            </a:pPr>
            <a:r>
              <a:rPr lang="en-US" sz="2400" dirty="0" smtClean="0">
                <a:solidFill>
                  <a:srgbClr val="0000FF"/>
                </a:solidFill>
              </a:rPr>
              <a:t>Encryption</a:t>
            </a:r>
          </a:p>
          <a:p>
            <a:pPr marL="457200" lvl="1" indent="0">
              <a:buFont typeface="Wingdings" pitchFamily="2" charset="2"/>
              <a:buNone/>
              <a:defRPr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948065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542950"/>
          </a:xfrm>
        </p:spPr>
        <p:txBody>
          <a:bodyPr/>
          <a:lstStyle/>
          <a:p>
            <a:r>
              <a:rPr lang="en-US" altLang="en-US" sz="2800" dirty="0" smtClean="0"/>
              <a:t>Traffic Analysis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87574"/>
            <a:ext cx="8382000" cy="3384376"/>
          </a:xfrm>
        </p:spPr>
        <p:txBody>
          <a:bodyPr/>
          <a:lstStyle/>
          <a:p>
            <a:r>
              <a:rPr lang="en-US" altLang="en-US" sz="2000" dirty="0" smtClean="0"/>
              <a:t>More subtle than release-of-message contents.</a:t>
            </a:r>
          </a:p>
          <a:p>
            <a:r>
              <a:rPr lang="en-US" altLang="en-US" sz="2000" dirty="0" smtClean="0"/>
              <a:t>Messages may be kept secret by masking or encryption but …</a:t>
            </a:r>
          </a:p>
          <a:p>
            <a:r>
              <a:rPr lang="en-US" altLang="en-US" sz="2000" dirty="0" smtClean="0"/>
              <a:t>The opponent figures out information being carried by the messages based on the frequency and timings of the message.</a:t>
            </a:r>
          </a:p>
          <a:p>
            <a:r>
              <a:rPr lang="en-US" altLang="en-US" sz="2000" dirty="0" smtClean="0"/>
              <a:t>How to protect?</a:t>
            </a:r>
          </a:p>
          <a:p>
            <a:pPr lvl="1"/>
            <a:r>
              <a:rPr lang="en-US" altLang="en-US" sz="2000" dirty="0" smtClean="0">
                <a:solidFill>
                  <a:srgbClr val="0000FF"/>
                </a:solidFill>
              </a:rPr>
              <a:t>Data/Message Padding</a:t>
            </a:r>
          </a:p>
          <a:p>
            <a:pPr lvl="1"/>
            <a:r>
              <a:rPr lang="en-US" altLang="en-US" sz="2000" dirty="0" smtClean="0">
                <a:solidFill>
                  <a:srgbClr val="0000FF"/>
                </a:solidFill>
              </a:rPr>
              <a:t>Filler Sequences</a:t>
            </a:r>
          </a:p>
        </p:txBody>
      </p:sp>
    </p:spTree>
    <p:extLst>
      <p:ext uri="{BB962C8B-B14F-4D97-AF65-F5344CB8AC3E}">
        <p14:creationId xmlns:p14="http://schemas.microsoft.com/office/powerpoint/2010/main" val="23084334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542950"/>
          </a:xfrm>
        </p:spPr>
        <p:txBody>
          <a:bodyPr/>
          <a:lstStyle/>
          <a:p>
            <a:r>
              <a:rPr lang="en-US" altLang="en-US" sz="2800" dirty="0" smtClean="0"/>
              <a:t>Passive Attacks Problems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00150"/>
            <a:ext cx="8382000" cy="2955776"/>
          </a:xfrm>
        </p:spPr>
        <p:txBody>
          <a:bodyPr/>
          <a:lstStyle/>
          <a:p>
            <a:r>
              <a:rPr lang="en-US" altLang="en-US" sz="2400" dirty="0" smtClean="0"/>
              <a:t>Difficult to detect because there is no modification of data.</a:t>
            </a:r>
          </a:p>
          <a:p>
            <a:r>
              <a:rPr lang="en-US" altLang="en-US" sz="2400" dirty="0" smtClean="0"/>
              <a:t>Protection approach should be based on </a:t>
            </a:r>
            <a:r>
              <a:rPr lang="en-US" altLang="en-US" sz="2400" dirty="0" smtClean="0">
                <a:solidFill>
                  <a:srgbClr val="0000FF"/>
                </a:solidFill>
              </a:rPr>
              <a:t>prevention</a:t>
            </a:r>
            <a:r>
              <a:rPr lang="en-US" altLang="en-US" sz="2400" dirty="0" smtClean="0"/>
              <a:t>          rather than </a:t>
            </a:r>
            <a:r>
              <a:rPr lang="en-US" altLang="en-US" sz="2400" dirty="0" smtClean="0">
                <a:solidFill>
                  <a:srgbClr val="0000FF"/>
                </a:solidFill>
              </a:rPr>
              <a:t>detection</a:t>
            </a:r>
            <a:r>
              <a:rPr lang="en-US" altLang="en-US" sz="2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96926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542950"/>
          </a:xfrm>
        </p:spPr>
        <p:txBody>
          <a:bodyPr/>
          <a:lstStyle/>
          <a:p>
            <a:r>
              <a:rPr lang="en-US" altLang="en-US" sz="2800" dirty="0" smtClean="0"/>
              <a:t>Active Attacks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87574"/>
            <a:ext cx="8382000" cy="3456384"/>
          </a:xfrm>
        </p:spPr>
        <p:txBody>
          <a:bodyPr/>
          <a:lstStyle/>
          <a:p>
            <a:r>
              <a:rPr lang="en-US" altLang="en-US" sz="2400" dirty="0" smtClean="0"/>
              <a:t>Active attacks involve some sort of </a:t>
            </a:r>
            <a:r>
              <a:rPr lang="en-US" altLang="en-US" sz="2400" b="1" dirty="0" smtClean="0">
                <a:solidFill>
                  <a:srgbClr val="0000FF"/>
                </a:solidFill>
              </a:rPr>
              <a:t>modification</a:t>
            </a:r>
            <a:r>
              <a:rPr lang="en-US" altLang="en-US" sz="2400" dirty="0" smtClean="0"/>
              <a:t> of the    data stream or the creation of a false stream.  </a:t>
            </a:r>
          </a:p>
          <a:p>
            <a:r>
              <a:rPr lang="en-US" altLang="en-US" sz="2400" dirty="0" smtClean="0"/>
              <a:t>Four sub-categories:</a:t>
            </a:r>
          </a:p>
          <a:p>
            <a:pPr lvl="1"/>
            <a:r>
              <a:rPr lang="en-US" altLang="en-US" sz="2400" dirty="0" smtClean="0"/>
              <a:t>Masquerade</a:t>
            </a:r>
          </a:p>
          <a:p>
            <a:pPr lvl="1"/>
            <a:r>
              <a:rPr lang="en-US" altLang="en-US" sz="2400" dirty="0" smtClean="0"/>
              <a:t>Replay</a:t>
            </a:r>
          </a:p>
          <a:p>
            <a:pPr lvl="1"/>
            <a:r>
              <a:rPr lang="en-US" altLang="en-US" sz="2400" dirty="0" smtClean="0"/>
              <a:t>Modification of Messages</a:t>
            </a:r>
          </a:p>
          <a:p>
            <a:pPr lvl="1"/>
            <a:r>
              <a:rPr lang="en-US" altLang="en-US" sz="2400" dirty="0" smtClean="0"/>
              <a:t>Denial of service</a:t>
            </a:r>
          </a:p>
        </p:txBody>
      </p:sp>
    </p:spTree>
    <p:extLst>
      <p:ext uri="{BB962C8B-B14F-4D97-AF65-F5344CB8AC3E}">
        <p14:creationId xmlns:p14="http://schemas.microsoft.com/office/powerpoint/2010/main" val="40705394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614958"/>
          </a:xfrm>
        </p:spPr>
        <p:txBody>
          <a:bodyPr/>
          <a:lstStyle/>
          <a:p>
            <a:r>
              <a:rPr lang="en-US" altLang="en-US" sz="2800" dirty="0" smtClean="0"/>
              <a:t>Masquerade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30374"/>
            <a:ext cx="8382000" cy="3657600"/>
          </a:xfrm>
        </p:spPr>
        <p:txBody>
          <a:bodyPr/>
          <a:lstStyle/>
          <a:p>
            <a:r>
              <a:rPr lang="en-US" altLang="en-US" sz="2400" dirty="0" smtClean="0"/>
              <a:t>An entity </a:t>
            </a:r>
            <a:r>
              <a:rPr lang="en-US" altLang="en-US" sz="2400" b="1" dirty="0" smtClean="0">
                <a:solidFill>
                  <a:srgbClr val="0000FF"/>
                </a:solidFill>
              </a:rPr>
              <a:t>pretends</a:t>
            </a:r>
            <a:r>
              <a:rPr lang="en-US" altLang="en-US" sz="2400" dirty="0" smtClean="0"/>
              <a:t> to be another.</a:t>
            </a:r>
          </a:p>
          <a:p>
            <a:r>
              <a:rPr lang="en-US" altLang="en-US" sz="2400" dirty="0" smtClean="0"/>
              <a:t>For the purpose of doing some other form of attack.</a:t>
            </a:r>
          </a:p>
          <a:p>
            <a:r>
              <a:rPr lang="en-US" altLang="en-US" sz="2400" dirty="0" smtClean="0"/>
              <a:t>How to protect?</a:t>
            </a:r>
          </a:p>
          <a:p>
            <a:pPr lvl="1"/>
            <a:r>
              <a:rPr lang="en-US" altLang="en-US" sz="2400" dirty="0" smtClean="0"/>
              <a:t>Principal/Entity </a:t>
            </a:r>
            <a:r>
              <a:rPr lang="en-US" altLang="en-US" sz="2400" b="1" dirty="0" smtClean="0">
                <a:solidFill>
                  <a:srgbClr val="0000FF"/>
                </a:solidFill>
              </a:rPr>
              <a:t>Authentication</a:t>
            </a:r>
          </a:p>
        </p:txBody>
      </p:sp>
    </p:spTree>
    <p:extLst>
      <p:ext uri="{BB962C8B-B14F-4D97-AF65-F5344CB8AC3E}">
        <p14:creationId xmlns:p14="http://schemas.microsoft.com/office/powerpoint/2010/main" val="29600122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542950"/>
          </a:xfrm>
        </p:spPr>
        <p:txBody>
          <a:bodyPr/>
          <a:lstStyle/>
          <a:p>
            <a:r>
              <a:rPr lang="en-US" altLang="en-US" sz="2800" dirty="0" smtClean="0"/>
              <a:t>Replay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87574"/>
            <a:ext cx="8382000" cy="3456384"/>
          </a:xfrm>
        </p:spPr>
        <p:txBody>
          <a:bodyPr/>
          <a:lstStyle/>
          <a:p>
            <a:r>
              <a:rPr lang="en-US" altLang="en-US" sz="2400" dirty="0" smtClean="0"/>
              <a:t>First </a:t>
            </a:r>
            <a:r>
              <a:rPr lang="en-US" altLang="en-US" sz="2400" b="1" dirty="0" smtClean="0">
                <a:solidFill>
                  <a:srgbClr val="0000FF"/>
                </a:solidFill>
              </a:rPr>
              <a:t>passive</a:t>
            </a:r>
            <a:r>
              <a:rPr lang="en-US" altLang="en-US" sz="2400" dirty="0" smtClean="0"/>
              <a:t> capture of data and then its </a:t>
            </a:r>
            <a:r>
              <a:rPr lang="en-US" altLang="en-US" sz="2400" b="1" dirty="0" smtClean="0">
                <a:solidFill>
                  <a:srgbClr val="0000FF"/>
                </a:solidFill>
              </a:rPr>
              <a:t>retransmission</a:t>
            </a:r>
            <a:r>
              <a:rPr lang="en-US" altLang="en-US" sz="2400" dirty="0" smtClean="0"/>
              <a:t> to produce an unauthorized effect.</a:t>
            </a:r>
          </a:p>
          <a:p>
            <a:r>
              <a:rPr lang="en-US" altLang="en-US" sz="2400" dirty="0" smtClean="0"/>
              <a:t>Could be disastrous in case of </a:t>
            </a:r>
            <a:r>
              <a:rPr lang="en-US" altLang="en-US" sz="2400" dirty="0" smtClean="0">
                <a:solidFill>
                  <a:srgbClr val="0000FF"/>
                </a:solidFill>
              </a:rPr>
              <a:t>critical messages</a:t>
            </a:r>
            <a:r>
              <a:rPr lang="en-US" altLang="en-US" sz="2400" dirty="0" smtClean="0"/>
              <a:t> such as </a:t>
            </a:r>
            <a:r>
              <a:rPr lang="en-US" altLang="en-US" sz="2400" dirty="0" smtClean="0">
                <a:solidFill>
                  <a:srgbClr val="0000FF"/>
                </a:solidFill>
              </a:rPr>
              <a:t>authentication sequences</a:t>
            </a:r>
            <a:r>
              <a:rPr lang="en-US" altLang="en-US" sz="2400" dirty="0" smtClean="0"/>
              <a:t>, even if the password were       encrypted.</a:t>
            </a:r>
          </a:p>
          <a:p>
            <a:r>
              <a:rPr lang="en-US" altLang="en-US" sz="2400" dirty="0" smtClean="0"/>
              <a:t>How to protect?</a:t>
            </a:r>
          </a:p>
          <a:p>
            <a:pPr lvl="1"/>
            <a:r>
              <a:rPr lang="en-US" altLang="en-US" sz="2400" dirty="0" smtClean="0"/>
              <a:t>Time stamps</a:t>
            </a:r>
          </a:p>
          <a:p>
            <a:pPr lvl="1"/>
            <a:r>
              <a:rPr lang="en-US" altLang="en-US" sz="2400" dirty="0" smtClean="0"/>
              <a:t>Sequence Numbers</a:t>
            </a:r>
          </a:p>
        </p:txBody>
      </p:sp>
    </p:spTree>
    <p:extLst>
      <p:ext uri="{BB962C8B-B14F-4D97-AF65-F5344CB8AC3E}">
        <p14:creationId xmlns:p14="http://schemas.microsoft.com/office/powerpoint/2010/main" val="19382126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228600"/>
            <a:ext cx="8432800" cy="542950"/>
          </a:xfrm>
        </p:spPr>
        <p:txBody>
          <a:bodyPr/>
          <a:lstStyle/>
          <a:p>
            <a:r>
              <a:rPr lang="en-US" altLang="en-US" sz="2800" dirty="0" smtClean="0"/>
              <a:t>Modification of Messages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5566"/>
            <a:ext cx="8382000" cy="3657600"/>
          </a:xfrm>
        </p:spPr>
        <p:txBody>
          <a:bodyPr/>
          <a:lstStyle/>
          <a:p>
            <a:r>
              <a:rPr lang="en-US" altLang="en-US" sz="2400" dirty="0" smtClean="0"/>
              <a:t>Some portion of a legitimate message is </a:t>
            </a:r>
            <a:r>
              <a:rPr lang="en-US" altLang="en-US" sz="2400" b="1" dirty="0" smtClean="0">
                <a:solidFill>
                  <a:srgbClr val="0000FF"/>
                </a:solidFill>
              </a:rPr>
              <a:t>altered</a:t>
            </a:r>
            <a:r>
              <a:rPr lang="en-US" altLang="en-US" sz="2400" dirty="0" smtClean="0"/>
              <a:t> or         messages are </a:t>
            </a:r>
            <a:r>
              <a:rPr lang="en-US" altLang="en-US" sz="2400" b="1" dirty="0" smtClean="0">
                <a:solidFill>
                  <a:srgbClr val="0000FF"/>
                </a:solidFill>
              </a:rPr>
              <a:t>delayed</a:t>
            </a:r>
            <a:r>
              <a:rPr lang="en-US" altLang="en-US" sz="2400" dirty="0" smtClean="0"/>
              <a:t> or </a:t>
            </a:r>
            <a:r>
              <a:rPr lang="en-US" altLang="en-US" sz="2400" b="1" dirty="0" smtClean="0">
                <a:solidFill>
                  <a:srgbClr val="0000FF"/>
                </a:solidFill>
              </a:rPr>
              <a:t>reordered</a:t>
            </a:r>
            <a:r>
              <a:rPr lang="en-US" altLang="en-US" sz="2400" dirty="0" smtClean="0"/>
              <a:t> to produce an         unauthorized effect.</a:t>
            </a:r>
          </a:p>
          <a:p>
            <a:r>
              <a:rPr lang="en-US" altLang="en-US" sz="2400" dirty="0" smtClean="0"/>
              <a:t>How to protect?</a:t>
            </a:r>
          </a:p>
          <a:p>
            <a:pPr lvl="1"/>
            <a:r>
              <a:rPr lang="en-US" altLang="en-US" sz="2400" dirty="0" smtClean="0"/>
              <a:t>Message Authentication Codes</a:t>
            </a:r>
          </a:p>
          <a:p>
            <a:pPr lvl="1"/>
            <a:r>
              <a:rPr lang="en-US" altLang="en-US" sz="2400" dirty="0" smtClean="0"/>
              <a:t>Chaining (</a:t>
            </a:r>
            <a:r>
              <a:rPr lang="en-GB" altLang="en-US" sz="2400" dirty="0" smtClean="0"/>
              <a:t>purified)</a:t>
            </a:r>
            <a:endParaRPr lang="en-US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8628796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400" dirty="0" smtClean="0"/>
              <a:t>Review Questions</a:t>
            </a:r>
            <a:endParaRPr 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79512" y="1275606"/>
            <a:ext cx="8424936" cy="792088"/>
          </a:xfrm>
        </p:spPr>
        <p:txBody>
          <a:bodyPr/>
          <a:lstStyle/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What is the difference between Interruption and Interception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What is Masquerade and Replay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How Fabrication is different from Modification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924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/>
              <a:t>Thank you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401306127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17.01.13"/>
  <p:tag name="AS_TITLE" val="Aspose.Slides for .NET 4.0"/>
  <p:tag name="AS_VERSION" val="16.12.1.0"/>
</p:tagLst>
</file>

<file path=ppt/theme/theme1.xml><?xml version="1.0" encoding="utf-8"?>
<a:theme xmlns:a="http://schemas.openxmlformats.org/drawingml/2006/main" name="Cover and End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1883</TotalTime>
  <Words>664</Words>
  <Application>Microsoft Office PowerPoint</Application>
  <PresentationFormat>On-screen Show (16:9)</PresentationFormat>
  <Paragraphs>101</Paragraphs>
  <Slides>27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Cover and End Slide Master</vt:lpstr>
      <vt:lpstr>PowerPoint Presentation</vt:lpstr>
      <vt:lpstr>PowerPoint Presentation</vt:lpstr>
      <vt:lpstr>PowerPoint Presentation</vt:lpstr>
      <vt:lpstr>Type of Attacks/Threats in Computer Systems</vt:lpstr>
      <vt:lpstr>Type of Attacks in Computer Systems</vt:lpstr>
      <vt:lpstr>Normal Flow of Information</vt:lpstr>
      <vt:lpstr>Interruption</vt:lpstr>
      <vt:lpstr>Interruption</vt:lpstr>
      <vt:lpstr>Interception</vt:lpstr>
      <vt:lpstr>Interception</vt:lpstr>
      <vt:lpstr>Modification</vt:lpstr>
      <vt:lpstr>Modification</vt:lpstr>
      <vt:lpstr>Fabrication</vt:lpstr>
      <vt:lpstr>Fabrication</vt:lpstr>
      <vt:lpstr>Classification of Attacks</vt:lpstr>
      <vt:lpstr>Passive Attacks and Active Attacks</vt:lpstr>
      <vt:lpstr>Passive Attacks and Active Attacks</vt:lpstr>
      <vt:lpstr>Passive Attacks</vt:lpstr>
      <vt:lpstr>Release-of-message Contents</vt:lpstr>
      <vt:lpstr>Traffic Analysis</vt:lpstr>
      <vt:lpstr>Passive Attacks Problems</vt:lpstr>
      <vt:lpstr>Active Attacks</vt:lpstr>
      <vt:lpstr>Masquerade</vt:lpstr>
      <vt:lpstr>Replay</vt:lpstr>
      <vt:lpstr>Modification of Messages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Ali</cp:lastModifiedBy>
  <cp:revision>108</cp:revision>
  <dcterms:created xsi:type="dcterms:W3CDTF">2016-12-05T23:26:54Z</dcterms:created>
  <dcterms:modified xsi:type="dcterms:W3CDTF">2020-05-06T11:51:21Z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3556737</vt:lpwstr>
  </property>
  <property fmtid="{D5CDD505-2E9C-101B-9397-08002B2CF9AE}" pid="3" name="NXPowerLiteSettings">
    <vt:lpwstr>C7000400038000</vt:lpwstr>
  </property>
  <property fmtid="{D5CDD505-2E9C-101B-9397-08002B2CF9AE}" pid="4" name="NXPowerLiteVersion">
    <vt:lpwstr>S8.2.1</vt:lpwstr>
  </property>
</Properties>
</file>