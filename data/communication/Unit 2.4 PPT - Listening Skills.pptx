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53" r:id="rId3"/>
  </p:sldMasterIdLst>
  <p:notesMasterIdLst>
    <p:notesMasterId r:id="rId9"/>
  </p:notesMasterIdLst>
  <p:sldIdLst>
    <p:sldId id="256" r:id="rId4"/>
    <p:sldId id="347" r:id="rId5"/>
    <p:sldId id="346" r:id="rId6"/>
    <p:sldId id="345" r:id="rId7"/>
    <p:sldId id="309" r:id="rId8"/>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D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7" autoAdjust="0"/>
    <p:restoredTop sz="94660"/>
  </p:normalViewPr>
  <p:slideViewPr>
    <p:cSldViewPr>
      <p:cViewPr varScale="1">
        <p:scale>
          <a:sx n="97" d="100"/>
          <a:sy n="97" d="100"/>
        </p:scale>
        <p:origin x="420"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62E48-2130-43D2-9F6F-4645F77BBD45}" type="datetimeFigureOut">
              <a:rPr lang="en-US" smtClean="0"/>
              <a:t>20-Jun-20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BA85AB-254C-4BA1-9AE3-9AC707C2D500}" type="slidenum">
              <a:rPr lang="en-US" smtClean="0"/>
              <a:t>‹#›</a:t>
            </a:fld>
            <a:endParaRPr lang="en-US"/>
          </a:p>
        </p:txBody>
      </p:sp>
    </p:spTree>
    <p:extLst>
      <p:ext uri="{BB962C8B-B14F-4D97-AF65-F5344CB8AC3E}">
        <p14:creationId xmlns:p14="http://schemas.microsoft.com/office/powerpoint/2010/main" val="2036046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FBE38832-C366-9E4F-A126-65D59DA2DE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a:extLst>
              <a:ext uri="{FF2B5EF4-FFF2-40B4-BE49-F238E27FC236}">
                <a16:creationId xmlns:a16="http://schemas.microsoft.com/office/drawing/2014/main" id="{1A74914B-F13F-5647-9A8A-09D1254B21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defRPr/>
            </a:pPr>
            <a:r>
              <a:rPr lang="en-US" altLang="en-US" dirty="0">
                <a:latin typeface="Arial" panose="020B0604020202020204" pitchFamily="34" charset="0"/>
              </a:rPr>
              <a:t>There are many rules for following APA format, and the facilitator should stress that it is nearly impossible to memorize them all. Students</a:t>
            </a:r>
            <a:r>
              <a:rPr lang="ja-JP" altLang="en-US">
                <a:latin typeface="Arial" panose="020B0604020202020204" pitchFamily="34" charset="0"/>
              </a:rPr>
              <a:t>’</a:t>
            </a:r>
            <a:r>
              <a:rPr lang="en-US" altLang="ja-JP" dirty="0">
                <a:latin typeface="Arial" panose="020B0604020202020204" pitchFamily="34" charset="0"/>
              </a:rPr>
              <a:t> best course of action is to utilize the official APA handbook or the APA section in an updated composition textbook as guides for properly using the documentation format.  Since the American Psychological Association, a professional group of behavioral and social science professors and instructors, periodically updates the guide, students should be certain that they are using the most current information possible. </a:t>
            </a:r>
          </a:p>
          <a:p>
            <a:pPr eaLnBrk="1" hangingPunct="1">
              <a:spcBef>
                <a:spcPct val="0"/>
              </a:spcBef>
              <a:defRPr/>
            </a:pPr>
            <a:endParaRPr lang="en-US" altLang="en-US" dirty="0">
              <a:latin typeface="Arial" panose="020B0604020202020204" pitchFamily="34" charset="0"/>
            </a:endParaRPr>
          </a:p>
          <a:p>
            <a:pPr eaLnBrk="1" hangingPunct="1">
              <a:spcBef>
                <a:spcPct val="0"/>
              </a:spcBef>
              <a:defRPr/>
            </a:pPr>
            <a:r>
              <a:rPr lang="en-US" altLang="en-US" dirty="0">
                <a:latin typeface="Arial" panose="020B0604020202020204" pitchFamily="34" charset="0"/>
              </a:rPr>
              <a:t>There are other resources for finding current information on APA documentation style. The APA web site offers some limited information about recent format changes, especially regarding the documentation of electronic sources. The Purdue University Writing Lab has a page on APA formatting and documentation style on its website: https://owl.purdue.edu/owl/research_and_citation/apa7_style/apa_formatting_and_style_guide/general_format.html</a:t>
            </a:r>
            <a:br>
              <a:rPr lang="en-US" altLang="en-US" dirty="0">
                <a:latin typeface="Arial" panose="020B0604020202020204" pitchFamily="34" charset="0"/>
              </a:rPr>
            </a:br>
            <a:endParaRPr lang="en-US" altLang="en-US" dirty="0">
              <a:latin typeface="Arial" panose="020B0604020202020204" pitchFamily="34" charset="0"/>
            </a:endParaRPr>
          </a:p>
          <a:p>
            <a:pPr eaLnBrk="1" hangingPunct="1">
              <a:spcBef>
                <a:spcPct val="0"/>
              </a:spcBef>
              <a:defRPr/>
            </a:pPr>
            <a:r>
              <a:rPr lang="en-US" altLang="en-US" dirty="0">
                <a:latin typeface="Arial" panose="020B0604020202020204" pitchFamily="34" charset="0"/>
              </a:rPr>
              <a:t>For quick questions on APA format, students can also call the Writing Lab Grammar Hotline at 494-3723.</a:t>
            </a:r>
          </a:p>
        </p:txBody>
      </p:sp>
      <p:sp>
        <p:nvSpPr>
          <p:cNvPr id="78852" name="Slide Number Placeholder 3">
            <a:extLst>
              <a:ext uri="{FF2B5EF4-FFF2-40B4-BE49-F238E27FC236}">
                <a16:creationId xmlns:a16="http://schemas.microsoft.com/office/drawing/2014/main" id="{96F04F27-45F9-FA4C-AE9A-1BF1D9E794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Book Antiqua" panose="02040602050305030304" pitchFamily="18" charset="0"/>
                <a:ea typeface="MS PGothic" panose="020B0600070205080204" pitchFamily="34" charset="-128"/>
              </a:defRPr>
            </a:lvl1pPr>
            <a:lvl2pPr marL="742950" indent="-285750"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eaLnBrk="1" hangingPunct="1"/>
            <a:fld id="{A9EF7409-915A-1849-9BC2-8DFE3AB13E8B}" type="slidenum">
              <a:rPr lang="en-US" altLang="en-US">
                <a:latin typeface="Calibri" panose="020F0502020204030204" pitchFamily="34" charset="0"/>
              </a:rPr>
              <a:pPr eaLnBrk="1" hangingPunct="1"/>
              <a:t>5</a:t>
            </a:fld>
            <a:endParaRPr lang="en-US" altLang="en-US"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705210"/>
            <a:ext cx="9144000" cy="522725"/>
          </a:xfrm>
          <a:prstGeom prst="rect">
            <a:avLst/>
          </a:prstGeom>
        </p:spPr>
        <p:txBody>
          <a:bodyPr anchor="ctr"/>
          <a:lstStyle>
            <a:lvl1pPr marL="0" indent="0" algn="ctr">
              <a:lnSpc>
                <a:spcPct val="100000"/>
              </a:lnSpc>
              <a:buNone/>
              <a:defRPr sz="3600" b="1" baseline="0">
                <a:solidFill>
                  <a:schemeClr val="tx1">
                    <a:lumMod val="75000"/>
                    <a:lumOff val="25000"/>
                  </a:schemeClr>
                </a:solidFill>
                <a:latin typeface="+mj-lt"/>
                <a:cs typeface="Arial" pitchFamily="34" charset="0"/>
              </a:defRPr>
            </a:lvl1pPr>
          </a:lstStyle>
          <a:p>
            <a:pPr lvl="0"/>
            <a:r>
              <a:rPr lang="en-US" altLang="ko-KR" dirty="0">
                <a:ea typeface="맑은 고딕" pitchFamily="50" charset="-127"/>
              </a:rPr>
              <a:t>title</a:t>
            </a:r>
            <a:endParaRPr lang="en-US" altLang="ko-KR" dirty="0"/>
          </a:p>
        </p:txBody>
      </p:sp>
      <p:sp>
        <p:nvSpPr>
          <p:cNvPr id="11" name="Text Placeholder 9"/>
          <p:cNvSpPr>
            <a:spLocks noGrp="1"/>
          </p:cNvSpPr>
          <p:nvPr>
            <p:ph type="body" sz="quarter" idx="11" hasCustomPrompt="1"/>
          </p:nvPr>
        </p:nvSpPr>
        <p:spPr>
          <a:xfrm>
            <a:off x="-148" y="4227934"/>
            <a:ext cx="9144000" cy="288032"/>
          </a:xfrm>
          <a:prstGeom prst="rect">
            <a:avLst/>
          </a:prstGeom>
        </p:spPr>
        <p:txBody>
          <a:bodyPr anchor="ctr"/>
          <a:lstStyle>
            <a:lvl1pPr marL="0" indent="0" algn="ctr">
              <a:lnSpc>
                <a:spcPct val="100000"/>
              </a:lnSpc>
              <a:buNone/>
              <a:defRPr sz="1400" b="1" baseline="0">
                <a:solidFill>
                  <a:schemeClr val="tx1">
                    <a:lumMod val="75000"/>
                    <a:lumOff val="25000"/>
                  </a:schemeClr>
                </a:solidFill>
                <a:latin typeface="+mn-lt"/>
                <a:cs typeface="Arial" pitchFamily="34" charset="0"/>
              </a:defRPr>
            </a:lvl1pPr>
          </a:lstStyle>
          <a:p>
            <a:pPr lvl="0"/>
            <a:r>
              <a:rPr lang="en-US" altLang="ko-KR" dirty="0"/>
              <a:t>INSTERT THE TITLE OF YOUR PRESENTATION HERE</a:t>
            </a:r>
            <a:endParaRPr lang="ko-KR" altLang="en-US" dirty="0"/>
          </a:p>
        </p:txBody>
      </p:sp>
    </p:spTree>
    <p:extLst>
      <p:ext uri="{BB962C8B-B14F-4D97-AF65-F5344CB8AC3E}">
        <p14:creationId xmlns:p14="http://schemas.microsoft.com/office/powerpoint/2010/main" val="416273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cstate="print">
            <a:lum/>
          </a:blip>
          <a:srcRect/>
          <a:stretch>
            <a:fillRect t="-18000" b="-18000"/>
          </a:stretch>
        </a:blipFill>
        <a:effectLst/>
      </p:bgPr>
    </p:bg>
    <p:spTree>
      <p:nvGrpSpPr>
        <p:cNvPr id="1" name=""/>
        <p:cNvGrpSpPr/>
        <p:nvPr/>
      </p:nvGrpSpPr>
      <p:grpSpPr>
        <a:xfrm>
          <a:off x="0" y="0"/>
          <a:ext cx="0" cy="0"/>
          <a:chOff x="0" y="0"/>
          <a:chExt cx="0" cy="0"/>
        </a:xfrm>
      </p:grpSpPr>
      <p:sp>
        <p:nvSpPr>
          <p:cNvPr id="2" name="Oval 1"/>
          <p:cNvSpPr/>
          <p:nvPr userDrawn="1"/>
        </p:nvSpPr>
        <p:spPr>
          <a:xfrm>
            <a:off x="2699644" y="699542"/>
            <a:ext cx="3744416" cy="3744416"/>
          </a:xfrm>
          <a:prstGeom prst="ellipse">
            <a:avLst/>
          </a:prstGeom>
          <a:solidFill>
            <a:schemeClr val="tx2">
              <a:lumMod val="75000"/>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699792" y="2181230"/>
            <a:ext cx="3744416" cy="576063"/>
          </a:xfrm>
          <a:prstGeom prst="rect">
            <a:avLst/>
          </a:prstGeom>
        </p:spPr>
        <p:txBody>
          <a:bodyPr anchor="ctr"/>
          <a:lstStyle>
            <a:lvl1pPr marL="0" indent="0" algn="ctr">
              <a:buNone/>
              <a:defRPr sz="3600" b="1" baseline="0">
                <a:solidFill>
                  <a:schemeClr val="bg1"/>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99644" y="2757294"/>
            <a:ext cx="3744416" cy="288032"/>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92247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8351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105958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1290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55552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79512" y="1203598"/>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457713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483518"/>
            <a:ext cx="4248472"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79512" y="1131590"/>
            <a:ext cx="4248472"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927735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asic Layou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42902" y="455940"/>
            <a:ext cx="9144000" cy="576064"/>
          </a:xfrm>
          <a:prstGeom prst="rect">
            <a:avLst/>
          </a:prstGeom>
        </p:spPr>
        <p:txBody>
          <a:bodyPr anchor="ctr"/>
          <a:lstStyle>
            <a:lvl1pPr marL="0" indent="0" algn="ctr">
              <a:buNone/>
              <a:defRPr sz="1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887988"/>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649246"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2720790"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4792334"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6863879"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650241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500"/>
          </a:xfrm>
          <a:prstGeom prst="rect">
            <a:avLst/>
          </a:prstGeom>
          <a:noFill/>
        </p:spPr>
        <p:txBody>
          <a:bodyPr lIns="720000" anchor="ctr"/>
          <a:lstStyle>
            <a:lvl1pPr marL="0" indent="0" algn="l">
              <a:buNone/>
              <a:defRPr sz="18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615967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6313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Images and Contents Layout">
    <p:bg>
      <p:bgPr>
        <a:solidFill>
          <a:schemeClr val="tx2">
            <a:lumMod val="75000"/>
          </a:schemeClr>
        </a:solidFill>
        <a:effectLst/>
      </p:bgPr>
    </p:bg>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3347864" y="627534"/>
            <a:ext cx="5796136" cy="105200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4104000" y="1798321"/>
            <a:ext cx="504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3" hasCustomPrompt="1"/>
          </p:nvPr>
        </p:nvSpPr>
        <p:spPr>
          <a:xfrm>
            <a:off x="4824000" y="3465106"/>
            <a:ext cx="4320000" cy="105086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945812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3937417"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5" name="Picture Placeholder 2"/>
          <p:cNvSpPr>
            <a:spLocks noGrp="1"/>
          </p:cNvSpPr>
          <p:nvPr>
            <p:ph type="pic" idx="10" hasCustomPrompt="1"/>
          </p:nvPr>
        </p:nvSpPr>
        <p:spPr>
          <a:xfrm>
            <a:off x="1968708"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6" name="Picture Placeholder 2"/>
          <p:cNvSpPr>
            <a:spLocks noGrp="1"/>
          </p:cNvSpPr>
          <p:nvPr>
            <p:ph type="pic" idx="11" hasCustomPrompt="1"/>
          </p:nvPr>
        </p:nvSpPr>
        <p:spPr>
          <a:xfrm>
            <a:off x="0"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3416533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4" name="Picture Placeholder 2"/>
          <p:cNvSpPr>
            <a:spLocks noGrp="1"/>
          </p:cNvSpPr>
          <p:nvPr>
            <p:ph type="pic" idx="13" hasCustomPrompt="1"/>
          </p:nvPr>
        </p:nvSpPr>
        <p:spPr>
          <a:xfrm>
            <a:off x="3795621" y="627533"/>
            <a:ext cx="3294112" cy="1115553"/>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5" hasCustomPrompt="1"/>
          </p:nvPr>
        </p:nvSpPr>
        <p:spPr>
          <a:xfrm>
            <a:off x="5613166" y="3399271"/>
            <a:ext cx="3293944" cy="111669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6" hasCustomPrompt="1"/>
          </p:nvPr>
        </p:nvSpPr>
        <p:spPr>
          <a:xfrm>
            <a:off x="3795621" y="1815095"/>
            <a:ext cx="1728192" cy="270087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7" hasCustomPrompt="1"/>
          </p:nvPr>
        </p:nvSpPr>
        <p:spPr>
          <a:xfrm>
            <a:off x="5621504" y="1814524"/>
            <a:ext cx="1468228"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Picture Placeholder 2"/>
          <p:cNvSpPr>
            <a:spLocks noGrp="1"/>
          </p:cNvSpPr>
          <p:nvPr>
            <p:ph type="pic" idx="18" hasCustomPrompt="1"/>
          </p:nvPr>
        </p:nvSpPr>
        <p:spPr>
          <a:xfrm>
            <a:off x="7178918" y="627533"/>
            <a:ext cx="1728192" cy="269973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137589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11510"/>
            <a:ext cx="9144000" cy="576064"/>
          </a:xfrm>
          <a:prstGeom prst="rect">
            <a:avLst/>
          </a:prstGeom>
        </p:spPr>
        <p:txBody>
          <a:bodyPr anchor="ctr"/>
          <a:lstStyle>
            <a:lvl1pPr marL="0" indent="0" algn="ctr">
              <a:buNone/>
              <a:defRPr sz="1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987574"/>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4" name="Picture 3" descr="D:\Fullppt\005-PNG이미지\노트북.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7041" y="1313860"/>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 hasCustomPrompt="1"/>
          </p:nvPr>
        </p:nvSpPr>
        <p:spPr>
          <a:xfrm>
            <a:off x="981898" y="1731279"/>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956077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75603"/>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ICON SETS LAYOUT</a:t>
            </a:r>
          </a:p>
        </p:txBody>
      </p:sp>
      <p:grpSp>
        <p:nvGrpSpPr>
          <p:cNvPr id="5" name="Group 4"/>
          <p:cNvGrpSpPr/>
          <p:nvPr userDrawn="1"/>
        </p:nvGrpSpPr>
        <p:grpSpPr>
          <a:xfrm>
            <a:off x="354008" y="1131589"/>
            <a:ext cx="2849840" cy="3384377"/>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738182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Break Layout">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4572000" y="2253238"/>
            <a:ext cx="4572000" cy="473576"/>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4572000" y="2726814"/>
            <a:ext cx="457200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3823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21C7296-550F-814B-A49E-2CBD3C63AEF0}"/>
              </a:ext>
            </a:extLst>
          </p:cNvPr>
          <p:cNvSpPr>
            <a:spLocks noGrp="1"/>
          </p:cNvSpPr>
          <p:nvPr>
            <p:ph type="dt" sz="half" idx="10"/>
          </p:nvPr>
        </p:nvSpPr>
        <p:spPr/>
        <p:txBody>
          <a:bodyPr/>
          <a:lstStyle>
            <a:lvl1pPr>
              <a:defRPr/>
            </a:lvl1pPr>
          </a:lstStyle>
          <a:p>
            <a:pPr>
              <a:defRPr/>
            </a:pPr>
            <a:fld id="{A422E750-D3A8-1042-9737-605B9AC6FC24}" type="datetimeFigureOut">
              <a:rPr lang="en-US"/>
              <a:pPr>
                <a:defRPr/>
              </a:pPr>
              <a:t>20-Jun-20</a:t>
            </a:fld>
            <a:endParaRPr lang="en-US" dirty="0"/>
          </a:p>
        </p:txBody>
      </p:sp>
      <p:sp>
        <p:nvSpPr>
          <p:cNvPr id="3" name="Footer Placeholder 4">
            <a:extLst>
              <a:ext uri="{FF2B5EF4-FFF2-40B4-BE49-F238E27FC236}">
                <a16:creationId xmlns:a16="http://schemas.microsoft.com/office/drawing/2014/main" id="{C5B3C2FC-8D91-2247-BBA2-D6ABF4557169}"/>
              </a:ext>
            </a:extLst>
          </p:cNvPr>
          <p:cNvSpPr>
            <a:spLocks noGrp="1"/>
          </p:cNvSpPr>
          <p:nvPr>
            <p:ph type="ftr" sz="quarter" idx="11"/>
          </p:nvPr>
        </p:nvSpPr>
        <p:spPr/>
        <p:txBody>
          <a:bodyPr/>
          <a:lstStyle>
            <a:lvl1pPr>
              <a:defRPr/>
            </a:lvl1pPr>
          </a:lstStyle>
          <a:p>
            <a:pPr>
              <a:defRPr/>
            </a:pPr>
            <a:endParaRPr lang="en-US" dirty="0"/>
          </a:p>
        </p:txBody>
      </p:sp>
      <p:sp>
        <p:nvSpPr>
          <p:cNvPr id="4" name="Slide Number Placeholder 5">
            <a:extLst>
              <a:ext uri="{FF2B5EF4-FFF2-40B4-BE49-F238E27FC236}">
                <a16:creationId xmlns:a16="http://schemas.microsoft.com/office/drawing/2014/main" id="{BA29B99E-9C31-FA46-9CBE-322C8171D92D}"/>
              </a:ext>
            </a:extLst>
          </p:cNvPr>
          <p:cNvSpPr>
            <a:spLocks noGrp="1"/>
          </p:cNvSpPr>
          <p:nvPr>
            <p:ph type="sldNum" sz="quarter" idx="12"/>
          </p:nvPr>
        </p:nvSpPr>
        <p:spPr/>
        <p:txBody>
          <a:bodyPr/>
          <a:lstStyle>
            <a:lvl1pPr>
              <a:defRPr/>
            </a:lvl1pPr>
          </a:lstStyle>
          <a:p>
            <a:fld id="{45B0DE0D-010F-E243-A41D-6EF3369C391F}" type="slidenum">
              <a:rPr lang="en-US" altLang="en-US"/>
              <a:pPr/>
              <a:t>‹#›</a:t>
            </a:fld>
            <a:endParaRPr lang="en-US" altLang="en-US" dirty="0"/>
          </a:p>
        </p:txBody>
      </p:sp>
    </p:spTree>
    <p:extLst>
      <p:ext uri="{BB962C8B-B14F-4D97-AF65-F5344CB8AC3E}">
        <p14:creationId xmlns:p14="http://schemas.microsoft.com/office/powerpoint/2010/main" val="3227508338"/>
      </p:ext>
    </p:extLst>
  </p:cSld>
  <p:clrMapOvr>
    <a:masterClrMapping/>
  </p:clrMapOvr>
  <p:transition>
    <p:cu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3500" y="4477539"/>
            <a:ext cx="2070100" cy="273844"/>
          </a:xfrm>
        </p:spPr>
        <p:txBody>
          <a:bodyPr/>
          <a:lstStyle/>
          <a:p>
            <a:fld id="{7CF37689-2B6D-EE46-A274-F07170D983E9}" type="datetime1">
              <a:rPr lang="en-US" smtClean="0"/>
              <a:t>20-Jun-20</a:t>
            </a:fld>
            <a:endParaRPr lang="en-US"/>
          </a:p>
        </p:txBody>
      </p:sp>
      <p:sp>
        <p:nvSpPr>
          <p:cNvPr id="15" name="Footer Placeholder 4"/>
          <p:cNvSpPr>
            <a:spLocks noGrp="1"/>
          </p:cNvSpPr>
          <p:nvPr>
            <p:ph type="ftr" sz="quarter" idx="11"/>
          </p:nvPr>
        </p:nvSpPr>
        <p:spPr>
          <a:xfrm>
            <a:off x="0" y="4847945"/>
            <a:ext cx="9144000" cy="303491"/>
          </a:xfrm>
          <a:prstGeom prst="rect">
            <a:avLst/>
          </a:prstGeom>
        </p:spPr>
        <p:txBody>
          <a:bodyPr anchor="t" anchorCtr="0"/>
          <a:lstStyle>
            <a:lvl1pPr algn="l">
              <a:defRPr sz="675">
                <a:solidFill>
                  <a:srgbClr val="7F7F7F"/>
                </a:solidFill>
              </a:defRPr>
            </a:lvl1pPr>
          </a:lstStyle>
          <a:p>
            <a:r>
              <a:rPr lang="en-US" dirty="0">
                <a:solidFill>
                  <a:srgbClr val="7F7F7F"/>
                </a:solidFill>
              </a:rPr>
              <a:t>© 2019 Cengage Learning®. May not be scanned, copied or duplicated, or posted to a publicly accessible website, in whole or in part, except for use as permitted in</a:t>
            </a:r>
            <a:br>
              <a:rPr lang="en-US" dirty="0">
                <a:solidFill>
                  <a:srgbClr val="7F7F7F"/>
                </a:solidFill>
              </a:rPr>
            </a:br>
            <a:r>
              <a:rPr lang="en-US" dirty="0">
                <a:solidFill>
                  <a:srgbClr val="7F7F7F"/>
                </a:solidFill>
              </a:rPr>
              <a:t>a license distributed with a certain product or service or otherwise on a password-protected website or school approved learning management system for classroom use.</a:t>
            </a:r>
          </a:p>
        </p:txBody>
      </p:sp>
      <p:sp>
        <p:nvSpPr>
          <p:cNvPr id="16" name="Slide Number Placeholder 5"/>
          <p:cNvSpPr>
            <a:spLocks noGrp="1"/>
          </p:cNvSpPr>
          <p:nvPr>
            <p:ph type="sldNum" sz="quarter" idx="12"/>
          </p:nvPr>
        </p:nvSpPr>
        <p:spPr>
          <a:xfrm>
            <a:off x="7484156" y="4793908"/>
            <a:ext cx="1501084" cy="273844"/>
          </a:xfrm>
        </p:spPr>
        <p:txBody>
          <a:bodyPr/>
          <a:lstStyle>
            <a:lvl1pPr>
              <a:defRPr sz="825"/>
            </a:lvl1pPr>
          </a:lstStyle>
          <a:p>
            <a:r>
              <a:rPr lang="en-US" dirty="0"/>
              <a:t>Ch. 1 / Slide </a:t>
            </a:r>
            <a:fld id="{CB33F3CD-E5BE-CA40-BCBB-95BE81BE2CD3}" type="slidenum">
              <a:rPr lang="en-US" smtClean="0"/>
              <a:pPr/>
              <a:t>‹#›</a:t>
            </a:fld>
            <a:endParaRPr lang="en-US" dirty="0"/>
          </a:p>
        </p:txBody>
      </p:sp>
      <p:sp>
        <p:nvSpPr>
          <p:cNvPr id="2" name="Title 1"/>
          <p:cNvSpPr>
            <a:spLocks noGrp="1"/>
          </p:cNvSpPr>
          <p:nvPr>
            <p:ph type="title"/>
          </p:nvPr>
        </p:nvSpPr>
        <p:spPr>
          <a:xfrm>
            <a:off x="1" y="561866"/>
            <a:ext cx="9143999" cy="508239"/>
          </a:xfrm>
          <a:prstGeom prst="rect">
            <a:avLst/>
          </a:prstGeom>
        </p:spPr>
        <p:txBody>
          <a:bodyPr vert="horz" anchor="t" anchorCtr="0"/>
          <a:lstStyle>
            <a:lvl1pPr>
              <a:lnSpc>
                <a:spcPct val="90000"/>
              </a:lnSpc>
              <a:defRPr sz="3000" b="1">
                <a:solidFill>
                  <a:srgbClr val="5CADB1"/>
                </a:solidFill>
                <a:latin typeface="Helvetica"/>
                <a:cs typeface="Helvetica"/>
              </a:defRPr>
            </a:lvl1pPr>
          </a:lstStyle>
          <a:p>
            <a:r>
              <a:rPr lang="en-US" dirty="0"/>
              <a:t>Click to edit Master title style</a:t>
            </a:r>
          </a:p>
        </p:txBody>
      </p:sp>
      <p:grpSp>
        <p:nvGrpSpPr>
          <p:cNvPr id="6" name="Group 5"/>
          <p:cNvGrpSpPr/>
          <p:nvPr userDrawn="1"/>
        </p:nvGrpSpPr>
        <p:grpSpPr>
          <a:xfrm>
            <a:off x="0" y="112"/>
            <a:ext cx="9144000" cy="561755"/>
            <a:chOff x="0" y="148"/>
            <a:chExt cx="9144000" cy="749007"/>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
              <a:ext cx="9144000" cy="629586"/>
            </a:xfrm>
            <a:prstGeom prst="rect">
              <a:avLst/>
            </a:prstGeom>
          </p:spPr>
        </p:pic>
        <p:sp>
          <p:nvSpPr>
            <p:cNvPr id="8" name="Rectangle 7"/>
            <p:cNvSpPr/>
            <p:nvPr/>
          </p:nvSpPr>
          <p:spPr>
            <a:xfrm>
              <a:off x="0" y="674844"/>
              <a:ext cx="9144000" cy="743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spTree>
    <p:extLst>
      <p:ext uri="{BB962C8B-B14F-4D97-AF65-F5344CB8AC3E}">
        <p14:creationId xmlns:p14="http://schemas.microsoft.com/office/powerpoint/2010/main" val="42059615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2.pn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4" cstate="print"/>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4" cstate="print"/>
          <a:stretch>
            <a:fillRect/>
          </a:stretch>
        </p:blipFill>
        <p:spPr>
          <a:xfrm rot="10800000">
            <a:off x="-23339"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5" cstate="print"/>
            <a:stretch>
              <a:fillRect/>
            </a:stretch>
          </a:blipFill>
        </p:spPr>
        <p:txBody>
          <a:bodyPr wrap="square" rtlCol="0">
            <a:spAutoFit/>
          </a:bodyPr>
          <a:lstStyle/>
          <a:p>
            <a:pPr algn="ctr"/>
            <a:endParaRPr lang="ko-KR" altLang="en-US" sz="16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1736683050"/>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4" cstate="print"/>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14" cstate="print"/>
          <a:stretch>
            <a:fillRect/>
          </a:stretch>
        </p:blipFill>
        <p:spPr>
          <a:xfrm rot="10800000">
            <a:off x="-36511"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15" cstate="print"/>
            <a:stretch>
              <a:fillRect/>
            </a:stretch>
          </a:blipFill>
        </p:spPr>
        <p:txBody>
          <a:bodyPr wrap="square" rtlCol="0">
            <a:spAutoFit/>
          </a:bodyPr>
          <a:lstStyle/>
          <a:p>
            <a:pPr algn="ctr"/>
            <a:endParaRPr lang="ko-KR" altLang="en-US" sz="16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1" r:id="rId3"/>
    <p:sldLayoutId id="2147483660" r:id="rId4"/>
    <p:sldLayoutId id="2147483662" r:id="rId5"/>
    <p:sldLayoutId id="2147483655" r:id="rId6"/>
    <p:sldLayoutId id="2147483663" r:id="rId7"/>
    <p:sldLayoutId id="2147483664" r:id="rId8"/>
    <p:sldLayoutId id="2147483668" r:id="rId9"/>
    <p:sldLayoutId id="2147483665" r:id="rId10"/>
    <p:sldLayoutId id="2147483670" r:id="rId11"/>
    <p:sldLayoutId id="2147483656" r:id="rId1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5" cstate="print"/>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5" cstate="print"/>
          <a:stretch>
            <a:fillRect/>
          </a:stretch>
        </p:blipFill>
        <p:spPr>
          <a:xfrm rot="10800000">
            <a:off x="-36511"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6" cstate="print"/>
            <a:stretch>
              <a:fillRect/>
            </a:stretch>
          </a:blipFill>
        </p:spPr>
        <p:txBody>
          <a:bodyPr wrap="square" rtlCol="0">
            <a:spAutoFit/>
          </a:bodyPr>
          <a:lstStyle/>
          <a:p>
            <a:pPr algn="ctr"/>
            <a:endParaRPr lang="ko-KR" altLang="en-US" sz="16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 id="2147483672" r:id="rId2"/>
    <p:sldLayoutId id="2147483673" r:id="rId3"/>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13000"/>
            <a:lum/>
          </a:blip>
          <a:srcRect/>
          <a:stretch>
            <a:fillRect t="-18000" b="-18000"/>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014" y="1995686"/>
            <a:ext cx="9144000" cy="522725"/>
          </a:xfrm>
        </p:spPr>
        <p:txBody>
          <a:bodyPr/>
          <a:lstStyle/>
          <a:p>
            <a:pPr lvl="0"/>
            <a:r>
              <a:rPr lang="en-US" dirty="0" smtClean="0">
                <a:latin typeface="Times New Roman" pitchFamily="18" charset="0"/>
                <a:cs typeface="Times New Roman" pitchFamily="18" charset="0"/>
              </a:rPr>
              <a:t>Unit </a:t>
            </a:r>
            <a:r>
              <a:rPr lang="en-US" dirty="0" smtClean="0">
                <a:latin typeface="Times New Roman" pitchFamily="18" charset="0"/>
                <a:cs typeface="Times New Roman" pitchFamily="18" charset="0"/>
              </a:rPr>
              <a:t>2.4 </a:t>
            </a:r>
            <a:endParaRPr lang="en-US"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Listening </a:t>
            </a:r>
            <a:r>
              <a:rPr lang="en-US" dirty="0">
                <a:latin typeface="Times New Roman" pitchFamily="18" charset="0"/>
                <a:cs typeface="Times New Roman" pitchFamily="18" charset="0"/>
              </a:rPr>
              <a:t>Skills</a:t>
            </a:r>
          </a:p>
        </p:txBody>
      </p:sp>
      <p:pic>
        <p:nvPicPr>
          <p:cNvPr id="6" name="Picture 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74" y="84080"/>
            <a:ext cx="1685925" cy="438150"/>
          </a:xfrm>
          <a:prstGeom prst="rect">
            <a:avLst/>
          </a:prstGeom>
          <a:noFill/>
          <a:ln>
            <a:noFill/>
          </a:ln>
        </p:spPr>
      </p:pic>
    </p:spTree>
    <p:extLst>
      <p:ext uri="{BB962C8B-B14F-4D97-AF65-F5344CB8AC3E}">
        <p14:creationId xmlns:p14="http://schemas.microsoft.com/office/powerpoint/2010/main" val="2971841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1">
            <a:extLst>
              <a:ext uri="{FF2B5EF4-FFF2-40B4-BE49-F238E27FC236}">
                <a16:creationId xmlns:a16="http://schemas.microsoft.com/office/drawing/2014/main" id="{C765910A-8DA5-5644-84AF-9BDA6C0B3005}"/>
              </a:ext>
            </a:extLst>
          </p:cNvPr>
          <p:cNvSpPr txBox="1">
            <a:spLocks noChangeArrowheads="1"/>
          </p:cNvSpPr>
          <p:nvPr/>
        </p:nvSpPr>
        <p:spPr bwMode="auto">
          <a:xfrm>
            <a:off x="1115616" y="771550"/>
            <a:ext cx="7488832" cy="384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Book Antiqua" panose="02040602050305030304" pitchFamily="18" charset="0"/>
                <a:ea typeface="MS PGothic" panose="020B0600070205080204" pitchFamily="34" charset="-128"/>
              </a:defRPr>
            </a:lvl1pPr>
            <a:lvl2pPr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algn="ctr" eaLnBrk="1" hangingPunct="1"/>
            <a:r>
              <a:rPr lang="en-US" altLang="en-US" sz="3200" b="1" dirty="0">
                <a:latin typeface="Times New Roman" panose="02020603050405020304" pitchFamily="18" charset="0"/>
                <a:cs typeface="Times New Roman" panose="02020603050405020304" pitchFamily="18" charset="0"/>
              </a:rPr>
              <a:t>Listening Skills</a:t>
            </a:r>
          </a:p>
          <a:p>
            <a:pPr marL="342900" indent="-342900" eaLnBrk="1" hangingPunct="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Listening skills play an integral role in the success of our personal and professional communication.</a:t>
            </a:r>
          </a:p>
          <a:p>
            <a:pPr marL="342900" indent="-342900" eaLnBrk="1" hangingPunct="1">
              <a:lnSpc>
                <a:spcPct val="150000"/>
              </a:lnSpc>
              <a:buFont typeface="Arial" panose="020B0604020202020204" pitchFamily="34" charset="0"/>
              <a:buChar char="•"/>
            </a:pPr>
            <a:r>
              <a:rPr lang="en-US" sz="2400" spc="-8" dirty="0">
                <a:latin typeface="Times New Roman" panose="02020603050405020304" pitchFamily="18" charset="0"/>
                <a:cs typeface="Times New Roman" panose="02020603050405020304" pitchFamily="18" charset="0"/>
              </a:rPr>
              <a:t>Most of us listen at 25% to 50% efficiency.</a:t>
            </a:r>
          </a:p>
          <a:p>
            <a:pPr marL="342900" indent="-342900" eaLnBrk="1" hangingPunct="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 are several barriers to the communication process which we must overcome to become effective listeners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and speakers.</a:t>
            </a:r>
          </a:p>
        </p:txBody>
      </p:sp>
    </p:spTree>
    <p:extLst>
      <p:ext uri="{BB962C8B-B14F-4D97-AF65-F5344CB8AC3E}">
        <p14:creationId xmlns:p14="http://schemas.microsoft.com/office/powerpoint/2010/main" val="280169772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1">
            <a:extLst>
              <a:ext uri="{FF2B5EF4-FFF2-40B4-BE49-F238E27FC236}">
                <a16:creationId xmlns:a16="http://schemas.microsoft.com/office/drawing/2014/main" id="{C765910A-8DA5-5644-84AF-9BDA6C0B3005}"/>
              </a:ext>
            </a:extLst>
          </p:cNvPr>
          <p:cNvSpPr txBox="1">
            <a:spLocks noChangeArrowheads="1"/>
          </p:cNvSpPr>
          <p:nvPr/>
        </p:nvSpPr>
        <p:spPr bwMode="auto">
          <a:xfrm>
            <a:off x="1115616" y="771550"/>
            <a:ext cx="7416824" cy="6335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Book Antiqua" panose="02040602050305030304" pitchFamily="18" charset="0"/>
                <a:ea typeface="MS PGothic" panose="020B0600070205080204" pitchFamily="34" charset="-128"/>
              </a:defRPr>
            </a:lvl1pPr>
            <a:lvl2pPr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Strategies for Improving Listening Skills</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a:p>
            <a:pPr marL="342900" marR="0" lvl="0" indent="-342900" algn="l" defTabSz="342900" rtl="0" eaLnBrk="0" fontAlgn="auto" latinLnBrk="0" hangingPunct="0">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Stop talking.</a:t>
            </a:r>
          </a:p>
          <a:p>
            <a:pPr marL="342900" marR="0" lvl="0" indent="-342900" algn="l" defTabSz="342900" rtl="0" eaLnBrk="0" fontAlgn="auto" latinLnBrk="0" hangingPunct="0">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Control your surroundings. </a:t>
            </a:r>
          </a:p>
          <a:p>
            <a:pPr marL="342900" marR="0" lvl="0" indent="-342900" algn="l" defTabSz="342900" rtl="0" eaLnBrk="0" fontAlgn="auto" latinLnBrk="0" hangingPunct="0">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Be receptive and keep an open mind.</a:t>
            </a:r>
          </a:p>
          <a:p>
            <a:pPr marL="342900" marR="0" lvl="0" indent="-342900" algn="l" defTabSz="342900" rtl="0" eaLnBrk="0" fontAlgn="auto" latinLnBrk="0" hangingPunct="0">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Listen for main points.</a:t>
            </a:r>
          </a:p>
          <a:p>
            <a:pPr marL="342900" marR="0" lvl="0" indent="-342900" algn="l" defTabSz="342900" rtl="0" eaLnBrk="0" fontAlgn="auto" latinLnBrk="0" hangingPunct="0">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Capitalize on lag time. </a:t>
            </a: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C00000"/>
              </a:solidFill>
              <a:effectLst/>
              <a:uLnTx/>
              <a:uFillTx/>
              <a:latin typeface="Book Antiqua" panose="02040602050305030304" pitchFamily="18" charset="0"/>
              <a:ea typeface="MS PGothic" panose="020B0600070205080204" pitchFamily="34" charset="-128"/>
              <a:cs typeface="Helvetica"/>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C00000"/>
              </a:solidFill>
              <a:effectLst/>
              <a:uLnTx/>
              <a:uFillTx/>
              <a:latin typeface="Book Antiqua" panose="02040602050305030304" pitchFamily="18" charset="0"/>
              <a:ea typeface="MS PGothic" panose="020B0600070205080204" pitchFamily="34" charset="-128"/>
              <a:cs typeface="Helvetica"/>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sz="2400" b="1" i="0" u="none" strike="noStrike" kern="1200" cap="none" spc="-8" normalizeH="0" baseline="0" noProof="0" dirty="0">
              <a:ln>
                <a:noFill/>
              </a:ln>
              <a:solidFill>
                <a:srgbClr val="C00000"/>
              </a:solidFill>
              <a:effectLst/>
              <a:uLnTx/>
              <a:uFillTx/>
              <a:latin typeface="Book Antiqua" panose="02040602050305030304" pitchFamily="18" charset="0"/>
              <a:ea typeface="MS PGothic" panose="020B0600070205080204" pitchFamily="34" charset="-128"/>
              <a:cs typeface="Helvetica"/>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C00000"/>
              </a:solidFill>
              <a:effectLst/>
              <a:uLnTx/>
              <a:uFillTx/>
              <a:latin typeface="Book Antiqua" panose="02040602050305030304" pitchFamily="18" charset="0"/>
              <a:ea typeface="MS PGothic" panose="020B0600070205080204" pitchFamily="34" charset="-128"/>
              <a:cs typeface="Helvetica"/>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9690263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1">
            <a:extLst>
              <a:ext uri="{FF2B5EF4-FFF2-40B4-BE49-F238E27FC236}">
                <a16:creationId xmlns:a16="http://schemas.microsoft.com/office/drawing/2014/main" id="{C765910A-8DA5-5644-84AF-9BDA6C0B3005}"/>
              </a:ext>
            </a:extLst>
          </p:cNvPr>
          <p:cNvSpPr txBox="1">
            <a:spLocks noChangeArrowheads="1"/>
          </p:cNvSpPr>
          <p:nvPr/>
        </p:nvSpPr>
        <p:spPr bwMode="auto">
          <a:xfrm>
            <a:off x="1115616" y="771550"/>
            <a:ext cx="7416824" cy="6335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Book Antiqua" panose="02040602050305030304" pitchFamily="18" charset="0"/>
                <a:ea typeface="MS PGothic" panose="020B0600070205080204" pitchFamily="34" charset="-128"/>
              </a:defRPr>
            </a:lvl1pPr>
            <a:lvl2pPr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Strategies for Improving Listening Skills</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a:p>
            <a:pPr marL="342900" marR="0" lvl="0" indent="-342900" algn="l" defTabSz="342900" rtl="0" eaLnBrk="0" fontAlgn="auto" latinLnBrk="0" hangingPunct="0">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Listen between the lines.</a:t>
            </a:r>
          </a:p>
          <a:p>
            <a:pPr marL="342900" marR="0" lvl="0" indent="-342900" algn="l" defTabSz="342900" rtl="0" eaLnBrk="0" fontAlgn="auto" latinLnBrk="0" hangingPunct="0">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Judge ideas, not appearances.</a:t>
            </a:r>
          </a:p>
          <a:p>
            <a:pPr marL="342900" marR="0" lvl="0" indent="-342900" algn="l" defTabSz="342900" rtl="0" eaLnBrk="0" fontAlgn="auto" latinLnBrk="0" hangingPunct="0">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Avoid interrupting.</a:t>
            </a:r>
          </a:p>
          <a:p>
            <a:pPr marL="342900" marR="0" lvl="0" indent="-342900" algn="l" defTabSz="342900" rtl="0" eaLnBrk="0" fontAlgn="auto" latinLnBrk="0" hangingPunct="0">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Take selective notes to ensure retention.</a:t>
            </a:r>
          </a:p>
          <a:p>
            <a:pPr marL="342900" marR="0" lvl="0" indent="-342900" algn="l" defTabSz="342900" rtl="0" eaLnBrk="0" fontAlgn="auto" latinLnBrk="0" hangingPunct="0">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Provide feedback and confirmation.</a:t>
            </a: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C00000"/>
              </a:solidFill>
              <a:effectLst/>
              <a:uLnTx/>
              <a:uFillTx/>
              <a:latin typeface="Book Antiqua" panose="02040602050305030304" pitchFamily="18" charset="0"/>
              <a:ea typeface="MS PGothic" panose="020B0600070205080204" pitchFamily="34" charset="-128"/>
              <a:cs typeface="Helvetica"/>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C00000"/>
              </a:solidFill>
              <a:effectLst/>
              <a:uLnTx/>
              <a:uFillTx/>
              <a:latin typeface="Book Antiqua" panose="02040602050305030304" pitchFamily="18" charset="0"/>
              <a:ea typeface="MS PGothic" panose="020B0600070205080204" pitchFamily="34" charset="-128"/>
              <a:cs typeface="Helvetica"/>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sz="2400" b="1" i="0" u="none" strike="noStrike" kern="1200" cap="none" spc="-8" normalizeH="0" baseline="0" noProof="0" dirty="0">
              <a:ln>
                <a:noFill/>
              </a:ln>
              <a:solidFill>
                <a:srgbClr val="C00000"/>
              </a:solidFill>
              <a:effectLst/>
              <a:uLnTx/>
              <a:uFillTx/>
              <a:latin typeface="Book Antiqua" panose="02040602050305030304" pitchFamily="18" charset="0"/>
              <a:ea typeface="MS PGothic" panose="020B0600070205080204" pitchFamily="34" charset="-128"/>
              <a:cs typeface="Helvetica"/>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C00000"/>
              </a:solidFill>
              <a:effectLst/>
              <a:uLnTx/>
              <a:uFillTx/>
              <a:latin typeface="Book Antiqua" panose="02040602050305030304" pitchFamily="18" charset="0"/>
              <a:ea typeface="MS PGothic" panose="020B0600070205080204" pitchFamily="34" charset="-128"/>
              <a:cs typeface="Helvetica"/>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43675889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Box 5">
            <a:extLst>
              <a:ext uri="{FF2B5EF4-FFF2-40B4-BE49-F238E27FC236}">
                <a16:creationId xmlns:a16="http://schemas.microsoft.com/office/drawing/2014/main" id="{80812AAD-9FA6-D341-A8CC-F26805A6F409}"/>
              </a:ext>
            </a:extLst>
          </p:cNvPr>
          <p:cNvSpPr txBox="1">
            <a:spLocks noChangeArrowheads="1"/>
          </p:cNvSpPr>
          <p:nvPr/>
        </p:nvSpPr>
        <p:spPr bwMode="auto">
          <a:xfrm>
            <a:off x="1043608" y="843558"/>
            <a:ext cx="7416824" cy="252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Book Antiqua" panose="02040602050305030304" pitchFamily="18" charset="0"/>
                <a:ea typeface="MS PGothic" panose="020B0600070205080204" pitchFamily="34" charset="-128"/>
              </a:defRPr>
            </a:lvl1pPr>
            <a:lvl2pPr marL="742950" indent="-285750"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algn="ctr" eaLnBrk="1" hangingPunct="1"/>
            <a:r>
              <a:rPr lang="en-US" altLang="en-US" sz="3200" b="1" dirty="0">
                <a:latin typeface="Times New Roman" panose="02020603050405020304" pitchFamily="18" charset="0"/>
                <a:cs typeface="Times New Roman" panose="02020603050405020304" pitchFamily="18" charset="0"/>
              </a:rPr>
              <a:t>References</a:t>
            </a:r>
          </a:p>
          <a:p>
            <a:pPr algn="ctr" eaLnBrk="1" hangingPunct="1"/>
            <a:endParaRPr lang="en-US" altLang="en-US" sz="2400" dirty="0">
              <a:latin typeface="Times New Roman" panose="02020603050405020304" pitchFamily="18" charset="0"/>
              <a:cs typeface="Times New Roman" panose="02020603050405020304" pitchFamily="18" charset="0"/>
            </a:endParaRPr>
          </a:p>
          <a:p>
            <a:pPr eaLnBrk="1" hangingPunct="1"/>
            <a:endParaRPr lang="en-US" sz="2400" dirty="0">
              <a:latin typeface="Times New Roman" panose="02020603050405020304" pitchFamily="18" charset="0"/>
              <a:cs typeface="Times New Roman" panose="02020603050405020304" pitchFamily="18" charset="0"/>
            </a:endParaRPr>
          </a:p>
          <a:p>
            <a:pPr eaLnBrk="1" hangingPunct="1"/>
            <a:r>
              <a:rPr lang="en-US" sz="2400" dirty="0">
                <a:latin typeface="Times New Roman" panose="02020603050405020304" pitchFamily="18" charset="0"/>
                <a:cs typeface="Times New Roman" panose="02020603050405020304" pitchFamily="18" charset="0"/>
              </a:rPr>
              <a:t>Guffey, M. E., &amp; Loewy, D. (2016). </a:t>
            </a:r>
            <a:r>
              <a:rPr lang="en-US" sz="2400" i="1" dirty="0">
                <a:latin typeface="Times New Roman" panose="02020603050405020304" pitchFamily="18" charset="0"/>
                <a:cs typeface="Times New Roman" panose="02020603050405020304" pitchFamily="18" charset="0"/>
              </a:rPr>
              <a:t>Essentials of business  </a:t>
            </a:r>
            <a:br>
              <a:rPr lang="en-US" sz="2400" i="1" dirty="0">
                <a:latin typeface="Times New Roman" panose="02020603050405020304" pitchFamily="18" charset="0"/>
                <a:cs typeface="Times New Roman" panose="02020603050405020304" pitchFamily="18" charset="0"/>
              </a:rPr>
            </a:br>
            <a:r>
              <a:rPr lang="en-US" sz="2400" i="1" dirty="0">
                <a:latin typeface="Times New Roman" panose="02020603050405020304" pitchFamily="18" charset="0"/>
                <a:cs typeface="Times New Roman" panose="02020603050405020304" pitchFamily="18" charset="0"/>
              </a:rPr>
              <a:t>       communication (10th ed.)</a:t>
            </a:r>
            <a:r>
              <a:rPr lang="en-US" sz="2400" dirty="0">
                <a:latin typeface="Times New Roman" panose="02020603050405020304" pitchFamily="18" charset="0"/>
                <a:cs typeface="Times New Roman" panose="02020603050405020304" pitchFamily="18" charset="0"/>
              </a:rPr>
              <a:t>. Cengage Learning.</a:t>
            </a:r>
            <a:endParaRPr lang="en-US" altLang="en-US" sz="2400" dirty="0">
              <a:latin typeface="Times New Roman" panose="02020603050405020304" pitchFamily="18" charset="0"/>
              <a:cs typeface="Times New Roman" panose="02020603050405020304" pitchFamily="18" charset="0"/>
            </a:endParaRPr>
          </a:p>
          <a:p>
            <a:pPr eaLnBrk="1" hangingPunct="1"/>
            <a:endParaRPr lang="en-US" altLang="en-US" sz="1500" dirty="0">
              <a:latin typeface="Optima" panose="02000503060000020004" pitchFamily="2" charset="0"/>
            </a:endParaRPr>
          </a:p>
          <a:p>
            <a:pPr eaLnBrk="1" hangingPunct="1"/>
            <a:endParaRPr lang="en-US" altLang="en-US" sz="1500" dirty="0">
              <a:latin typeface="Optima" panose="02000503060000020004" pitchFamily="2" charset="0"/>
            </a:endParaRPr>
          </a:p>
        </p:txBody>
      </p:sp>
    </p:spTree>
  </p:cSld>
  <p:clrMapOvr>
    <a:masterClrMapping/>
  </p:clrMapOvr>
  <p:transition/>
</p:sld>
</file>

<file path=ppt/theme/theme1.xml><?xml version="1.0" encoding="utf-8"?>
<a:theme xmlns:a="http://schemas.openxmlformats.org/drawingml/2006/main" name="Cover and End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Slide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2012</TotalTime>
  <Words>274</Words>
  <Application>Microsoft Office PowerPoint</Application>
  <PresentationFormat>On-screen Show (16:9)</PresentationFormat>
  <Paragraphs>35</Paragraphs>
  <Slides>5</Slides>
  <Notes>4</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5</vt:i4>
      </vt:variant>
    </vt:vector>
  </HeadingPairs>
  <TitlesOfParts>
    <vt:vector size="18" baseType="lpstr">
      <vt:lpstr>맑은 고딕</vt:lpstr>
      <vt:lpstr>MS PGothic</vt:lpstr>
      <vt:lpstr>Arial</vt:lpstr>
      <vt:lpstr>Arial Unicode MS</vt:lpstr>
      <vt:lpstr>Book Antiqua</vt:lpstr>
      <vt:lpstr>Calibri</vt:lpstr>
      <vt:lpstr>Helvetica</vt:lpstr>
      <vt:lpstr>Optima</vt:lpstr>
      <vt:lpstr>Times New Roman</vt:lpstr>
      <vt:lpstr>游ゴシック</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M Younis Farid</cp:lastModifiedBy>
  <cp:revision>208</cp:revision>
  <dcterms:created xsi:type="dcterms:W3CDTF">2016-12-05T23:26:54Z</dcterms:created>
  <dcterms:modified xsi:type="dcterms:W3CDTF">2020-06-20T18:04:22Z</dcterms:modified>
</cp:coreProperties>
</file>