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  <p:sldMasterId id="2147483651" r:id="rId5"/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3" roundtripDataSignature="AMtx7mhxyHCNnYfUx5XAh4NnNpqUCWxv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customschemas.google.com/relationships/presentationmetadata" Target="metadata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 Slide layout">
  <p:cSld name="Cover Slide layou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" type="body"/>
          </p:nvPr>
        </p:nvSpPr>
        <p:spPr>
          <a:xfrm>
            <a:off x="0" y="3705210"/>
            <a:ext cx="9144000" cy="52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2" type="body"/>
          </p:nvPr>
        </p:nvSpPr>
        <p:spPr>
          <a:xfrm>
            <a:off x="-148" y="422793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/>
          <p:nvPr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rgbClr val="17365D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2" type="body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genda Layout">
  <p:cSld name="Agenda Layou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Break Layout">
  <p:cSld name="Section Break Layou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Agenda Layout">
  <p:cSld name="Agenda Layou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asic Layout">
  <p:cSld name="Basic Layout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0" y="483518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2" type="body"/>
          </p:nvPr>
        </p:nvSpPr>
        <p:spPr>
          <a:xfrm>
            <a:off x="0" y="1059582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Basic Layout">
  <p:cSld name="2_Basic Layou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179512" y="555526"/>
            <a:ext cx="8424936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2" type="body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Basic Layout">
  <p:cSld name="1_Basic Layou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179512" y="483518"/>
            <a:ext cx="4248472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Basic Layout">
  <p:cSld name="3_Basic Layou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9144000" cy="1059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-42902" y="45594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0" y="887988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7"/>
          <p:cNvSpPr/>
          <p:nvPr>
            <p:ph idx="3" type="pic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7"/>
          <p:cNvSpPr/>
          <p:nvPr>
            <p:ph idx="4" type="pic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7"/>
          <p:cNvSpPr/>
          <p:nvPr>
            <p:ph idx="5" type="pic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7"/>
          <p:cNvSpPr/>
          <p:nvPr>
            <p:ph idx="6" type="pic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rgbClr val="F2F2F2"/>
          </a:solidFill>
          <a:ln cap="flat" cmpd="sng" w="381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s and Contents Layout">
  <p:cSld name="Images and Contents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0" spcFirstLastPara="1" rIns="91425" wrap="square" tIns="45700">
            <a:noAutofit/>
          </a:bodyPr>
          <a:lstStyle>
            <a:lvl1pPr lvl="0" marR="0" rtl="0" algn="l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Images and Contents Layout">
  <p:cSld name="1_Images and Contents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Images and Contents Layout">
  <p:cSld name="2_Images and Contents Layout">
    <p:bg>
      <p:bgPr>
        <a:solidFill>
          <a:srgbClr val="17365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/>
          <p:nvPr>
            <p:ph idx="2" type="pic"/>
          </p:nvPr>
        </p:nvSpPr>
        <p:spPr>
          <a:xfrm>
            <a:off x="3347864" y="627534"/>
            <a:ext cx="5796136" cy="105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0"/>
          <p:cNvSpPr/>
          <p:nvPr>
            <p:ph idx="3" type="pic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0"/>
          <p:cNvSpPr/>
          <p:nvPr>
            <p:ph idx="4" type="pic"/>
          </p:nvPr>
        </p:nvSpPr>
        <p:spPr>
          <a:xfrm>
            <a:off x="4824000" y="3465106"/>
            <a:ext cx="4320000" cy="10508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Basic Layout">
  <p:cSld name="4_Basic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/>
          <p:nvPr>
            <p:ph idx="2" type="pic"/>
          </p:nvPr>
        </p:nvSpPr>
        <p:spPr>
          <a:xfrm>
            <a:off x="3937417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21"/>
          <p:cNvSpPr/>
          <p:nvPr>
            <p:ph idx="3" type="pic"/>
          </p:nvPr>
        </p:nvSpPr>
        <p:spPr>
          <a:xfrm>
            <a:off x="1968708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21"/>
          <p:cNvSpPr/>
          <p:nvPr>
            <p:ph idx="4" type="pic"/>
          </p:nvPr>
        </p:nvSpPr>
        <p:spPr>
          <a:xfrm>
            <a:off x="0" y="627534"/>
            <a:ext cx="1872000" cy="3816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Images and Contents Layout">
  <p:cSld name="3_Images and Contents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/>
          <p:nvPr>
            <p:ph idx="2" type="pic"/>
          </p:nvPr>
        </p:nvSpPr>
        <p:spPr>
          <a:xfrm>
            <a:off x="3795621" y="627533"/>
            <a:ext cx="3294112" cy="11155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2"/>
          <p:cNvSpPr/>
          <p:nvPr>
            <p:ph idx="3" type="pic"/>
          </p:nvPr>
        </p:nvSpPr>
        <p:spPr>
          <a:xfrm>
            <a:off x="5613166" y="3399271"/>
            <a:ext cx="3293944" cy="111669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2"/>
          <p:cNvSpPr/>
          <p:nvPr>
            <p:ph idx="4" type="pic"/>
          </p:nvPr>
        </p:nvSpPr>
        <p:spPr>
          <a:xfrm>
            <a:off x="3795621" y="1815095"/>
            <a:ext cx="1728192" cy="27008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2"/>
          <p:cNvSpPr/>
          <p:nvPr>
            <p:ph idx="5" type="pic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2"/>
          <p:cNvSpPr/>
          <p:nvPr>
            <p:ph idx="6" type="pic"/>
          </p:nvPr>
        </p:nvSpPr>
        <p:spPr>
          <a:xfrm>
            <a:off x="7178918" y="627533"/>
            <a:ext cx="1728192" cy="26997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Images and Contents Layout">
  <p:cSld name="4_Images and Contents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0" y="411510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36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3"/>
          <p:cNvSpPr txBox="1"/>
          <p:nvPr>
            <p:ph idx="2" type="body"/>
          </p:nvPr>
        </p:nvSpPr>
        <p:spPr>
          <a:xfrm>
            <a:off x="0" y="987574"/>
            <a:ext cx="9144000" cy="288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:\Fullppt\005-PNG이미지\노트북.png" id="66" name="Google Shape;6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57041" y="1313860"/>
            <a:ext cx="6438182" cy="32745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3"/>
          <p:cNvSpPr/>
          <p:nvPr>
            <p:ph idx="3" type="pic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24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con sets layout">
  <p:cSld name="icon sets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idx="1" type="body"/>
          </p:nvPr>
        </p:nvSpPr>
        <p:spPr>
          <a:xfrm>
            <a:off x="0" y="475603"/>
            <a:ext cx="9144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0" name="Google Shape;70;p24"/>
          <p:cNvGrpSpPr/>
          <p:nvPr/>
        </p:nvGrpSpPr>
        <p:grpSpPr>
          <a:xfrm>
            <a:off x="354008" y="1131589"/>
            <a:ext cx="2849840" cy="3384377"/>
            <a:chOff x="354008" y="1131589"/>
            <a:chExt cx="2849840" cy="3649171"/>
          </a:xfrm>
        </p:grpSpPr>
        <p:sp>
          <p:nvSpPr>
            <p:cNvPr id="71" name="Google Shape;71;p24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fmla="val 3968" name="adj"/>
              </a:avLst>
            </a:prstGeom>
            <a:solidFill>
              <a:srgbClr val="17365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4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fmla="val 50000" name="adj"/>
              </a:avLst>
            </a:prstGeom>
            <a:solidFill>
              <a:schemeClr val="lt1">
                <a:alpha val="40784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4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fmla="val 23728" name="adj1"/>
                <a:gd fmla="val 24642" name="adj2"/>
              </a:avLst>
            </a:prstGeom>
            <a:solidFill>
              <a:schemeClr val="lt1">
                <a:alpha val="2274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23339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6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8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70850" y="0"/>
            <a:ext cx="6088050" cy="5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10800000">
            <a:off x="-36511" y="4592250"/>
            <a:ext cx="6088050" cy="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2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 amt="13000"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 txBox="1"/>
          <p:nvPr>
            <p:ph idx="1" type="body"/>
          </p:nvPr>
        </p:nvSpPr>
        <p:spPr>
          <a:xfrm>
            <a:off x="4014" y="1428750"/>
            <a:ext cx="9144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Unit 8.3 – Granting Claims,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Requesting &amp; Replying 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"/>
          <p:cNvSpPr txBox="1"/>
          <p:nvPr>
            <p:ph idx="2" type="body"/>
          </p:nvPr>
        </p:nvSpPr>
        <p:spPr>
          <a:xfrm>
            <a:off x="4014" y="3939902"/>
            <a:ext cx="9144000" cy="504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COMMUNICATION SKILLS</a:t>
            </a:r>
            <a:endParaRPr/>
          </a:p>
        </p:txBody>
      </p:sp>
      <p:pic>
        <p:nvPicPr>
          <p:cNvPr id="80" name="Google Shape;8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75974" y="699542"/>
            <a:ext cx="9248554" cy="5570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Granting claims and Requests for Adjustments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Opening:  Begin directly with the good news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Identify the messages you are responding to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Body:       Avoid negatives and focus on correctness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Explanation of corrective action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  Regain confidence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Closing:    End with a friendly and a positive note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 Refer to page 235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8 (Thill &amp; Bovee, 2013)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/>
        </p:nvSpPr>
        <p:spPr>
          <a:xfrm>
            <a:off x="75974" y="699542"/>
            <a:ext cx="8744498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Inquiry About People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respect human rights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it around one job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Opening:  Begin directly with questions seeking information,</a:t>
            </a:r>
            <a:endParaRPr/>
          </a:p>
          <a:p>
            <a:pPr indent="-387350" lvl="0" marL="387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Body:       Explain the situation.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Cover all questions including explanations</a:t>
            </a:r>
            <a:endParaRPr/>
          </a:p>
          <a:p>
            <a:pPr indent="-387350" lvl="0" marL="387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Closing:    End with goodwill words.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/>
        </p:nvSpPr>
        <p:spPr>
          <a:xfrm>
            <a:off x="75974" y="699542"/>
            <a:ext cx="9032530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Recommendations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Opening:  Begin directly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Stating that you are complying with the request</a:t>
            </a:r>
            <a:endParaRPr/>
          </a:p>
          <a:p>
            <a:pPr indent="-387350" lvl="0" marL="387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Body:       Cover all questions including explanations</a:t>
            </a:r>
            <a:endParaRPr/>
          </a:p>
          <a:p>
            <a:pPr indent="-387350" lvl="0" marL="387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   If it has negative information give emphasis</a:t>
            </a:r>
            <a:endParaRPr/>
          </a:p>
          <a:p>
            <a:pPr indent="-387350" lvl="0" marL="3873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Closing:   End with goodwill words.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98" name="Google Shape;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/>
        </p:nvSpPr>
        <p:spPr>
          <a:xfrm>
            <a:off x="75974" y="699542"/>
            <a:ext cx="8168434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Thill, J. V., &amp; Bovee, C. L. (2013).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Excellence in Business Communication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 ed.). USA: Pearson.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4" y="84080"/>
            <a:ext cx="1685925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ver and End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ection Break Slide Master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tents Slide Master">
  <a:themeElements>
    <a:clrScheme name="ALLPPT-COLOR-A3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2016-12-05T23:26:54Z</dcterms:created>
  <dc:creator>GoogleSlidesPPT.com;Allppt.com</dc:creator>
</cp:coreProperties>
</file>