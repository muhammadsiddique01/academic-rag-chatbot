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http://customooxmlschemas.google.com/">
      <go:slidesCustomData xmlns:go="http://customooxmlschemas.google.com/" r:id="rId10" roundtripDataSignature="AMtx7mhaLAvAjJMVCB5JptyCbFiX9/9t8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customschemas.google.com/relationships/presentationmetadata" Target="metadata"/><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 name="Shape 21"/>
        <p:cNvGrpSpPr/>
        <p:nvPr/>
      </p:nvGrpSpPr>
      <p:grpSpPr>
        <a:xfrm>
          <a:off x="0" y="0"/>
          <a:ext cx="0" cy="0"/>
          <a:chOff x="0" y="0"/>
          <a:chExt cx="0" cy="0"/>
        </a:xfrm>
      </p:grpSpPr>
      <p:sp>
        <p:nvSpPr>
          <p:cNvPr id="22" name="Google Shape;22;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3" name="Google Shape;23;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 name="Shape 26"/>
        <p:cNvGrpSpPr/>
        <p:nvPr/>
      </p:nvGrpSpPr>
      <p:grpSpPr>
        <a:xfrm>
          <a:off x="0" y="0"/>
          <a:ext cx="0" cy="0"/>
          <a:chOff x="0" y="0"/>
          <a:chExt cx="0" cy="0"/>
        </a:xfrm>
      </p:grpSpPr>
      <p:sp>
        <p:nvSpPr>
          <p:cNvPr id="27" name="Google Shape;2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8" name="Google Shape;28;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 name="Shape 32"/>
        <p:cNvGrpSpPr/>
        <p:nvPr/>
      </p:nvGrpSpPr>
      <p:grpSpPr>
        <a:xfrm>
          <a:off x="0" y="0"/>
          <a:ext cx="0" cy="0"/>
          <a:chOff x="0" y="0"/>
          <a:chExt cx="0" cy="0"/>
        </a:xfrm>
      </p:grpSpPr>
      <p:sp>
        <p:nvSpPr>
          <p:cNvPr id="33" name="Google Shape;3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34" name="Google Shape;34;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 name="Shape 38"/>
        <p:cNvGrpSpPr/>
        <p:nvPr/>
      </p:nvGrpSpPr>
      <p:grpSpPr>
        <a:xfrm>
          <a:off x="0" y="0"/>
          <a:ext cx="0" cy="0"/>
          <a:chOff x="0" y="0"/>
          <a:chExt cx="0" cy="0"/>
        </a:xfrm>
      </p:grpSpPr>
      <p:sp>
        <p:nvSpPr>
          <p:cNvPr id="39" name="Google Shape;39;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40" name="Google Shape;40;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layout">
  <p:cSld name="Cover Slide layout">
    <p:bg>
      <p:bgPr>
        <a:solidFill>
          <a:schemeClr val="lt1"/>
        </a:solidFill>
      </p:bgPr>
    </p:bg>
    <p:spTree>
      <p:nvGrpSpPr>
        <p:cNvPr id="13" name="Shape 13"/>
        <p:cNvGrpSpPr/>
        <p:nvPr/>
      </p:nvGrpSpPr>
      <p:grpSpPr>
        <a:xfrm>
          <a:off x="0" y="0"/>
          <a:ext cx="0" cy="0"/>
          <a:chOff x="0" y="0"/>
          <a:chExt cx="0" cy="0"/>
        </a:xfrm>
      </p:grpSpPr>
      <p:sp>
        <p:nvSpPr>
          <p:cNvPr id="14" name="Google Shape;14;p18"/>
          <p:cNvSpPr txBox="1"/>
          <p:nvPr>
            <p:ph idx="1" type="body"/>
          </p:nvPr>
        </p:nvSpPr>
        <p:spPr>
          <a:xfrm>
            <a:off x="0" y="4940281"/>
            <a:ext cx="9144000" cy="696967"/>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rgbClr val="3F3F3F"/>
              </a:buClr>
              <a:buSzPts val="3600"/>
              <a:buFont typeface="Arial"/>
              <a:buNone/>
              <a:defRPr b="1" i="0" sz="3600" u="none" cap="none" strike="noStrike">
                <a:solidFill>
                  <a:srgbClr val="3F3F3F"/>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5" name="Google Shape;15;p18"/>
          <p:cNvSpPr txBox="1"/>
          <p:nvPr>
            <p:ph idx="2" type="body"/>
          </p:nvPr>
        </p:nvSpPr>
        <p:spPr>
          <a:xfrm>
            <a:off x="-148" y="5637245"/>
            <a:ext cx="9144000" cy="38404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rgbClr val="3F3F3F"/>
              </a:buClr>
              <a:buSzPts val="1400"/>
              <a:buFont typeface="Arial"/>
              <a:buNone/>
              <a:defRPr b="1" i="0" sz="1400" u="none" cap="none" strike="noStrike">
                <a:solidFill>
                  <a:srgbClr val="3F3F3F"/>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Layout">
  <p:cSld name="Agenda Layout">
    <p:bg>
      <p:bgPr>
        <a:solidFill>
          <a:schemeClr val="lt1"/>
        </a:solidFill>
      </p:bgPr>
    </p:bg>
    <p:spTree>
      <p:nvGrpSpPr>
        <p:cNvPr id="16" name="Shape 16"/>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d Slide Layout">
  <p:cSld name="End Slide Layout">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0"/>
          <p:cNvSpPr/>
          <p:nvPr/>
        </p:nvSpPr>
        <p:spPr>
          <a:xfrm>
            <a:off x="2699644" y="932723"/>
            <a:ext cx="3744416" cy="4992555"/>
          </a:xfrm>
          <a:prstGeom prst="ellipse">
            <a:avLst/>
          </a:prstGeom>
          <a:solidFill>
            <a:srgbClr val="17365D">
              <a:alpha val="76078"/>
            </a:srgbClr>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chemeClr val="lt1"/>
              </a:buClr>
              <a:buSzPts val="1800"/>
              <a:buFont typeface="Arial"/>
              <a:buNone/>
            </a:pPr>
            <a:r>
              <a:t/>
            </a:r>
            <a:endParaRPr b="0" i="0" sz="1800" u="none" cap="none" strike="noStrike">
              <a:solidFill>
                <a:srgbClr val="FFFFFF"/>
              </a:solidFill>
              <a:latin typeface="Times New Roman"/>
              <a:ea typeface="Times New Roman"/>
              <a:cs typeface="Times New Roman"/>
              <a:sym typeface="Times New Roman"/>
            </a:endParaRPr>
          </a:p>
        </p:txBody>
      </p:sp>
      <p:sp>
        <p:nvSpPr>
          <p:cNvPr id="19" name="Google Shape;19;p20"/>
          <p:cNvSpPr txBox="1"/>
          <p:nvPr>
            <p:ph idx="1" type="body"/>
          </p:nvPr>
        </p:nvSpPr>
        <p:spPr>
          <a:xfrm>
            <a:off x="2699792" y="2908307"/>
            <a:ext cx="3744416" cy="768084"/>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720"/>
              </a:spcBef>
              <a:spcAft>
                <a:spcPts val="0"/>
              </a:spcAft>
              <a:buClr>
                <a:schemeClr val="lt1"/>
              </a:buClr>
              <a:buSzPts val="3600"/>
              <a:buFont typeface="Arial"/>
              <a:buNone/>
              <a:defRPr b="1" i="0" sz="3600" u="none" cap="none" strike="noStrike">
                <a:solidFill>
                  <a:schemeClr val="lt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20" name="Google Shape;20;p20"/>
          <p:cNvSpPr txBox="1"/>
          <p:nvPr>
            <p:ph idx="2" type="body"/>
          </p:nvPr>
        </p:nvSpPr>
        <p:spPr>
          <a:xfrm>
            <a:off x="2699644" y="3676392"/>
            <a:ext cx="3744416" cy="384043"/>
          </a:xfrm>
          <a:prstGeom prst="rect">
            <a:avLst/>
          </a:prstGeom>
          <a:noFill/>
          <a:ln>
            <a:noFill/>
          </a:ln>
        </p:spPr>
        <p:txBody>
          <a:bodyPr anchorCtr="0" anchor="ctr" bIns="45700" lIns="91425" spcFirstLastPara="1" rIns="91425" wrap="square" tIns="45700">
            <a:noAutofit/>
          </a:bodyPr>
          <a:lstStyle>
            <a:lvl1pPr indent="-228600" lvl="0" marL="457200" marR="0" rtl="0" algn="ctr">
              <a:lnSpc>
                <a:spcPct val="100000"/>
              </a:lnSpc>
              <a:spcBef>
                <a:spcPts val="280"/>
              </a:spcBef>
              <a:spcAft>
                <a:spcPts val="0"/>
              </a:spcAft>
              <a:buClr>
                <a:schemeClr val="lt1"/>
              </a:buClr>
              <a:buSzPts val="1400"/>
              <a:buFont typeface="Arial"/>
              <a:buNone/>
              <a:defRPr b="0" i="0" sz="1400" u="none" cap="none" strike="noStrike">
                <a:solidFill>
                  <a:schemeClr val="lt1"/>
                </a:solidFill>
                <a:latin typeface="Times New Roman"/>
                <a:ea typeface="Times New Roman"/>
                <a:cs typeface="Times New Roman"/>
                <a:sym typeface="Times New Roman"/>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3.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7"/>
          <p:cNvPicPr preferRelativeResize="0"/>
          <p:nvPr/>
        </p:nvPicPr>
        <p:blipFill rotWithShape="1">
          <a:blip r:embed="rId1">
            <a:alphaModFix/>
          </a:blip>
          <a:srcRect b="0" l="0" r="0" t="0"/>
          <a:stretch/>
        </p:blipFill>
        <p:spPr>
          <a:xfrm>
            <a:off x="3070850" y="0"/>
            <a:ext cx="6088050" cy="735000"/>
          </a:xfrm>
          <a:prstGeom prst="rect">
            <a:avLst/>
          </a:prstGeom>
          <a:noFill/>
          <a:ln>
            <a:noFill/>
          </a:ln>
        </p:spPr>
      </p:pic>
      <p:pic>
        <p:nvPicPr>
          <p:cNvPr id="11" name="Google Shape;11;p17"/>
          <p:cNvPicPr preferRelativeResize="0"/>
          <p:nvPr/>
        </p:nvPicPr>
        <p:blipFill rotWithShape="1">
          <a:blip r:embed="rId1">
            <a:alphaModFix/>
          </a:blip>
          <a:srcRect b="0" l="0" r="0" t="0"/>
          <a:stretch/>
        </p:blipFill>
        <p:spPr>
          <a:xfrm rot="10800000">
            <a:off x="-23339" y="6123000"/>
            <a:ext cx="6088050" cy="735000"/>
          </a:xfrm>
          <a:prstGeom prst="rect">
            <a:avLst/>
          </a:prstGeom>
          <a:noFill/>
          <a:ln>
            <a:noFill/>
          </a:ln>
        </p:spPr>
      </p:pic>
      <p:sp>
        <p:nvSpPr>
          <p:cNvPr id="12" name="Google Shape;12;p17"/>
          <p:cNvSpPr txBox="1"/>
          <p:nvPr/>
        </p:nvSpPr>
        <p:spPr>
          <a:xfrm>
            <a:off x="179512" y="164638"/>
            <a:ext cx="1440160" cy="338554"/>
          </a:xfrm>
          <a:prstGeom prst="rect">
            <a:avLst/>
          </a:prstGeom>
          <a:blipFill rotWithShape="1">
            <a:blip r:embed="rId2">
              <a:alphaModFix/>
            </a:blip>
            <a:stretch>
              <a:fillRect b="0" l="0" r="0" t="0"/>
            </a:stretch>
          </a:blip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t/>
            </a:r>
            <a:endParaRPr b="0" i="0" sz="1600" u="none" cap="none" strike="noStrike">
              <a:solidFill>
                <a:srgbClr val="3F3F3F"/>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sldLayoutIdLst>
    <p:sldLayoutId id="2147483649" r:id="rId3"/>
    <p:sldLayoutId id="2147483650" r:id="rId4"/>
    <p:sldLayoutId id="2147483651"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mt="13000"/>
          </a:blip>
          <a:stretch>
            <a:fillRect/>
          </a:stretch>
        </a:blipFill>
      </p:bgPr>
    </p:bg>
    <p:spTree>
      <p:nvGrpSpPr>
        <p:cNvPr id="24" name="Shape 24"/>
        <p:cNvGrpSpPr/>
        <p:nvPr/>
      </p:nvGrpSpPr>
      <p:grpSpPr>
        <a:xfrm>
          <a:off x="0" y="0"/>
          <a:ext cx="0" cy="0"/>
          <a:chOff x="0" y="0"/>
          <a:chExt cx="0" cy="0"/>
        </a:xfrm>
      </p:grpSpPr>
      <p:sp>
        <p:nvSpPr>
          <p:cNvPr id="25" name="Google Shape;25;p1"/>
          <p:cNvSpPr txBox="1"/>
          <p:nvPr/>
        </p:nvSpPr>
        <p:spPr>
          <a:xfrm>
            <a:off x="685800" y="2669114"/>
            <a:ext cx="7543800" cy="1515533"/>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3600"/>
              <a:buFont typeface="Times New Roman"/>
              <a:buNone/>
            </a:pPr>
            <a:r>
              <a:rPr b="1" i="0" lang="en-US" sz="3600" u="none" cap="none" strike="noStrike">
                <a:solidFill>
                  <a:srgbClr val="000000"/>
                </a:solidFill>
                <a:latin typeface="Times New Roman"/>
                <a:ea typeface="Times New Roman"/>
                <a:cs typeface="Times New Roman"/>
                <a:sym typeface="Times New Roman"/>
              </a:rPr>
              <a:t>Introduction to Communication Skills Unit 1.4</a:t>
            </a:r>
            <a:endParaRPr b="1" i="0" sz="36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 name="Shape 29"/>
        <p:cNvGrpSpPr/>
        <p:nvPr/>
      </p:nvGrpSpPr>
      <p:grpSpPr>
        <a:xfrm>
          <a:off x="0" y="0"/>
          <a:ext cx="0" cy="0"/>
          <a:chOff x="0" y="0"/>
          <a:chExt cx="0" cy="0"/>
        </a:xfrm>
      </p:grpSpPr>
      <p:sp>
        <p:nvSpPr>
          <p:cNvPr id="30" name="Google Shape;30;p9"/>
          <p:cNvSpPr txBox="1"/>
          <p:nvPr/>
        </p:nvSpPr>
        <p:spPr>
          <a:xfrm>
            <a:off x="381000" y="915337"/>
            <a:ext cx="8305800" cy="1303867"/>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Times New Roman"/>
              <a:buNone/>
            </a:pPr>
            <a:r>
              <a:rPr b="1" i="0" lang="en-US" sz="3600" u="none" cap="none" strike="noStrike">
                <a:solidFill>
                  <a:schemeClr val="dk1"/>
                </a:solidFill>
                <a:latin typeface="Times New Roman"/>
                <a:ea typeface="Times New Roman"/>
                <a:cs typeface="Times New Roman"/>
                <a:sym typeface="Times New Roman"/>
              </a:rPr>
              <a:t>Understanding Audience and Purpose</a:t>
            </a:r>
            <a:endParaRPr b="1" i="0" sz="1400" u="none" cap="none" strike="noStrike">
              <a:solidFill>
                <a:srgbClr val="000000"/>
              </a:solidFill>
              <a:latin typeface="Arial"/>
              <a:ea typeface="Arial"/>
              <a:cs typeface="Arial"/>
              <a:sym typeface="Arial"/>
            </a:endParaRPr>
          </a:p>
        </p:txBody>
      </p:sp>
      <p:sp>
        <p:nvSpPr>
          <p:cNvPr id="31" name="Google Shape;31;p9"/>
          <p:cNvSpPr txBox="1"/>
          <p:nvPr/>
        </p:nvSpPr>
        <p:spPr>
          <a:xfrm>
            <a:off x="1176865" y="2490135"/>
            <a:ext cx="6798736" cy="3444997"/>
          </a:xfrm>
          <a:prstGeom prst="rect">
            <a:avLst/>
          </a:prstGeom>
          <a:noFill/>
          <a:ln>
            <a:noFill/>
          </a:ln>
        </p:spPr>
        <p:txBody>
          <a:bodyPr anchorCtr="0" anchor="t" bIns="45700" lIns="91425" spcFirstLastPara="1" rIns="91425" wrap="square" tIns="45700">
            <a:normAutofit/>
          </a:bodyPr>
          <a:lstStyle/>
          <a:p>
            <a:pPr indent="-342900" lvl="0" marL="342900" marR="0" rtl="0" algn="l">
              <a:lnSpc>
                <a:spcPct val="10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Consider audience expectations.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Ensure ease of use.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Emphasize familiarity.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Practice empathy. </a:t>
            </a:r>
            <a:endParaRPr b="0" i="0" sz="1400" u="none" cap="none" strike="noStrike">
              <a:solidFill>
                <a:srgbClr val="000000"/>
              </a:solidFill>
              <a:latin typeface="Arial"/>
              <a:ea typeface="Arial"/>
              <a:cs typeface="Arial"/>
              <a:sym typeface="Arial"/>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Design for compatibility. </a:t>
            </a:r>
            <a:endParaRPr b="0" i="0" sz="1400" u="none" cap="none" strike="noStrike">
              <a:solidFill>
                <a:srgbClr val="000000"/>
              </a:solidFill>
              <a:latin typeface="Arial"/>
              <a:ea typeface="Arial"/>
              <a:cs typeface="Arial"/>
              <a:sym typeface="Arial"/>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 name="Shape 35"/>
        <p:cNvGrpSpPr/>
        <p:nvPr/>
      </p:nvGrpSpPr>
      <p:grpSpPr>
        <a:xfrm>
          <a:off x="0" y="0"/>
          <a:ext cx="0" cy="0"/>
          <a:chOff x="0" y="0"/>
          <a:chExt cx="0" cy="0"/>
        </a:xfrm>
      </p:grpSpPr>
      <p:sp>
        <p:nvSpPr>
          <p:cNvPr id="36" name="Google Shape;36;p10"/>
          <p:cNvSpPr txBox="1"/>
          <p:nvPr/>
        </p:nvSpPr>
        <p:spPr>
          <a:xfrm>
            <a:off x="381000" y="457201"/>
            <a:ext cx="8305800" cy="83819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Arial"/>
              <a:buNone/>
            </a:pPr>
            <a:r>
              <a:t/>
            </a:r>
            <a:endParaRPr b="0" i="0" sz="36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Audience-Centered Approach </a:t>
            </a:r>
            <a:endParaRPr b="0" i="0" sz="1400" u="none" cap="none" strike="noStrike">
              <a:solidFill>
                <a:srgbClr val="000000"/>
              </a:solidFill>
              <a:latin typeface="Arial"/>
              <a:ea typeface="Arial"/>
              <a:cs typeface="Arial"/>
              <a:sym typeface="Arial"/>
            </a:endParaRPr>
          </a:p>
        </p:txBody>
      </p:sp>
      <p:sp>
        <p:nvSpPr>
          <p:cNvPr id="37" name="Google Shape;37;p10"/>
          <p:cNvSpPr txBox="1"/>
          <p:nvPr/>
        </p:nvSpPr>
        <p:spPr>
          <a:xfrm>
            <a:off x="381000" y="1066800"/>
            <a:ext cx="8001000" cy="4868333"/>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An </a:t>
            </a:r>
            <a:r>
              <a:rPr b="1" i="0" lang="en-US" sz="2400" u="none" cap="none" strike="noStrike">
                <a:solidFill>
                  <a:schemeClr val="dk1"/>
                </a:solidFill>
                <a:latin typeface="Times New Roman"/>
                <a:ea typeface="Times New Roman"/>
                <a:cs typeface="Times New Roman"/>
                <a:sym typeface="Times New Roman"/>
              </a:rPr>
              <a:t>audience-centered approach </a:t>
            </a:r>
            <a:r>
              <a:rPr b="0" i="0" lang="en-US" sz="2400" u="none" cap="none" strike="noStrike">
                <a:solidFill>
                  <a:schemeClr val="dk1"/>
                </a:solidFill>
                <a:latin typeface="Times New Roman"/>
                <a:ea typeface="Times New Roman"/>
                <a:cs typeface="Times New Roman"/>
                <a:sym typeface="Times New Roman"/>
              </a:rPr>
              <a:t>means focusing on and caring about the members of your audience, making every effort to get your message across in a way that is meaningful to them.</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This approach is also known as adopting the </a:t>
            </a:r>
            <a:r>
              <a:rPr b="1" i="0" lang="en-US" sz="2400" u="none" cap="none" strike="noStrike">
                <a:solidFill>
                  <a:schemeClr val="dk1"/>
                </a:solidFill>
                <a:latin typeface="Times New Roman"/>
                <a:ea typeface="Times New Roman"/>
                <a:cs typeface="Times New Roman"/>
                <a:sym typeface="Times New Roman"/>
              </a:rPr>
              <a:t>“You” </a:t>
            </a:r>
            <a:r>
              <a:rPr b="0" i="0" lang="en-US" sz="2400" u="none" cap="none" strike="noStrike">
                <a:solidFill>
                  <a:schemeClr val="dk1"/>
                </a:solidFill>
                <a:latin typeface="Times New Roman"/>
                <a:ea typeface="Times New Roman"/>
                <a:cs typeface="Times New Roman"/>
                <a:sym typeface="Times New Roman"/>
              </a:rPr>
              <a:t>attitude.</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Learn as much as possible about the biases, education, age, status, style, and personal and professional concerns of your receivers. </a:t>
            </a:r>
            <a:endParaRPr b="0"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 name="Shape 41"/>
        <p:cNvGrpSpPr/>
        <p:nvPr/>
      </p:nvGrpSpPr>
      <p:grpSpPr>
        <a:xfrm>
          <a:off x="0" y="0"/>
          <a:ext cx="0" cy="0"/>
          <a:chOff x="0" y="0"/>
          <a:chExt cx="0" cy="0"/>
        </a:xfrm>
      </p:grpSpPr>
      <p:sp>
        <p:nvSpPr>
          <p:cNvPr id="42" name="Google Shape;42;p11"/>
          <p:cNvSpPr txBox="1"/>
          <p:nvPr/>
        </p:nvSpPr>
        <p:spPr>
          <a:xfrm>
            <a:off x="381000" y="457201"/>
            <a:ext cx="8305800" cy="838199"/>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1"/>
              </a:buClr>
              <a:buSzPts val="3600"/>
              <a:buFont typeface="Arial"/>
              <a:buNone/>
            </a:pPr>
            <a:r>
              <a:t/>
            </a:r>
            <a:endParaRPr b="0" i="0" sz="3600" u="none" cap="none" strike="noStrike">
              <a:solidFill>
                <a:schemeClr val="dk1"/>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chemeClr val="dk1"/>
              </a:buClr>
              <a:buSzPts val="3600"/>
              <a:buFont typeface="Times New Roman"/>
              <a:buNone/>
            </a:pPr>
            <a:r>
              <a:rPr b="0" i="0" lang="en-US" sz="3600" u="none" cap="none" strike="noStrike">
                <a:solidFill>
                  <a:schemeClr val="dk1"/>
                </a:solidFill>
                <a:latin typeface="Times New Roman"/>
                <a:ea typeface="Times New Roman"/>
                <a:cs typeface="Times New Roman"/>
                <a:sym typeface="Times New Roman"/>
              </a:rPr>
              <a:t>Audience-Centered Approach </a:t>
            </a:r>
            <a:endParaRPr b="0" i="0" sz="1400" u="none" cap="none" strike="noStrike">
              <a:solidFill>
                <a:srgbClr val="000000"/>
              </a:solidFill>
              <a:latin typeface="Arial"/>
              <a:ea typeface="Arial"/>
              <a:cs typeface="Arial"/>
              <a:sym typeface="Arial"/>
            </a:endParaRPr>
          </a:p>
        </p:txBody>
      </p:sp>
      <p:sp>
        <p:nvSpPr>
          <p:cNvPr id="43" name="Google Shape;43;p11"/>
          <p:cNvSpPr txBox="1"/>
          <p:nvPr/>
        </p:nvSpPr>
        <p:spPr>
          <a:xfrm>
            <a:off x="381000" y="1066800"/>
            <a:ext cx="8305800" cy="4868333"/>
          </a:xfrm>
          <a:prstGeom prst="rect">
            <a:avLst/>
          </a:prstGeom>
          <a:noFill/>
          <a:ln>
            <a:noFill/>
          </a:ln>
        </p:spPr>
        <p:txBody>
          <a:bodyPr anchorCtr="0" anchor="t" bIns="45700" lIns="91425" spcFirstLastPara="1" rIns="91425" wrap="square" tIns="45700">
            <a:noAutofit/>
          </a:bodyPr>
          <a:lstStyle/>
          <a:p>
            <a:pPr indent="-190500" lvl="0" marL="342900" marR="0" rtl="0" algn="l">
              <a:lnSpc>
                <a:spcPct val="100000"/>
              </a:lnSpc>
              <a:spcBef>
                <a:spcPts val="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If you’re addressing strangers and are unable to find out more about them, try to project yourself into their position by using your common sense and imagination. </a:t>
            </a:r>
            <a:endParaRPr b="0" i="0" sz="2400" u="none" cap="none" strike="noStrike">
              <a:solidFill>
                <a:schemeClr val="dk1"/>
              </a:solidFill>
              <a:latin typeface="Times New Roman"/>
              <a:ea typeface="Times New Roman"/>
              <a:cs typeface="Times New Roman"/>
              <a:sym typeface="Times New Roman"/>
            </a:endParaRPr>
          </a:p>
          <a:p>
            <a:pPr indent="-190500" lvl="0" marL="342900" marR="0" rtl="0" algn="l">
              <a:lnSpc>
                <a:spcPct val="100000"/>
              </a:lnSpc>
              <a:spcBef>
                <a:spcPts val="480"/>
              </a:spcBef>
              <a:spcAft>
                <a:spcPts val="0"/>
              </a:spcAft>
              <a:buClr>
                <a:schemeClr val="dk1"/>
              </a:buClr>
              <a:buSzPts val="2400"/>
              <a:buFont typeface="Arial"/>
              <a:buNone/>
            </a:pPr>
            <a:r>
              <a:t/>
            </a:r>
            <a:endParaRPr b="0" i="0" sz="2400" u="none" cap="none" strike="noStrike">
              <a:solidFill>
                <a:schemeClr val="dk1"/>
              </a:solidFill>
              <a:latin typeface="Times New Roman"/>
              <a:ea typeface="Times New Roman"/>
              <a:cs typeface="Times New Roman"/>
              <a:sym typeface="Times New Roman"/>
            </a:endParaRPr>
          </a:p>
          <a:p>
            <a:pPr indent="-342900" lvl="0" marL="342900" marR="0" rtl="0" algn="l">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The more you know about the people you’re communicating with, the easier it will be to concentrate on their needs—which, in turn, will make it easier for them to hear your message, understand it, and respond positively.</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ver and End Slide Master">
  <a:themeElements>
    <a:clrScheme name="ALLPPT-COLOR-A30">
      <a:dk1>
        <a:srgbClr val="000000"/>
      </a:dk1>
      <a:lt1>
        <a:srgbClr val="FFFFFF"/>
      </a:lt1>
      <a:dk2>
        <a:srgbClr val="1F497D"/>
      </a:dk2>
      <a:lt2>
        <a:srgbClr val="EEECE1"/>
      </a:lt2>
      <a:accent1>
        <a:srgbClr val="85D8DE"/>
      </a:accent1>
      <a:accent2>
        <a:srgbClr val="85D8DE"/>
      </a:accent2>
      <a:accent3>
        <a:srgbClr val="85D8DE"/>
      </a:accent3>
      <a:accent4>
        <a:srgbClr val="85D8DE"/>
      </a:accent4>
      <a:accent5>
        <a:srgbClr val="85D8DE"/>
      </a:accent5>
      <a:accent6>
        <a:srgbClr val="85D8DE"/>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Syeda Javaid</dc:creator>
</cp:coreProperties>
</file>