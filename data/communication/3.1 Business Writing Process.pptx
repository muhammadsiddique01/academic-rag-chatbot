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1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7" roundtripDataSignature="AMtx7mhFAVneH23+hCAB5K3oWUEMCwk/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customschemas.google.com/relationships/presentationmetadata" Target="meta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It might be a good idea to decrease the font size on all the slides so that text does not overlap the slide boundaries.</a:t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0" y="3705210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2" type="body"/>
          </p:nvPr>
        </p:nvSpPr>
        <p:spPr>
          <a:xfrm>
            <a:off x="-148" y="422793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/>
          <p:nvPr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rgbClr val="17365D">
              <a:alpha val="7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2" type="body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ayout">
  <p:cSld name="Basic Layou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0" y="48351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2" type="body"/>
          </p:nvPr>
        </p:nvSpPr>
        <p:spPr>
          <a:xfrm>
            <a:off x="0" y="1059582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asic Layout">
  <p:cSld name="2_Basic Layou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179512" y="555526"/>
            <a:ext cx="8424936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2" type="body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asic Layout">
  <p:cSld name="1_Basic Layou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179512" y="483518"/>
            <a:ext cx="424847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7"/>
          <p:cNvSpPr txBox="1"/>
          <p:nvPr>
            <p:ph idx="2" type="body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asic Layout">
  <p:cSld name="3_Basic Layou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-42902" y="45594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0" y="887988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8"/>
          <p:cNvSpPr/>
          <p:nvPr>
            <p:ph idx="3" type="pic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18"/>
          <p:cNvSpPr/>
          <p:nvPr>
            <p:ph idx="4" type="pic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18"/>
          <p:cNvSpPr/>
          <p:nvPr>
            <p:ph idx="5" type="pic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8"/>
          <p:cNvSpPr/>
          <p:nvPr>
            <p:ph idx="6" type="pic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Contents Layout">
  <p:cSld name="Images and Contents Layou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s and Contents Layout">
  <p:cSld name="1_Images and Contents Layou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mages and Contents Layout">
  <p:cSld name="2_Images and Contents Layout">
    <p:bg>
      <p:bgPr>
        <a:solidFill>
          <a:srgbClr val="17365D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/>
          <p:nvPr>
            <p:ph idx="2" type="pic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7" name="Google Shape;47;p21"/>
          <p:cNvSpPr/>
          <p:nvPr>
            <p:ph idx="3" type="pic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21"/>
          <p:cNvSpPr/>
          <p:nvPr>
            <p:ph idx="4" type="pic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asic Layout">
  <p:cSld name="4_Basic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/>
          <p:nvPr>
            <p:ph idx="2" type="pic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22"/>
          <p:cNvSpPr/>
          <p:nvPr>
            <p:ph idx="3" type="pic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" name="Google Shape;52;p22"/>
          <p:cNvSpPr/>
          <p:nvPr>
            <p:ph idx="4" type="pic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mages and Contents Layout">
  <p:cSld name="3_Images and Contents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/>
          <p:nvPr>
            <p:ph idx="2" type="pic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" name="Google Shape;55;p23"/>
          <p:cNvSpPr/>
          <p:nvPr>
            <p:ph idx="3" type="pic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" name="Google Shape;56;p23"/>
          <p:cNvSpPr/>
          <p:nvPr>
            <p:ph idx="4" type="pic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" name="Google Shape;57;p23"/>
          <p:cNvSpPr/>
          <p:nvPr>
            <p:ph idx="5" type="pic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" name="Google Shape;58;p23"/>
          <p:cNvSpPr/>
          <p:nvPr>
            <p:ph idx="6" type="pic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mages and Contents Layout">
  <p:cSld name="4_Images and Contents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0" y="41151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0" y="98757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Fullppt\005-PNG이미지\노트북.png" id="62" name="Google Shape;6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57041" y="1313860"/>
            <a:ext cx="6438182" cy="32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4"/>
          <p:cNvSpPr/>
          <p:nvPr>
            <p:ph idx="3" type="pic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sets layout">
  <p:cSld name="icon sets layou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0" y="475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6" name="Google Shape;66;p25"/>
          <p:cNvGrpSpPr/>
          <p:nvPr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7" name="Google Shape;67;p2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fmla="val 3968" name="adj"/>
              </a:avLst>
            </a:prstGeom>
            <a:solidFill>
              <a:srgbClr val="1736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5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fmla="val 50000" name="adj"/>
              </a:avLst>
            </a:prstGeom>
            <a:solidFill>
              <a:schemeClr val="lt1">
                <a:alpha val="40392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5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fmla="val 23728" name="adj1"/>
                <a:gd fmla="val 24642" name="adj2"/>
              </a:avLst>
            </a:prstGeom>
            <a:solidFill>
              <a:schemeClr val="lt1">
                <a:alpha val="22352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ayout">
  <p:cSld name="Section Break Layout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idx="1" type="body"/>
          </p:nvPr>
        </p:nvSpPr>
        <p:spPr>
          <a:xfrm>
            <a:off x="4572000" y="2253238"/>
            <a:ext cx="45720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27"/>
          <p:cNvSpPr txBox="1"/>
          <p:nvPr>
            <p:ph idx="2" type="body"/>
          </p:nvPr>
        </p:nvSpPr>
        <p:spPr>
          <a:xfrm>
            <a:off x="4572000" y="2726814"/>
            <a:ext cx="4572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23339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2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6"/>
          <p:cNvSpPr txBox="1"/>
          <p:nvPr/>
        </p:nvSpPr>
        <p:spPr>
          <a:xfrm>
            <a:off x="179512" y="123478"/>
            <a:ext cx="1440300" cy="3387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  <p:sldLayoutId id="214748366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idx="1" type="body"/>
          </p:nvPr>
        </p:nvSpPr>
        <p:spPr>
          <a:xfrm>
            <a:off x="4014" y="1995686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3.1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Writing Process</a:t>
            </a:r>
            <a:endParaRPr/>
          </a:p>
        </p:txBody>
      </p:sp>
      <p:pic>
        <p:nvPicPr>
          <p:cNvPr id="83" name="Google Shape;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Writing Process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>
            <p:ph idx="2" type="body"/>
          </p:nvPr>
        </p:nvSpPr>
        <p:spPr>
          <a:xfrm>
            <a:off x="0" y="1500180"/>
            <a:ext cx="9144000" cy="2448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Professional writers can write better by applying 3*3 Writing Process.</a:t>
            </a:r>
            <a:endParaRPr/>
          </a:p>
          <a:p>
            <a:pPr indent="-285750" lvl="0" marL="28575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Step I – Prewriting</a:t>
            </a:r>
            <a:endParaRPr/>
          </a:p>
          <a:p>
            <a:pPr indent="-285750" lvl="0" marL="28575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Step II – Drafting </a:t>
            </a:r>
            <a:endParaRPr/>
          </a:p>
          <a:p>
            <a:pPr indent="-285750" lvl="0" marL="28575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Step III - Revising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3"/>
          <p:cNvGrpSpPr/>
          <p:nvPr/>
        </p:nvGrpSpPr>
        <p:grpSpPr>
          <a:xfrm>
            <a:off x="2002019" y="240242"/>
            <a:ext cx="5139961" cy="4662979"/>
            <a:chOff x="2002019" y="240260"/>
            <a:chExt cx="5139961" cy="4662979"/>
          </a:xfrm>
        </p:grpSpPr>
        <p:sp>
          <p:nvSpPr>
            <p:cNvPr id="99" name="Google Shape;99;p3"/>
            <p:cNvSpPr/>
            <p:nvPr/>
          </p:nvSpPr>
          <p:spPr>
            <a:xfrm>
              <a:off x="2992282" y="1505909"/>
              <a:ext cx="3159435" cy="3159435"/>
            </a:xfrm>
            <a:prstGeom prst="ellipse">
              <a:avLst/>
            </a:prstGeom>
            <a:solidFill>
              <a:srgbClr val="1D497D">
                <a:alpha val="49411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 txBox="1"/>
            <p:nvPr/>
          </p:nvSpPr>
          <p:spPr>
            <a:xfrm>
              <a:off x="3454971" y="1968598"/>
              <a:ext cx="2234100" cy="223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1" lang="en-GB" sz="2800" u="sng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Step 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98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1" lang="en-GB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Prewriting</a:t>
              </a:r>
              <a:endParaRPr b="1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782141" y="240260"/>
              <a:ext cx="1579717" cy="1579717"/>
            </a:xfrm>
            <a:prstGeom prst="ellipse">
              <a:avLst/>
            </a:prstGeom>
            <a:solidFill>
              <a:srgbClr val="1D497D">
                <a:alpha val="49411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 txBox="1"/>
            <p:nvPr/>
          </p:nvSpPr>
          <p:spPr>
            <a:xfrm>
              <a:off x="4013485" y="471604"/>
              <a:ext cx="1117029" cy="1117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Analyze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5562263" y="3323522"/>
              <a:ext cx="1579717" cy="1579717"/>
            </a:xfrm>
            <a:prstGeom prst="ellipse">
              <a:avLst/>
            </a:prstGeom>
            <a:solidFill>
              <a:srgbClr val="1D497D">
                <a:alpha val="49411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 txBox="1"/>
            <p:nvPr/>
          </p:nvSpPr>
          <p:spPr>
            <a:xfrm>
              <a:off x="5793607" y="3554866"/>
              <a:ext cx="1117029" cy="1117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Adapt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002019" y="3323522"/>
              <a:ext cx="1579717" cy="1579717"/>
            </a:xfrm>
            <a:prstGeom prst="ellipse">
              <a:avLst/>
            </a:prstGeom>
            <a:solidFill>
              <a:srgbClr val="1D497D">
                <a:alpha val="49411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2233363" y="3554866"/>
              <a:ext cx="1117029" cy="1117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Anticipate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0" y="-18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84325" y="892350"/>
            <a:ext cx="2379600" cy="363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000" lvl="0" marL="36000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Channels {face to face, Email, Memo, Letter etc.}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3580850" y="817625"/>
            <a:ext cx="2379600" cy="369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Audience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Knowledge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Receiver’s reaction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6409375" y="833075"/>
            <a:ext cx="2379600" cy="366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 Feedback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positive and courteous language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4"/>
          <p:cNvSpPr txBox="1"/>
          <p:nvPr/>
        </p:nvSpPr>
        <p:spPr>
          <a:xfrm rot="-5400000">
            <a:off x="2257375" y="2679300"/>
            <a:ext cx="21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Anticipate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 rot="-5400000">
            <a:off x="-653225" y="2679300"/>
            <a:ext cx="21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 rot="-5400000">
            <a:off x="5153900" y="2580975"/>
            <a:ext cx="21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</a:t>
            </a:r>
            <a:endParaRPr/>
          </a:p>
        </p:txBody>
      </p:sp>
      <p:pic>
        <p:nvPicPr>
          <p:cNvPr id="120" name="Google Shape;12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1350" y="536463"/>
            <a:ext cx="79057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1363" y="555513"/>
            <a:ext cx="7334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0838" y="541225"/>
            <a:ext cx="7524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-32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1371600" marR="0" rtl="0" algn="l">
              <a:lnSpc>
                <a:spcPct val="7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2002019" y="240242"/>
            <a:ext cx="5140044" cy="4663062"/>
            <a:chOff x="2002019" y="240260"/>
            <a:chExt cx="5140044" cy="4663062"/>
          </a:xfrm>
        </p:grpSpPr>
        <p:sp>
          <p:nvSpPr>
            <p:cNvPr id="131" name="Google Shape;131;p5"/>
            <p:cNvSpPr/>
            <p:nvPr/>
          </p:nvSpPr>
          <p:spPr>
            <a:xfrm>
              <a:off x="2992282" y="1505909"/>
              <a:ext cx="3159300" cy="3159300"/>
            </a:xfrm>
            <a:prstGeom prst="ellipse">
              <a:avLst/>
            </a:prstGeom>
            <a:solidFill>
              <a:srgbClr val="1D497D">
                <a:alpha val="49410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 txBox="1"/>
            <p:nvPr/>
          </p:nvSpPr>
          <p:spPr>
            <a:xfrm>
              <a:off x="3454971" y="1968598"/>
              <a:ext cx="2234100" cy="223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1" lang="en-GB" sz="2800" u="sng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Step 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98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Drafting</a:t>
              </a:r>
              <a:endParaRPr b="1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3782141" y="240260"/>
              <a:ext cx="1579800" cy="1579800"/>
            </a:xfrm>
            <a:prstGeom prst="ellipse">
              <a:avLst/>
            </a:prstGeom>
            <a:solidFill>
              <a:srgbClr val="1D497D">
                <a:alpha val="49410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 txBox="1"/>
            <p:nvPr/>
          </p:nvSpPr>
          <p:spPr>
            <a:xfrm>
              <a:off x="4013485" y="471604"/>
              <a:ext cx="1116900" cy="11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Research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5562263" y="3323522"/>
              <a:ext cx="1579800" cy="1579800"/>
            </a:xfrm>
            <a:prstGeom prst="ellipse">
              <a:avLst/>
            </a:prstGeom>
            <a:solidFill>
              <a:srgbClr val="1D497D">
                <a:alpha val="49410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5917532" y="3554866"/>
              <a:ext cx="1116900" cy="11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1" baseline="30000"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</a:t>
              </a:r>
              <a:r>
                <a:rPr b="1"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Draft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2002019" y="3323522"/>
              <a:ext cx="1579800" cy="1579800"/>
            </a:xfrm>
            <a:prstGeom prst="ellipse">
              <a:avLst/>
            </a:prstGeom>
            <a:solidFill>
              <a:srgbClr val="1D497D">
                <a:alpha val="49410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 txBox="1"/>
            <p:nvPr/>
          </p:nvSpPr>
          <p:spPr>
            <a:xfrm>
              <a:off x="2233363" y="3554866"/>
              <a:ext cx="1116900" cy="11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Organize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827584" y="555526"/>
            <a:ext cx="6768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0" y="-18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06975" y="867575"/>
            <a:ext cx="2379600" cy="354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Information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15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Company Files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15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from internet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3513000" y="817625"/>
            <a:ext cx="2517000" cy="358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idea first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Closing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or Indirect Strategy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6444875" y="782975"/>
            <a:ext cx="2602800" cy="366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first Draft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&amp; clear sentences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050" lvl="2" marL="360000" rtl="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imes New Roman"/>
              <a:buChar char="•"/>
            </a:pPr>
            <a:r>
              <a:rPr lang="en-GB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Paragraph Coherence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6"/>
          <p:cNvSpPr txBox="1"/>
          <p:nvPr/>
        </p:nvSpPr>
        <p:spPr>
          <a:xfrm rot="-5400000">
            <a:off x="2211663" y="2679300"/>
            <a:ext cx="21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Organize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 rot="-5400000">
            <a:off x="-643825" y="2741250"/>
            <a:ext cx="21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 rot="-5400000">
            <a:off x="5211675" y="2491475"/>
            <a:ext cx="214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baseline="30000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b="1" baseline="30000" lang="en-GB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Draft</a:t>
            </a:r>
            <a:endParaRPr/>
          </a:p>
        </p:txBody>
      </p:sp>
      <p:pic>
        <p:nvPicPr>
          <p:cNvPr id="154" name="Google Shape;15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463" y="634050"/>
            <a:ext cx="7524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3000" y="634038"/>
            <a:ext cx="76200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2050" y="619763"/>
            <a:ext cx="76200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32" y="18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1371600" marR="0" rtl="0" algn="l">
              <a:lnSpc>
                <a:spcPct val="7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7"/>
          <p:cNvGrpSpPr/>
          <p:nvPr/>
        </p:nvGrpSpPr>
        <p:grpSpPr>
          <a:xfrm>
            <a:off x="2002019" y="240242"/>
            <a:ext cx="5140044" cy="4663062"/>
            <a:chOff x="2002019" y="240260"/>
            <a:chExt cx="5140044" cy="4663062"/>
          </a:xfrm>
        </p:grpSpPr>
        <p:sp>
          <p:nvSpPr>
            <p:cNvPr id="165" name="Google Shape;165;p7"/>
            <p:cNvSpPr/>
            <p:nvPr/>
          </p:nvSpPr>
          <p:spPr>
            <a:xfrm>
              <a:off x="2992282" y="1505909"/>
              <a:ext cx="3159300" cy="3159300"/>
            </a:xfrm>
            <a:prstGeom prst="ellipse">
              <a:avLst/>
            </a:prstGeom>
            <a:solidFill>
              <a:srgbClr val="1D497D">
                <a:alpha val="49410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 txBox="1"/>
            <p:nvPr/>
          </p:nvSpPr>
          <p:spPr>
            <a:xfrm>
              <a:off x="3454971" y="1968598"/>
              <a:ext cx="2234100" cy="223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1" lang="en-GB" sz="2800" u="sng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Step III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98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Revising</a:t>
              </a:r>
              <a:endParaRPr b="1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3782141" y="240260"/>
              <a:ext cx="1579800" cy="1579800"/>
            </a:xfrm>
            <a:prstGeom prst="ellipse">
              <a:avLst/>
            </a:prstGeom>
            <a:solidFill>
              <a:srgbClr val="1D497D">
                <a:alpha val="49410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 txBox="1"/>
            <p:nvPr/>
          </p:nvSpPr>
          <p:spPr>
            <a:xfrm>
              <a:off x="4013485" y="471604"/>
              <a:ext cx="1116900" cy="11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Edit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5562263" y="3323522"/>
              <a:ext cx="1579800" cy="1579800"/>
            </a:xfrm>
            <a:prstGeom prst="ellipse">
              <a:avLst/>
            </a:prstGeom>
            <a:solidFill>
              <a:srgbClr val="1D497D">
                <a:alpha val="49410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 txBox="1"/>
            <p:nvPr/>
          </p:nvSpPr>
          <p:spPr>
            <a:xfrm>
              <a:off x="5793607" y="3554866"/>
              <a:ext cx="1116900" cy="11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Proofread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2002019" y="3323522"/>
              <a:ext cx="1579800" cy="1579800"/>
            </a:xfrm>
            <a:prstGeom prst="ellipse">
              <a:avLst/>
            </a:prstGeom>
            <a:solidFill>
              <a:srgbClr val="1D497D">
                <a:alpha val="49410"/>
              </a:srgbClr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 txBox="1"/>
            <p:nvPr/>
          </p:nvSpPr>
          <p:spPr>
            <a:xfrm>
              <a:off x="2233363" y="3554866"/>
              <a:ext cx="1116900" cy="11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/>
        </p:nvSpPr>
        <p:spPr>
          <a:xfrm>
            <a:off x="827584" y="555526"/>
            <a:ext cx="6768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0" y="-18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684325" y="892350"/>
            <a:ext cx="2379600" cy="359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Bring Clarity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 Wordy fillers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headings and bullets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3580850" y="817625"/>
            <a:ext cx="2379600" cy="367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every message carefully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15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 for errors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15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the format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6409375" y="833075"/>
            <a:ext cx="2379600" cy="367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endParaRPr sz="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Pleasant 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tone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400" lvl="2" marL="360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 feedback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8"/>
          <p:cNvSpPr txBox="1"/>
          <p:nvPr/>
        </p:nvSpPr>
        <p:spPr>
          <a:xfrm rot="-5400000">
            <a:off x="2257375" y="2679300"/>
            <a:ext cx="21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Proofread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 rot="-5400000">
            <a:off x="-653225" y="2679300"/>
            <a:ext cx="21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</a:t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 rot="-5400000">
            <a:off x="5153900" y="2580975"/>
            <a:ext cx="21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</a:t>
            </a:r>
            <a:endParaRPr/>
          </a:p>
        </p:txBody>
      </p:sp>
      <p:pic>
        <p:nvPicPr>
          <p:cNvPr id="185" name="Google Shape;18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975" y="585250"/>
            <a:ext cx="7429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8913" y="585250"/>
            <a:ext cx="77152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6975" y="580488"/>
            <a:ext cx="76200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9"/>
          <p:cNvSpPr txBox="1"/>
          <p:nvPr>
            <p:ph idx="2" type="body"/>
          </p:nvPr>
        </p:nvSpPr>
        <p:spPr>
          <a:xfrm>
            <a:off x="297475" y="1386525"/>
            <a:ext cx="8291400" cy="29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Thill, J. V., &amp; Bovee, C. L. (2013). </a:t>
            </a:r>
            <a:r>
              <a:rPr i="1" lang="en-GB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Excellence in Business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i="1" lang="en-GB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Communication (10th ed.). </a:t>
            </a:r>
            <a:r>
              <a:rPr lang="en-GB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❑"/>
            </a:pPr>
            <a:r>
              <a:rPr lang="en-GB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Guffey, M. E., &amp; Loewy, D. (2016). </a:t>
            </a:r>
            <a:r>
              <a:rPr i="1" lang="en-GB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Essentials of business  </a:t>
            </a:r>
            <a:br>
              <a:rPr i="1" lang="en-GB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-GB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communication (10th ed.). </a:t>
            </a:r>
            <a:r>
              <a:rPr lang="en-GB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Cengage Learning.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tents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ection Break Slide Master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2016-12-05T23:26:54Z</dcterms:created>
  <dc:creator>GoogleSlidesPPT.com;Allppt.com</dc:creator>
</cp:coreProperties>
</file>