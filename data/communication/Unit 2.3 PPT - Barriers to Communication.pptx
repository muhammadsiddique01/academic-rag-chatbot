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notesMasterIdLst>
    <p:notesMasterId r:id="rId7"/>
  </p:notesMasterIdLst>
  <p:sldIdLst>
    <p:sldId id="256" r:id="rId4"/>
    <p:sldId id="341" r:id="rId5"/>
    <p:sldId id="309" r:id="rId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7" autoAdjust="0"/>
    <p:restoredTop sz="94660"/>
  </p:normalViewPr>
  <p:slideViewPr>
    <p:cSldViewPr>
      <p:cViewPr varScale="1">
        <p:scale>
          <a:sx n="97" d="100"/>
          <a:sy n="97" d="100"/>
        </p:scale>
        <p:origin x="420"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62E48-2130-43D2-9F6F-4645F77BBD45}" type="datetimeFigureOut">
              <a:rPr lang="en-US" smtClean="0"/>
              <a:t>20-Jun-20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A85AB-254C-4BA1-9AE3-9AC707C2D500}" type="slidenum">
              <a:rPr lang="en-US" smtClean="0"/>
              <a:t>‹#›</a:t>
            </a:fld>
            <a:endParaRPr lang="en-US"/>
          </a:p>
        </p:txBody>
      </p:sp>
    </p:spTree>
    <p:extLst>
      <p:ext uri="{BB962C8B-B14F-4D97-AF65-F5344CB8AC3E}">
        <p14:creationId xmlns:p14="http://schemas.microsoft.com/office/powerpoint/2010/main" val="203604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FBE38832-C366-9E4F-A126-65D59DA2DE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1A74914B-F13F-5647-9A8A-09D1254B21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r>
              <a:rPr lang="en-US" altLang="en-US" dirty="0">
                <a:latin typeface="Arial" panose="020B0604020202020204" pitchFamily="34" charset="0"/>
              </a:rPr>
              <a:t>There are many rules for following APA format, and the facilitator should stress that it is nearly impossible to memorize them all. Students</a:t>
            </a:r>
            <a:r>
              <a:rPr lang="ja-JP" altLang="en-US">
                <a:latin typeface="Arial" panose="020B0604020202020204" pitchFamily="34" charset="0"/>
              </a:rPr>
              <a:t>’</a:t>
            </a:r>
            <a:r>
              <a:rPr lang="en-US" altLang="ja-JP" dirty="0">
                <a:latin typeface="Arial" panose="020B0604020202020204" pitchFamily="34" charset="0"/>
              </a:rPr>
              <a:t> best course of action is to utilize the official APA handbook or the APA section in an updated composition textbook as guides for properly using the documentation format.  Since the American Psychological Association, a professional group of behavioral and social science professors and instructors, periodically updates the guide, students should be certain that they are using the most current information possible. </a:t>
            </a:r>
          </a:p>
          <a:p>
            <a:pPr eaLnBrk="1" hangingPunct="1">
              <a:spcBef>
                <a:spcPct val="0"/>
              </a:spcBef>
              <a:defRPr/>
            </a:pP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There are other resources for finding current information on APA documentation style. The APA web site offers some limited information about recent format changes, especially regarding the documentation of electronic sources. The Purdue University Writing Lab has a page on APA formatting and documentation style on its website: https://owl.purdue.edu/owl/research_and_citation/apa7_style/apa_formatting_and_style_guide/general_format.html</a:t>
            </a:r>
            <a:br>
              <a:rPr lang="en-US" altLang="en-US" dirty="0">
                <a:latin typeface="Arial" panose="020B0604020202020204" pitchFamily="34" charset="0"/>
              </a:rPr>
            </a:br>
            <a:endParaRPr lang="en-US" altLang="en-US" dirty="0">
              <a:latin typeface="Arial" panose="020B0604020202020204" pitchFamily="34" charset="0"/>
            </a:endParaRPr>
          </a:p>
          <a:p>
            <a:pPr eaLnBrk="1" hangingPunct="1">
              <a:spcBef>
                <a:spcPct val="0"/>
              </a:spcBef>
              <a:defRPr/>
            </a:pPr>
            <a:r>
              <a:rPr lang="en-US" altLang="en-US" dirty="0">
                <a:latin typeface="Arial" panose="020B0604020202020204" pitchFamily="34" charset="0"/>
              </a:rPr>
              <a:t>For quick questions on APA format, students can also call the Writing Lab Grammar Hotline at 494-3723.</a:t>
            </a:r>
          </a:p>
        </p:txBody>
      </p:sp>
      <p:sp>
        <p:nvSpPr>
          <p:cNvPr id="78852" name="Slide Number Placeholder 3">
            <a:extLst>
              <a:ext uri="{FF2B5EF4-FFF2-40B4-BE49-F238E27FC236}">
                <a16:creationId xmlns:a16="http://schemas.microsoft.com/office/drawing/2014/main" id="{96F04F27-45F9-FA4C-AE9A-1BF1D9E794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eaLnBrk="1" hangingPunct="1"/>
            <a:fld id="{A9EF7409-915A-1849-9BC2-8DFE3AB13E8B}" type="slidenum">
              <a:rPr lang="en-US" altLang="en-US">
                <a:latin typeface="Calibri" panose="020F0502020204030204" pitchFamily="34" charset="0"/>
              </a:rPr>
              <a:pPr eaLnBrk="1" hangingPunct="1"/>
              <a:t>3</a:t>
            </a:fld>
            <a:endParaRPr lang="en-US" altLang="en-US"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title</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cstate="print">
            <a:lum/>
          </a:blip>
          <a:srcRect/>
          <a:stretch>
            <a:fillRect t="-18000" b="-18000"/>
          </a:stretch>
        </a:blipFill>
        <a:effectLst/>
      </p:bgPr>
    </p:bg>
    <p:spTree>
      <p:nvGrpSpPr>
        <p:cNvPr id="1" name=""/>
        <p:cNvGrpSpPr/>
        <p:nvPr/>
      </p:nvGrpSpPr>
      <p:grpSpPr>
        <a:xfrm>
          <a:off x="0" y="0"/>
          <a:ext cx="0" cy="0"/>
          <a:chOff x="0" y="0"/>
          <a:chExt cx="0" cy="0"/>
        </a:xfrm>
      </p:grpSpPr>
      <p:sp>
        <p:nvSpPr>
          <p:cNvPr id="2" name="Oval 1"/>
          <p:cNvSpPr/>
          <p:nvPr userDrawn="1"/>
        </p:nvSpPr>
        <p:spPr>
          <a:xfrm>
            <a:off x="2699644" y="699542"/>
            <a:ext cx="3744416" cy="3744416"/>
          </a:xfrm>
          <a:prstGeom prst="ellipse">
            <a:avLst/>
          </a:prstGeom>
          <a:solidFill>
            <a:schemeClr val="tx2">
              <a:lumMod val="75000"/>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bg1"/>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8351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105958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55552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203598"/>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483518"/>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1131590"/>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Basic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42902" y="45594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887988"/>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tx2">
                <a:lumMod val="60000"/>
                <a:lumOff val="40000"/>
              </a:schemeClr>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50241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noFill/>
        </p:spPr>
        <p:txBody>
          <a:bodyPr lIns="720000" anchor="ctr"/>
          <a:lstStyle>
            <a:lvl1pPr marL="0" indent="0" algn="l">
              <a:buNone/>
              <a:defRPr sz="18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313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tx2">
            <a:lumMod val="75000"/>
          </a:schemeClr>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627534"/>
            <a:ext cx="5796136" cy="105200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05086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627534"/>
            <a:ext cx="1872000" cy="381642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627533"/>
            <a:ext cx="3294112" cy="1115553"/>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11669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270087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627533"/>
            <a:ext cx="1728192" cy="269973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11510"/>
            <a:ext cx="9144000" cy="576064"/>
          </a:xfrm>
          <a:prstGeom prst="rect">
            <a:avLst/>
          </a:prstGeom>
        </p:spPr>
        <p:txBody>
          <a:bodyPr anchor="ctr"/>
          <a:lstStyle>
            <a:lvl1pPr marL="0" indent="0" algn="ctr">
              <a:buNone/>
              <a:defRPr sz="1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987574"/>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475603"/>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384377"/>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Break Layout">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21C7296-550F-814B-A49E-2CBD3C63AEF0}"/>
              </a:ext>
            </a:extLst>
          </p:cNvPr>
          <p:cNvSpPr>
            <a:spLocks noGrp="1"/>
          </p:cNvSpPr>
          <p:nvPr>
            <p:ph type="dt" sz="half" idx="10"/>
          </p:nvPr>
        </p:nvSpPr>
        <p:spPr/>
        <p:txBody>
          <a:bodyPr/>
          <a:lstStyle>
            <a:lvl1pPr>
              <a:defRPr/>
            </a:lvl1pPr>
          </a:lstStyle>
          <a:p>
            <a:pPr>
              <a:defRPr/>
            </a:pPr>
            <a:fld id="{A422E750-D3A8-1042-9737-605B9AC6FC24}" type="datetimeFigureOut">
              <a:rPr lang="en-US"/>
              <a:pPr>
                <a:defRPr/>
              </a:pPr>
              <a:t>20-Jun-20</a:t>
            </a:fld>
            <a:endParaRPr lang="en-US" dirty="0"/>
          </a:p>
        </p:txBody>
      </p:sp>
      <p:sp>
        <p:nvSpPr>
          <p:cNvPr id="3" name="Footer Placeholder 4">
            <a:extLst>
              <a:ext uri="{FF2B5EF4-FFF2-40B4-BE49-F238E27FC236}">
                <a16:creationId xmlns:a16="http://schemas.microsoft.com/office/drawing/2014/main" id="{C5B3C2FC-8D91-2247-BBA2-D6ABF4557169}"/>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BA29B99E-9C31-FA46-9CBE-322C8171D92D}"/>
              </a:ext>
            </a:extLst>
          </p:cNvPr>
          <p:cNvSpPr>
            <a:spLocks noGrp="1"/>
          </p:cNvSpPr>
          <p:nvPr>
            <p:ph type="sldNum" sz="quarter" idx="12"/>
          </p:nvPr>
        </p:nvSpPr>
        <p:spPr/>
        <p:txBody>
          <a:bodyPr/>
          <a:lstStyle>
            <a:lvl1pPr>
              <a:defRPr/>
            </a:lvl1pPr>
          </a:lstStyle>
          <a:p>
            <a:fld id="{45B0DE0D-010F-E243-A41D-6EF3369C391F}" type="slidenum">
              <a:rPr lang="en-US" altLang="en-US"/>
              <a:pPr/>
              <a:t>‹#›</a:t>
            </a:fld>
            <a:endParaRPr lang="en-US" altLang="en-US" dirty="0"/>
          </a:p>
        </p:txBody>
      </p:sp>
    </p:spTree>
    <p:extLst>
      <p:ext uri="{BB962C8B-B14F-4D97-AF65-F5344CB8AC3E}">
        <p14:creationId xmlns:p14="http://schemas.microsoft.com/office/powerpoint/2010/main" val="3227508338"/>
      </p:ext>
    </p:extLst>
  </p:cSld>
  <p:clrMapOvr>
    <a:masterClrMapping/>
  </p:clrMapOvr>
  <p:transition>
    <p:cu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3500" y="4477539"/>
            <a:ext cx="2070100" cy="273844"/>
          </a:xfrm>
        </p:spPr>
        <p:txBody>
          <a:bodyPr/>
          <a:lstStyle/>
          <a:p>
            <a:fld id="{7CF37689-2B6D-EE46-A274-F07170D983E9}" type="datetime1">
              <a:rPr lang="en-US" smtClean="0"/>
              <a:t>20-Jun-20</a:t>
            </a:fld>
            <a:endParaRPr lang="en-US"/>
          </a:p>
        </p:txBody>
      </p:sp>
      <p:sp>
        <p:nvSpPr>
          <p:cNvPr id="15" name="Footer Placeholder 4"/>
          <p:cNvSpPr>
            <a:spLocks noGrp="1"/>
          </p:cNvSpPr>
          <p:nvPr>
            <p:ph type="ftr" sz="quarter" idx="11"/>
          </p:nvPr>
        </p:nvSpPr>
        <p:spPr>
          <a:xfrm>
            <a:off x="0" y="4847945"/>
            <a:ext cx="9144000" cy="303491"/>
          </a:xfrm>
          <a:prstGeom prst="rect">
            <a:avLst/>
          </a:prstGeom>
        </p:spPr>
        <p:txBody>
          <a:bodyPr anchor="t" anchorCtr="0"/>
          <a:lstStyle>
            <a:lvl1pPr algn="l">
              <a:defRPr sz="675">
                <a:solidFill>
                  <a:srgbClr val="7F7F7F"/>
                </a:solidFill>
              </a:defRPr>
            </a:lvl1pPr>
          </a:lstStyle>
          <a:p>
            <a:r>
              <a:rPr lang="en-US" dirty="0">
                <a:solidFill>
                  <a:srgbClr val="7F7F7F"/>
                </a:solidFill>
              </a:rPr>
              <a:t>© 2019 Cengage Learning®. May not be scanned, copied or duplicated, or posted to a publicly accessible website, in whole or in part, except for use as permitted in</a:t>
            </a:r>
            <a:br>
              <a:rPr lang="en-US" dirty="0">
                <a:solidFill>
                  <a:srgbClr val="7F7F7F"/>
                </a:solidFill>
              </a:rPr>
            </a:br>
            <a:r>
              <a:rPr lang="en-US" dirty="0">
                <a:solidFill>
                  <a:srgbClr val="7F7F7F"/>
                </a:solidFill>
              </a:rPr>
              <a:t>a license distributed with a certain product or service or otherwise on a password-protected website or school approved learning management system for classroom use.</a:t>
            </a:r>
          </a:p>
        </p:txBody>
      </p:sp>
      <p:sp>
        <p:nvSpPr>
          <p:cNvPr id="16" name="Slide Number Placeholder 5"/>
          <p:cNvSpPr>
            <a:spLocks noGrp="1"/>
          </p:cNvSpPr>
          <p:nvPr>
            <p:ph type="sldNum" sz="quarter" idx="12"/>
          </p:nvPr>
        </p:nvSpPr>
        <p:spPr>
          <a:xfrm>
            <a:off x="7484156" y="4793908"/>
            <a:ext cx="1501084" cy="273844"/>
          </a:xfrm>
        </p:spPr>
        <p:txBody>
          <a:bodyPr/>
          <a:lstStyle>
            <a:lvl1pPr>
              <a:defRPr sz="825"/>
            </a:lvl1pPr>
          </a:lstStyle>
          <a:p>
            <a:r>
              <a:rPr lang="en-US" dirty="0"/>
              <a:t>Ch. 1 / Slide </a:t>
            </a:r>
            <a:fld id="{CB33F3CD-E5BE-CA40-BCBB-95BE81BE2CD3}" type="slidenum">
              <a:rPr lang="en-US" smtClean="0"/>
              <a:pPr/>
              <a:t>‹#›</a:t>
            </a:fld>
            <a:endParaRPr lang="en-US" dirty="0"/>
          </a:p>
        </p:txBody>
      </p:sp>
      <p:sp>
        <p:nvSpPr>
          <p:cNvPr id="2" name="Title 1"/>
          <p:cNvSpPr>
            <a:spLocks noGrp="1"/>
          </p:cNvSpPr>
          <p:nvPr>
            <p:ph type="title"/>
          </p:nvPr>
        </p:nvSpPr>
        <p:spPr>
          <a:xfrm>
            <a:off x="1" y="561866"/>
            <a:ext cx="9143999" cy="508239"/>
          </a:xfrm>
          <a:prstGeom prst="rect">
            <a:avLst/>
          </a:prstGeom>
        </p:spPr>
        <p:txBody>
          <a:bodyPr vert="horz" anchor="t" anchorCtr="0"/>
          <a:lstStyle>
            <a:lvl1pPr>
              <a:lnSpc>
                <a:spcPct val="90000"/>
              </a:lnSpc>
              <a:defRPr sz="3000" b="1">
                <a:solidFill>
                  <a:srgbClr val="5CADB1"/>
                </a:solidFill>
                <a:latin typeface="Helvetica"/>
                <a:cs typeface="Helvetica"/>
              </a:defRPr>
            </a:lvl1pPr>
          </a:lstStyle>
          <a:p>
            <a:r>
              <a:rPr lang="en-US" dirty="0"/>
              <a:t>Click to edit Master title style</a:t>
            </a:r>
          </a:p>
        </p:txBody>
      </p:sp>
      <p:grpSp>
        <p:nvGrpSpPr>
          <p:cNvPr id="6" name="Group 5"/>
          <p:cNvGrpSpPr/>
          <p:nvPr userDrawn="1"/>
        </p:nvGrpSpPr>
        <p:grpSpPr>
          <a:xfrm>
            <a:off x="0" y="112"/>
            <a:ext cx="9144000" cy="561755"/>
            <a:chOff x="0" y="148"/>
            <a:chExt cx="9144000" cy="749007"/>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
              <a:ext cx="9144000" cy="629586"/>
            </a:xfrm>
            <a:prstGeom prst="rect">
              <a:avLst/>
            </a:prstGeom>
          </p:spPr>
        </p:pic>
        <p:sp>
          <p:nvSpPr>
            <p:cNvPr id="8" name="Rectangle 7"/>
            <p:cNvSpPr/>
            <p:nvPr/>
          </p:nvSpPr>
          <p:spPr>
            <a:xfrm>
              <a:off x="0" y="674844"/>
              <a:ext cx="9144000" cy="7431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spTree>
    <p:extLst>
      <p:ext uri="{BB962C8B-B14F-4D97-AF65-F5344CB8AC3E}">
        <p14:creationId xmlns:p14="http://schemas.microsoft.com/office/powerpoint/2010/main" val="42059615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2.pn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4" cstate="print"/>
          <a:stretch>
            <a:fillRect/>
          </a:stretch>
        </p:blipFill>
        <p:spPr>
          <a:xfrm rot="10800000">
            <a:off x="-23339"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4"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14"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15"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56" r:id="rId1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 cstate="print"/>
          <a:stretch>
            <a:fillRect/>
          </a:stretch>
        </p:blipFill>
        <p:spPr>
          <a:xfrm>
            <a:off x="3070850" y="0"/>
            <a:ext cx="6088050" cy="551250"/>
          </a:xfrm>
          <a:prstGeom prst="rect">
            <a:avLst/>
          </a:prstGeom>
        </p:spPr>
      </p:pic>
      <p:pic>
        <p:nvPicPr>
          <p:cNvPr id="3" name="Picture 2"/>
          <p:cNvPicPr>
            <a:picLocks noChangeAspect="1"/>
          </p:cNvPicPr>
          <p:nvPr userDrawn="1"/>
        </p:nvPicPr>
        <p:blipFill>
          <a:blip r:embed="rId5" cstate="print"/>
          <a:stretch>
            <a:fillRect/>
          </a:stretch>
        </p:blipFill>
        <p:spPr>
          <a:xfrm rot="10800000">
            <a:off x="-36511" y="4592250"/>
            <a:ext cx="6088050" cy="551250"/>
          </a:xfrm>
          <a:prstGeom prst="rect">
            <a:avLst/>
          </a:prstGeom>
        </p:spPr>
      </p:pic>
      <p:sp>
        <p:nvSpPr>
          <p:cNvPr id="4" name="TextBox 3"/>
          <p:cNvSpPr txBox="1"/>
          <p:nvPr userDrawn="1"/>
        </p:nvSpPr>
        <p:spPr>
          <a:xfrm>
            <a:off x="179512" y="123478"/>
            <a:ext cx="1440160" cy="338554"/>
          </a:xfrm>
          <a:prstGeom prst="rect">
            <a:avLst/>
          </a:prstGeom>
          <a:blipFill>
            <a:blip r:embed="rId6" cstate="print"/>
            <a:stretch>
              <a:fillRect/>
            </a:stretch>
          </a:blipFill>
        </p:spPr>
        <p:txBody>
          <a:bodyPr wrap="square" rtlCol="0">
            <a:spAutoFit/>
          </a:bodyPr>
          <a:lstStyle/>
          <a:p>
            <a:pPr algn="ctr"/>
            <a:endParaRPr lang="ko-KR" altLang="en-US" sz="16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 id="2147483672" r:id="rId2"/>
    <p:sldLayoutId id="214748367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13000"/>
            <a:lum/>
          </a:blip>
          <a:srcRect/>
          <a:stretch>
            <a:fillRect t="-18000" b="-18000"/>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14" y="1995686"/>
            <a:ext cx="9144000" cy="522725"/>
          </a:xfrm>
        </p:spPr>
        <p:txBody>
          <a:bodyPr/>
          <a:lstStyle/>
          <a:p>
            <a:pPr lvl="0"/>
            <a:r>
              <a:rPr lang="en-US" dirty="0" smtClean="0">
                <a:latin typeface="Times New Roman" pitchFamily="18" charset="0"/>
                <a:cs typeface="Times New Roman" pitchFamily="18" charset="0"/>
              </a:rPr>
              <a:t>Unit 2.3</a:t>
            </a:r>
          </a:p>
          <a:p>
            <a:pPr lvl="0"/>
            <a:r>
              <a:rPr lang="en-US" dirty="0" smtClean="0">
                <a:latin typeface="Times New Roman" pitchFamily="18" charset="0"/>
                <a:cs typeface="Times New Roman" pitchFamily="18" charset="0"/>
              </a:rPr>
              <a:t>Barriers to Communication</a:t>
            </a:r>
            <a:endParaRPr lang="en-US" dirty="0">
              <a:latin typeface="Times New Roman" pitchFamily="18" charset="0"/>
              <a:cs typeface="Times New Roman" pitchFamily="18"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74" y="84080"/>
            <a:ext cx="1685925" cy="438150"/>
          </a:xfrm>
          <a:prstGeom prst="rect">
            <a:avLst/>
          </a:prstGeom>
          <a:noFill/>
          <a:ln>
            <a:noFill/>
          </a:ln>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C765910A-8DA5-5644-84AF-9BDA6C0B3005}"/>
              </a:ext>
            </a:extLst>
          </p:cNvPr>
          <p:cNvSpPr txBox="1">
            <a:spLocks noChangeArrowheads="1"/>
          </p:cNvSpPr>
          <p:nvPr/>
        </p:nvSpPr>
        <p:spPr bwMode="auto">
          <a:xfrm>
            <a:off x="1115616" y="771550"/>
            <a:ext cx="7416824" cy="350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Strategies for Improving Listening Skills</a:t>
            </a:r>
          </a:p>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8"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sz="2400" b="1" i="0" u="none" strike="noStrike" kern="1200" cap="none" spc="0" normalizeH="0" baseline="0" noProof="0" dirty="0">
              <a:ln>
                <a:noFill/>
              </a:ln>
              <a:solidFill>
                <a:srgbClr val="C00000"/>
              </a:solidFill>
              <a:effectLst/>
              <a:uLnTx/>
              <a:uFillTx/>
              <a:latin typeface="Book Antiqua" panose="02040602050305030304" pitchFamily="18" charset="0"/>
              <a:ea typeface="MS PGothic" panose="020B0600070205080204" pitchFamily="34" charset="-128"/>
              <a:cs typeface="Helvetica"/>
            </a:endParaRPr>
          </a:p>
          <a:p>
            <a:pPr marL="0" marR="0" lvl="0" indent="0" algn="l" defTabSz="914400" rtl="0" eaLnBrk="1" fontAlgn="auto" latinLnBrk="1" hangingPunct="1">
              <a:lnSpc>
                <a:spcPct val="150000"/>
              </a:lnSpc>
              <a:spcBef>
                <a:spcPts val="0"/>
              </a:spcBef>
              <a:spcAft>
                <a:spcPts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1026" name="Picture 2">
            <a:extLst>
              <a:ext uri="{FF2B5EF4-FFF2-40B4-BE49-F238E27FC236}">
                <a16:creationId xmlns:a16="http://schemas.microsoft.com/office/drawing/2014/main" id="{BF016B32-669E-40F8-99D7-59B1619A77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3542"/>
            <a:ext cx="9144000" cy="4759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100493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5">
            <a:extLst>
              <a:ext uri="{FF2B5EF4-FFF2-40B4-BE49-F238E27FC236}">
                <a16:creationId xmlns:a16="http://schemas.microsoft.com/office/drawing/2014/main" id="{80812AAD-9FA6-D341-A8CC-F26805A6F409}"/>
              </a:ext>
            </a:extLst>
          </p:cNvPr>
          <p:cNvSpPr txBox="1">
            <a:spLocks noChangeArrowheads="1"/>
          </p:cNvSpPr>
          <p:nvPr/>
        </p:nvSpPr>
        <p:spPr bwMode="auto">
          <a:xfrm>
            <a:off x="1043608" y="843558"/>
            <a:ext cx="7416824"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Book Antiqua" panose="02040602050305030304" pitchFamily="18" charset="0"/>
                <a:ea typeface="MS PGothic" panose="020B0600070205080204" pitchFamily="34" charset="-128"/>
              </a:defRPr>
            </a:lvl1pPr>
            <a:lvl2pPr marL="742950" indent="-285750" eaLnBrk="0" hangingPunct="0">
              <a:defRPr>
                <a:solidFill>
                  <a:schemeClr val="tx1"/>
                </a:solidFill>
                <a:latin typeface="Book Antiqua" panose="02040602050305030304" pitchFamily="18" charset="0"/>
                <a:ea typeface="MS PGothic" panose="020B0600070205080204" pitchFamily="34" charset="-128"/>
              </a:defRPr>
            </a:lvl2pPr>
            <a:lvl3pPr marL="1143000" indent="-228600" eaLnBrk="0" hangingPunct="0">
              <a:defRPr>
                <a:solidFill>
                  <a:schemeClr val="tx1"/>
                </a:solidFill>
                <a:latin typeface="Book Antiqua" panose="02040602050305030304" pitchFamily="18" charset="0"/>
                <a:ea typeface="MS PGothic" panose="020B0600070205080204" pitchFamily="34" charset="-128"/>
              </a:defRPr>
            </a:lvl3pPr>
            <a:lvl4pPr marL="1600200" indent="-228600" eaLnBrk="0" hangingPunct="0">
              <a:defRPr>
                <a:solidFill>
                  <a:schemeClr val="tx1"/>
                </a:solidFill>
                <a:latin typeface="Book Antiqua" panose="02040602050305030304" pitchFamily="18" charset="0"/>
                <a:ea typeface="MS PGothic" panose="020B0600070205080204" pitchFamily="34" charset="-128"/>
              </a:defRPr>
            </a:lvl4pPr>
            <a:lvl5pPr marL="2057400" indent="-228600" eaLnBrk="0" hangingPunct="0">
              <a:defRPr>
                <a:solidFill>
                  <a:schemeClr val="tx1"/>
                </a:solidFill>
                <a:latin typeface="Book Antiqua" panose="02040602050305030304" pitchFamily="18"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Book Antiqua" panose="02040602050305030304" pitchFamily="18" charset="0"/>
                <a:ea typeface="MS PGothic" panose="020B0600070205080204" pitchFamily="34" charset="-128"/>
              </a:defRPr>
            </a:lvl9pPr>
          </a:lstStyle>
          <a:p>
            <a:pPr algn="ctr" eaLnBrk="1" hangingPunct="1"/>
            <a:r>
              <a:rPr lang="en-US" altLang="en-US" sz="3200" b="1" dirty="0">
                <a:latin typeface="Times New Roman" panose="02020603050405020304" pitchFamily="18" charset="0"/>
                <a:cs typeface="Times New Roman" panose="02020603050405020304" pitchFamily="18" charset="0"/>
              </a:rPr>
              <a:t>References</a:t>
            </a:r>
          </a:p>
          <a:p>
            <a:pPr algn="ctr" eaLnBrk="1" hangingPunct="1"/>
            <a:endParaRPr lang="en-US" altLang="en-US" sz="2400" dirty="0">
              <a:latin typeface="Times New Roman" panose="02020603050405020304" pitchFamily="18" charset="0"/>
              <a:cs typeface="Times New Roman" panose="02020603050405020304" pitchFamily="18" charset="0"/>
            </a:endParaRPr>
          </a:p>
          <a:p>
            <a:pPr eaLnBrk="1" hangingPunct="1"/>
            <a:endParaRPr lang="en-US" sz="2400" dirty="0">
              <a:latin typeface="Times New Roman" panose="02020603050405020304" pitchFamily="18" charset="0"/>
              <a:cs typeface="Times New Roman" panose="02020603050405020304" pitchFamily="18" charset="0"/>
            </a:endParaRPr>
          </a:p>
          <a:p>
            <a:pPr eaLnBrk="1" hangingPunct="1"/>
            <a:r>
              <a:rPr lang="en-US" sz="2400" dirty="0">
                <a:latin typeface="Times New Roman" panose="02020603050405020304" pitchFamily="18" charset="0"/>
                <a:cs typeface="Times New Roman" panose="02020603050405020304" pitchFamily="18" charset="0"/>
              </a:rPr>
              <a:t>Guffey, M. E., &amp; Loewy, D. (2016). </a:t>
            </a:r>
            <a:r>
              <a:rPr lang="en-US" sz="2400" i="1" dirty="0">
                <a:latin typeface="Times New Roman" panose="02020603050405020304" pitchFamily="18" charset="0"/>
                <a:cs typeface="Times New Roman" panose="02020603050405020304" pitchFamily="18" charset="0"/>
              </a:rPr>
              <a:t>Essentials of business  </a:t>
            </a:r>
            <a:br>
              <a:rPr lang="en-US" sz="2400" i="1" dirty="0">
                <a:latin typeface="Times New Roman" panose="02020603050405020304" pitchFamily="18" charset="0"/>
                <a:cs typeface="Times New Roman" panose="02020603050405020304" pitchFamily="18" charset="0"/>
              </a:rPr>
            </a:br>
            <a:r>
              <a:rPr lang="en-US" sz="2400" i="1" dirty="0">
                <a:latin typeface="Times New Roman" panose="02020603050405020304" pitchFamily="18" charset="0"/>
                <a:cs typeface="Times New Roman" panose="02020603050405020304" pitchFamily="18" charset="0"/>
              </a:rPr>
              <a:t>       communication (10th ed.)</a:t>
            </a:r>
            <a:r>
              <a:rPr lang="en-US" sz="2400" dirty="0">
                <a:latin typeface="Times New Roman" panose="02020603050405020304" pitchFamily="18" charset="0"/>
                <a:cs typeface="Times New Roman" panose="02020603050405020304" pitchFamily="18" charset="0"/>
              </a:rPr>
              <a:t>. Cengage Learning.</a:t>
            </a:r>
            <a:endParaRPr lang="en-US" altLang="en-US" sz="2400" dirty="0">
              <a:latin typeface="Times New Roman" panose="02020603050405020304" pitchFamily="18" charset="0"/>
              <a:cs typeface="Times New Roman" panose="02020603050405020304" pitchFamily="18" charset="0"/>
            </a:endParaRPr>
          </a:p>
          <a:p>
            <a:pPr eaLnBrk="1" hangingPunct="1"/>
            <a:endParaRPr lang="en-US" altLang="en-US" sz="1500" dirty="0">
              <a:latin typeface="Optima" panose="02000503060000020004" pitchFamily="2" charset="0"/>
            </a:endParaRPr>
          </a:p>
          <a:p>
            <a:pPr eaLnBrk="1" hangingPunct="1"/>
            <a:endParaRPr lang="en-US" altLang="en-US" sz="1500" dirty="0">
              <a:latin typeface="Optima" panose="02000503060000020004" pitchFamily="2" charset="0"/>
            </a:endParaRPr>
          </a:p>
        </p:txBody>
      </p:sp>
    </p:spTree>
  </p:cSld>
  <p:clrMapOvr>
    <a:masterClrMapping/>
  </p:clrMapOvr>
  <p:transition/>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2011</TotalTime>
  <Words>173</Words>
  <Application>Microsoft Office PowerPoint</Application>
  <PresentationFormat>On-screen Show (16:9)</PresentationFormat>
  <Paragraphs>16</Paragraphs>
  <Slides>3</Slides>
  <Notes>2</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vt:i4>
      </vt:variant>
    </vt:vector>
  </HeadingPairs>
  <TitlesOfParts>
    <vt:vector size="16" baseType="lpstr">
      <vt:lpstr>맑은 고딕</vt:lpstr>
      <vt:lpstr>MS PGothic</vt:lpstr>
      <vt:lpstr>Arial</vt:lpstr>
      <vt:lpstr>Arial Unicode MS</vt:lpstr>
      <vt:lpstr>Book Antiqua</vt:lpstr>
      <vt:lpstr>Calibri</vt:lpstr>
      <vt:lpstr>Helvetica</vt:lpstr>
      <vt:lpstr>Optima</vt:lpstr>
      <vt:lpstr>Times New Roman</vt:lpstr>
      <vt:lpstr>游ゴシック</vt:lpstr>
      <vt:lpstr>Cover and End Slide Master</vt:lpstr>
      <vt:lpstr>Contents Slide Master</vt:lpstr>
      <vt:lpstr>Section Break Slide Master</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M Younis Farid</cp:lastModifiedBy>
  <cp:revision>207</cp:revision>
  <dcterms:created xsi:type="dcterms:W3CDTF">2016-12-05T23:26:54Z</dcterms:created>
  <dcterms:modified xsi:type="dcterms:W3CDTF">2020-06-20T17:56:27Z</dcterms:modified>
</cp:coreProperties>
</file>