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5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703">
          <p15:clr>
            <a:srgbClr val="747775"/>
          </p15:clr>
        </p15:guide>
        <p15:guide id="4" orient="horz" pos="2643">
          <p15:clr>
            <a:srgbClr val="747775"/>
          </p15:clr>
        </p15:guide>
        <p15:guide id="5" orient="horz" pos="2592">
          <p15:clr>
            <a:srgbClr val="747775"/>
          </p15:clr>
        </p15:guide>
      </p15:sldGuideLst>
    </p:ext>
    <p:ext uri="GoogleSlidesCustomDataVersion2">
      <go:slidesCustomData xmlns:go="http://customooxmlschemas.google.com/" r:id="rId13" roundtripDataSignature="AMtx7mgcelUtlatQBChbcnW/s7r8WXz2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9C7B08-E425-4D39-AC08-8365FC6A70A1}">
  <a:tblStyle styleId="{309C7B08-E425-4D39-AC08-8365FC6A70A1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DF8F9"/>
          </a:solidFill>
        </a:fill>
      </a:tcStyle>
    </a:wholeTbl>
    <a:band1H>
      <a:tcTxStyle/>
      <a:tcStyle>
        <a:fill>
          <a:solidFill>
            <a:srgbClr val="D8F0F2"/>
          </a:solidFill>
        </a:fill>
      </a:tcStyle>
    </a:band1H>
    <a:band2H>
      <a:tcTxStyle/>
    </a:band2H>
    <a:band1V>
      <a:tcTxStyle/>
      <a:tcStyle>
        <a:fill>
          <a:solidFill>
            <a:srgbClr val="D8F0F2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703"/>
        <p:guide pos="2643" orient="horz"/>
        <p:guide pos="259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customschemas.google.com/relationships/presentationmetadata" Target="metadata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layout">
  <p:cSld name="Cover Slide layou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"/>
          <p:cNvSpPr txBox="1"/>
          <p:nvPr>
            <p:ph idx="1" type="body"/>
          </p:nvPr>
        </p:nvSpPr>
        <p:spPr>
          <a:xfrm>
            <a:off x="0" y="3705210"/>
            <a:ext cx="9144000" cy="522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7"/>
          <p:cNvSpPr txBox="1"/>
          <p:nvPr>
            <p:ph idx="2" type="body"/>
          </p:nvPr>
        </p:nvSpPr>
        <p:spPr>
          <a:xfrm>
            <a:off x="-148" y="4227934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 Layout">
  <p:cSld name="End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/>
          <p:nvPr/>
        </p:nvSpPr>
        <p:spPr>
          <a:xfrm>
            <a:off x="2699644" y="699542"/>
            <a:ext cx="3744416" cy="3744416"/>
          </a:xfrm>
          <a:prstGeom prst="ellipse">
            <a:avLst/>
          </a:prstGeom>
          <a:solidFill>
            <a:srgbClr val="17365D">
              <a:alpha val="7686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0"/>
          <p:cNvSpPr txBox="1"/>
          <p:nvPr>
            <p:ph idx="1" type="body"/>
          </p:nvPr>
        </p:nvSpPr>
        <p:spPr>
          <a:xfrm>
            <a:off x="2699792" y="2181230"/>
            <a:ext cx="3744416" cy="576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0"/>
          <p:cNvSpPr txBox="1"/>
          <p:nvPr>
            <p:ph idx="2" type="body"/>
          </p:nvPr>
        </p:nvSpPr>
        <p:spPr>
          <a:xfrm>
            <a:off x="2699644" y="2757294"/>
            <a:ext cx="3744416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Layout">
  <p:cSld name="Basic Layout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 txBox="1"/>
          <p:nvPr>
            <p:ph idx="1" type="body"/>
          </p:nvPr>
        </p:nvSpPr>
        <p:spPr>
          <a:xfrm>
            <a:off x="0" y="483518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2" type="body"/>
          </p:nvPr>
        </p:nvSpPr>
        <p:spPr>
          <a:xfrm>
            <a:off x="0" y="1059582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Layout">
  <p:cSld name="Agenda Layout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asic Layout">
  <p:cSld name="2_Basic Layout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179512" y="555526"/>
            <a:ext cx="8424936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2" type="body"/>
          </p:nvPr>
        </p:nvSpPr>
        <p:spPr>
          <a:xfrm>
            <a:off x="179512" y="1203598"/>
            <a:ext cx="8424936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asic Layout">
  <p:cSld name="1_Basic Layout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idx="1" type="body"/>
          </p:nvPr>
        </p:nvSpPr>
        <p:spPr>
          <a:xfrm>
            <a:off x="179512" y="483518"/>
            <a:ext cx="4248472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13"/>
          <p:cNvSpPr txBox="1"/>
          <p:nvPr>
            <p:ph idx="2" type="body"/>
          </p:nvPr>
        </p:nvSpPr>
        <p:spPr>
          <a:xfrm>
            <a:off x="179512" y="1131590"/>
            <a:ext cx="4248472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asic Layout">
  <p:cSld name="3_Basic Layout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/>
          <p:nvPr/>
        </p:nvSpPr>
        <p:spPr>
          <a:xfrm>
            <a:off x="0" y="0"/>
            <a:ext cx="9144000" cy="1059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4"/>
          <p:cNvSpPr txBox="1"/>
          <p:nvPr>
            <p:ph idx="1" type="body"/>
          </p:nvPr>
        </p:nvSpPr>
        <p:spPr>
          <a:xfrm>
            <a:off x="-42902" y="455940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14"/>
          <p:cNvSpPr txBox="1"/>
          <p:nvPr>
            <p:ph idx="2" type="body"/>
          </p:nvPr>
        </p:nvSpPr>
        <p:spPr>
          <a:xfrm>
            <a:off x="0" y="887988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14"/>
          <p:cNvSpPr/>
          <p:nvPr>
            <p:ph idx="3" type="pic"/>
          </p:nvPr>
        </p:nvSpPr>
        <p:spPr>
          <a:xfrm>
            <a:off x="649246" y="1275606"/>
            <a:ext cx="1648869" cy="1648869"/>
          </a:xfrm>
          <a:prstGeom prst="ellipse">
            <a:avLst/>
          </a:prstGeom>
          <a:solidFill>
            <a:srgbClr val="F2F2F2"/>
          </a:solidFill>
          <a:ln cap="flat" cmpd="sng" w="381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14"/>
          <p:cNvSpPr/>
          <p:nvPr>
            <p:ph idx="4" type="pic"/>
          </p:nvPr>
        </p:nvSpPr>
        <p:spPr>
          <a:xfrm>
            <a:off x="2720790" y="1275606"/>
            <a:ext cx="1648869" cy="1648869"/>
          </a:xfrm>
          <a:prstGeom prst="ellipse">
            <a:avLst/>
          </a:prstGeom>
          <a:solidFill>
            <a:srgbClr val="F2F2F2"/>
          </a:solidFill>
          <a:ln cap="flat" cmpd="sng" w="381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14"/>
          <p:cNvSpPr/>
          <p:nvPr>
            <p:ph idx="5" type="pic"/>
          </p:nvPr>
        </p:nvSpPr>
        <p:spPr>
          <a:xfrm>
            <a:off x="4792334" y="1275606"/>
            <a:ext cx="1648869" cy="1648869"/>
          </a:xfrm>
          <a:prstGeom prst="ellipse">
            <a:avLst/>
          </a:prstGeom>
          <a:solidFill>
            <a:srgbClr val="F2F2F2"/>
          </a:solidFill>
          <a:ln cap="flat" cmpd="sng" w="381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14"/>
          <p:cNvSpPr/>
          <p:nvPr>
            <p:ph idx="6" type="pic"/>
          </p:nvPr>
        </p:nvSpPr>
        <p:spPr>
          <a:xfrm>
            <a:off x="6863879" y="1275606"/>
            <a:ext cx="1648869" cy="1648869"/>
          </a:xfrm>
          <a:prstGeom prst="ellipse">
            <a:avLst/>
          </a:prstGeom>
          <a:solidFill>
            <a:srgbClr val="F2F2F2"/>
          </a:solidFill>
          <a:ln cap="flat" cmpd="sng" w="381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 and Contents Layout">
  <p:cSld name="Images and Contents Layou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Images and Contents Layout">
  <p:cSld name="1_Images and Contents Layou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Images and Contents Layout">
  <p:cSld name="2_Images and Contents Layout">
    <p:bg>
      <p:bgPr>
        <a:solidFill>
          <a:srgbClr val="17365D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/>
          <p:nvPr>
            <p:ph idx="2" type="pic"/>
          </p:nvPr>
        </p:nvSpPr>
        <p:spPr>
          <a:xfrm>
            <a:off x="3347864" y="627534"/>
            <a:ext cx="5796136" cy="105200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7" name="Google Shape;47;p17"/>
          <p:cNvSpPr/>
          <p:nvPr>
            <p:ph idx="3" type="pic"/>
          </p:nvPr>
        </p:nvSpPr>
        <p:spPr>
          <a:xfrm>
            <a:off x="4104000" y="1798321"/>
            <a:ext cx="5040000" cy="154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8" name="Google Shape;48;p17"/>
          <p:cNvSpPr/>
          <p:nvPr>
            <p:ph idx="4" type="pic"/>
          </p:nvPr>
        </p:nvSpPr>
        <p:spPr>
          <a:xfrm>
            <a:off x="4824000" y="3465106"/>
            <a:ext cx="4320000" cy="105086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Basic Layout">
  <p:cSld name="4_Basic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/>
          <p:nvPr>
            <p:ph idx="2" type="pic"/>
          </p:nvPr>
        </p:nvSpPr>
        <p:spPr>
          <a:xfrm>
            <a:off x="3937417" y="627534"/>
            <a:ext cx="1872000" cy="381642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1" name="Google Shape;51;p18"/>
          <p:cNvSpPr/>
          <p:nvPr>
            <p:ph idx="3" type="pic"/>
          </p:nvPr>
        </p:nvSpPr>
        <p:spPr>
          <a:xfrm>
            <a:off x="1968708" y="627534"/>
            <a:ext cx="1872000" cy="381642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2" name="Google Shape;52;p18"/>
          <p:cNvSpPr/>
          <p:nvPr>
            <p:ph idx="4" type="pic"/>
          </p:nvPr>
        </p:nvSpPr>
        <p:spPr>
          <a:xfrm>
            <a:off x="0" y="627534"/>
            <a:ext cx="1872000" cy="381642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Images and Contents Layout">
  <p:cSld name="3_Images and Contents Layou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/>
          <p:nvPr>
            <p:ph idx="2" type="pic"/>
          </p:nvPr>
        </p:nvSpPr>
        <p:spPr>
          <a:xfrm>
            <a:off x="3795621" y="627533"/>
            <a:ext cx="3294112" cy="111555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5" name="Google Shape;55;p19"/>
          <p:cNvSpPr/>
          <p:nvPr>
            <p:ph idx="3" type="pic"/>
          </p:nvPr>
        </p:nvSpPr>
        <p:spPr>
          <a:xfrm>
            <a:off x="5613166" y="3399271"/>
            <a:ext cx="3293944" cy="111669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6" name="Google Shape;56;p19"/>
          <p:cNvSpPr/>
          <p:nvPr>
            <p:ph idx="4" type="pic"/>
          </p:nvPr>
        </p:nvSpPr>
        <p:spPr>
          <a:xfrm>
            <a:off x="3795621" y="1815095"/>
            <a:ext cx="1728192" cy="270087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7" name="Google Shape;57;p19"/>
          <p:cNvSpPr/>
          <p:nvPr>
            <p:ph idx="5" type="pic"/>
          </p:nvPr>
        </p:nvSpPr>
        <p:spPr>
          <a:xfrm>
            <a:off x="5621504" y="1814524"/>
            <a:ext cx="1468228" cy="151216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8" name="Google Shape;58;p19"/>
          <p:cNvSpPr/>
          <p:nvPr>
            <p:ph idx="6" type="pic"/>
          </p:nvPr>
        </p:nvSpPr>
        <p:spPr>
          <a:xfrm>
            <a:off x="7178918" y="627533"/>
            <a:ext cx="1728192" cy="269973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Images and Contents Layout">
  <p:cSld name="4_Images and Contents Layou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0"/>
          <p:cNvSpPr txBox="1"/>
          <p:nvPr>
            <p:ph idx="1" type="body"/>
          </p:nvPr>
        </p:nvSpPr>
        <p:spPr>
          <a:xfrm>
            <a:off x="0" y="411510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20"/>
          <p:cNvSpPr txBox="1"/>
          <p:nvPr>
            <p:ph idx="2" type="body"/>
          </p:nvPr>
        </p:nvSpPr>
        <p:spPr>
          <a:xfrm>
            <a:off x="0" y="987574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D:\Fullppt\005-PNG이미지\노트북.png" id="62" name="Google Shape;6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757041" y="1313860"/>
            <a:ext cx="6438182" cy="327456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0"/>
          <p:cNvSpPr/>
          <p:nvPr>
            <p:ph idx="3" type="pic"/>
          </p:nvPr>
        </p:nvSpPr>
        <p:spPr>
          <a:xfrm>
            <a:off x="981898" y="1731279"/>
            <a:ext cx="3085597" cy="228186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 sets layout">
  <p:cSld name="icon sets layou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1"/>
          <p:cNvSpPr txBox="1"/>
          <p:nvPr>
            <p:ph idx="1" type="body"/>
          </p:nvPr>
        </p:nvSpPr>
        <p:spPr>
          <a:xfrm>
            <a:off x="0" y="475603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66" name="Google Shape;66;p21"/>
          <p:cNvGrpSpPr/>
          <p:nvPr/>
        </p:nvGrpSpPr>
        <p:grpSpPr>
          <a:xfrm>
            <a:off x="354008" y="1131589"/>
            <a:ext cx="2849840" cy="3384377"/>
            <a:chOff x="354008" y="1131589"/>
            <a:chExt cx="2849840" cy="3649171"/>
          </a:xfrm>
        </p:grpSpPr>
        <p:sp>
          <p:nvSpPr>
            <p:cNvPr id="67" name="Google Shape;67;p21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fmla="val 3968" name="adj"/>
              </a:avLst>
            </a:prstGeom>
            <a:solidFill>
              <a:srgbClr val="17365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1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fmla="val 50000" name="adj"/>
              </a:avLst>
            </a:prstGeom>
            <a:solidFill>
              <a:schemeClr val="lt1">
                <a:alpha val="40784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fmla="val 23728" name="adj1"/>
                <a:gd fmla="val 24642" name="adj2"/>
              </a:avLst>
            </a:prstGeom>
            <a:solidFill>
              <a:schemeClr val="lt1">
                <a:alpha val="2274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image" Target="../media/image12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070850" y="0"/>
            <a:ext cx="6088050" cy="55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10800000">
            <a:off x="-23339" y="4592250"/>
            <a:ext cx="6088050" cy="55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6"/>
          <p:cNvSpPr txBox="1"/>
          <p:nvPr/>
        </p:nvSpPr>
        <p:spPr>
          <a:xfrm>
            <a:off x="179512" y="123478"/>
            <a:ext cx="1440160" cy="33855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070850" y="0"/>
            <a:ext cx="6088050" cy="55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10800000">
            <a:off x="-36511" y="4592250"/>
            <a:ext cx="6088050" cy="55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8"/>
          <p:cNvSpPr txBox="1"/>
          <p:nvPr/>
        </p:nvSpPr>
        <p:spPr>
          <a:xfrm>
            <a:off x="179512" y="123478"/>
            <a:ext cx="1440160" cy="33855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/>
          <p:cNvSpPr txBox="1"/>
          <p:nvPr>
            <p:ph idx="1" type="body"/>
          </p:nvPr>
        </p:nvSpPr>
        <p:spPr>
          <a:xfrm>
            <a:off x="4014" y="1995686"/>
            <a:ext cx="9144000" cy="522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3.2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Seven Cs of Effective Communication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Completeness</a:t>
            </a:r>
            <a:endParaRPr/>
          </a:p>
        </p:txBody>
      </p:sp>
      <p:pic>
        <p:nvPicPr>
          <p:cNvPr id="75" name="Google Shape;7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/>
          <p:nvPr/>
        </p:nvSpPr>
        <p:spPr>
          <a:xfrm>
            <a:off x="827584" y="555526"/>
            <a:ext cx="67687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1" name="Google Shape;8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"/>
          <p:cNvSpPr txBox="1"/>
          <p:nvPr>
            <p:ph idx="1" type="body"/>
          </p:nvPr>
        </p:nvSpPr>
        <p:spPr>
          <a:xfrm>
            <a:off x="0" y="642924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Cs of Effective Communication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2"/>
          <p:cNvSpPr txBox="1"/>
          <p:nvPr>
            <p:ph idx="2" type="body"/>
          </p:nvPr>
        </p:nvSpPr>
        <p:spPr>
          <a:xfrm>
            <a:off x="0" y="1285866"/>
            <a:ext cx="9144000" cy="2000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7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C's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of Communication are the principles that help writers and speakers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 communicate effectively. It becomes easier for the sender and the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receiver to share and understand the shared knowledge at the same level of understanding.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Seven+C’s+of+Effective+Communication.jpg" id="84" name="Google Shape;8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143254"/>
            <a:ext cx="9144000" cy="2000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"/>
          <p:cNvSpPr txBox="1"/>
          <p:nvPr/>
        </p:nvSpPr>
        <p:spPr>
          <a:xfrm>
            <a:off x="827584" y="555526"/>
            <a:ext cx="67687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"/>
          <p:cNvSpPr txBox="1"/>
          <p:nvPr>
            <p:ph idx="1" type="body"/>
          </p:nvPr>
        </p:nvSpPr>
        <p:spPr>
          <a:xfrm>
            <a:off x="0" y="642924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Completeness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3"/>
          <p:cNvSpPr txBox="1"/>
          <p:nvPr>
            <p:ph idx="2" type="body"/>
          </p:nvPr>
        </p:nvSpPr>
        <p:spPr>
          <a:xfrm>
            <a:off x="345775" y="1857375"/>
            <a:ext cx="8798100" cy="24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message is considered as complete when it includes all the facts and  the necessary information to achieve the desired response.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152400" lvl="0" marL="0" rtl="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Char char="❑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Provide all necessary information by applying 5 W’s checklist.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Who, What, When, Where and Why </a:t>
            </a:r>
            <a:endParaRPr/>
          </a:p>
          <a:p>
            <a:pPr indent="-152400" lvl="0" marL="0" rtl="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Char char="❑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Answer all the questions asked.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0" rtl="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Char char="❑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Give something extra when desired.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 txBox="1"/>
          <p:nvPr/>
        </p:nvSpPr>
        <p:spPr>
          <a:xfrm>
            <a:off x="827584" y="555526"/>
            <a:ext cx="67687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8" name="Google Shape;9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4"/>
          <p:cNvSpPr txBox="1"/>
          <p:nvPr>
            <p:ph idx="1" type="body"/>
          </p:nvPr>
        </p:nvSpPr>
        <p:spPr>
          <a:xfrm>
            <a:off x="0" y="642924"/>
            <a:ext cx="9144000" cy="576064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Bad Example               Good Example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4"/>
          <p:cNvSpPr txBox="1"/>
          <p:nvPr>
            <p:ph idx="2" type="body"/>
          </p:nvPr>
        </p:nvSpPr>
        <p:spPr>
          <a:xfrm>
            <a:off x="1500166" y="1571618"/>
            <a:ext cx="6072230" cy="285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1" name="Google Shape;101;p4"/>
          <p:cNvGraphicFramePr/>
          <p:nvPr/>
        </p:nvGraphicFramePr>
        <p:xfrm>
          <a:off x="214282" y="15716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{309C7B08-E425-4D39-AC08-8365FC6A70A1}</a:tableStyleId>
              </a:tblPr>
              <a:tblGrid>
                <a:gridCol w="4357725"/>
                <a:gridCol w="4357725"/>
              </a:tblGrid>
              <a:tr h="2857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wanted to inform you that we 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will have a meeting tomorrow.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wanted to remind you about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tomorrow's  meeting regarding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ONLINE</a:t>
                      </a:r>
                      <a:r>
                        <a:rPr b="0"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TEACHING</a:t>
                      </a:r>
                      <a:r>
                        <a:rPr b="0"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 The 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meeting will be</a:t>
                      </a:r>
                      <a:r>
                        <a:rPr b="0"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held in the</a:t>
                      </a:r>
                      <a:r>
                        <a:rPr b="0"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conference  room</a:t>
                      </a:r>
                      <a:r>
                        <a:rPr b="0"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from 10 am to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 am. 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7365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/>
          <p:nvPr/>
        </p:nvSpPr>
        <p:spPr>
          <a:xfrm>
            <a:off x="827584" y="555526"/>
            <a:ext cx="67687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" name="Google Shape;10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5"/>
          <p:cNvSpPr txBox="1"/>
          <p:nvPr>
            <p:ph idx="1" type="body"/>
          </p:nvPr>
        </p:nvSpPr>
        <p:spPr>
          <a:xfrm>
            <a:off x="0" y="642924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5"/>
          <p:cNvSpPr txBox="1"/>
          <p:nvPr>
            <p:ph idx="2" type="body"/>
          </p:nvPr>
        </p:nvSpPr>
        <p:spPr>
          <a:xfrm>
            <a:off x="0" y="1857370"/>
            <a:ext cx="9144000" cy="2448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5240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Char char="❑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Thill, J. V., &amp; Bovee, C. L. (2013). </a:t>
            </a:r>
            <a:r>
              <a:rPr i="1"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Excellence in Business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rPr i="1"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Communication (10th ed.). </a:t>
            </a:r>
            <a:r>
              <a:rPr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Pearson.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 sz="24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0" rtl="0" algn="l">
              <a:spcBef>
                <a:spcPts val="48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Char char="❑"/>
            </a:pPr>
            <a:r>
              <a:rPr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Guffey, M. E., &amp; Loewy, D. (2016). </a:t>
            </a:r>
            <a:r>
              <a:rPr i="1"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Essentials of business  </a:t>
            </a:r>
            <a:br>
              <a:rPr i="1"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1"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communication (10th ed.). </a:t>
            </a:r>
            <a:r>
              <a:rPr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Cengage Learning.</a:t>
            </a:r>
            <a:endParaRPr sz="24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ver and End Slide Master">
  <a:themeElements>
    <a:clrScheme name="ALLPPT-COLOR-A3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ntents Slide Master">
  <a:themeElements>
    <a:clrScheme name="ALLPPT-COLOR-A3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2016-12-05T23:26:54Z</dcterms:created>
  <dc:creator>GoogleSlidesPPT.com;Allppt.com</dc:creator>
</cp:coreProperties>
</file>