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  <p:sldMasterId id="2147483651" r:id="rId5"/>
    <p:sldMasterId id="2147483664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720">
          <p15:clr>
            <a:srgbClr val="747775"/>
          </p15:clr>
        </p15:guide>
        <p15:guide id="4" pos="1224">
          <p15:clr>
            <a:srgbClr val="747775"/>
          </p15:clr>
        </p15:guide>
      </p15:sldGuideLst>
    </p:ext>
    <p:ext uri="GoogleSlidesCustomDataVersion2">
      <go:slidesCustomData xmlns:go="http://customooxmlschemas.google.com/" r:id="rId15" roundtripDataSignature="AMtx7mj9E2rUm21TFRk+gjccOlu3JZXPf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  <p:guide pos="720" orient="horz"/>
        <p:guide pos="1224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5" Type="http://customschemas.google.com/relationships/presentationmetadata" Target="metadata"/><Relationship Id="rId14" Type="http://schemas.openxmlformats.org/officeDocument/2006/relationships/slide" Target="slides/slide7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0" name="Google Shape;80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" name="Google Shape;8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2" name="Google Shape;10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2" name="Google Shape;11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4" name="Google Shape;12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9" name="Google Shape;139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8" name="Google Shape;14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0.jp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Slide layout">
  <p:cSld name="Cover Slide layout">
    <p:bg>
      <p:bgPr>
        <a:solidFill>
          <a:schemeClr val="lt1"/>
        </a:soli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9"/>
          <p:cNvSpPr txBox="1"/>
          <p:nvPr>
            <p:ph idx="1" type="body"/>
          </p:nvPr>
        </p:nvSpPr>
        <p:spPr>
          <a:xfrm>
            <a:off x="0" y="3705210"/>
            <a:ext cx="9144000" cy="522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Arial"/>
              <a:buNone/>
              <a:defRPr b="1" i="0" sz="36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" name="Google Shape;15;p9"/>
          <p:cNvSpPr txBox="1"/>
          <p:nvPr>
            <p:ph idx="2" type="body"/>
          </p:nvPr>
        </p:nvSpPr>
        <p:spPr>
          <a:xfrm>
            <a:off x="-148" y="4227934"/>
            <a:ext cx="9144000" cy="288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d Slide Layout">
  <p:cSld name="End Slide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2"/>
          <p:cNvSpPr/>
          <p:nvPr/>
        </p:nvSpPr>
        <p:spPr>
          <a:xfrm>
            <a:off x="2699644" y="699542"/>
            <a:ext cx="3744416" cy="3744416"/>
          </a:xfrm>
          <a:prstGeom prst="ellipse">
            <a:avLst/>
          </a:prstGeom>
          <a:solidFill>
            <a:srgbClr val="17365D">
              <a:alpha val="7647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12"/>
          <p:cNvSpPr txBox="1"/>
          <p:nvPr>
            <p:ph idx="1" type="body"/>
          </p:nvPr>
        </p:nvSpPr>
        <p:spPr>
          <a:xfrm>
            <a:off x="2699792" y="2181230"/>
            <a:ext cx="3744416" cy="5760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" name="Google Shape;19;p12"/>
          <p:cNvSpPr txBox="1"/>
          <p:nvPr>
            <p:ph idx="2" type="body"/>
          </p:nvPr>
        </p:nvSpPr>
        <p:spPr>
          <a:xfrm>
            <a:off x="2699644" y="2757294"/>
            <a:ext cx="3744416" cy="288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sic Layout">
  <p:cSld name="Basic Layout">
    <p:bg>
      <p:bgPr>
        <a:solidFill>
          <a:schemeClr val="lt1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1"/>
          <p:cNvSpPr txBox="1"/>
          <p:nvPr>
            <p:ph idx="1" type="body"/>
          </p:nvPr>
        </p:nvSpPr>
        <p:spPr>
          <a:xfrm>
            <a:off x="0" y="483518"/>
            <a:ext cx="9144000" cy="576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6" name="Google Shape;26;p11"/>
          <p:cNvSpPr txBox="1"/>
          <p:nvPr>
            <p:ph idx="2" type="body"/>
          </p:nvPr>
        </p:nvSpPr>
        <p:spPr>
          <a:xfrm>
            <a:off x="0" y="1059582"/>
            <a:ext cx="9144000" cy="288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Layout">
  <p:cSld name="Agenda Layout">
    <p:bg>
      <p:bgPr>
        <a:solidFill>
          <a:schemeClr val="lt1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Basic Layout">
  <p:cSld name="2_Basic Layout">
    <p:bg>
      <p:bgPr>
        <a:solidFill>
          <a:schemeClr val="lt1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4"/>
          <p:cNvSpPr txBox="1"/>
          <p:nvPr>
            <p:ph idx="1" type="body"/>
          </p:nvPr>
        </p:nvSpPr>
        <p:spPr>
          <a:xfrm>
            <a:off x="179512" y="555526"/>
            <a:ext cx="8424936" cy="576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0" name="Google Shape;30;p14"/>
          <p:cNvSpPr txBox="1"/>
          <p:nvPr>
            <p:ph idx="2" type="body"/>
          </p:nvPr>
        </p:nvSpPr>
        <p:spPr>
          <a:xfrm>
            <a:off x="179512" y="1203598"/>
            <a:ext cx="8424936" cy="288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Basic Layout">
  <p:cSld name="1_Basic Layout">
    <p:bg>
      <p:bgPr>
        <a:solidFill>
          <a:schemeClr val="lt1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5"/>
          <p:cNvSpPr txBox="1"/>
          <p:nvPr>
            <p:ph idx="1" type="body"/>
          </p:nvPr>
        </p:nvSpPr>
        <p:spPr>
          <a:xfrm>
            <a:off x="179512" y="483518"/>
            <a:ext cx="4248472" cy="576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3" name="Google Shape;33;p15"/>
          <p:cNvSpPr txBox="1"/>
          <p:nvPr>
            <p:ph idx="2" type="body"/>
          </p:nvPr>
        </p:nvSpPr>
        <p:spPr>
          <a:xfrm>
            <a:off x="179512" y="1131590"/>
            <a:ext cx="4248472" cy="288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Basic Layout">
  <p:cSld name="3_Basic Layout">
    <p:bg>
      <p:bgPr>
        <a:solidFill>
          <a:schemeClr val="lt1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6"/>
          <p:cNvSpPr/>
          <p:nvPr/>
        </p:nvSpPr>
        <p:spPr>
          <a:xfrm>
            <a:off x="0" y="0"/>
            <a:ext cx="9144000" cy="10595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16"/>
          <p:cNvSpPr txBox="1"/>
          <p:nvPr>
            <p:ph idx="1" type="body"/>
          </p:nvPr>
        </p:nvSpPr>
        <p:spPr>
          <a:xfrm>
            <a:off x="-42902" y="455940"/>
            <a:ext cx="9144000" cy="576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7" name="Google Shape;37;p16"/>
          <p:cNvSpPr txBox="1"/>
          <p:nvPr>
            <p:ph idx="2" type="body"/>
          </p:nvPr>
        </p:nvSpPr>
        <p:spPr>
          <a:xfrm>
            <a:off x="0" y="887988"/>
            <a:ext cx="9144000" cy="288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8" name="Google Shape;38;p16"/>
          <p:cNvSpPr/>
          <p:nvPr>
            <p:ph idx="3" type="pic"/>
          </p:nvPr>
        </p:nvSpPr>
        <p:spPr>
          <a:xfrm>
            <a:off x="649246" y="1275606"/>
            <a:ext cx="1648869" cy="1648869"/>
          </a:xfrm>
          <a:prstGeom prst="ellipse">
            <a:avLst/>
          </a:prstGeom>
          <a:solidFill>
            <a:srgbClr val="F2F2F2"/>
          </a:solidFill>
          <a:ln cap="flat" cmpd="sng" w="38100">
            <a:solidFill>
              <a:srgbClr val="538CD5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" name="Google Shape;39;p16"/>
          <p:cNvSpPr/>
          <p:nvPr>
            <p:ph idx="4" type="pic"/>
          </p:nvPr>
        </p:nvSpPr>
        <p:spPr>
          <a:xfrm>
            <a:off x="2720790" y="1275606"/>
            <a:ext cx="1648869" cy="1648869"/>
          </a:xfrm>
          <a:prstGeom prst="ellipse">
            <a:avLst/>
          </a:prstGeom>
          <a:solidFill>
            <a:srgbClr val="F2F2F2"/>
          </a:solidFill>
          <a:ln cap="flat" cmpd="sng" w="38100">
            <a:solidFill>
              <a:srgbClr val="538CD5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" name="Google Shape;40;p16"/>
          <p:cNvSpPr/>
          <p:nvPr>
            <p:ph idx="5" type="pic"/>
          </p:nvPr>
        </p:nvSpPr>
        <p:spPr>
          <a:xfrm>
            <a:off x="4792334" y="1275606"/>
            <a:ext cx="1648869" cy="1648869"/>
          </a:xfrm>
          <a:prstGeom prst="ellipse">
            <a:avLst/>
          </a:prstGeom>
          <a:solidFill>
            <a:srgbClr val="F2F2F2"/>
          </a:solidFill>
          <a:ln cap="flat" cmpd="sng" w="38100">
            <a:solidFill>
              <a:srgbClr val="538CD5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" name="Google Shape;41;p16"/>
          <p:cNvSpPr/>
          <p:nvPr>
            <p:ph idx="6" type="pic"/>
          </p:nvPr>
        </p:nvSpPr>
        <p:spPr>
          <a:xfrm>
            <a:off x="6863879" y="1275606"/>
            <a:ext cx="1648869" cy="1648869"/>
          </a:xfrm>
          <a:prstGeom prst="ellipse">
            <a:avLst/>
          </a:prstGeom>
          <a:solidFill>
            <a:srgbClr val="F2F2F2"/>
          </a:solidFill>
          <a:ln cap="flat" cmpd="sng" w="38100">
            <a:solidFill>
              <a:srgbClr val="538CD5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s and Contents Layout">
  <p:cSld name="Images and Contents Layou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7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Images and Contents Layout">
  <p:cSld name="1_Images and Contents Layou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Images and Contents Layout">
  <p:cSld name="2_Images and Contents Layout">
    <p:bg>
      <p:bgPr>
        <a:solidFill>
          <a:srgbClr val="17365D"/>
        </a:solid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9"/>
          <p:cNvSpPr/>
          <p:nvPr>
            <p:ph idx="2" type="pic"/>
          </p:nvPr>
        </p:nvSpPr>
        <p:spPr>
          <a:xfrm>
            <a:off x="3347864" y="627534"/>
            <a:ext cx="5796136" cy="1052002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47" name="Google Shape;47;p19"/>
          <p:cNvSpPr/>
          <p:nvPr>
            <p:ph idx="3" type="pic"/>
          </p:nvPr>
        </p:nvSpPr>
        <p:spPr>
          <a:xfrm>
            <a:off x="4104000" y="1798321"/>
            <a:ext cx="5040000" cy="154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48" name="Google Shape;48;p19"/>
          <p:cNvSpPr/>
          <p:nvPr>
            <p:ph idx="4" type="pic"/>
          </p:nvPr>
        </p:nvSpPr>
        <p:spPr>
          <a:xfrm>
            <a:off x="4824000" y="3465106"/>
            <a:ext cx="4320000" cy="105086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Basic Layout">
  <p:cSld name="4_Basic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0"/>
          <p:cNvSpPr/>
          <p:nvPr>
            <p:ph idx="2" type="pic"/>
          </p:nvPr>
        </p:nvSpPr>
        <p:spPr>
          <a:xfrm>
            <a:off x="3937417" y="627534"/>
            <a:ext cx="1872000" cy="3816424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51" name="Google Shape;51;p20"/>
          <p:cNvSpPr/>
          <p:nvPr>
            <p:ph idx="3" type="pic"/>
          </p:nvPr>
        </p:nvSpPr>
        <p:spPr>
          <a:xfrm>
            <a:off x="1968708" y="627534"/>
            <a:ext cx="1872000" cy="3816424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52" name="Google Shape;52;p20"/>
          <p:cNvSpPr/>
          <p:nvPr>
            <p:ph idx="4" type="pic"/>
          </p:nvPr>
        </p:nvSpPr>
        <p:spPr>
          <a:xfrm>
            <a:off x="0" y="627534"/>
            <a:ext cx="1872000" cy="3816424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Images and Contents Layout">
  <p:cSld name="3_Images and Contents Layout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1"/>
          <p:cNvSpPr/>
          <p:nvPr>
            <p:ph idx="2" type="pic"/>
          </p:nvPr>
        </p:nvSpPr>
        <p:spPr>
          <a:xfrm>
            <a:off x="3795621" y="627533"/>
            <a:ext cx="3294112" cy="1115553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55" name="Google Shape;55;p21"/>
          <p:cNvSpPr/>
          <p:nvPr>
            <p:ph idx="3" type="pic"/>
          </p:nvPr>
        </p:nvSpPr>
        <p:spPr>
          <a:xfrm>
            <a:off x="5613166" y="3399271"/>
            <a:ext cx="3293944" cy="1116695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56" name="Google Shape;56;p21"/>
          <p:cNvSpPr/>
          <p:nvPr>
            <p:ph idx="4" type="pic"/>
          </p:nvPr>
        </p:nvSpPr>
        <p:spPr>
          <a:xfrm>
            <a:off x="3795621" y="1815095"/>
            <a:ext cx="1728192" cy="2700871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57" name="Google Shape;57;p21"/>
          <p:cNvSpPr/>
          <p:nvPr>
            <p:ph idx="5" type="pic"/>
          </p:nvPr>
        </p:nvSpPr>
        <p:spPr>
          <a:xfrm>
            <a:off x="5621504" y="1814524"/>
            <a:ext cx="1468228" cy="1512168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58" name="Google Shape;58;p21"/>
          <p:cNvSpPr/>
          <p:nvPr>
            <p:ph idx="6" type="pic"/>
          </p:nvPr>
        </p:nvSpPr>
        <p:spPr>
          <a:xfrm>
            <a:off x="7178918" y="627533"/>
            <a:ext cx="1728192" cy="269973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Images and Contents Layout">
  <p:cSld name="4_Images and Contents Layou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2"/>
          <p:cNvSpPr txBox="1"/>
          <p:nvPr>
            <p:ph idx="1" type="body"/>
          </p:nvPr>
        </p:nvSpPr>
        <p:spPr>
          <a:xfrm>
            <a:off x="0" y="411510"/>
            <a:ext cx="9144000" cy="576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1" name="Google Shape;61;p22"/>
          <p:cNvSpPr txBox="1"/>
          <p:nvPr>
            <p:ph idx="2" type="body"/>
          </p:nvPr>
        </p:nvSpPr>
        <p:spPr>
          <a:xfrm>
            <a:off x="0" y="987574"/>
            <a:ext cx="9144000" cy="288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descr="D:\Fullppt\005-PNG이미지\노트북.png" id="62" name="Google Shape;62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757041" y="1313860"/>
            <a:ext cx="6438182" cy="3274563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22"/>
          <p:cNvSpPr/>
          <p:nvPr>
            <p:ph idx="3" type="pic"/>
          </p:nvPr>
        </p:nvSpPr>
        <p:spPr>
          <a:xfrm>
            <a:off x="981898" y="1731279"/>
            <a:ext cx="3085597" cy="2281868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con sets layout">
  <p:cSld name="icon sets layou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3"/>
          <p:cNvSpPr txBox="1"/>
          <p:nvPr>
            <p:ph idx="1" type="body"/>
          </p:nvPr>
        </p:nvSpPr>
        <p:spPr>
          <a:xfrm>
            <a:off x="0" y="475603"/>
            <a:ext cx="9144000" cy="576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66" name="Google Shape;66;p23"/>
          <p:cNvGrpSpPr/>
          <p:nvPr/>
        </p:nvGrpSpPr>
        <p:grpSpPr>
          <a:xfrm>
            <a:off x="354008" y="1131589"/>
            <a:ext cx="2849840" cy="3384377"/>
            <a:chOff x="354008" y="1131589"/>
            <a:chExt cx="2849840" cy="3649171"/>
          </a:xfrm>
        </p:grpSpPr>
        <p:sp>
          <p:nvSpPr>
            <p:cNvPr id="67" name="Google Shape;67;p23"/>
            <p:cNvSpPr/>
            <p:nvPr/>
          </p:nvSpPr>
          <p:spPr>
            <a:xfrm>
              <a:off x="354008" y="1131589"/>
              <a:ext cx="2849840" cy="3649171"/>
            </a:xfrm>
            <a:prstGeom prst="roundRect">
              <a:avLst>
                <a:gd fmla="val 3968" name="adj"/>
              </a:avLst>
            </a:prstGeom>
            <a:solidFill>
              <a:srgbClr val="17365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" name="Google Shape;68;p23"/>
            <p:cNvSpPr/>
            <p:nvPr/>
          </p:nvSpPr>
          <p:spPr>
            <a:xfrm>
              <a:off x="531932" y="1347500"/>
              <a:ext cx="108520" cy="3240473"/>
            </a:xfrm>
            <a:prstGeom prst="roundRect">
              <a:avLst>
                <a:gd fmla="val 50000" name="adj"/>
              </a:avLst>
            </a:prstGeom>
            <a:solidFill>
              <a:schemeClr val="lt1">
                <a:alpha val="40392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" name="Google Shape;69;p23"/>
            <p:cNvSpPr/>
            <p:nvPr/>
          </p:nvSpPr>
          <p:spPr>
            <a:xfrm rot="5400000">
              <a:off x="2592642" y="1238201"/>
              <a:ext cx="502331" cy="502331"/>
            </a:xfrm>
            <a:prstGeom prst="halfFrame">
              <a:avLst>
                <a:gd fmla="val 23728" name="adj1"/>
                <a:gd fmla="val 24642" name="adj2"/>
              </a:avLst>
            </a:prstGeom>
            <a:solidFill>
              <a:schemeClr val="lt1">
                <a:alpha val="22352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Break Layout">
  <p:cSld name="Section Break Layout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5"/>
          <p:cNvSpPr txBox="1"/>
          <p:nvPr>
            <p:ph idx="1" type="body"/>
          </p:nvPr>
        </p:nvSpPr>
        <p:spPr>
          <a:xfrm>
            <a:off x="4572000" y="2253238"/>
            <a:ext cx="4572000" cy="4735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6" name="Google Shape;76;p25"/>
          <p:cNvSpPr txBox="1"/>
          <p:nvPr>
            <p:ph idx="2" type="body"/>
          </p:nvPr>
        </p:nvSpPr>
        <p:spPr>
          <a:xfrm>
            <a:off x="4572000" y="2726814"/>
            <a:ext cx="4572000" cy="288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Layout">
  <p:cSld name="Agenda Layout">
    <p:bg>
      <p:bgPr>
        <a:solidFill>
          <a:schemeClr val="lt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image" Target="../media/image17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5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8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3070850" y="0"/>
            <a:ext cx="6088050" cy="551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8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 rot="10800000">
            <a:off x="-23339" y="4592250"/>
            <a:ext cx="6088050" cy="551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8"/>
          <p:cNvSpPr txBox="1"/>
          <p:nvPr/>
        </p:nvSpPr>
        <p:spPr>
          <a:xfrm>
            <a:off x="179512" y="123478"/>
            <a:ext cx="1440160" cy="338554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3"/>
    <p:sldLayoutId id="2147483650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10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3070850" y="0"/>
            <a:ext cx="6088050" cy="551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2;p10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 rot="10800000">
            <a:off x="-36511" y="4592250"/>
            <a:ext cx="6088050" cy="55125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10"/>
          <p:cNvSpPr txBox="1"/>
          <p:nvPr/>
        </p:nvSpPr>
        <p:spPr>
          <a:xfrm>
            <a:off x="179512" y="123478"/>
            <a:ext cx="1440160" cy="338554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  <p:sldLayoutId id="2147483663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24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3070850" y="0"/>
            <a:ext cx="6088050" cy="551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24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 rot="10800000">
            <a:off x="-36511" y="4592250"/>
            <a:ext cx="6088050" cy="55125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24"/>
          <p:cNvSpPr txBox="1"/>
          <p:nvPr/>
        </p:nvSpPr>
        <p:spPr>
          <a:xfrm>
            <a:off x="179512" y="123478"/>
            <a:ext cx="1440160" cy="338554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5" r:id="rId3"/>
    <p:sldLayoutId id="2147483666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14.jpg"/><Relationship Id="rId5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11.png"/><Relationship Id="rId5" Type="http://schemas.openxmlformats.org/officeDocument/2006/relationships/image" Target="../media/image14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11.png"/><Relationship Id="rId5" Type="http://schemas.openxmlformats.org/officeDocument/2006/relationships/image" Target="../media/image14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11.png"/><Relationship Id="rId5" Type="http://schemas.openxmlformats.org/officeDocument/2006/relationships/image" Target="../media/image14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2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"/>
          <p:cNvSpPr txBox="1"/>
          <p:nvPr>
            <p:ph idx="1" type="body"/>
          </p:nvPr>
        </p:nvSpPr>
        <p:spPr>
          <a:xfrm>
            <a:off x="4014" y="1995686"/>
            <a:ext cx="9144000" cy="522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Unit 3.3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Conciseness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3" name="Google Shape;83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974" y="84080"/>
            <a:ext cx="1685925" cy="438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"/>
          <p:cNvSpPr txBox="1"/>
          <p:nvPr/>
        </p:nvSpPr>
        <p:spPr>
          <a:xfrm>
            <a:off x="827584" y="555526"/>
            <a:ext cx="6768752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9" name="Google Shape;89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974" y="84080"/>
            <a:ext cx="1685925" cy="43815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2"/>
          <p:cNvSpPr txBox="1"/>
          <p:nvPr>
            <p:ph idx="1" type="body"/>
          </p:nvPr>
        </p:nvSpPr>
        <p:spPr>
          <a:xfrm>
            <a:off x="0" y="642924"/>
            <a:ext cx="9144000" cy="576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Conciseness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1" name="Google Shape;91;p2"/>
          <p:cNvSpPr txBox="1"/>
          <p:nvPr>
            <p:ph idx="2" type="body"/>
          </p:nvPr>
        </p:nvSpPr>
        <p:spPr>
          <a:xfrm>
            <a:off x="0" y="1857370"/>
            <a:ext cx="9144000" cy="24482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Conciseness means to communicate in the least possible words without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sacrificing the other seven C’s of communication.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Noto Sans Symbols"/>
              <a:buChar char="❑"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 Eliminate flabby expressions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As you revise, focus on eliminating flabby expressions.</a:t>
            </a:r>
            <a:endParaRPr b="1"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Example: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   In due course –     Soon |     Few in Number –     Few 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   As a general rule –     generally |     At this point in time –     presently 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</a:pPr>
            <a:r>
              <a:t/>
            </a:r>
            <a:endParaRPr b="1"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2" name="Google Shape;92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39752" y="3795886"/>
            <a:ext cx="295871" cy="295871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12160" y="3795886"/>
            <a:ext cx="295871" cy="295871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71800" y="4305642"/>
            <a:ext cx="295871" cy="295871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48400" y="4305642"/>
            <a:ext cx="295871" cy="295871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flipH="1">
            <a:off x="0" y="3824263"/>
            <a:ext cx="351214" cy="267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flipH="1">
            <a:off x="3225" y="4278838"/>
            <a:ext cx="351214" cy="267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flipH="1">
            <a:off x="3454037" y="3824263"/>
            <a:ext cx="351214" cy="267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flipH="1">
            <a:off x="4359841" y="4278838"/>
            <a:ext cx="351214" cy="2674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 txBox="1"/>
          <p:nvPr/>
        </p:nvSpPr>
        <p:spPr>
          <a:xfrm>
            <a:off x="827584" y="555526"/>
            <a:ext cx="6768752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5" name="Google Shape;105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974" y="84080"/>
            <a:ext cx="1685925" cy="43815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3"/>
          <p:cNvSpPr txBox="1"/>
          <p:nvPr>
            <p:ph idx="1" type="body"/>
          </p:nvPr>
        </p:nvSpPr>
        <p:spPr>
          <a:xfrm>
            <a:off x="0" y="642924"/>
            <a:ext cx="9144000" cy="576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Conciseness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7" name="Google Shape;107;p3"/>
          <p:cNvSpPr txBox="1"/>
          <p:nvPr>
            <p:ph idx="2" type="body"/>
          </p:nvPr>
        </p:nvSpPr>
        <p:spPr>
          <a:xfrm>
            <a:off x="0" y="1218988"/>
            <a:ext cx="9144000" cy="308665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Noto Sans Symbols"/>
              <a:buChar char="❑"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Limiting Long Lead-ins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Another way to create concise sentences is to delete unnecessary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introductory words.</a:t>
            </a:r>
            <a:endParaRPr b="1"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Example: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</a:pPr>
            <a:r>
              <a:rPr i="1" lang="en-US" sz="2400">
                <a:latin typeface="Times New Roman"/>
                <a:ea typeface="Times New Roman"/>
                <a:cs typeface="Times New Roman"/>
                <a:sym typeface="Times New Roman"/>
              </a:rPr>
              <a:t>    I am sending you this e-mail to announce that a new manager has </a:t>
            </a:r>
            <a:endParaRPr i="1"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</a:pPr>
            <a:r>
              <a:rPr i="1" lang="en-US" sz="2400">
                <a:latin typeface="Times New Roman"/>
                <a:ea typeface="Times New Roman"/>
                <a:cs typeface="Times New Roman"/>
                <a:sym typeface="Times New Roman"/>
              </a:rPr>
              <a:t>    been hired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r>
              <a:rPr lang="en-US" sz="2400"/>
              <a:t> </a:t>
            </a:r>
            <a:endParaRPr sz="2400"/>
          </a:p>
          <a:p>
            <a:pPr indent="0" lvl="0" marL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</a:pPr>
            <a:r>
              <a:rPr i="1" lang="en-US" sz="2400">
                <a:latin typeface="Times New Roman"/>
                <a:ea typeface="Times New Roman"/>
                <a:cs typeface="Times New Roman"/>
                <a:sym typeface="Times New Roman"/>
              </a:rPr>
              <a:t>    A new manager has been hired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b="1"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8" name="Google Shape;108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>
            <a:off x="20727" y="3075806"/>
            <a:ext cx="351214" cy="267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398" y="3919364"/>
            <a:ext cx="295871" cy="2958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"/>
          <p:cNvSpPr txBox="1"/>
          <p:nvPr/>
        </p:nvSpPr>
        <p:spPr>
          <a:xfrm>
            <a:off x="827584" y="555526"/>
            <a:ext cx="6768752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5" name="Google Shape;11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974" y="84080"/>
            <a:ext cx="1685925" cy="43815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4"/>
          <p:cNvSpPr txBox="1"/>
          <p:nvPr>
            <p:ph idx="1" type="body"/>
          </p:nvPr>
        </p:nvSpPr>
        <p:spPr>
          <a:xfrm>
            <a:off x="0" y="642924"/>
            <a:ext cx="9144000" cy="576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Conciseness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7" name="Google Shape;117;p4"/>
          <p:cNvSpPr txBox="1"/>
          <p:nvPr>
            <p:ph idx="2" type="body"/>
          </p:nvPr>
        </p:nvSpPr>
        <p:spPr>
          <a:xfrm>
            <a:off x="0" y="1218988"/>
            <a:ext cx="9144000" cy="308665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905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Noto Sans Symbols"/>
              <a:buNone/>
            </a:pPr>
            <a:r>
              <a:t/>
            </a:r>
            <a:endParaRPr b="1"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905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Noto Sans Symbols"/>
              <a:buNone/>
            </a:pPr>
            <a:r>
              <a:t/>
            </a:r>
            <a:endParaRPr b="1"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905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Noto Sans Symbols"/>
              <a:buNone/>
            </a:pPr>
            <a:r>
              <a:t/>
            </a:r>
            <a:endParaRPr b="1"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Noto Sans Symbols"/>
              <a:buChar char="❑"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Dropping Unnecessary </a:t>
            </a:r>
            <a:r>
              <a:rPr b="1" i="1" lang="en-US" sz="2400">
                <a:latin typeface="Times New Roman"/>
                <a:ea typeface="Times New Roman"/>
                <a:cs typeface="Times New Roman"/>
                <a:sym typeface="Times New Roman"/>
              </a:rPr>
              <a:t>There is/are </a:t>
            </a: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and </a:t>
            </a:r>
            <a:r>
              <a:rPr b="1" i="1" lang="en-US" sz="2400">
                <a:latin typeface="Times New Roman"/>
                <a:ea typeface="Times New Roman"/>
                <a:cs typeface="Times New Roman"/>
                <a:sym typeface="Times New Roman"/>
              </a:rPr>
              <a:t>It is/was </a:t>
            </a: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Fillers.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In many sentences the expressions </a:t>
            </a:r>
            <a:r>
              <a:rPr i="1" lang="en-US" sz="2400">
                <a:latin typeface="Times New Roman"/>
                <a:ea typeface="Times New Roman"/>
                <a:cs typeface="Times New Roman"/>
                <a:sym typeface="Times New Roman"/>
              </a:rPr>
              <a:t>there is/are 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and </a:t>
            </a:r>
            <a:r>
              <a:rPr i="1" lang="en-US" sz="2400">
                <a:latin typeface="Times New Roman"/>
                <a:ea typeface="Times New Roman"/>
                <a:cs typeface="Times New Roman"/>
                <a:sym typeface="Times New Roman"/>
              </a:rPr>
              <a:t>it is/was 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function as 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unnecessary fillers. Eliminate them by recasting the sentence.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Example: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</a:pPr>
            <a:r>
              <a:rPr i="1" lang="en-US" sz="2400">
                <a:latin typeface="Times New Roman"/>
                <a:ea typeface="Times New Roman"/>
                <a:cs typeface="Times New Roman"/>
                <a:sym typeface="Times New Roman"/>
              </a:rPr>
              <a:t>    </a:t>
            </a:r>
            <a:r>
              <a:rPr i="1" lang="en-US" sz="2400" u="sng">
                <a:latin typeface="Times New Roman"/>
                <a:ea typeface="Times New Roman"/>
                <a:cs typeface="Times New Roman"/>
                <a:sym typeface="Times New Roman"/>
              </a:rPr>
              <a:t>It was 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a Facebook post that revealed the news.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   A Facebook post revealed the news.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   </a:t>
            </a:r>
            <a:r>
              <a:rPr i="1" lang="en-US" sz="2400" u="sng">
                <a:latin typeface="Times New Roman"/>
                <a:ea typeface="Times New Roman"/>
                <a:cs typeface="Times New Roman"/>
                <a:sym typeface="Times New Roman"/>
              </a:rPr>
              <a:t>There </a:t>
            </a:r>
            <a:r>
              <a:rPr lang="en-US" sz="2400" u="sng">
                <a:latin typeface="Times New Roman"/>
                <a:ea typeface="Times New Roman"/>
                <a:cs typeface="Times New Roman"/>
                <a:sym typeface="Times New Roman"/>
              </a:rPr>
              <a:t>is 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an aggregator that collects and organizes blogs.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   An aggregator collects and organizes blogs.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</a:pPr>
            <a:r>
              <a:t/>
            </a:r>
            <a:endParaRPr b="1"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</a:pPr>
            <a:r>
              <a:t/>
            </a:r>
            <a:endParaRPr b="1"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</a:pPr>
            <a:r>
              <a:t/>
            </a:r>
            <a:endParaRPr b="1"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8" name="Google Shape;118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>
            <a:off x="18762" y="2902411"/>
            <a:ext cx="351214" cy="267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5974" y="3324190"/>
            <a:ext cx="295871" cy="2958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>
            <a:off x="25036" y="3742277"/>
            <a:ext cx="351214" cy="267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5974" y="4169361"/>
            <a:ext cx="295871" cy="2958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"/>
          <p:cNvSpPr txBox="1"/>
          <p:nvPr/>
        </p:nvSpPr>
        <p:spPr>
          <a:xfrm>
            <a:off x="827584" y="555526"/>
            <a:ext cx="6768752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7" name="Google Shape;127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974" y="84080"/>
            <a:ext cx="1685925" cy="43815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5"/>
          <p:cNvSpPr txBox="1"/>
          <p:nvPr>
            <p:ph idx="1" type="body"/>
          </p:nvPr>
        </p:nvSpPr>
        <p:spPr>
          <a:xfrm>
            <a:off x="0" y="642924"/>
            <a:ext cx="9144000" cy="576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Conciseness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9" name="Google Shape;129;p5"/>
          <p:cNvSpPr txBox="1"/>
          <p:nvPr>
            <p:ph idx="2" type="body"/>
          </p:nvPr>
        </p:nvSpPr>
        <p:spPr>
          <a:xfrm>
            <a:off x="0" y="1218988"/>
            <a:ext cx="9144000" cy="308665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905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Noto Sans Symbols"/>
              <a:buNone/>
            </a:pPr>
            <a:r>
              <a:t/>
            </a:r>
            <a:endParaRPr b="1"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905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Noto Sans Symbols"/>
              <a:buNone/>
            </a:pPr>
            <a:r>
              <a:t/>
            </a:r>
            <a:endParaRPr b="1"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Noto Sans Symbols"/>
              <a:buChar char="❑"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Rejecting Redundancies</a:t>
            </a:r>
            <a:endParaRPr b="1"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Expressions that repeat meaning or include unnecessary words are 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redundant.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Example: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   absolutely essential -     essential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   adequate enough -    adequate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   basic fundamentals -     fundamentals </a:t>
            </a:r>
            <a:r>
              <a:rPr i="1" lang="en-US" sz="2400">
                <a:latin typeface="Times New Roman"/>
                <a:ea typeface="Times New Roman"/>
                <a:cs typeface="Times New Roman"/>
                <a:sym typeface="Times New Roman"/>
              </a:rPr>
              <a:t>or 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basics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905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Noto Sans Symbols"/>
              <a:buNone/>
            </a:pPr>
            <a:r>
              <a:t/>
            </a:r>
            <a:endParaRPr b="1"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</a:pPr>
            <a:r>
              <a:t/>
            </a:r>
            <a:endParaRPr b="1"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0" name="Google Shape;130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>
            <a:off x="21220" y="3556397"/>
            <a:ext cx="351214" cy="267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>
            <a:off x="18762" y="3972976"/>
            <a:ext cx="351214" cy="267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>
            <a:off x="18762" y="3068926"/>
            <a:ext cx="351214" cy="267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018990" y="3078563"/>
            <a:ext cx="295871" cy="2958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647666" y="3504286"/>
            <a:ext cx="295871" cy="2958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944549" y="3944599"/>
            <a:ext cx="295871" cy="2958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6"/>
          <p:cNvSpPr txBox="1"/>
          <p:nvPr/>
        </p:nvSpPr>
        <p:spPr>
          <a:xfrm>
            <a:off x="827584" y="555526"/>
            <a:ext cx="6768752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42" name="Google Shape;14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974" y="84080"/>
            <a:ext cx="1685925" cy="43815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6"/>
          <p:cNvSpPr txBox="1"/>
          <p:nvPr>
            <p:ph idx="1" type="body"/>
          </p:nvPr>
        </p:nvSpPr>
        <p:spPr>
          <a:xfrm>
            <a:off x="0" y="642924"/>
            <a:ext cx="9144000" cy="576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Conciseness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4" name="Google Shape;144;p6"/>
          <p:cNvSpPr txBox="1"/>
          <p:nvPr>
            <p:ph idx="2" type="body"/>
          </p:nvPr>
        </p:nvSpPr>
        <p:spPr>
          <a:xfrm>
            <a:off x="0" y="1218988"/>
            <a:ext cx="9144000" cy="308665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Purging Empty Words</a:t>
            </a:r>
            <a:endParaRPr b="1"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Familiar phrases roll off the tongue easily, but many contain expendable parts. Be alert to these empty words and phrases: </a:t>
            </a:r>
            <a:r>
              <a:rPr i="1" lang="en-US" sz="2400">
                <a:latin typeface="Times New Roman"/>
                <a:ea typeface="Times New Roman"/>
                <a:cs typeface="Times New Roman"/>
                <a:sym typeface="Times New Roman"/>
              </a:rPr>
              <a:t>case, degree,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</a:pPr>
            <a:r>
              <a:rPr i="1" lang="en-US" sz="2400">
                <a:latin typeface="Times New Roman"/>
                <a:ea typeface="Times New Roman"/>
                <a:cs typeface="Times New Roman"/>
                <a:sym typeface="Times New Roman"/>
              </a:rPr>
              <a:t>the fact that, factor, instance, nature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, and </a:t>
            </a:r>
            <a:r>
              <a:rPr i="1" lang="en-US" sz="2400">
                <a:latin typeface="Times New Roman"/>
                <a:ea typeface="Times New Roman"/>
                <a:cs typeface="Times New Roman"/>
                <a:sym typeface="Times New Roman"/>
              </a:rPr>
              <a:t>quality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Examples: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1"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45" name="Google Shape;145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79712" y="3331710"/>
            <a:ext cx="6717748" cy="18117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7"/>
          <p:cNvSpPr txBox="1"/>
          <p:nvPr/>
        </p:nvSpPr>
        <p:spPr>
          <a:xfrm>
            <a:off x="827584" y="555526"/>
            <a:ext cx="6768752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51" name="Google Shape;151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974" y="84080"/>
            <a:ext cx="1685925" cy="43815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7"/>
          <p:cNvSpPr txBox="1"/>
          <p:nvPr>
            <p:ph idx="1" type="body"/>
          </p:nvPr>
        </p:nvSpPr>
        <p:spPr>
          <a:xfrm>
            <a:off x="0" y="642924"/>
            <a:ext cx="9144000" cy="576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7"/>
          <p:cNvSpPr txBox="1"/>
          <p:nvPr>
            <p:ph idx="2" type="body"/>
          </p:nvPr>
        </p:nvSpPr>
        <p:spPr>
          <a:xfrm>
            <a:off x="0" y="1857370"/>
            <a:ext cx="9144000" cy="24482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Noto Sans Symbols"/>
              <a:buChar char="❑"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Thill, J. V., &amp; Bovee, C. L. (2013). </a:t>
            </a:r>
            <a:r>
              <a:rPr i="1" lang="en-US" sz="24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Excellence in Business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262626"/>
              </a:buClr>
              <a:buSzPts val="2400"/>
              <a:buNone/>
            </a:pPr>
            <a:r>
              <a:rPr i="1" lang="en-US" sz="24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Communication (10th ed.). </a:t>
            </a:r>
            <a:r>
              <a:rPr lang="en-US" sz="24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Pearson.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</a:pPr>
            <a:r>
              <a:t/>
            </a:r>
            <a:endParaRPr sz="2400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Noto Sans Symbols"/>
              <a:buChar char="❑"/>
            </a:pPr>
            <a:r>
              <a:rPr lang="en-US" sz="24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Guffey, M. E., &amp; Loewy, D. (2016). </a:t>
            </a:r>
            <a:r>
              <a:rPr i="1" lang="en-US" sz="24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Essentials of business  </a:t>
            </a:r>
            <a:br>
              <a:rPr i="1" lang="en-US" sz="24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i="1" lang="en-US" sz="24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communication (10th ed.). </a:t>
            </a:r>
            <a:r>
              <a:rPr lang="en-US" sz="24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Cengage Learning.</a:t>
            </a:r>
            <a:endParaRPr sz="2400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</a:pPr>
            <a:r>
              <a:t/>
            </a:r>
            <a:endParaRPr sz="2400"/>
          </a:p>
          <a:p>
            <a:pPr indent="0" lvl="0" marL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Noto Sans Symbols"/>
              <a:buNone/>
            </a:pPr>
            <a:r>
              <a:t/>
            </a:r>
            <a:endParaRPr b="1"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ontents Slide Master">
  <a:themeElements>
    <a:clrScheme name="ALLPPT-COLOR-A30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85D8DE"/>
      </a:accent1>
      <a:accent2>
        <a:srgbClr val="85D8DE"/>
      </a:accent2>
      <a:accent3>
        <a:srgbClr val="85D8DE"/>
      </a:accent3>
      <a:accent4>
        <a:srgbClr val="85D8DE"/>
      </a:accent4>
      <a:accent5>
        <a:srgbClr val="85D8DE"/>
      </a:accent5>
      <a:accent6>
        <a:srgbClr val="85D8DE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over and End Slide Master">
  <a:themeElements>
    <a:clrScheme name="ALLPPT-COLOR-A30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85D8DE"/>
      </a:accent1>
      <a:accent2>
        <a:srgbClr val="85D8DE"/>
      </a:accent2>
      <a:accent3>
        <a:srgbClr val="85D8DE"/>
      </a:accent3>
      <a:accent4>
        <a:srgbClr val="85D8DE"/>
      </a:accent4>
      <a:accent5>
        <a:srgbClr val="85D8DE"/>
      </a:accent5>
      <a:accent6>
        <a:srgbClr val="85D8DE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ection Break Slide Master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2016-12-05T23:26:54Z</dcterms:created>
  <dc:creator>GoogleSlidesPPT.com;Allppt.com</dc:creator>
</cp:coreProperties>
</file>