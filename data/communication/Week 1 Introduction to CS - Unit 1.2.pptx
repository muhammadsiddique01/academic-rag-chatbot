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9" roundtripDataSignature="AMtx7mjN3BbuiIb/WJp3Kf6MnUp2lQJd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 name="Google Shape;2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 name="Shape 26"/>
        <p:cNvGrpSpPr/>
        <p:nvPr/>
      </p:nvGrpSpPr>
      <p:grpSpPr>
        <a:xfrm>
          <a:off x="0" y="0"/>
          <a:ext cx="0" cy="0"/>
          <a:chOff x="0" y="0"/>
          <a:chExt cx="0" cy="0"/>
        </a:xfrm>
      </p:grpSpPr>
      <p:sp>
        <p:nvSpPr>
          <p:cNvPr id="27" name="Google Shape;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 name="Google Shape;28;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 name="Shape 32"/>
        <p:cNvGrpSpPr/>
        <p:nvPr/>
      </p:nvGrpSpPr>
      <p:grpSpPr>
        <a:xfrm>
          <a:off x="0" y="0"/>
          <a:ext cx="0" cy="0"/>
          <a:chOff x="0" y="0"/>
          <a:chExt cx="0" cy="0"/>
        </a:xfrm>
      </p:grpSpPr>
      <p:sp>
        <p:nvSpPr>
          <p:cNvPr id="33" name="Google Shape;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seems like a lot of information on one slide; perhaps it could be broken down into two slides. </a:t>
            </a:r>
            <a:endParaRPr/>
          </a:p>
        </p:txBody>
      </p:sp>
      <p:sp>
        <p:nvSpPr>
          <p:cNvPr id="34" name="Google Shape;34;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ver Slide layout">
  <p:cSld name="Cover Slide layout">
    <p:bg>
      <p:bgPr>
        <a:solidFill>
          <a:schemeClr val="lt1"/>
        </a:solidFill>
      </p:bgPr>
    </p:bg>
    <p:spTree>
      <p:nvGrpSpPr>
        <p:cNvPr id="13" name="Shape 13"/>
        <p:cNvGrpSpPr/>
        <p:nvPr/>
      </p:nvGrpSpPr>
      <p:grpSpPr>
        <a:xfrm>
          <a:off x="0" y="0"/>
          <a:ext cx="0" cy="0"/>
          <a:chOff x="0" y="0"/>
          <a:chExt cx="0" cy="0"/>
        </a:xfrm>
      </p:grpSpPr>
      <p:sp>
        <p:nvSpPr>
          <p:cNvPr id="14" name="Google Shape;14;p18"/>
          <p:cNvSpPr txBox="1"/>
          <p:nvPr>
            <p:ph idx="1" type="body"/>
          </p:nvPr>
        </p:nvSpPr>
        <p:spPr>
          <a:xfrm>
            <a:off x="0" y="4940281"/>
            <a:ext cx="9144000" cy="6969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1" i="0" sz="3600" u="none" cap="none" strike="noStrike">
                <a:solidFill>
                  <a:srgbClr val="3F3F3F"/>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 name="Google Shape;15;p18"/>
          <p:cNvSpPr txBox="1"/>
          <p:nvPr>
            <p:ph idx="2" type="body"/>
          </p:nvPr>
        </p:nvSpPr>
        <p:spPr>
          <a:xfrm>
            <a:off x="-148" y="5637245"/>
            <a:ext cx="9144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1" i="0" sz="1400" u="none" cap="none" strike="noStrike">
                <a:solidFill>
                  <a:srgbClr val="3F3F3F"/>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Agenda Layout">
  <p:cSld name="Agenda Layou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d Slide Layout">
  <p:cSld name="End Slide Layou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0"/>
          <p:cNvSpPr/>
          <p:nvPr/>
        </p:nvSpPr>
        <p:spPr>
          <a:xfrm>
            <a:off x="2699644" y="932723"/>
            <a:ext cx="3744416" cy="4992555"/>
          </a:xfrm>
          <a:prstGeom prst="ellipse">
            <a:avLst/>
          </a:prstGeom>
          <a:solidFill>
            <a:srgbClr val="17365D">
              <a:alpha val="764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9" name="Google Shape;19;p20"/>
          <p:cNvSpPr txBox="1"/>
          <p:nvPr>
            <p:ph idx="1" type="body"/>
          </p:nvPr>
        </p:nvSpPr>
        <p:spPr>
          <a:xfrm>
            <a:off x="2699792" y="2908307"/>
            <a:ext cx="3744416" cy="76808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chemeClr val="lt1"/>
              </a:buClr>
              <a:buSzPts val="3600"/>
              <a:buFont typeface="Arial"/>
              <a:buNone/>
              <a:defRPr b="1" i="0" sz="3600" u="none" cap="none" strike="noStrike">
                <a:solidFill>
                  <a:schemeClr val="lt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0" name="Google Shape;20;p20"/>
          <p:cNvSpPr txBox="1"/>
          <p:nvPr>
            <p:ph idx="2" type="body"/>
          </p:nvPr>
        </p:nvSpPr>
        <p:spPr>
          <a:xfrm>
            <a:off x="2699644" y="3676392"/>
            <a:ext cx="3744416"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chemeClr val="lt1"/>
              </a:buClr>
              <a:buSzPts val="1400"/>
              <a:buFont typeface="Arial"/>
              <a:buNone/>
              <a:defRPr b="0" i="0" sz="1400" u="none" cap="none" strike="noStrike">
                <a:solidFill>
                  <a:schemeClr val="lt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pic>
        <p:nvPicPr>
          <p:cNvPr id="10" name="Google Shape;10;p17"/>
          <p:cNvPicPr preferRelativeResize="0"/>
          <p:nvPr/>
        </p:nvPicPr>
        <p:blipFill rotWithShape="1">
          <a:blip r:embed="rId1">
            <a:alphaModFix/>
          </a:blip>
          <a:srcRect b="0" l="0" r="0" t="0"/>
          <a:stretch/>
        </p:blipFill>
        <p:spPr>
          <a:xfrm>
            <a:off x="3070850" y="0"/>
            <a:ext cx="6088050" cy="735000"/>
          </a:xfrm>
          <a:prstGeom prst="rect">
            <a:avLst/>
          </a:prstGeom>
          <a:noFill/>
          <a:ln>
            <a:noFill/>
          </a:ln>
        </p:spPr>
      </p:pic>
      <p:pic>
        <p:nvPicPr>
          <p:cNvPr id="11" name="Google Shape;11;p17"/>
          <p:cNvPicPr preferRelativeResize="0"/>
          <p:nvPr/>
        </p:nvPicPr>
        <p:blipFill rotWithShape="1">
          <a:blip r:embed="rId1">
            <a:alphaModFix/>
          </a:blip>
          <a:srcRect b="0" l="0" r="0" t="0"/>
          <a:stretch/>
        </p:blipFill>
        <p:spPr>
          <a:xfrm rot="10800000">
            <a:off x="-23339" y="6123000"/>
            <a:ext cx="6088050" cy="735000"/>
          </a:xfrm>
          <a:prstGeom prst="rect">
            <a:avLst/>
          </a:prstGeom>
          <a:noFill/>
          <a:ln>
            <a:noFill/>
          </a:ln>
        </p:spPr>
      </p:pic>
      <p:sp>
        <p:nvSpPr>
          <p:cNvPr id="12" name="Google Shape;12;p17"/>
          <p:cNvSpPr txBox="1"/>
          <p:nvPr/>
        </p:nvSpPr>
        <p:spPr>
          <a:xfrm>
            <a:off x="179512" y="16463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3F3F3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mt="13000"/>
          </a:blip>
          <a:stretch>
            <a:fillRect/>
          </a:stretch>
        </a:blipFill>
      </p:bgPr>
    </p:bg>
    <p:spTree>
      <p:nvGrpSpPr>
        <p:cNvPr id="24" name="Shape 24"/>
        <p:cNvGrpSpPr/>
        <p:nvPr/>
      </p:nvGrpSpPr>
      <p:grpSpPr>
        <a:xfrm>
          <a:off x="0" y="0"/>
          <a:ext cx="0" cy="0"/>
          <a:chOff x="0" y="0"/>
          <a:chExt cx="0" cy="0"/>
        </a:xfrm>
      </p:grpSpPr>
      <p:sp>
        <p:nvSpPr>
          <p:cNvPr id="25" name="Google Shape;25;p1"/>
          <p:cNvSpPr txBox="1"/>
          <p:nvPr/>
        </p:nvSpPr>
        <p:spPr>
          <a:xfrm>
            <a:off x="685800" y="2669114"/>
            <a:ext cx="7543800" cy="151553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US" sz="3600" u="none" cap="none" strike="noStrike">
                <a:solidFill>
                  <a:srgbClr val="000000"/>
                </a:solidFill>
                <a:latin typeface="Times New Roman"/>
                <a:ea typeface="Times New Roman"/>
                <a:cs typeface="Times New Roman"/>
                <a:sym typeface="Times New Roman"/>
              </a:rPr>
              <a:t>Introduction to Communication Skills Unit 1.2</a:t>
            </a:r>
            <a:endParaRPr b="1" i="0" sz="3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 name="Shape 29"/>
        <p:cNvGrpSpPr/>
        <p:nvPr/>
      </p:nvGrpSpPr>
      <p:grpSpPr>
        <a:xfrm>
          <a:off x="0" y="0"/>
          <a:ext cx="0" cy="0"/>
          <a:chOff x="0" y="0"/>
          <a:chExt cx="0" cy="0"/>
        </a:xfrm>
      </p:grpSpPr>
      <p:sp>
        <p:nvSpPr>
          <p:cNvPr id="30" name="Google Shape;30;p6"/>
          <p:cNvSpPr txBox="1"/>
          <p:nvPr/>
        </p:nvSpPr>
        <p:spPr>
          <a:xfrm>
            <a:off x="1176866" y="915337"/>
            <a:ext cx="6798734" cy="130386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Types of Communication</a:t>
            </a:r>
            <a:endParaRPr b="1" i="0" sz="3600" u="none" cap="none" strike="noStrike">
              <a:solidFill>
                <a:schemeClr val="dk1"/>
              </a:solidFill>
              <a:latin typeface="Times New Roman"/>
              <a:ea typeface="Times New Roman"/>
              <a:cs typeface="Times New Roman"/>
              <a:sym typeface="Times New Roman"/>
            </a:endParaRPr>
          </a:p>
        </p:txBody>
      </p:sp>
      <p:sp>
        <p:nvSpPr>
          <p:cNvPr id="31" name="Google Shape;31;p6"/>
          <p:cNvSpPr txBox="1"/>
          <p:nvPr/>
        </p:nvSpPr>
        <p:spPr>
          <a:xfrm>
            <a:off x="415636" y="2050473"/>
            <a:ext cx="8201891" cy="3884659"/>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Verbal Communication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Verbal communication is the use of sounds and words to express yourself, especially in contrast to using gestures or mannerisms (non-verbal communication).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1" lang="en-US" sz="2400" u="none" cap="none" strike="noStrike">
                <a:solidFill>
                  <a:srgbClr val="000000"/>
                </a:solidFill>
                <a:latin typeface="Times New Roman"/>
                <a:ea typeface="Times New Roman"/>
                <a:cs typeface="Times New Roman"/>
                <a:sym typeface="Times New Roman"/>
              </a:rPr>
              <a:t>An example of verbal communication is saying “No” when someone asks you to do something you don’t want to do</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 name="Shape 35"/>
        <p:cNvGrpSpPr/>
        <p:nvPr/>
      </p:nvGrpSpPr>
      <p:grpSpPr>
        <a:xfrm>
          <a:off x="0" y="0"/>
          <a:ext cx="0" cy="0"/>
          <a:chOff x="0" y="0"/>
          <a:chExt cx="0" cy="0"/>
        </a:xfrm>
      </p:grpSpPr>
      <p:sp>
        <p:nvSpPr>
          <p:cNvPr id="36" name="Google Shape;36;p7"/>
          <p:cNvSpPr txBox="1"/>
          <p:nvPr/>
        </p:nvSpPr>
        <p:spPr>
          <a:xfrm>
            <a:off x="1176866" y="915337"/>
            <a:ext cx="6798734" cy="130386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Types of Communication</a:t>
            </a:r>
            <a:endParaRPr b="1" i="0" sz="3600" u="none" cap="none" strike="noStrike">
              <a:solidFill>
                <a:schemeClr val="dk1"/>
              </a:solidFill>
              <a:latin typeface="Times New Roman"/>
              <a:ea typeface="Times New Roman"/>
              <a:cs typeface="Times New Roman"/>
              <a:sym typeface="Times New Roman"/>
            </a:endParaRPr>
          </a:p>
        </p:txBody>
      </p:sp>
      <p:sp>
        <p:nvSpPr>
          <p:cNvPr id="37" name="Google Shape;37;p7"/>
          <p:cNvSpPr txBox="1"/>
          <p:nvPr/>
        </p:nvSpPr>
        <p:spPr>
          <a:xfrm>
            <a:off x="720436" y="1745673"/>
            <a:ext cx="8021782" cy="4189459"/>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480"/>
              </a:spcBef>
              <a:spcAft>
                <a:spcPts val="0"/>
              </a:spcAft>
              <a:buNone/>
            </a:pPr>
            <a:r>
              <a:rPr b="1" i="0" lang="en-US" sz="2775" u="none" cap="none" strike="noStrike">
                <a:solidFill>
                  <a:schemeClr val="dk1"/>
                </a:solidFill>
                <a:latin typeface="Times New Roman"/>
                <a:ea typeface="Times New Roman"/>
                <a:cs typeface="Times New Roman"/>
                <a:sym typeface="Times New Roman"/>
              </a:rPr>
              <a:t>Non Verbal Communication</a:t>
            </a:r>
            <a:endParaRPr b="1" i="0" sz="1572" u="none" cap="none" strike="noStrike">
              <a:solidFill>
                <a:srgbClr val="000000"/>
              </a:solidFill>
              <a:latin typeface="Arial"/>
              <a:ea typeface="Arial"/>
              <a:cs typeface="Arial"/>
              <a:sym typeface="Arial"/>
            </a:endParaRPr>
          </a:p>
          <a:p>
            <a:pPr indent="-190500" lvl="0" marL="342900" marR="0" rtl="0" algn="l">
              <a:lnSpc>
                <a:spcPct val="80000"/>
              </a:lnSpc>
              <a:spcBef>
                <a:spcPts val="480"/>
              </a:spcBef>
              <a:spcAft>
                <a:spcPts val="0"/>
              </a:spcAft>
              <a:buClr>
                <a:schemeClr val="dk1"/>
              </a:buClr>
              <a:buSzPts val="2400"/>
              <a:buFont typeface="Arial"/>
              <a:buNone/>
            </a:pPr>
            <a:r>
              <a:t/>
            </a:r>
            <a:endParaRPr b="0" i="0" sz="2220" u="none" cap="none" strike="noStrike">
              <a:solidFill>
                <a:schemeClr val="dk1"/>
              </a:solidFill>
              <a:latin typeface="Times New Roman"/>
              <a:ea typeface="Times New Roman"/>
              <a:cs typeface="Times New Roman"/>
              <a:sym typeface="Times New Roman"/>
            </a:endParaRPr>
          </a:p>
          <a:p>
            <a:pPr indent="0" lvl="0" marL="0" marR="0" rtl="0" algn="l">
              <a:lnSpc>
                <a:spcPct val="80000"/>
              </a:lnSpc>
              <a:spcBef>
                <a:spcPts val="0"/>
              </a:spcBef>
              <a:spcAft>
                <a:spcPts val="0"/>
              </a:spcAft>
              <a:buNone/>
            </a:pPr>
            <a:r>
              <a:rPr b="0" i="0" lang="en-US" sz="2220" u="none" cap="none" strike="noStrike">
                <a:solidFill>
                  <a:srgbClr val="000000"/>
                </a:solidFill>
                <a:latin typeface="Times New Roman"/>
                <a:ea typeface="Times New Roman"/>
                <a:cs typeface="Times New Roman"/>
                <a:sym typeface="Times New Roman"/>
              </a:rPr>
              <a:t>When we talk about ‘communication’, we often mean ‘what we say’: the words that we use. However, interpersonal communication is much more than the explicit meaning of words, and the information or message that they convey. It also includes implicit messages, whether intentional or not, which are expressed through non-verbal behaviors.</a:t>
            </a:r>
            <a:endParaRPr/>
          </a:p>
          <a:p>
            <a:pPr indent="0" lvl="0" marL="0" marR="0" rtl="0" algn="l">
              <a:lnSpc>
                <a:spcPct val="80000"/>
              </a:lnSpc>
              <a:spcBef>
                <a:spcPts val="0"/>
              </a:spcBef>
              <a:spcAft>
                <a:spcPts val="0"/>
              </a:spcAft>
              <a:buNone/>
            </a:pPr>
            <a:r>
              <a:t/>
            </a:r>
            <a:endParaRPr b="0" i="0" sz="2220" u="none" cap="none" strike="noStrike">
              <a:solidFill>
                <a:srgbClr val="00000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None/>
            </a:pPr>
            <a:r>
              <a:rPr b="0" i="0" lang="en-US" sz="2220" u="none" cap="none" strike="noStrike">
                <a:solidFill>
                  <a:srgbClr val="000000"/>
                </a:solidFill>
                <a:latin typeface="Times New Roman"/>
                <a:ea typeface="Times New Roman"/>
                <a:cs typeface="Times New Roman"/>
                <a:sym typeface="Times New Roman"/>
              </a:rPr>
              <a:t>Non-verbal communication includes facial expressions, the tone and pitch of the voice, gestures displayed through body language (kinesics) and the physical distance between the communicators (proxemics).</a:t>
            </a:r>
            <a:endParaRPr/>
          </a:p>
          <a:p>
            <a:pPr indent="-190500" lvl="0" marL="342900" marR="0" rtl="0" algn="l">
              <a:lnSpc>
                <a:spcPct val="80000"/>
              </a:lnSpc>
              <a:spcBef>
                <a:spcPts val="480"/>
              </a:spcBef>
              <a:spcAft>
                <a:spcPts val="0"/>
              </a:spcAft>
              <a:buClr>
                <a:schemeClr val="dk1"/>
              </a:buClr>
              <a:buSzPts val="2400"/>
              <a:buFont typeface="Arial"/>
              <a:buNone/>
            </a:pPr>
            <a:r>
              <a:t/>
            </a:r>
            <a:endParaRPr b="0" i="0" sz="222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ver and End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Syeda Javaid</dc:creator>
</cp:coreProperties>
</file>