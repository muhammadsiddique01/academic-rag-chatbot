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2"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5" roundtripDataSignature="AMtx7mhUO8sYGE2IIbb3ClSzQvB890pW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C7C526-07A6-408E-B4B8-4D0BCE47B351}">
  <a:tblStyle styleId="{D2C7C526-07A6-408E-B4B8-4D0BCE47B351}"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DF8F9"/>
          </a:solidFill>
        </a:fill>
      </a:tcStyle>
    </a:wholeTbl>
    <a:band1H>
      <a:tcTxStyle b="off" i="off"/>
      <a:tcStyle>
        <a:fill>
          <a:solidFill>
            <a:srgbClr val="D8F0F2"/>
          </a:solidFill>
        </a:fill>
      </a:tcStyle>
    </a:band1H>
    <a:band2H>
      <a:tcTxStyle b="off" i="off"/>
    </a:band2H>
    <a:band1V>
      <a:tcTxStyle b="off" i="off"/>
      <a:tcStyle>
        <a:fill>
          <a:solidFill>
            <a:srgbClr val="D8F0F2"/>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customschemas.google.com/relationships/presentationmetadata" Target="metadata"/><Relationship Id="rId14" Type="http://schemas.openxmlformats.org/officeDocument/2006/relationships/slide" Target="slides/slide7.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lang="en-US">
                <a:latin typeface="Times New Roman"/>
                <a:ea typeface="Times New Roman"/>
                <a:cs typeface="Times New Roman"/>
                <a:sym typeface="Times New Roman"/>
              </a:rPr>
              <a:t>Guffey, M. E., &amp; Loewy, D. (2015). Essentials of business communication. Nelson Education.</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Times New Roman"/>
                <a:ea typeface="Times New Roman"/>
                <a:cs typeface="Times New Roman"/>
                <a:sym typeface="Times New Roman"/>
              </a:rPr>
              <a:t>Thill, J. V., &amp; Bovee, C. L. (2013). </a:t>
            </a:r>
            <a:r>
              <a:rPr i="1" lang="en-US" sz="1200" u="none" cap="none" strike="noStrike">
                <a:solidFill>
                  <a:srgbClr val="000000"/>
                </a:solidFill>
                <a:latin typeface="Times New Roman"/>
                <a:ea typeface="Times New Roman"/>
                <a:cs typeface="Times New Roman"/>
                <a:sym typeface="Times New Roman"/>
              </a:rPr>
              <a:t>Excellence in Business Communication</a:t>
            </a:r>
            <a:r>
              <a:rPr i="0" lang="en-US" sz="1200" u="none" cap="none" strike="noStrike">
                <a:solidFill>
                  <a:srgbClr val="000000"/>
                </a:solidFill>
                <a:latin typeface="Times New Roman"/>
                <a:ea typeface="Times New Roman"/>
                <a:cs typeface="Times New Roman"/>
                <a:sym typeface="Times New Roman"/>
              </a:rPr>
              <a:t> (Tenth ed.). USA: Pearson.</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solidFill>
          <a:schemeClr val="lt1"/>
        </a:solidFill>
      </p:bgPr>
    </p:bg>
    <p:spTree>
      <p:nvGrpSpPr>
        <p:cNvPr id="13" name="Shape 13"/>
        <p:cNvGrpSpPr/>
        <p:nvPr/>
      </p:nvGrpSpPr>
      <p:grpSpPr>
        <a:xfrm>
          <a:off x="0" y="0"/>
          <a:ext cx="0" cy="0"/>
          <a:chOff x="0" y="0"/>
          <a:chExt cx="0" cy="0"/>
        </a:xfrm>
      </p:grpSpPr>
      <p:sp>
        <p:nvSpPr>
          <p:cNvPr id="14" name="Google Shape;14;p16"/>
          <p:cNvSpPr txBox="1"/>
          <p:nvPr>
            <p:ph idx="1" type="body"/>
          </p:nvPr>
        </p:nvSpPr>
        <p:spPr>
          <a:xfrm>
            <a:off x="0" y="3705210"/>
            <a:ext cx="9144000" cy="52272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1"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 name="Google Shape;15;p16"/>
          <p:cNvSpPr txBox="1"/>
          <p:nvPr>
            <p:ph idx="2" type="body"/>
          </p:nvPr>
        </p:nvSpPr>
        <p:spPr>
          <a:xfrm>
            <a:off x="-148" y="4227934"/>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1"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1"/>
          <p:cNvSpPr/>
          <p:nvPr/>
        </p:nvSpPr>
        <p:spPr>
          <a:xfrm>
            <a:off x="2699644" y="699542"/>
            <a:ext cx="3744416" cy="3744416"/>
          </a:xfrm>
          <a:prstGeom prst="ellipse">
            <a:avLst/>
          </a:prstGeom>
          <a:solidFill>
            <a:srgbClr val="17365D">
              <a:alpha val="7607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 name="Google Shape;19;p21"/>
          <p:cNvSpPr txBox="1"/>
          <p:nvPr>
            <p:ph idx="1" type="body"/>
          </p:nvPr>
        </p:nvSpPr>
        <p:spPr>
          <a:xfrm>
            <a:off x="2699792" y="2181230"/>
            <a:ext cx="3744416" cy="5760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0" name="Google Shape;20;p21"/>
          <p:cNvSpPr txBox="1"/>
          <p:nvPr>
            <p:ph idx="2" type="body"/>
          </p:nvPr>
        </p:nvSpPr>
        <p:spPr>
          <a:xfrm>
            <a:off x="2699644" y="2757294"/>
            <a:ext cx="3744416"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ayout">
  <p:cSld name="Basic Layout">
    <p:bg>
      <p:bgPr>
        <a:solidFill>
          <a:schemeClr val="lt1"/>
        </a:solidFill>
      </p:bgPr>
    </p:bg>
    <p:spTree>
      <p:nvGrpSpPr>
        <p:cNvPr id="25" name="Shape 25"/>
        <p:cNvGrpSpPr/>
        <p:nvPr/>
      </p:nvGrpSpPr>
      <p:grpSpPr>
        <a:xfrm>
          <a:off x="0" y="0"/>
          <a:ext cx="0" cy="0"/>
          <a:chOff x="0" y="0"/>
          <a:chExt cx="0" cy="0"/>
        </a:xfrm>
      </p:grpSpPr>
      <p:sp>
        <p:nvSpPr>
          <p:cNvPr id="26" name="Google Shape;26;p19"/>
          <p:cNvSpPr txBox="1"/>
          <p:nvPr>
            <p:ph idx="1" type="body"/>
          </p:nvPr>
        </p:nvSpPr>
        <p:spPr>
          <a:xfrm>
            <a:off x="0" y="483518"/>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7" name="Google Shape;27;p19"/>
          <p:cNvSpPr txBox="1"/>
          <p:nvPr>
            <p:ph idx="2" type="body"/>
          </p:nvPr>
        </p:nvSpPr>
        <p:spPr>
          <a:xfrm>
            <a:off x="0" y="1059582"/>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bg>
      <p:bgPr>
        <a:solidFill>
          <a:schemeClr val="lt1"/>
        </a:solidFill>
      </p:bgPr>
    </p:bg>
    <p:spTree>
      <p:nvGrpSpPr>
        <p:cNvPr id="28" name="Shape 2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Layout">
  <p:cSld name="2_Basic Layout">
    <p:bg>
      <p:bgPr>
        <a:solidFill>
          <a:schemeClr val="lt1"/>
        </a:solidFill>
      </p:bgPr>
    </p:bg>
    <p:spTree>
      <p:nvGrpSpPr>
        <p:cNvPr id="29" name="Shape 29"/>
        <p:cNvGrpSpPr/>
        <p:nvPr/>
      </p:nvGrpSpPr>
      <p:grpSpPr>
        <a:xfrm>
          <a:off x="0" y="0"/>
          <a:ext cx="0" cy="0"/>
          <a:chOff x="0" y="0"/>
          <a:chExt cx="0" cy="0"/>
        </a:xfrm>
      </p:grpSpPr>
      <p:sp>
        <p:nvSpPr>
          <p:cNvPr id="30" name="Google Shape;30;p22"/>
          <p:cNvSpPr txBox="1"/>
          <p:nvPr>
            <p:ph idx="1" type="body"/>
          </p:nvPr>
        </p:nvSpPr>
        <p:spPr>
          <a:xfrm>
            <a:off x="179512" y="555526"/>
            <a:ext cx="8424936" cy="57606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1" name="Google Shape;31;p22"/>
          <p:cNvSpPr txBox="1"/>
          <p:nvPr>
            <p:ph idx="2" type="body"/>
          </p:nvPr>
        </p:nvSpPr>
        <p:spPr>
          <a:xfrm>
            <a:off x="179512" y="1203598"/>
            <a:ext cx="8424936" cy="28803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Layout">
  <p:cSld name="3_Basic Layout">
    <p:bg>
      <p:bgPr>
        <a:solidFill>
          <a:schemeClr val="lt1"/>
        </a:solidFill>
      </p:bgPr>
    </p:bg>
    <p:spTree>
      <p:nvGrpSpPr>
        <p:cNvPr id="32" name="Shape 32"/>
        <p:cNvGrpSpPr/>
        <p:nvPr/>
      </p:nvGrpSpPr>
      <p:grpSpPr>
        <a:xfrm>
          <a:off x="0" y="0"/>
          <a:ext cx="0" cy="0"/>
          <a:chOff x="0" y="0"/>
          <a:chExt cx="0" cy="0"/>
        </a:xfrm>
      </p:grpSpPr>
      <p:sp>
        <p:nvSpPr>
          <p:cNvPr id="33" name="Google Shape;33;p24"/>
          <p:cNvSpPr/>
          <p:nvPr/>
        </p:nvSpPr>
        <p:spPr>
          <a:xfrm>
            <a:off x="0" y="0"/>
            <a:ext cx="9144000" cy="105958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F3F3F"/>
              </a:solidFill>
              <a:latin typeface="Arial"/>
              <a:ea typeface="Arial"/>
              <a:cs typeface="Arial"/>
              <a:sym typeface="Arial"/>
            </a:endParaRPr>
          </a:p>
        </p:txBody>
      </p:sp>
      <p:sp>
        <p:nvSpPr>
          <p:cNvPr id="34" name="Google Shape;34;p24"/>
          <p:cNvSpPr txBox="1"/>
          <p:nvPr>
            <p:ph idx="1" type="body"/>
          </p:nvPr>
        </p:nvSpPr>
        <p:spPr>
          <a:xfrm>
            <a:off x="-42902" y="455940"/>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60"/>
              </a:spcBef>
              <a:spcAft>
                <a:spcPts val="0"/>
              </a:spcAft>
              <a:buClr>
                <a:srgbClr val="3F3F3F"/>
              </a:buClr>
              <a:buSzPts val="1800"/>
              <a:buFont typeface="Arial"/>
              <a:buNone/>
              <a:defRPr b="0" i="0" sz="18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5" name="Google Shape;35;p24"/>
          <p:cNvSpPr txBox="1"/>
          <p:nvPr>
            <p:ph idx="2" type="body"/>
          </p:nvPr>
        </p:nvSpPr>
        <p:spPr>
          <a:xfrm>
            <a:off x="0" y="887988"/>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6" name="Google Shape;36;p24"/>
          <p:cNvSpPr/>
          <p:nvPr>
            <p:ph idx="3" type="pic"/>
          </p:nvPr>
        </p:nvSpPr>
        <p:spPr>
          <a:xfrm>
            <a:off x="649246"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
        <p:nvSpPr>
          <p:cNvPr id="37" name="Google Shape;37;p24"/>
          <p:cNvSpPr/>
          <p:nvPr>
            <p:ph idx="4" type="pic"/>
          </p:nvPr>
        </p:nvSpPr>
        <p:spPr>
          <a:xfrm>
            <a:off x="2720790"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
        <p:nvSpPr>
          <p:cNvPr id="38" name="Google Shape;38;p24"/>
          <p:cNvSpPr/>
          <p:nvPr>
            <p:ph idx="5" type="pic"/>
          </p:nvPr>
        </p:nvSpPr>
        <p:spPr>
          <a:xfrm>
            <a:off x="4792334"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
        <p:nvSpPr>
          <p:cNvPr id="39" name="Google Shape;39;p24"/>
          <p:cNvSpPr/>
          <p:nvPr>
            <p:ph idx="6" type="pic"/>
          </p:nvPr>
        </p:nvSpPr>
        <p:spPr>
          <a:xfrm>
            <a:off x="6863879"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Contents Layout">
  <p:cSld name="Images and Contents Layout">
    <p:spTree>
      <p:nvGrpSpPr>
        <p:cNvPr id="40" name="Shape 40"/>
        <p:cNvGrpSpPr/>
        <p:nvPr/>
      </p:nvGrpSpPr>
      <p:grpSpPr>
        <a:xfrm>
          <a:off x="0" y="0"/>
          <a:ext cx="0" cy="0"/>
          <a:chOff x="0" y="0"/>
          <a:chExt cx="0" cy="0"/>
        </a:xfrm>
      </p:grpSpPr>
      <p:sp>
        <p:nvSpPr>
          <p:cNvPr id="41" name="Google Shape;41;p25"/>
          <p:cNvSpPr/>
          <p:nvPr>
            <p:ph idx="2" type="pic"/>
          </p:nvPr>
        </p:nvSpPr>
        <p:spPr>
          <a:xfrm>
            <a:off x="0" y="0"/>
            <a:ext cx="9144000" cy="51435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s and Contents Layout">
  <p:cSld name="1_Images and Contents Layout">
    <p:spTree>
      <p:nvGrpSpPr>
        <p:cNvPr id="42" name="Shape 4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s and Contents Layout">
  <p:cSld name="2_Images and Contents Layout">
    <p:bg>
      <p:bgPr>
        <a:solidFill>
          <a:srgbClr val="17365D"/>
        </a:solidFill>
      </p:bgPr>
    </p:bg>
    <p:spTree>
      <p:nvGrpSpPr>
        <p:cNvPr id="43" name="Shape 43"/>
        <p:cNvGrpSpPr/>
        <p:nvPr/>
      </p:nvGrpSpPr>
      <p:grpSpPr>
        <a:xfrm>
          <a:off x="0" y="0"/>
          <a:ext cx="0" cy="0"/>
          <a:chOff x="0" y="0"/>
          <a:chExt cx="0" cy="0"/>
        </a:xfrm>
      </p:grpSpPr>
      <p:sp>
        <p:nvSpPr>
          <p:cNvPr id="44" name="Google Shape;44;p27"/>
          <p:cNvSpPr/>
          <p:nvPr>
            <p:ph idx="2" type="pic"/>
          </p:nvPr>
        </p:nvSpPr>
        <p:spPr>
          <a:xfrm>
            <a:off x="3347864" y="627534"/>
            <a:ext cx="5796136" cy="1052002"/>
          </a:xfrm>
          <a:prstGeom prst="rect">
            <a:avLst/>
          </a:prstGeom>
          <a:solidFill>
            <a:srgbClr val="F2F2F2"/>
          </a:solidFill>
          <a:ln>
            <a:noFill/>
          </a:ln>
        </p:spPr>
      </p:sp>
      <p:sp>
        <p:nvSpPr>
          <p:cNvPr id="45" name="Google Shape;45;p27"/>
          <p:cNvSpPr/>
          <p:nvPr>
            <p:ph idx="3" type="pic"/>
          </p:nvPr>
        </p:nvSpPr>
        <p:spPr>
          <a:xfrm>
            <a:off x="4104000" y="1798321"/>
            <a:ext cx="5040000" cy="1548000"/>
          </a:xfrm>
          <a:prstGeom prst="rect">
            <a:avLst/>
          </a:prstGeom>
          <a:solidFill>
            <a:srgbClr val="F2F2F2"/>
          </a:solidFill>
          <a:ln>
            <a:noFill/>
          </a:ln>
        </p:spPr>
      </p:sp>
      <p:sp>
        <p:nvSpPr>
          <p:cNvPr id="46" name="Google Shape;46;p27"/>
          <p:cNvSpPr/>
          <p:nvPr>
            <p:ph idx="4" type="pic"/>
          </p:nvPr>
        </p:nvSpPr>
        <p:spPr>
          <a:xfrm>
            <a:off x="4824000" y="3465106"/>
            <a:ext cx="4320000" cy="1050860"/>
          </a:xfrm>
          <a:prstGeom prst="rect">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Layout">
  <p:cSld name="4_Basic Layout">
    <p:bg>
      <p:bgPr>
        <a:blipFill>
          <a:blip r:embed="rId2">
            <a:alphaModFix/>
          </a:blip>
          <a:stretch>
            <a:fillRect/>
          </a:stretch>
        </a:blipFill>
      </p:bgPr>
    </p:bg>
    <p:spTree>
      <p:nvGrpSpPr>
        <p:cNvPr id="47" name="Shape 47"/>
        <p:cNvGrpSpPr/>
        <p:nvPr/>
      </p:nvGrpSpPr>
      <p:grpSpPr>
        <a:xfrm>
          <a:off x="0" y="0"/>
          <a:ext cx="0" cy="0"/>
          <a:chOff x="0" y="0"/>
          <a:chExt cx="0" cy="0"/>
        </a:xfrm>
      </p:grpSpPr>
      <p:sp>
        <p:nvSpPr>
          <p:cNvPr id="48" name="Google Shape;48;p28"/>
          <p:cNvSpPr/>
          <p:nvPr>
            <p:ph idx="2" type="pic"/>
          </p:nvPr>
        </p:nvSpPr>
        <p:spPr>
          <a:xfrm>
            <a:off x="3937417" y="627534"/>
            <a:ext cx="1872000" cy="3816424"/>
          </a:xfrm>
          <a:prstGeom prst="rect">
            <a:avLst/>
          </a:prstGeom>
          <a:solidFill>
            <a:srgbClr val="F2F2F2"/>
          </a:solidFill>
          <a:ln>
            <a:noFill/>
          </a:ln>
        </p:spPr>
      </p:sp>
      <p:sp>
        <p:nvSpPr>
          <p:cNvPr id="49" name="Google Shape;49;p28"/>
          <p:cNvSpPr/>
          <p:nvPr>
            <p:ph idx="3" type="pic"/>
          </p:nvPr>
        </p:nvSpPr>
        <p:spPr>
          <a:xfrm>
            <a:off x="1968708" y="627534"/>
            <a:ext cx="1872000" cy="3816424"/>
          </a:xfrm>
          <a:prstGeom prst="rect">
            <a:avLst/>
          </a:prstGeom>
          <a:solidFill>
            <a:srgbClr val="F2F2F2"/>
          </a:solidFill>
          <a:ln>
            <a:noFill/>
          </a:ln>
        </p:spPr>
      </p:sp>
      <p:sp>
        <p:nvSpPr>
          <p:cNvPr id="50" name="Google Shape;50;p28"/>
          <p:cNvSpPr/>
          <p:nvPr>
            <p:ph idx="4" type="pic"/>
          </p:nvPr>
        </p:nvSpPr>
        <p:spPr>
          <a:xfrm>
            <a:off x="0" y="627534"/>
            <a:ext cx="1872000" cy="3816424"/>
          </a:xfrm>
          <a:prstGeom prst="rect">
            <a:avLst/>
          </a:prstGeom>
          <a:solidFill>
            <a:srgbClr val="F2F2F2"/>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s and Contents Layout">
  <p:cSld name="3_Images and Contents Layout">
    <p:spTree>
      <p:nvGrpSpPr>
        <p:cNvPr id="51" name="Shape 51"/>
        <p:cNvGrpSpPr/>
        <p:nvPr/>
      </p:nvGrpSpPr>
      <p:grpSpPr>
        <a:xfrm>
          <a:off x="0" y="0"/>
          <a:ext cx="0" cy="0"/>
          <a:chOff x="0" y="0"/>
          <a:chExt cx="0" cy="0"/>
        </a:xfrm>
      </p:grpSpPr>
      <p:sp>
        <p:nvSpPr>
          <p:cNvPr id="52" name="Google Shape;52;p29"/>
          <p:cNvSpPr/>
          <p:nvPr>
            <p:ph idx="2" type="pic"/>
          </p:nvPr>
        </p:nvSpPr>
        <p:spPr>
          <a:xfrm>
            <a:off x="3795621" y="627533"/>
            <a:ext cx="3294112" cy="1115553"/>
          </a:xfrm>
          <a:prstGeom prst="rect">
            <a:avLst/>
          </a:prstGeom>
          <a:solidFill>
            <a:srgbClr val="F2F2F2"/>
          </a:solidFill>
          <a:ln>
            <a:noFill/>
          </a:ln>
        </p:spPr>
      </p:sp>
      <p:sp>
        <p:nvSpPr>
          <p:cNvPr id="53" name="Google Shape;53;p29"/>
          <p:cNvSpPr/>
          <p:nvPr>
            <p:ph idx="3" type="pic"/>
          </p:nvPr>
        </p:nvSpPr>
        <p:spPr>
          <a:xfrm>
            <a:off x="5613166" y="3399271"/>
            <a:ext cx="3293944" cy="1116695"/>
          </a:xfrm>
          <a:prstGeom prst="rect">
            <a:avLst/>
          </a:prstGeom>
          <a:solidFill>
            <a:srgbClr val="F2F2F2"/>
          </a:solidFill>
          <a:ln>
            <a:noFill/>
          </a:ln>
        </p:spPr>
      </p:sp>
      <p:sp>
        <p:nvSpPr>
          <p:cNvPr id="54" name="Google Shape;54;p29"/>
          <p:cNvSpPr/>
          <p:nvPr>
            <p:ph idx="4" type="pic"/>
          </p:nvPr>
        </p:nvSpPr>
        <p:spPr>
          <a:xfrm>
            <a:off x="3795621" y="1815095"/>
            <a:ext cx="1728192" cy="2700871"/>
          </a:xfrm>
          <a:prstGeom prst="rect">
            <a:avLst/>
          </a:prstGeom>
          <a:solidFill>
            <a:srgbClr val="F2F2F2"/>
          </a:solidFill>
          <a:ln>
            <a:noFill/>
          </a:ln>
        </p:spPr>
      </p:sp>
      <p:sp>
        <p:nvSpPr>
          <p:cNvPr id="55" name="Google Shape;55;p29"/>
          <p:cNvSpPr/>
          <p:nvPr>
            <p:ph idx="5" type="pic"/>
          </p:nvPr>
        </p:nvSpPr>
        <p:spPr>
          <a:xfrm>
            <a:off x="5621504" y="1814524"/>
            <a:ext cx="1468228" cy="1512168"/>
          </a:xfrm>
          <a:prstGeom prst="rect">
            <a:avLst/>
          </a:prstGeom>
          <a:solidFill>
            <a:srgbClr val="F2F2F2"/>
          </a:solidFill>
          <a:ln>
            <a:noFill/>
          </a:ln>
        </p:spPr>
      </p:sp>
      <p:sp>
        <p:nvSpPr>
          <p:cNvPr id="56" name="Google Shape;56;p29"/>
          <p:cNvSpPr/>
          <p:nvPr>
            <p:ph idx="6" type="pic"/>
          </p:nvPr>
        </p:nvSpPr>
        <p:spPr>
          <a:xfrm>
            <a:off x="7178918" y="627533"/>
            <a:ext cx="1728192" cy="269973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s and Contents Layout">
  <p:cSld name="4_Images and Contents Layout">
    <p:spTree>
      <p:nvGrpSpPr>
        <p:cNvPr id="57" name="Shape 57"/>
        <p:cNvGrpSpPr/>
        <p:nvPr/>
      </p:nvGrpSpPr>
      <p:grpSpPr>
        <a:xfrm>
          <a:off x="0" y="0"/>
          <a:ext cx="0" cy="0"/>
          <a:chOff x="0" y="0"/>
          <a:chExt cx="0" cy="0"/>
        </a:xfrm>
      </p:grpSpPr>
      <p:sp>
        <p:nvSpPr>
          <p:cNvPr id="58" name="Google Shape;58;p30"/>
          <p:cNvSpPr txBox="1"/>
          <p:nvPr>
            <p:ph idx="1" type="body"/>
          </p:nvPr>
        </p:nvSpPr>
        <p:spPr>
          <a:xfrm>
            <a:off x="0" y="411510"/>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60"/>
              </a:spcBef>
              <a:spcAft>
                <a:spcPts val="0"/>
              </a:spcAft>
              <a:buClr>
                <a:srgbClr val="3F3F3F"/>
              </a:buClr>
              <a:buSzPts val="1800"/>
              <a:buFont typeface="Arial"/>
              <a:buNone/>
              <a:defRPr b="0" i="0" sz="18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9" name="Google Shape;59;p30"/>
          <p:cNvSpPr txBox="1"/>
          <p:nvPr>
            <p:ph idx="2" type="body"/>
          </p:nvPr>
        </p:nvSpPr>
        <p:spPr>
          <a:xfrm>
            <a:off x="0" y="987574"/>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D:\Fullppt\005-PNG이미지\노트북.png" id="60" name="Google Shape;60;p30"/>
          <p:cNvPicPr preferRelativeResize="0"/>
          <p:nvPr/>
        </p:nvPicPr>
        <p:blipFill rotWithShape="1">
          <a:blip r:embed="rId2">
            <a:alphaModFix/>
          </a:blip>
          <a:srcRect b="0" l="0" r="0" t="0"/>
          <a:stretch/>
        </p:blipFill>
        <p:spPr>
          <a:xfrm>
            <a:off x="-757041" y="1313860"/>
            <a:ext cx="6438182" cy="3274563"/>
          </a:xfrm>
          <a:prstGeom prst="rect">
            <a:avLst/>
          </a:prstGeom>
          <a:noFill/>
          <a:ln>
            <a:noFill/>
          </a:ln>
        </p:spPr>
      </p:pic>
      <p:sp>
        <p:nvSpPr>
          <p:cNvPr id="61" name="Google Shape;61;p30"/>
          <p:cNvSpPr/>
          <p:nvPr>
            <p:ph idx="3" type="pic"/>
          </p:nvPr>
        </p:nvSpPr>
        <p:spPr>
          <a:xfrm>
            <a:off x="981898" y="1731279"/>
            <a:ext cx="3085597" cy="2281868"/>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sets layout">
  <p:cSld name="icon sets layout">
    <p:spTree>
      <p:nvGrpSpPr>
        <p:cNvPr id="62" name="Shape 62"/>
        <p:cNvGrpSpPr/>
        <p:nvPr/>
      </p:nvGrpSpPr>
      <p:grpSpPr>
        <a:xfrm>
          <a:off x="0" y="0"/>
          <a:ext cx="0" cy="0"/>
          <a:chOff x="0" y="0"/>
          <a:chExt cx="0" cy="0"/>
        </a:xfrm>
      </p:grpSpPr>
      <p:sp>
        <p:nvSpPr>
          <p:cNvPr id="63" name="Google Shape;63;p31"/>
          <p:cNvSpPr txBox="1"/>
          <p:nvPr>
            <p:ph idx="1" type="body"/>
          </p:nvPr>
        </p:nvSpPr>
        <p:spPr>
          <a:xfrm>
            <a:off x="0" y="475603"/>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grpSp>
        <p:nvGrpSpPr>
          <p:cNvPr id="64" name="Google Shape;64;p31"/>
          <p:cNvGrpSpPr/>
          <p:nvPr/>
        </p:nvGrpSpPr>
        <p:grpSpPr>
          <a:xfrm>
            <a:off x="354008" y="1131589"/>
            <a:ext cx="2849840" cy="3384377"/>
            <a:chOff x="354008" y="1131589"/>
            <a:chExt cx="2849840" cy="3649171"/>
          </a:xfrm>
        </p:grpSpPr>
        <p:sp>
          <p:nvSpPr>
            <p:cNvPr id="65" name="Google Shape;65;p31"/>
            <p:cNvSpPr/>
            <p:nvPr/>
          </p:nvSpPr>
          <p:spPr>
            <a:xfrm>
              <a:off x="354008" y="1131589"/>
              <a:ext cx="2849840" cy="3649171"/>
            </a:xfrm>
            <a:prstGeom prst="roundRect">
              <a:avLst>
                <a:gd fmla="val 3968" name="adj"/>
              </a:avLst>
            </a:prstGeom>
            <a:solidFill>
              <a:srgbClr val="1736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6" name="Google Shape;66;p31"/>
            <p:cNvSpPr/>
            <p:nvPr/>
          </p:nvSpPr>
          <p:spPr>
            <a:xfrm>
              <a:off x="531932" y="1347500"/>
              <a:ext cx="108520" cy="3240473"/>
            </a:xfrm>
            <a:prstGeom prst="roundRect">
              <a:avLst>
                <a:gd fmla="val 50000" name="adj"/>
              </a:avLst>
            </a:pr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 name="Google Shape;67;p31"/>
            <p:cNvSpPr/>
            <p:nvPr/>
          </p:nvSpPr>
          <p:spPr>
            <a:xfrm rot="5400000">
              <a:off x="2592642" y="1238201"/>
              <a:ext cx="502331" cy="502331"/>
            </a:xfrm>
            <a:prstGeom prst="halfFrame">
              <a:avLst>
                <a:gd fmla="val 23728" name="adj1"/>
                <a:gd fmla="val 24642" name="adj2"/>
              </a:avLst>
            </a:prstGeom>
            <a:solidFill>
              <a:schemeClr val="lt1">
                <a:alpha val="2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1.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5"/>
          <p:cNvPicPr preferRelativeResize="0"/>
          <p:nvPr/>
        </p:nvPicPr>
        <p:blipFill rotWithShape="1">
          <a:blip r:embed="rId1">
            <a:alphaModFix/>
          </a:blip>
          <a:srcRect b="0" l="0" r="0" t="0"/>
          <a:stretch/>
        </p:blipFill>
        <p:spPr>
          <a:xfrm>
            <a:off x="3070850" y="0"/>
            <a:ext cx="6088050" cy="551250"/>
          </a:xfrm>
          <a:prstGeom prst="rect">
            <a:avLst/>
          </a:prstGeom>
          <a:noFill/>
          <a:ln>
            <a:noFill/>
          </a:ln>
        </p:spPr>
      </p:pic>
      <p:pic>
        <p:nvPicPr>
          <p:cNvPr id="11" name="Google Shape;11;p15"/>
          <p:cNvPicPr preferRelativeResize="0"/>
          <p:nvPr/>
        </p:nvPicPr>
        <p:blipFill rotWithShape="1">
          <a:blip r:embed="rId1">
            <a:alphaModFix/>
          </a:blip>
          <a:srcRect b="0" l="0" r="0" t="0"/>
          <a:stretch/>
        </p:blipFill>
        <p:spPr>
          <a:xfrm rot="10800000">
            <a:off x="-23339" y="4592250"/>
            <a:ext cx="6088050" cy="551250"/>
          </a:xfrm>
          <a:prstGeom prst="rect">
            <a:avLst/>
          </a:prstGeom>
          <a:noFill/>
          <a:ln>
            <a:noFill/>
          </a:ln>
        </p:spPr>
      </p:pic>
      <p:sp>
        <p:nvSpPr>
          <p:cNvPr id="12" name="Google Shape;12;p15"/>
          <p:cNvSpPr txBox="1"/>
          <p:nvPr/>
        </p:nvSpPr>
        <p:spPr>
          <a:xfrm>
            <a:off x="179512" y="123478"/>
            <a:ext cx="1440160" cy="33855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pic>
        <p:nvPicPr>
          <p:cNvPr id="22" name="Google Shape;22;p18"/>
          <p:cNvPicPr preferRelativeResize="0"/>
          <p:nvPr/>
        </p:nvPicPr>
        <p:blipFill rotWithShape="1">
          <a:blip r:embed="rId1">
            <a:alphaModFix/>
          </a:blip>
          <a:srcRect b="0" l="0" r="0" t="0"/>
          <a:stretch/>
        </p:blipFill>
        <p:spPr>
          <a:xfrm>
            <a:off x="3070850" y="0"/>
            <a:ext cx="6088050" cy="551250"/>
          </a:xfrm>
          <a:prstGeom prst="rect">
            <a:avLst/>
          </a:prstGeom>
          <a:noFill/>
          <a:ln>
            <a:noFill/>
          </a:ln>
        </p:spPr>
      </p:pic>
      <p:pic>
        <p:nvPicPr>
          <p:cNvPr id="23" name="Google Shape;23;p18"/>
          <p:cNvPicPr preferRelativeResize="0"/>
          <p:nvPr/>
        </p:nvPicPr>
        <p:blipFill rotWithShape="1">
          <a:blip r:embed="rId1">
            <a:alphaModFix/>
          </a:blip>
          <a:srcRect b="0" l="0" r="0" t="0"/>
          <a:stretch/>
        </p:blipFill>
        <p:spPr>
          <a:xfrm rot="10800000">
            <a:off x="-36511" y="4592250"/>
            <a:ext cx="6088050" cy="551250"/>
          </a:xfrm>
          <a:prstGeom prst="rect">
            <a:avLst/>
          </a:prstGeom>
          <a:noFill/>
          <a:ln>
            <a:noFill/>
          </a:ln>
        </p:spPr>
      </p:pic>
      <p:sp>
        <p:nvSpPr>
          <p:cNvPr id="24" name="Google Shape;24;p18"/>
          <p:cNvSpPr txBox="1"/>
          <p:nvPr/>
        </p:nvSpPr>
        <p:spPr>
          <a:xfrm>
            <a:off x="179512" y="123478"/>
            <a:ext cx="1440160" cy="33855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
          <p:cNvSpPr txBox="1"/>
          <p:nvPr>
            <p:ph idx="1" type="body"/>
          </p:nvPr>
        </p:nvSpPr>
        <p:spPr>
          <a:xfrm>
            <a:off x="4014" y="1335640"/>
            <a:ext cx="9144000" cy="195619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None/>
            </a:pP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0" rtl="0" algn="ctr">
              <a:spcBef>
                <a:spcPts val="480"/>
              </a:spcBef>
              <a:spcAft>
                <a:spcPts val="0"/>
              </a:spcAft>
              <a:buClr>
                <a:schemeClr val="dk1"/>
              </a:buClr>
              <a:buSzPts val="2400"/>
              <a:buNone/>
            </a:pPr>
            <a:r>
              <a:rPr lang="en-US" sz="2900">
                <a:solidFill>
                  <a:schemeClr val="dk1"/>
                </a:solidFill>
                <a:latin typeface="Times New Roman"/>
                <a:ea typeface="Times New Roman"/>
                <a:cs typeface="Times New Roman"/>
                <a:sym typeface="Times New Roman"/>
              </a:rPr>
              <a:t>Unit 3.4</a:t>
            </a:r>
            <a:endParaRPr sz="4100">
              <a:solidFill>
                <a:schemeClr val="dk1"/>
              </a:solidFill>
              <a:latin typeface="Times New Roman"/>
              <a:ea typeface="Times New Roman"/>
              <a:cs typeface="Times New Roman"/>
              <a:sym typeface="Times New Roman"/>
            </a:endParaRPr>
          </a:p>
          <a:p>
            <a:pPr indent="0" lvl="0" marL="0" rtl="0" algn="ctr">
              <a:lnSpc>
                <a:spcPct val="100000"/>
              </a:lnSpc>
              <a:spcBef>
                <a:spcPts val="480"/>
              </a:spcBef>
              <a:spcAft>
                <a:spcPts val="0"/>
              </a:spcAft>
              <a:buClr>
                <a:schemeClr val="dk1"/>
              </a:buClr>
              <a:buSzPts val="2400"/>
              <a:buNone/>
            </a:pPr>
            <a:r>
              <a:rPr lang="en-US">
                <a:solidFill>
                  <a:schemeClr val="dk1"/>
                </a:solidFill>
                <a:latin typeface="Times New Roman"/>
                <a:ea typeface="Times New Roman"/>
                <a:cs typeface="Times New Roman"/>
                <a:sym typeface="Times New Roman"/>
              </a:rPr>
              <a:t>Consideration</a:t>
            </a:r>
            <a:endParaRPr/>
          </a:p>
          <a:p>
            <a:pPr indent="0" lvl="0" marL="0" rtl="0" algn="ctr">
              <a:lnSpc>
                <a:spcPct val="100000"/>
              </a:lnSpc>
              <a:spcBef>
                <a:spcPts val="480"/>
              </a:spcBef>
              <a:spcAft>
                <a:spcPts val="0"/>
              </a:spcAft>
              <a:buClr>
                <a:schemeClr val="dk1"/>
              </a:buClr>
              <a:buSzPts val="2400"/>
              <a:buNone/>
            </a:pPr>
            <a:r>
              <a:t/>
            </a:r>
            <a:endParaRPr sz="1800">
              <a:solidFill>
                <a:schemeClr val="dk1"/>
              </a:solidFill>
              <a:latin typeface="Times New Roman"/>
              <a:ea typeface="Times New Roman"/>
              <a:cs typeface="Times New Roman"/>
              <a:sym typeface="Times New Roman"/>
            </a:endParaRPr>
          </a:p>
          <a:p>
            <a:pPr indent="0" lvl="0" marL="0" rtl="0" algn="ctr">
              <a:lnSpc>
                <a:spcPct val="100000"/>
              </a:lnSpc>
              <a:spcBef>
                <a:spcPts val="480"/>
              </a:spcBef>
              <a:spcAft>
                <a:spcPts val="0"/>
              </a:spcAft>
              <a:buClr>
                <a:schemeClr val="dk1"/>
              </a:buClr>
              <a:buSzPts val="2400"/>
              <a:buNone/>
            </a:pPr>
            <a:r>
              <a:t/>
            </a:r>
            <a:endParaRPr sz="2400">
              <a:solidFill>
                <a:schemeClr val="dk1"/>
              </a:solidFill>
              <a:latin typeface="Times New Roman"/>
              <a:ea typeface="Times New Roman"/>
              <a:cs typeface="Times New Roman"/>
              <a:sym typeface="Times New Roman"/>
            </a:endParaRPr>
          </a:p>
        </p:txBody>
      </p:sp>
      <p:pic>
        <p:nvPicPr>
          <p:cNvPr id="74" name="Google Shape;74;p1"/>
          <p:cNvPicPr preferRelativeResize="0"/>
          <p:nvPr/>
        </p:nvPicPr>
        <p:blipFill rotWithShape="1">
          <a:blip r:embed="rId3">
            <a:alphaModFix/>
          </a:blip>
          <a:srcRect b="0" l="0" r="0" t="0"/>
          <a:stretch/>
        </p:blipFill>
        <p:spPr>
          <a:xfrm>
            <a:off x="75974" y="84080"/>
            <a:ext cx="1685925" cy="438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nvSpPr>
        <p:spPr>
          <a:xfrm>
            <a:off x="1691680" y="771550"/>
            <a:ext cx="6048600" cy="576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t/>
            </a:r>
            <a:endParaRPr b="0" i="0" sz="2800" u="none" cap="none" strike="noStrike">
              <a:solidFill>
                <a:srgbClr val="3F3F3F"/>
              </a:solidFill>
              <a:latin typeface="Times New Roman"/>
              <a:ea typeface="Times New Roman"/>
              <a:cs typeface="Times New Roman"/>
              <a:sym typeface="Times New Roman"/>
            </a:endParaRPr>
          </a:p>
        </p:txBody>
      </p:sp>
      <p:grpSp>
        <p:nvGrpSpPr>
          <p:cNvPr id="80" name="Google Shape;80;p2"/>
          <p:cNvGrpSpPr/>
          <p:nvPr/>
        </p:nvGrpSpPr>
        <p:grpSpPr>
          <a:xfrm>
            <a:off x="899450" y="1563638"/>
            <a:ext cx="7704589" cy="576000"/>
            <a:chOff x="2984973" y="1131591"/>
            <a:chExt cx="5611091" cy="576000"/>
          </a:xfrm>
        </p:grpSpPr>
        <p:sp>
          <p:nvSpPr>
            <p:cNvPr id="81" name="Google Shape;81;p2"/>
            <p:cNvSpPr/>
            <p:nvPr/>
          </p:nvSpPr>
          <p:spPr>
            <a:xfrm rot="5400000">
              <a:off x="5719964" y="-1240533"/>
              <a:ext cx="432000" cy="5320200"/>
            </a:xfrm>
            <a:prstGeom prst="round2SameRect">
              <a:avLst>
                <a:gd fmla="val 50000" name="adj1"/>
                <a:gd fmla="val 0" name="adj2"/>
              </a:avLst>
            </a:prstGeom>
            <a:solidFill>
              <a:srgbClr val="538CD5"/>
            </a:solidFill>
            <a:ln>
              <a:noFill/>
            </a:ln>
          </p:spPr>
          <p:txBody>
            <a:bodyPr anchorCtr="0" anchor="b"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82" name="Google Shape;82;p2"/>
            <p:cNvSpPr/>
            <p:nvPr/>
          </p:nvSpPr>
          <p:spPr>
            <a:xfrm flipH="1" rot="-5400000">
              <a:off x="2984973" y="1131591"/>
              <a:ext cx="576000" cy="576000"/>
            </a:xfrm>
            <a:prstGeom prst="ellipse">
              <a:avLst/>
            </a:prstGeom>
            <a:solidFill>
              <a:schemeClr val="lt1"/>
            </a:solidFill>
            <a:ln cap="flat" cmpd="sng" w="50800">
              <a:solidFill>
                <a:srgbClr val="17365D"/>
              </a:solidFill>
              <a:prstDash val="solid"/>
              <a:round/>
              <a:headEnd len="sm" w="sm" type="none"/>
              <a:tailEnd len="sm" w="sm" type="none"/>
            </a:ln>
          </p:spPr>
          <p:txBody>
            <a:bodyPr anchorCtr="0" anchor="b"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83" name="Google Shape;83;p2"/>
            <p:cNvSpPr txBox="1"/>
            <p:nvPr/>
          </p:nvSpPr>
          <p:spPr>
            <a:xfrm>
              <a:off x="2988072" y="1243225"/>
              <a:ext cx="569700" cy="369300"/>
            </a:xfrm>
            <a:prstGeom prst="rect">
              <a:avLst/>
            </a:prstGeom>
            <a:noFill/>
            <a:ln>
              <a:noFill/>
            </a:ln>
          </p:spPr>
          <p:txBody>
            <a:bodyPr anchorCtr="0" anchor="b" bIns="0" lIns="91425" spcFirstLastPara="1" rIns="91425" wrap="square" tIns="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01</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3694421" y="1203599"/>
              <a:ext cx="4752600" cy="400200"/>
            </a:xfrm>
            <a:prstGeom prst="rect">
              <a:avLst/>
            </a:prstGeom>
            <a:solidFill>
              <a:srgbClr val="538CD5"/>
            </a:solidFill>
            <a:ln>
              <a:noFill/>
            </a:ln>
          </p:spPr>
          <p:txBody>
            <a:bodyPr anchorCtr="0" anchor="b"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Times New Roman"/>
                <a:ea typeface="Times New Roman"/>
                <a:cs typeface="Times New Roman"/>
                <a:sym typeface="Times New Roman"/>
              </a:endParaRPr>
            </a:p>
          </p:txBody>
        </p:sp>
      </p:grpSp>
      <p:pic>
        <p:nvPicPr>
          <p:cNvPr id="85" name="Google Shape;85;p2"/>
          <p:cNvPicPr preferRelativeResize="0"/>
          <p:nvPr/>
        </p:nvPicPr>
        <p:blipFill rotWithShape="1">
          <a:blip r:embed="rId3">
            <a:alphaModFix/>
          </a:blip>
          <a:srcRect b="0" l="0" r="0" t="0"/>
          <a:stretch/>
        </p:blipFill>
        <p:spPr>
          <a:xfrm>
            <a:off x="75974" y="84080"/>
            <a:ext cx="1685925" cy="438150"/>
          </a:xfrm>
          <a:prstGeom prst="rect">
            <a:avLst/>
          </a:prstGeom>
          <a:noFill/>
          <a:ln>
            <a:noFill/>
          </a:ln>
        </p:spPr>
      </p:pic>
      <p:sp>
        <p:nvSpPr>
          <p:cNvPr id="86" name="Google Shape;86;p2"/>
          <p:cNvSpPr/>
          <p:nvPr/>
        </p:nvSpPr>
        <p:spPr>
          <a:xfrm>
            <a:off x="886816" y="681938"/>
            <a:ext cx="8076300" cy="6462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Key Topics </a:t>
            </a:r>
            <a:endParaRPr b="0" i="0" sz="3600" u="none" cap="none" strike="noStrike">
              <a:solidFill>
                <a:srgbClr val="3F3F3F"/>
              </a:solidFill>
              <a:latin typeface="Times New Roman"/>
              <a:ea typeface="Times New Roman"/>
              <a:cs typeface="Times New Roman"/>
              <a:sym typeface="Times New Roman"/>
            </a:endParaRPr>
          </a:p>
        </p:txBody>
      </p:sp>
      <p:sp>
        <p:nvSpPr>
          <p:cNvPr id="87" name="Google Shape;87;p2"/>
          <p:cNvSpPr/>
          <p:nvPr/>
        </p:nvSpPr>
        <p:spPr>
          <a:xfrm>
            <a:off x="1818522" y="1632401"/>
            <a:ext cx="6682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Consideration</a:t>
            </a:r>
            <a:endParaRPr b="0" i="0" sz="24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 name="Google Shape;88;p2"/>
          <p:cNvSpPr/>
          <p:nvPr/>
        </p:nvSpPr>
        <p:spPr>
          <a:xfrm>
            <a:off x="1836456" y="2415517"/>
            <a:ext cx="76026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Clarity</a:t>
            </a:r>
            <a:r>
              <a:rPr b="0" i="0" lang="en-US" sz="24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 name="Google Shape;89;p2"/>
          <p:cNvSpPr/>
          <p:nvPr/>
        </p:nvSpPr>
        <p:spPr>
          <a:xfrm>
            <a:off x="1873896" y="3270693"/>
            <a:ext cx="5866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To fulfil the requirements of the Journal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 name="Google Shape;90;p2"/>
          <p:cNvSpPr/>
          <p:nvPr/>
        </p:nvSpPr>
        <p:spPr>
          <a:xfrm>
            <a:off x="1857356" y="3286130"/>
            <a:ext cx="1713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Correctness</a:t>
            </a:r>
            <a:r>
              <a:rPr b="0" i="0" lang="en-US" sz="2400" u="none" cap="none" strike="noStrike">
                <a:solidFill>
                  <a:schemeClr val="dk1"/>
                </a:solidFill>
                <a:latin typeface="Times New Roman"/>
                <a:ea typeface="Times New Roman"/>
                <a:cs typeface="Times New Roman"/>
                <a:sym typeface="Times New Roman"/>
              </a:rPr>
              <a:t>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827584" y="555526"/>
            <a:ext cx="6768752" cy="830997"/>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96" name="Google Shape;96;p3"/>
          <p:cNvPicPr preferRelativeResize="0"/>
          <p:nvPr/>
        </p:nvPicPr>
        <p:blipFill rotWithShape="1">
          <a:blip r:embed="rId3">
            <a:alphaModFix/>
          </a:blip>
          <a:srcRect b="0" l="0" r="0" t="0"/>
          <a:stretch/>
        </p:blipFill>
        <p:spPr>
          <a:xfrm>
            <a:off x="75974" y="84080"/>
            <a:ext cx="1685925" cy="438150"/>
          </a:xfrm>
          <a:prstGeom prst="rect">
            <a:avLst/>
          </a:prstGeom>
          <a:noFill/>
          <a:ln>
            <a:noFill/>
          </a:ln>
        </p:spPr>
      </p:pic>
      <p:sp>
        <p:nvSpPr>
          <p:cNvPr id="97" name="Google Shape;97;p3"/>
          <p:cNvSpPr txBox="1"/>
          <p:nvPr>
            <p:ph idx="1" type="body"/>
          </p:nvPr>
        </p:nvSpPr>
        <p:spPr>
          <a:xfrm>
            <a:off x="0" y="642924"/>
            <a:ext cx="9144000" cy="57606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None/>
            </a:pPr>
            <a:r>
              <a:rPr lang="en-US">
                <a:solidFill>
                  <a:schemeClr val="dk1"/>
                </a:solidFill>
                <a:latin typeface="Times New Roman"/>
                <a:ea typeface="Times New Roman"/>
                <a:cs typeface="Times New Roman"/>
                <a:sym typeface="Times New Roman"/>
              </a:rPr>
              <a:t>The Seven Cs of Effective Communication </a:t>
            </a:r>
            <a:endParaRPr>
              <a:solidFill>
                <a:schemeClr val="dk1"/>
              </a:solidFill>
              <a:latin typeface="Times New Roman"/>
              <a:ea typeface="Times New Roman"/>
              <a:cs typeface="Times New Roman"/>
              <a:sym typeface="Times New Roman"/>
            </a:endParaRPr>
          </a:p>
        </p:txBody>
      </p:sp>
      <p:sp>
        <p:nvSpPr>
          <p:cNvPr id="98" name="Google Shape;98;p3"/>
          <p:cNvSpPr txBox="1"/>
          <p:nvPr>
            <p:ph idx="2" type="body"/>
          </p:nvPr>
        </p:nvSpPr>
        <p:spPr>
          <a:xfrm>
            <a:off x="0" y="1500180"/>
            <a:ext cx="9144000" cy="244827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F3F3F"/>
              </a:buClr>
              <a:buSzPts val="2400"/>
              <a:buNone/>
            </a:pPr>
            <a:r>
              <a:rPr lang="en-US" sz="2400">
                <a:latin typeface="Times New Roman"/>
                <a:ea typeface="Times New Roman"/>
                <a:cs typeface="Times New Roman"/>
                <a:sym typeface="Times New Roman"/>
              </a:rPr>
              <a:t>The seven C's of effective communication are the principles that help writers and speakers to communicate effectively. When these principles are followed it becomes easier for the sender and the receiver to comprehend the shared knowledge at the same level of understanding. </a:t>
            </a: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nvSpPr>
        <p:spPr>
          <a:xfrm>
            <a:off x="827584" y="555526"/>
            <a:ext cx="6768752" cy="830997"/>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104" name="Google Shape;104;p4"/>
          <p:cNvPicPr preferRelativeResize="0"/>
          <p:nvPr/>
        </p:nvPicPr>
        <p:blipFill rotWithShape="1">
          <a:blip r:embed="rId3">
            <a:alphaModFix/>
          </a:blip>
          <a:srcRect b="0" l="0" r="0" t="0"/>
          <a:stretch/>
        </p:blipFill>
        <p:spPr>
          <a:xfrm>
            <a:off x="75974" y="84080"/>
            <a:ext cx="1685925" cy="438150"/>
          </a:xfrm>
          <a:prstGeom prst="rect">
            <a:avLst/>
          </a:prstGeom>
          <a:noFill/>
          <a:ln>
            <a:noFill/>
          </a:ln>
        </p:spPr>
      </p:pic>
      <p:sp>
        <p:nvSpPr>
          <p:cNvPr id="105" name="Google Shape;105;p4"/>
          <p:cNvSpPr txBox="1"/>
          <p:nvPr>
            <p:ph idx="1" type="body"/>
          </p:nvPr>
        </p:nvSpPr>
        <p:spPr>
          <a:xfrm>
            <a:off x="0" y="642924"/>
            <a:ext cx="9144000" cy="57606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None/>
            </a:pPr>
            <a:r>
              <a:rPr lang="en-US">
                <a:solidFill>
                  <a:schemeClr val="dk1"/>
                </a:solidFill>
                <a:latin typeface="Times New Roman"/>
                <a:ea typeface="Times New Roman"/>
                <a:cs typeface="Times New Roman"/>
                <a:sym typeface="Times New Roman"/>
              </a:rPr>
              <a:t>The seven C’s of Effective Communication </a:t>
            </a:r>
            <a:endParaRPr>
              <a:solidFill>
                <a:schemeClr val="dk1"/>
              </a:solidFill>
              <a:latin typeface="Times New Roman"/>
              <a:ea typeface="Times New Roman"/>
              <a:cs typeface="Times New Roman"/>
              <a:sym typeface="Times New Roman"/>
            </a:endParaRPr>
          </a:p>
        </p:txBody>
      </p:sp>
      <p:sp>
        <p:nvSpPr>
          <p:cNvPr id="106" name="Google Shape;106;p4"/>
          <p:cNvSpPr txBox="1"/>
          <p:nvPr>
            <p:ph idx="2" type="body"/>
          </p:nvPr>
        </p:nvSpPr>
        <p:spPr>
          <a:xfrm>
            <a:off x="550200" y="2057375"/>
            <a:ext cx="8043600" cy="2714400"/>
          </a:xfrm>
          <a:prstGeom prst="rect">
            <a:avLst/>
          </a:prstGeom>
          <a:noFill/>
          <a:ln>
            <a:noFill/>
          </a:ln>
        </p:spPr>
        <p:txBody>
          <a:bodyPr anchorCtr="0" anchor="ctr" bIns="45700" lIns="91425" spcFirstLastPara="1" rIns="91425" wrap="square" tIns="45700">
            <a:noAutofit/>
          </a:bodyPr>
          <a:lstStyle/>
          <a:p>
            <a:pPr indent="-152400" lvl="0" marL="0" rtl="0" algn="l">
              <a:lnSpc>
                <a:spcPct val="100000"/>
              </a:lnSpc>
              <a:spcBef>
                <a:spcPts val="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Completeness</a:t>
            </a:r>
            <a:endParaRPr/>
          </a:p>
          <a:p>
            <a:pPr indent="-152400" lvl="0" marL="0" rtl="0" algn="l">
              <a:lnSpc>
                <a:spcPct val="100000"/>
              </a:lnSpc>
              <a:spcBef>
                <a:spcPts val="48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Conciseness</a:t>
            </a:r>
            <a:endParaRPr/>
          </a:p>
          <a:p>
            <a:pPr indent="-152400" lvl="0" marL="0" rtl="0" algn="l">
              <a:lnSpc>
                <a:spcPct val="100000"/>
              </a:lnSpc>
              <a:spcBef>
                <a:spcPts val="48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Consideration</a:t>
            </a:r>
            <a:endParaRPr/>
          </a:p>
          <a:p>
            <a:pPr indent="-152400" lvl="0" marL="0" rtl="0" algn="l">
              <a:lnSpc>
                <a:spcPct val="100000"/>
              </a:lnSpc>
              <a:spcBef>
                <a:spcPts val="48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Clarity</a:t>
            </a:r>
            <a:endParaRPr/>
          </a:p>
          <a:p>
            <a:pPr indent="-152400" lvl="0" marL="0" rtl="0" algn="l">
              <a:lnSpc>
                <a:spcPct val="100000"/>
              </a:lnSpc>
              <a:spcBef>
                <a:spcPts val="48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Correctness</a:t>
            </a:r>
            <a:endParaRPr/>
          </a:p>
          <a:p>
            <a:pPr indent="-152400" lvl="0" marL="0" rtl="0" algn="l">
              <a:lnSpc>
                <a:spcPct val="100000"/>
              </a:lnSpc>
              <a:spcBef>
                <a:spcPts val="48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Courtesy </a:t>
            </a:r>
            <a:endParaRPr/>
          </a:p>
          <a:p>
            <a:pPr indent="-152400" lvl="0" marL="0" rtl="0" algn="l">
              <a:lnSpc>
                <a:spcPct val="100000"/>
              </a:lnSpc>
              <a:spcBef>
                <a:spcPts val="48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Concreteness </a:t>
            </a:r>
            <a:endParaRPr/>
          </a:p>
          <a:p>
            <a:pPr indent="0" lvl="0" marL="0" rtl="0" algn="l">
              <a:lnSpc>
                <a:spcPct val="100000"/>
              </a:lnSpc>
              <a:spcBef>
                <a:spcPts val="480"/>
              </a:spcBef>
              <a:spcAft>
                <a:spcPts val="0"/>
              </a:spcAft>
              <a:buClr>
                <a:srgbClr val="3F3F3F"/>
              </a:buClr>
              <a:buSzPts val="2400"/>
              <a:buFont typeface="Noto Sans Symbols"/>
              <a:buNone/>
            </a:pPr>
            <a:r>
              <a:t/>
            </a:r>
            <a:endParaRPr sz="2400"/>
          </a:p>
          <a:p>
            <a:pPr indent="0" lvl="0" marL="0" rtl="0" algn="l">
              <a:lnSpc>
                <a:spcPct val="100000"/>
              </a:lnSpc>
              <a:spcBef>
                <a:spcPts val="480"/>
              </a:spcBef>
              <a:spcAft>
                <a:spcPts val="0"/>
              </a:spcAft>
              <a:buClr>
                <a:srgbClr val="3F3F3F"/>
              </a:buClr>
              <a:buSzPts val="2400"/>
              <a:buFont typeface="Noto Sans Symbols"/>
              <a:buNone/>
            </a:pPr>
            <a:r>
              <a:t/>
            </a:r>
            <a:endParaRPr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nvSpPr>
        <p:spPr>
          <a:xfrm>
            <a:off x="827584" y="555526"/>
            <a:ext cx="6768752" cy="830997"/>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112" name="Google Shape;112;p5"/>
          <p:cNvPicPr preferRelativeResize="0"/>
          <p:nvPr/>
        </p:nvPicPr>
        <p:blipFill rotWithShape="1">
          <a:blip r:embed="rId3">
            <a:alphaModFix/>
          </a:blip>
          <a:srcRect b="0" l="0" r="0" t="0"/>
          <a:stretch/>
        </p:blipFill>
        <p:spPr>
          <a:xfrm>
            <a:off x="75974" y="84080"/>
            <a:ext cx="1685925" cy="438150"/>
          </a:xfrm>
          <a:prstGeom prst="rect">
            <a:avLst/>
          </a:prstGeom>
          <a:noFill/>
          <a:ln>
            <a:noFill/>
          </a:ln>
        </p:spPr>
      </p:pic>
      <p:sp>
        <p:nvSpPr>
          <p:cNvPr id="113" name="Google Shape;113;p5"/>
          <p:cNvSpPr txBox="1"/>
          <p:nvPr>
            <p:ph idx="1" type="body"/>
          </p:nvPr>
        </p:nvSpPr>
        <p:spPr>
          <a:xfrm>
            <a:off x="0" y="642924"/>
            <a:ext cx="9144000" cy="57606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None/>
            </a:pPr>
            <a:r>
              <a:rPr lang="en-US">
                <a:solidFill>
                  <a:schemeClr val="dk1"/>
                </a:solidFill>
                <a:latin typeface="Times New Roman"/>
                <a:ea typeface="Times New Roman"/>
                <a:cs typeface="Times New Roman"/>
                <a:sym typeface="Times New Roman"/>
              </a:rPr>
              <a:t>Consideration</a:t>
            </a:r>
            <a:endParaRPr>
              <a:solidFill>
                <a:schemeClr val="dk1"/>
              </a:solidFill>
              <a:latin typeface="Times New Roman"/>
              <a:ea typeface="Times New Roman"/>
              <a:cs typeface="Times New Roman"/>
              <a:sym typeface="Times New Roman"/>
            </a:endParaRPr>
          </a:p>
        </p:txBody>
      </p:sp>
      <p:sp>
        <p:nvSpPr>
          <p:cNvPr id="114" name="Google Shape;114;p5"/>
          <p:cNvSpPr txBox="1"/>
          <p:nvPr>
            <p:ph idx="2" type="body"/>
          </p:nvPr>
        </p:nvSpPr>
        <p:spPr>
          <a:xfrm>
            <a:off x="0" y="1500175"/>
            <a:ext cx="9144000" cy="2688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F3F3F"/>
              </a:buClr>
              <a:buSzPts val="2400"/>
              <a:buNone/>
            </a:pPr>
            <a:r>
              <a:t/>
            </a:r>
            <a:endParaRPr sz="2400">
              <a:latin typeface="Times New Roman"/>
              <a:ea typeface="Times New Roman"/>
              <a:cs typeface="Times New Roman"/>
              <a:sym typeface="Times New Roman"/>
            </a:endParaRPr>
          </a:p>
          <a:p>
            <a:pPr indent="0" lvl="0" marL="0" rtl="0" algn="l">
              <a:lnSpc>
                <a:spcPct val="100000"/>
              </a:lnSpc>
              <a:spcBef>
                <a:spcPts val="480"/>
              </a:spcBef>
              <a:spcAft>
                <a:spcPts val="0"/>
              </a:spcAft>
              <a:buClr>
                <a:srgbClr val="3F3F3F"/>
              </a:buClr>
              <a:buSzPts val="2400"/>
              <a:buNone/>
            </a:pPr>
            <a:r>
              <a:rPr lang="en-US" sz="2400">
                <a:latin typeface="Times New Roman"/>
                <a:ea typeface="Times New Roman"/>
                <a:cs typeface="Times New Roman"/>
                <a:sym typeface="Times New Roman"/>
              </a:rPr>
              <a:t>Consideration involves empathizing with others and keeping the </a:t>
            </a:r>
            <a:endParaRPr/>
          </a:p>
          <a:p>
            <a:pPr indent="0" lvl="0" marL="0" rtl="0" algn="l">
              <a:lnSpc>
                <a:spcPct val="100000"/>
              </a:lnSpc>
              <a:spcBef>
                <a:spcPts val="480"/>
              </a:spcBef>
              <a:spcAft>
                <a:spcPts val="0"/>
              </a:spcAft>
              <a:buClr>
                <a:srgbClr val="3F3F3F"/>
              </a:buClr>
              <a:buSzPts val="2400"/>
              <a:buNone/>
            </a:pPr>
            <a:r>
              <a:rPr lang="en-US" sz="2400">
                <a:latin typeface="Times New Roman"/>
                <a:ea typeface="Times New Roman"/>
                <a:cs typeface="Times New Roman"/>
                <a:sym typeface="Times New Roman"/>
              </a:rPr>
              <a:t>following in mind while preparing the message:</a:t>
            </a:r>
            <a:endParaRPr/>
          </a:p>
          <a:p>
            <a:pPr indent="0" lvl="0" marL="0" rtl="0" algn="l">
              <a:lnSpc>
                <a:spcPct val="100000"/>
              </a:lnSpc>
              <a:spcBef>
                <a:spcPts val="480"/>
              </a:spcBef>
              <a:spcAft>
                <a:spcPts val="0"/>
              </a:spcAft>
              <a:buClr>
                <a:srgbClr val="3F3F3F"/>
              </a:buClr>
              <a:buSzPts val="2400"/>
              <a:buNone/>
            </a:pPr>
            <a:r>
              <a:rPr i="1" lang="en-US" sz="2400">
                <a:latin typeface="Times New Roman"/>
                <a:ea typeface="Times New Roman"/>
                <a:cs typeface="Times New Roman"/>
                <a:sym typeface="Times New Roman"/>
              </a:rPr>
              <a:t>the recipient’s view point, mind-set, education level, mood, desires and </a:t>
            </a:r>
            <a:endParaRPr/>
          </a:p>
          <a:p>
            <a:pPr indent="0" lvl="0" marL="0" rtl="0" algn="l">
              <a:lnSpc>
                <a:spcPct val="100000"/>
              </a:lnSpc>
              <a:spcBef>
                <a:spcPts val="480"/>
              </a:spcBef>
              <a:spcAft>
                <a:spcPts val="0"/>
              </a:spcAft>
              <a:buClr>
                <a:srgbClr val="3F3F3F"/>
              </a:buClr>
              <a:buSzPts val="2400"/>
              <a:buNone/>
            </a:pPr>
            <a:r>
              <a:rPr i="1" lang="en-US" sz="2400">
                <a:latin typeface="Times New Roman"/>
                <a:ea typeface="Times New Roman"/>
                <a:cs typeface="Times New Roman"/>
                <a:sym typeface="Times New Roman"/>
              </a:rPr>
              <a:t>needs</a:t>
            </a:r>
            <a:endParaRPr/>
          </a:p>
          <a:p>
            <a:pPr indent="0" lvl="0" marL="0" rtl="0" algn="l">
              <a:lnSpc>
                <a:spcPct val="100000"/>
              </a:lnSpc>
              <a:spcBef>
                <a:spcPts val="480"/>
              </a:spcBef>
              <a:spcAft>
                <a:spcPts val="0"/>
              </a:spcAft>
              <a:buClr>
                <a:srgbClr val="3F3F3F"/>
              </a:buClr>
              <a:buSzPts val="2400"/>
              <a:buNone/>
            </a:pPr>
            <a:r>
              <a:rPr lang="en-US" sz="2400">
                <a:latin typeface="Times New Roman"/>
                <a:ea typeface="Times New Roman"/>
                <a:cs typeface="Times New Roman"/>
                <a:sym typeface="Times New Roman"/>
              </a:rPr>
              <a:t>Consideration requires you to not lose your temper or accuse the </a:t>
            </a:r>
            <a:endParaRPr/>
          </a:p>
          <a:p>
            <a:pPr indent="0" lvl="0" marL="0" rtl="0" algn="l">
              <a:lnSpc>
                <a:spcPct val="100000"/>
              </a:lnSpc>
              <a:spcBef>
                <a:spcPts val="480"/>
              </a:spcBef>
              <a:spcAft>
                <a:spcPts val="0"/>
              </a:spcAft>
              <a:buClr>
                <a:srgbClr val="3F3F3F"/>
              </a:buClr>
              <a:buSzPts val="2400"/>
              <a:buNone/>
            </a:pPr>
            <a:r>
              <a:rPr lang="en-US" sz="2400">
                <a:latin typeface="Times New Roman"/>
                <a:ea typeface="Times New Roman"/>
                <a:cs typeface="Times New Roman"/>
                <a:sym typeface="Times New Roman"/>
              </a:rPr>
              <a:t>receiver. Try to apply the ‘You attitude’ throughout the message as much as possible.</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nvSpPr>
        <p:spPr>
          <a:xfrm>
            <a:off x="827584" y="555526"/>
            <a:ext cx="6768752" cy="830997"/>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120" name="Google Shape;120;p6"/>
          <p:cNvPicPr preferRelativeResize="0"/>
          <p:nvPr/>
        </p:nvPicPr>
        <p:blipFill rotWithShape="1">
          <a:blip r:embed="rId3">
            <a:alphaModFix/>
          </a:blip>
          <a:srcRect b="0" l="0" r="0" t="0"/>
          <a:stretch/>
        </p:blipFill>
        <p:spPr>
          <a:xfrm>
            <a:off x="75974" y="84080"/>
            <a:ext cx="1685925" cy="438150"/>
          </a:xfrm>
          <a:prstGeom prst="rect">
            <a:avLst/>
          </a:prstGeom>
          <a:noFill/>
          <a:ln>
            <a:noFill/>
          </a:ln>
        </p:spPr>
      </p:pic>
      <p:sp>
        <p:nvSpPr>
          <p:cNvPr id="121" name="Google Shape;121;p6"/>
          <p:cNvSpPr txBox="1"/>
          <p:nvPr>
            <p:ph idx="1" type="body"/>
          </p:nvPr>
        </p:nvSpPr>
        <p:spPr>
          <a:xfrm>
            <a:off x="0" y="642924"/>
            <a:ext cx="9144000" cy="57606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None/>
            </a:pPr>
            <a:r>
              <a:rPr lang="en-US">
                <a:solidFill>
                  <a:schemeClr val="dk1"/>
                </a:solidFill>
                <a:latin typeface="Times New Roman"/>
                <a:ea typeface="Times New Roman"/>
                <a:cs typeface="Times New Roman"/>
                <a:sym typeface="Times New Roman"/>
              </a:rPr>
              <a:t>Key Points</a:t>
            </a:r>
            <a:endParaRPr>
              <a:solidFill>
                <a:schemeClr val="dk1"/>
              </a:solidFill>
              <a:latin typeface="Times New Roman"/>
              <a:ea typeface="Times New Roman"/>
              <a:cs typeface="Times New Roman"/>
              <a:sym typeface="Times New Roman"/>
            </a:endParaRPr>
          </a:p>
        </p:txBody>
      </p:sp>
      <p:sp>
        <p:nvSpPr>
          <p:cNvPr id="122" name="Google Shape;122;p6"/>
          <p:cNvSpPr txBox="1"/>
          <p:nvPr>
            <p:ph idx="2" type="body"/>
          </p:nvPr>
        </p:nvSpPr>
        <p:spPr>
          <a:xfrm>
            <a:off x="827575" y="1906950"/>
            <a:ext cx="7401900" cy="2448300"/>
          </a:xfrm>
          <a:prstGeom prst="rect">
            <a:avLst/>
          </a:prstGeom>
          <a:noFill/>
          <a:ln>
            <a:noFill/>
          </a:ln>
        </p:spPr>
        <p:txBody>
          <a:bodyPr anchorCtr="0" anchor="ctr" bIns="45700" lIns="91425" spcFirstLastPara="1" rIns="91425" wrap="square" tIns="45700">
            <a:noAutofit/>
          </a:bodyPr>
          <a:lstStyle/>
          <a:p>
            <a:pPr indent="-152400" lvl="0" marL="0" rtl="0" algn="l">
              <a:lnSpc>
                <a:spcPct val="100000"/>
              </a:lnSpc>
              <a:spcBef>
                <a:spcPts val="0"/>
              </a:spcBef>
              <a:spcAft>
                <a:spcPts val="0"/>
              </a:spcAft>
              <a:buClr>
                <a:srgbClr val="3F3F3F"/>
              </a:buClr>
              <a:buSzPts val="2400"/>
              <a:buFont typeface="Noto Sans Symbols"/>
              <a:buChar char="❑"/>
            </a:pPr>
            <a:r>
              <a:rPr lang="en-US" sz="2400">
                <a:latin typeface="Times New Roman"/>
                <a:ea typeface="Times New Roman"/>
                <a:cs typeface="Times New Roman"/>
                <a:sym typeface="Times New Roman"/>
              </a:rPr>
              <a:t> Focus on “You” instead of “I” and “We”.</a:t>
            </a:r>
            <a:endParaRPr sz="2400">
              <a:latin typeface="Times New Roman"/>
              <a:ea typeface="Times New Roman"/>
              <a:cs typeface="Times New Roman"/>
              <a:sym typeface="Times New Roman"/>
            </a:endParaRPr>
          </a:p>
          <a:p>
            <a:pPr indent="-152400" lvl="0" marL="0" rtl="0" algn="l">
              <a:lnSpc>
                <a:spcPct val="100000"/>
              </a:lnSpc>
              <a:spcBef>
                <a:spcPts val="480"/>
              </a:spcBef>
              <a:spcAft>
                <a:spcPts val="0"/>
              </a:spcAft>
              <a:buClr>
                <a:srgbClr val="3F3F3F"/>
              </a:buClr>
              <a:buSzPts val="2400"/>
              <a:buFont typeface="Noto Sans Symbols"/>
              <a:buChar char="❑"/>
            </a:pP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Show audience benefit or interest in the receiver.</a:t>
            </a:r>
            <a:endParaRPr sz="2400">
              <a:latin typeface="Times New Roman"/>
              <a:ea typeface="Times New Roman"/>
              <a:cs typeface="Times New Roman"/>
              <a:sym typeface="Times New Roman"/>
            </a:endParaRPr>
          </a:p>
          <a:p>
            <a:pPr indent="-152400" lvl="0" marL="0" rtl="0" algn="l">
              <a:lnSpc>
                <a:spcPct val="100000"/>
              </a:lnSpc>
              <a:spcBef>
                <a:spcPts val="480"/>
              </a:spcBef>
              <a:spcAft>
                <a:spcPts val="0"/>
              </a:spcAft>
              <a:buClr>
                <a:srgbClr val="3F3F3F"/>
              </a:buClr>
              <a:buSzPts val="2400"/>
              <a:buFont typeface="Noto Sans Symbols"/>
              <a:buChar char="❑"/>
            </a:pP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Emphasize positive, pleasant facts.</a:t>
            </a:r>
            <a:endParaRPr sz="2400">
              <a:latin typeface="Times New Roman"/>
              <a:ea typeface="Times New Roman"/>
              <a:cs typeface="Times New Roman"/>
              <a:sym typeface="Times New Roman"/>
            </a:endParaRPr>
          </a:p>
          <a:p>
            <a:pPr indent="-152400" lvl="0" marL="0" rtl="0" algn="l">
              <a:lnSpc>
                <a:spcPct val="100000"/>
              </a:lnSpc>
              <a:spcBef>
                <a:spcPts val="480"/>
              </a:spcBef>
              <a:spcAft>
                <a:spcPts val="0"/>
              </a:spcAft>
              <a:buSzPts val="2400"/>
              <a:buFont typeface="Times New Roman"/>
              <a:buChar char="❑"/>
            </a:pPr>
            <a:r>
              <a:rPr lang="en-US" sz="2400">
                <a:latin typeface="Times New Roman"/>
                <a:ea typeface="Times New Roman"/>
                <a:cs typeface="Times New Roman"/>
                <a:sym typeface="Times New Roman"/>
              </a:rPr>
              <a:t> Apply integrity and ethics.</a:t>
            </a:r>
            <a:endParaRPr sz="2400">
              <a:latin typeface="Times New Roman"/>
              <a:ea typeface="Times New Roman"/>
              <a:cs typeface="Times New Roman"/>
              <a:sym typeface="Times New Roman"/>
            </a:endParaRPr>
          </a:p>
          <a:p>
            <a:pPr indent="0" lvl="0" marL="0" rtl="0" algn="l">
              <a:lnSpc>
                <a:spcPct val="100000"/>
              </a:lnSpc>
              <a:spcBef>
                <a:spcPts val="480"/>
              </a:spcBef>
              <a:spcAft>
                <a:spcPts val="0"/>
              </a:spcAft>
              <a:buClr>
                <a:srgbClr val="3F3F3F"/>
              </a:buClr>
              <a:buSzPts val="2400"/>
              <a:buNone/>
            </a:pPr>
            <a:r>
              <a:t/>
            </a:r>
            <a:endParaRPr b="1"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nvSpPr>
        <p:spPr>
          <a:xfrm>
            <a:off x="827584" y="555526"/>
            <a:ext cx="6768752" cy="830997"/>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128" name="Google Shape;128;p7"/>
          <p:cNvPicPr preferRelativeResize="0"/>
          <p:nvPr/>
        </p:nvPicPr>
        <p:blipFill rotWithShape="1">
          <a:blip r:embed="rId3">
            <a:alphaModFix/>
          </a:blip>
          <a:srcRect b="0" l="0" r="0" t="0"/>
          <a:stretch/>
        </p:blipFill>
        <p:spPr>
          <a:xfrm>
            <a:off x="75974" y="84080"/>
            <a:ext cx="1685925" cy="438150"/>
          </a:xfrm>
          <a:prstGeom prst="rect">
            <a:avLst/>
          </a:prstGeom>
          <a:noFill/>
          <a:ln>
            <a:noFill/>
          </a:ln>
        </p:spPr>
      </p:pic>
      <p:sp>
        <p:nvSpPr>
          <p:cNvPr id="129" name="Google Shape;129;p7"/>
          <p:cNvSpPr txBox="1"/>
          <p:nvPr>
            <p:ph idx="1" type="body"/>
          </p:nvPr>
        </p:nvSpPr>
        <p:spPr>
          <a:xfrm>
            <a:off x="0" y="642924"/>
            <a:ext cx="9144000" cy="576064"/>
          </a:xfrm>
          <a:prstGeom prst="rect">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6862"/>
              </a:srgbClr>
            </a:outerShdw>
          </a:effectLst>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600"/>
              <a:buNone/>
            </a:pPr>
            <a:r>
              <a:rPr lang="en-US">
                <a:solidFill>
                  <a:schemeClr val="dk1"/>
                </a:solidFill>
                <a:latin typeface="Times New Roman"/>
                <a:ea typeface="Times New Roman"/>
                <a:cs typeface="Times New Roman"/>
                <a:sym typeface="Times New Roman"/>
              </a:rPr>
              <a:t>        Bad Example               Good Example</a:t>
            </a:r>
            <a:endParaRPr>
              <a:solidFill>
                <a:schemeClr val="dk1"/>
              </a:solidFill>
              <a:latin typeface="Times New Roman"/>
              <a:ea typeface="Times New Roman"/>
              <a:cs typeface="Times New Roman"/>
              <a:sym typeface="Times New Roman"/>
            </a:endParaRPr>
          </a:p>
        </p:txBody>
      </p:sp>
      <p:sp>
        <p:nvSpPr>
          <p:cNvPr id="130" name="Google Shape;130;p7"/>
          <p:cNvSpPr txBox="1"/>
          <p:nvPr>
            <p:ph idx="2" type="body"/>
          </p:nvPr>
        </p:nvSpPr>
        <p:spPr>
          <a:xfrm>
            <a:off x="1500166" y="1571618"/>
            <a:ext cx="6072230" cy="285752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F3F3F"/>
              </a:buClr>
              <a:buSzPts val="2400"/>
              <a:buNone/>
            </a:pPr>
            <a:r>
              <a:t/>
            </a:r>
            <a:endParaRPr b="1" sz="2400">
              <a:latin typeface="Times New Roman"/>
              <a:ea typeface="Times New Roman"/>
              <a:cs typeface="Times New Roman"/>
              <a:sym typeface="Times New Roman"/>
            </a:endParaRPr>
          </a:p>
        </p:txBody>
      </p:sp>
      <p:graphicFrame>
        <p:nvGraphicFramePr>
          <p:cNvPr id="131" name="Google Shape;131;p7"/>
          <p:cNvGraphicFramePr/>
          <p:nvPr/>
        </p:nvGraphicFramePr>
        <p:xfrm>
          <a:off x="214282" y="1571618"/>
          <a:ext cx="3000000" cy="3000000"/>
        </p:xfrm>
        <a:graphic>
          <a:graphicData uri="http://schemas.openxmlformats.org/drawingml/2006/table">
            <a:tbl>
              <a:tblPr bandRow="1" firstRow="1">
                <a:noFill/>
                <a:tableStyleId>{D2C7C526-07A6-408E-B4B8-4D0BCE47B351}</a:tableStyleId>
              </a:tblPr>
              <a:tblGrid>
                <a:gridCol w="4357725"/>
                <a:gridCol w="4357725"/>
              </a:tblGrid>
              <a:tr h="2857525">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Times New Roman"/>
                          <a:ea typeface="Times New Roman"/>
                          <a:cs typeface="Times New Roman"/>
                          <a:sym typeface="Times New Roman"/>
                        </a:rPr>
                        <a:t>I would like to express my thanks for your order dated 6th April. We have </a:t>
                      </a:r>
                      <a:endParaRPr sz="1400" u="none" cap="none" strike="noStrike"/>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Times New Roman"/>
                          <a:ea typeface="Times New Roman"/>
                          <a:cs typeface="Times New Roman"/>
                          <a:sym typeface="Times New Roman"/>
                        </a:rPr>
                        <a:t>now executed the order and I would </a:t>
                      </a:r>
                      <a:endParaRPr sz="1400" u="none" cap="none" strike="noStrike"/>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Times New Roman"/>
                          <a:ea typeface="Times New Roman"/>
                          <a:cs typeface="Times New Roman"/>
                          <a:sym typeface="Times New Roman"/>
                        </a:rPr>
                        <a:t>like to draw your attention to our </a:t>
                      </a:r>
                      <a:endParaRPr sz="1400" u="none" cap="none" strike="noStrike"/>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Times New Roman"/>
                          <a:ea typeface="Times New Roman"/>
                          <a:cs typeface="Times New Roman"/>
                          <a:sym typeface="Times New Roman"/>
                        </a:rPr>
                        <a:t>dispatch documents that I have </a:t>
                      </a:r>
                      <a:endParaRPr sz="1400" u="none" cap="none" strike="noStrike"/>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Times New Roman"/>
                          <a:ea typeface="Times New Roman"/>
                          <a:cs typeface="Times New Roman"/>
                          <a:sym typeface="Times New Roman"/>
                        </a:rPr>
                        <a:t>attached to this email. The documents include our invoice, our packing note and our driver delivery note.</a:t>
                      </a:r>
                      <a:endParaRPr b="0" i="0" sz="2200" u="none" cap="none" strike="noStrike">
                        <a:latin typeface="Times New Roman"/>
                        <a:ea typeface="Times New Roman"/>
                        <a:cs typeface="Times New Roman"/>
                        <a:sym typeface="Times New Roman"/>
                      </a:endParaRPr>
                    </a:p>
                  </a:txBody>
                  <a:tcPr marT="45725" marB="45725" marR="91450" marL="91450">
                    <a:solidFill>
                      <a:srgbClr val="17365D"/>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Thank you for your order dated </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6th April. The goods you ordered have now been dispatched. </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Please find attached the relevant </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dispatch documents including</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invoice, packing note and driver </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delivery note.</a:t>
                      </a:r>
                      <a:endParaRPr b="0" i="0" sz="2400" u="none" cap="none" strike="noStrike">
                        <a:latin typeface="Times New Roman"/>
                        <a:ea typeface="Times New Roman"/>
                        <a:cs typeface="Times New Roman"/>
                        <a:sym typeface="Times New Roman"/>
                      </a:endParaRPr>
                    </a:p>
                  </a:txBody>
                  <a:tcPr marT="45725" marB="45725" marR="91450" marL="91450">
                    <a:solidFill>
                      <a:srgbClr val="17365D"/>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Contents Slide Master">
  <a:themeElements>
    <a:clrScheme name="ALLPPT-COLOR-A30">
      <a:dk1>
        <a:srgbClr val="000000"/>
      </a:dk1>
      <a:lt1>
        <a:srgbClr val="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ver and End Slide Master">
  <a:themeElements>
    <a:clrScheme name="ALLPPT-COLOR-A30">
      <a:dk1>
        <a:srgbClr val="000000"/>
      </a:dk1>
      <a:lt1>
        <a:srgbClr val="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2016-12-05T23:26:54Z</dcterms:created>
  <dc:creator>GoogleSlidesPPT.com;Allppt.com</dc:creator>
</cp:coreProperties>
</file>