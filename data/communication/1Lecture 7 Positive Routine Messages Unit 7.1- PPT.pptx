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y="5143500" cx="9144000"/>
  <p:notesSz cx="6858000" cy="9144000"/>
  <p:embeddedFontLst>
    <p:embeddedFont>
      <p:font typeface="Helvetica Neue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RxxXfw7P+MxcznVOa69e/GhRB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font" Target="fonts/HelveticaNeue-bold.fntdata"/><Relationship Id="rId12" Type="http://schemas.openxmlformats.org/officeDocument/2006/relationships/font" Target="fonts/HelveticaNe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italic.fntdata"/><Relationship Id="rId16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layout">
  <p:cSld name="Cover Slide layou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idx="1" type="body"/>
          </p:nvPr>
        </p:nvSpPr>
        <p:spPr>
          <a:xfrm>
            <a:off x="0" y="3705210"/>
            <a:ext cx="9144000" cy="522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2" type="body"/>
          </p:nvPr>
        </p:nvSpPr>
        <p:spPr>
          <a:xfrm>
            <a:off x="-148" y="422793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Layout">
  <p:cSld name="End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/>
          <p:nvPr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rgbClr val="17365D">
              <a:alpha val="7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 txBox="1"/>
          <p:nvPr>
            <p:ph idx="1" type="body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2" type="body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ayout">
  <p:cSld name="Basic Layou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0" y="48351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0" y="1059582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asic Layout">
  <p:cSld name="2_Basic Layou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179512" y="555526"/>
            <a:ext cx="8424936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2" type="body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asic Layout">
  <p:cSld name="1_Basic Layout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179512" y="483518"/>
            <a:ext cx="4248472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4"/>
          <p:cNvSpPr txBox="1"/>
          <p:nvPr>
            <p:ph idx="2" type="body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asic Layout">
  <p:cSld name="3_Basic Layout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-42902" y="45594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5"/>
          <p:cNvSpPr txBox="1"/>
          <p:nvPr>
            <p:ph idx="2" type="body"/>
          </p:nvPr>
        </p:nvSpPr>
        <p:spPr>
          <a:xfrm>
            <a:off x="0" y="887988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5"/>
          <p:cNvSpPr/>
          <p:nvPr>
            <p:ph idx="3" type="pic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5"/>
          <p:cNvSpPr/>
          <p:nvPr>
            <p:ph idx="4" type="pic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15"/>
          <p:cNvSpPr/>
          <p:nvPr>
            <p:ph idx="5" type="pic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15"/>
          <p:cNvSpPr/>
          <p:nvPr>
            <p:ph idx="6" type="pic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Contents Layout">
  <p:cSld name="Images and Contents Layou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mages and Contents Layout">
  <p:cSld name="1_Images and Contents Layou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mages and Contents Layout">
  <p:cSld name="2_Images and Contents Layout">
    <p:bg>
      <p:bgPr>
        <a:solidFill>
          <a:srgbClr val="17365D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/>
          <p:nvPr>
            <p:ph idx="2" type="pic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3" name="Google Shape;43;p18"/>
          <p:cNvSpPr/>
          <p:nvPr>
            <p:ph idx="3" type="pic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4" name="Google Shape;44;p18"/>
          <p:cNvSpPr/>
          <p:nvPr>
            <p:ph idx="4" type="pic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asic Layout">
  <p:cSld name="4_Basic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/>
          <p:nvPr>
            <p:ph idx="2" type="pic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7" name="Google Shape;47;p19"/>
          <p:cNvSpPr/>
          <p:nvPr>
            <p:ph idx="3" type="pic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8" name="Google Shape;48;p19"/>
          <p:cNvSpPr/>
          <p:nvPr>
            <p:ph idx="4" type="pic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Images and Contents Layout">
  <p:cSld name="3_Images and Contents Layou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/>
          <p:nvPr>
            <p:ph idx="2" type="pic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" name="Google Shape;51;p20"/>
          <p:cNvSpPr/>
          <p:nvPr>
            <p:ph idx="3" type="pic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" name="Google Shape;52;p20"/>
          <p:cNvSpPr/>
          <p:nvPr>
            <p:ph idx="4" type="pic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3" name="Google Shape;53;p20"/>
          <p:cNvSpPr/>
          <p:nvPr>
            <p:ph idx="5" type="pic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4" name="Google Shape;54;p20"/>
          <p:cNvSpPr/>
          <p:nvPr>
            <p:ph idx="6" type="pic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Images and Contents Layout">
  <p:cSld name="4_Images and Contents Layou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0" y="41151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0" y="98757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:\Fullppt\005-PNG이미지\노트북.png" id="58" name="Google Shape;5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57041" y="1313860"/>
            <a:ext cx="6438182" cy="327456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1"/>
          <p:cNvSpPr/>
          <p:nvPr>
            <p:ph idx="3" type="pic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 sets layout">
  <p:cSld name="icon sets layou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0" y="475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2" name="Google Shape;62;p22"/>
          <p:cNvGrpSpPr/>
          <p:nvPr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63" name="Google Shape;63;p22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fmla="val 3968" name="adj"/>
              </a:avLst>
            </a:prstGeom>
            <a:solidFill>
              <a:srgbClr val="17365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2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fmla="val 50000" name="adj"/>
              </a:avLst>
            </a:prstGeom>
            <a:solidFill>
              <a:schemeClr val="lt1">
                <a:alpha val="40392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2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fmla="val 23728" name="adj1"/>
                <a:gd fmla="val 24642" name="adj2"/>
              </a:avLst>
            </a:prstGeom>
            <a:solidFill>
              <a:schemeClr val="lt1">
                <a:alpha val="22352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Layout">
  <p:cSld name="Agenda Layout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Layout">
  <p:cSld name="Section Break Layout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/>
          <p:nvPr>
            <p:ph idx="1" type="body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23"/>
          <p:cNvSpPr txBox="1"/>
          <p:nvPr>
            <p:ph idx="2" type="body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23339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5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36511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7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36511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3"/>
    <p:sldLayoutId id="214748366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13000"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>
            <p:ph idx="1" type="body"/>
          </p:nvPr>
        </p:nvSpPr>
        <p:spPr>
          <a:xfrm>
            <a:off x="4014" y="1995686"/>
            <a:ext cx="9144000" cy="1261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Unit 8.1-Routine &amp; Positive Messages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"/>
          <p:cNvSpPr txBox="1"/>
          <p:nvPr>
            <p:ph idx="2" type="body"/>
          </p:nvPr>
        </p:nvSpPr>
        <p:spPr>
          <a:xfrm>
            <a:off x="4014" y="3939902"/>
            <a:ext cx="9144000" cy="504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COMMUNICATION SKILLS</a:t>
            </a:r>
            <a:endParaRPr/>
          </a:p>
        </p:txBody>
      </p:sp>
      <p:pic>
        <p:nvPicPr>
          <p:cNvPr id="80" name="Google Shape;8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/>
        </p:nvSpPr>
        <p:spPr>
          <a:xfrm>
            <a:off x="1691680" y="771550"/>
            <a:ext cx="3528392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2"/>
          <p:cNvGrpSpPr/>
          <p:nvPr/>
        </p:nvGrpSpPr>
        <p:grpSpPr>
          <a:xfrm>
            <a:off x="1035393" y="2563463"/>
            <a:ext cx="7704856" cy="576000"/>
            <a:chOff x="2984973" y="1131591"/>
            <a:chExt cx="5611091" cy="576000"/>
          </a:xfrm>
        </p:grpSpPr>
        <p:sp>
          <p:nvSpPr>
            <p:cNvPr id="87" name="Google Shape;87;p2"/>
            <p:cNvSpPr/>
            <p:nvPr/>
          </p:nvSpPr>
          <p:spPr>
            <a:xfrm rot="5400000">
              <a:off x="5719936" y="-1240513"/>
              <a:ext cx="432048" cy="5320208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538CD5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 flipH="1" rot="-5400000">
              <a:off x="2984973" y="1131591"/>
              <a:ext cx="576000" cy="576000"/>
            </a:xfrm>
            <a:prstGeom prst="ellipse">
              <a:avLst/>
            </a:prstGeom>
            <a:solidFill>
              <a:schemeClr val="lt1"/>
            </a:solidFill>
            <a:ln cap="flat" cmpd="sng" w="508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" name="Google Shape;89;p2"/>
            <p:cNvSpPr txBox="1"/>
            <p:nvPr/>
          </p:nvSpPr>
          <p:spPr>
            <a:xfrm>
              <a:off x="2988072" y="1243225"/>
              <a:ext cx="5698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91425" spcFirstLastPara="1" rIns="91425" wrap="square" tIns="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1051992" y="1716038"/>
            <a:ext cx="7704856" cy="576000"/>
            <a:chOff x="2984973" y="1131591"/>
            <a:chExt cx="5611091" cy="576000"/>
          </a:xfrm>
        </p:grpSpPr>
        <p:sp>
          <p:nvSpPr>
            <p:cNvPr id="92" name="Google Shape;92;p2"/>
            <p:cNvSpPr/>
            <p:nvPr/>
          </p:nvSpPr>
          <p:spPr>
            <a:xfrm rot="5400000">
              <a:off x="5719936" y="-1240513"/>
              <a:ext cx="432048" cy="5320208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538CD5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 flipH="1" rot="-5400000">
              <a:off x="2984973" y="1131591"/>
              <a:ext cx="576000" cy="576000"/>
            </a:xfrm>
            <a:prstGeom prst="ellipse">
              <a:avLst/>
            </a:prstGeom>
            <a:solidFill>
              <a:schemeClr val="lt1"/>
            </a:solidFill>
            <a:ln cap="flat" cmpd="sng" w="508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2988072" y="1243225"/>
              <a:ext cx="5698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91425" spcFirstLastPara="1" rIns="91425" wrap="square" tIns="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3663221" y="1219535"/>
              <a:ext cx="4752528" cy="400110"/>
            </a:xfrm>
            <a:prstGeom prst="rect">
              <a:avLst/>
            </a:prstGeom>
            <a:solidFill>
              <a:srgbClr val="538CD5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 an effective strategy for writing routine requests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2"/>
          <p:cNvSpPr/>
          <p:nvPr/>
        </p:nvSpPr>
        <p:spPr>
          <a:xfrm>
            <a:off x="1761897" y="2034538"/>
            <a:ext cx="6887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Develop an effective strategy for writing routine replies &amp;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positive messages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-324544" y="699542"/>
            <a:ext cx="9216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Guidelines for Routine Positive Messages 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direct approach is recommended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positive or neutral, directness is usually recommended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negative, indirectness is usually recommended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75974" y="699542"/>
            <a:ext cx="8168434" cy="5447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Thill, J. V., &amp; Bovee, C. L. (2013).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Excellence in Business Communication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(10th ed.). USA: Pearson.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ver and End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ection Break Slide Master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ontents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2016-12-05T23:26:54Z</dcterms:created>
  <dc:creator>GoogleSlidesPPT.com;Allppt.com</dc:creator>
</cp:coreProperties>
</file>